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8" r:id="rId5"/>
    <p:sldMasterId id="2147483682" r:id="rId6"/>
  </p:sldMasterIdLst>
  <p:notesMasterIdLst>
    <p:notesMasterId r:id="rId57"/>
  </p:notesMasterIdLst>
  <p:sldIdLst>
    <p:sldId id="2147479318" r:id="rId7"/>
    <p:sldId id="2147479322" r:id="rId8"/>
    <p:sldId id="2147479319" r:id="rId9"/>
    <p:sldId id="2147479320" r:id="rId10"/>
    <p:sldId id="2147374738" r:id="rId11"/>
    <p:sldId id="2147479336" r:id="rId12"/>
    <p:sldId id="2147469034" r:id="rId13"/>
    <p:sldId id="2147479337" r:id="rId14"/>
    <p:sldId id="2531" r:id="rId15"/>
    <p:sldId id="2147470973" r:id="rId16"/>
    <p:sldId id="2147472294" r:id="rId17"/>
    <p:sldId id="2147472285" r:id="rId18"/>
    <p:sldId id="2147479325" r:id="rId19"/>
    <p:sldId id="565" r:id="rId20"/>
    <p:sldId id="2147479327" r:id="rId21"/>
    <p:sldId id="2147479332" r:id="rId22"/>
    <p:sldId id="2147470976" r:id="rId23"/>
    <p:sldId id="2529" r:id="rId24"/>
    <p:sldId id="570" r:id="rId25"/>
    <p:sldId id="310" r:id="rId26"/>
    <p:sldId id="2147479331" r:id="rId27"/>
    <p:sldId id="2147479326" r:id="rId28"/>
    <p:sldId id="2147479330" r:id="rId29"/>
    <p:sldId id="2147469035" r:id="rId30"/>
    <p:sldId id="2147479334" r:id="rId31"/>
    <p:sldId id="2147479328" r:id="rId32"/>
    <p:sldId id="2147374875" r:id="rId33"/>
    <p:sldId id="2054480853" r:id="rId34"/>
    <p:sldId id="2147479335" r:id="rId35"/>
    <p:sldId id="2147374879" r:id="rId36"/>
    <p:sldId id="2147479317" r:id="rId37"/>
    <p:sldId id="351" r:id="rId38"/>
    <p:sldId id="348" r:id="rId39"/>
    <p:sldId id="2147470974" r:id="rId40"/>
    <p:sldId id="2147472298" r:id="rId41"/>
    <p:sldId id="387" r:id="rId42"/>
    <p:sldId id="2147469013" r:id="rId43"/>
    <p:sldId id="2147469017" r:id="rId44"/>
    <p:sldId id="2147469027" r:id="rId45"/>
    <p:sldId id="443" r:id="rId46"/>
    <p:sldId id="350" r:id="rId47"/>
    <p:sldId id="2534" r:id="rId48"/>
    <p:sldId id="2147470960" r:id="rId49"/>
    <p:sldId id="2147374892" r:id="rId50"/>
    <p:sldId id="2147470950" r:id="rId51"/>
    <p:sldId id="2147470958" r:id="rId52"/>
    <p:sldId id="346" r:id="rId53"/>
    <p:sldId id="2147470925" r:id="rId54"/>
    <p:sldId id="2147470977" r:id="rId55"/>
    <p:sldId id="2147374890"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539433-2FAC-6E1F-4A64-AAEF3FDA0591}" name="Caroline Burcham" initials="CB" userId="S::caroline.burcham@lilly.com::3f40aac6-6bb1-406b-bcf8-c58a4679ca2f" providerId="AD"/>
  <p188:author id="{66DDD23B-59DC-83FD-6F17-AB38B48EE954}" name="Julianna Peterson Deranick" initials="JPD" userId="S::deranick_julianna_peterson@lilly.com::af6a9639-1246-47af-b81d-ecbda5862af9" providerId="AD"/>
  <p188:author id="{A61BCF3D-1CD9-3DBD-D794-8E1C4FA6830F}" name="Jennifer Beebe" initials="JB" userId="S::beebe_jennifer@lilly.com::3957c76c-29b7-40b7-a0b8-123b278ef04f" providerId="AD"/>
  <p188:author id="{BD8F076B-98A8-B693-06B4-366AB495A949}" name="Katelyn Brown" initials="KB" userId="S::katelyn.brown@lilly.com::617faab5-eaa2-45ac-b91b-5a07332770be" providerId="AD"/>
  <p188:author id="{A466C1C1-0038-EF75-1036-7D83381FFA5F}" name="Megan Hyslop" initials="MH" userId="S::hyslop_megan@lilly.com::fd0afb12-1198-4057-8082-e6085a626c08" providerId="AD"/>
  <p188:author id="{85E96CEC-A213-CBD4-B71F-8DAB70BF0F0B}" name="Linda Maureen O'Bryan" initials="LMO" userId="S::obryan_linda_maureen@lilly.com::0b62d57a-4a0f-4862-b7ad-6e066a3d80e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8"/>
  </p:normalViewPr>
  <p:slideViewPr>
    <p:cSldViewPr snapToGrid="0">
      <p:cViewPr varScale="1">
        <p:scale>
          <a:sx n="119" d="100"/>
          <a:sy n="119" d="100"/>
        </p:scale>
        <p:origin x="8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notesMaster" Target="notesMasters/notesMaster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oleObject" Target="https://mydrive.lilly.com/personal/stauber_anja_j_lilly_com/Documents/A_Portfolio_Project%20Management/Portfolio/Portfolio%20Performance/2023%20CS_FTD%20Performance%20June%20202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mydrive.lilly.com/personal/stauber_anja_j_lilly_com/Documents/A_Portfolio_Project%20Management/Portfolio/Portfolio%20Performance/2023%20CS_FTD%20Performance%20June%202023.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mydrive.lilly.com/personal/stauber_anja_j_lilly_com/Documents/A_Portfolio_Project%20Management/Portfolio/Portfolio%20Performance/2023%20CS_FTD%20Performance%20June%202023.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mydrive.lilly.com/personal/stauber_anja_j_lilly_com/Documents/A_Portfolio_Project%20Management/Portfolio/Portfolio%20Performance/2023%20CS_FTD%20Performance%20June%202023.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mydrive.lilly.com/personal/stauber_anja_j_lilly_com/Documents/A_Portfolio_Project%20Management/Portfolio/Portfolio%20Performance/2023%20CS_FTD%20Performance%20June%202023.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mydrive.lilly.com/personal/stauber_anja_j_lilly_com/Documents/A_Portfolio_Project%20Management/Portfolio/Portfolio%20Performance/2023%20CS_FTD%20Performance%20June%202023.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2017</a:t>
            </a:r>
          </a:p>
          <a:p>
            <a:pPr>
              <a:defRPr/>
            </a:pPr>
            <a:r>
              <a:rPr lang="en-US" sz="1100" i="1"/>
              <a:t>Candidate</a:t>
            </a:r>
            <a:r>
              <a:rPr lang="en-US" sz="1100" i="1" baseline="0"/>
              <a:t> Selections = 17</a:t>
            </a:r>
            <a:endParaRPr lang="en-US" sz="1100" i="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41A-4667-9E8A-CBED6CAAC21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41A-4667-9E8A-CBED6CAAC21C}"/>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541A-4667-9E8A-CBED6CAAC21C}"/>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7-541A-4667-9E8A-CBED6CAAC21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541A-4667-9E8A-CBED6CAAC21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'Modality Analysis_CS Achieved'!$H$15:$H$19</c:f>
              <c:strCache>
                <c:ptCount val="5"/>
                <c:pt idx="0">
                  <c:v>Antibody</c:v>
                </c:pt>
                <c:pt idx="1">
                  <c:v>ADC</c:v>
                </c:pt>
                <c:pt idx="2">
                  <c:v>Peptide</c:v>
                </c:pt>
                <c:pt idx="3">
                  <c:v>Small Molecule</c:v>
                </c:pt>
                <c:pt idx="4">
                  <c:v>siRNA</c:v>
                </c:pt>
              </c:strCache>
            </c:strRef>
          </c:cat>
          <c:val>
            <c:numRef>
              <c:f>'Modality Analysis_CS Achieved'!$I$15:$I$19</c:f>
              <c:numCache>
                <c:formatCode>General</c:formatCode>
                <c:ptCount val="5"/>
                <c:pt idx="0" formatCode="0">
                  <c:v>47.058823529411761</c:v>
                </c:pt>
                <c:pt idx="2" formatCode="0">
                  <c:v>17.647058823529413</c:v>
                </c:pt>
                <c:pt idx="3" formatCode="0">
                  <c:v>35.294117647058826</c:v>
                </c:pt>
              </c:numCache>
            </c:numRef>
          </c:val>
          <c:extLst>
            <c:ext xmlns:c16="http://schemas.microsoft.com/office/drawing/2014/chart" uri="{C3380CC4-5D6E-409C-BE32-E72D297353CC}">
              <c16:uniqueId val="{0000000A-541A-4667-9E8A-CBED6CAAC21C}"/>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2018</a:t>
            </a:r>
          </a:p>
          <a:p>
            <a:pPr>
              <a:defRPr/>
            </a:pPr>
            <a:r>
              <a:rPr lang="en-US" sz="1100" i="1"/>
              <a:t>Candidate Selections = 19</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1"/>
          <c:order val="1"/>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676-425A-848E-75BA51B5808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676-425A-848E-75BA51B5808F}"/>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F676-425A-848E-75BA51B5808F}"/>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7-F676-425A-848E-75BA51B5808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F676-425A-848E-75BA51B5808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'Modality Analysis_CS Achieved'!$H$15:$H$19</c:f>
              <c:strCache>
                <c:ptCount val="5"/>
                <c:pt idx="0">
                  <c:v>Antibody</c:v>
                </c:pt>
                <c:pt idx="1">
                  <c:v>ADC</c:v>
                </c:pt>
                <c:pt idx="2">
                  <c:v>Peptide</c:v>
                </c:pt>
                <c:pt idx="3">
                  <c:v>Small Molecule</c:v>
                </c:pt>
                <c:pt idx="4">
                  <c:v>siRNA</c:v>
                </c:pt>
              </c:strCache>
            </c:strRef>
          </c:cat>
          <c:val>
            <c:numRef>
              <c:f>'Modality Analysis_CS Achieved'!$J$15:$J$19</c:f>
              <c:numCache>
                <c:formatCode>General</c:formatCode>
                <c:ptCount val="5"/>
                <c:pt idx="0" formatCode="0">
                  <c:v>36.84210526315789</c:v>
                </c:pt>
                <c:pt idx="2" formatCode="0">
                  <c:v>31.578947368421051</c:v>
                </c:pt>
                <c:pt idx="3" formatCode="0">
                  <c:v>31.578947368421051</c:v>
                </c:pt>
              </c:numCache>
            </c:numRef>
          </c:val>
          <c:extLst>
            <c:ext xmlns:c16="http://schemas.microsoft.com/office/drawing/2014/chart" uri="{C3380CC4-5D6E-409C-BE32-E72D297353CC}">
              <c16:uniqueId val="{0000000A-F676-425A-848E-75BA51B5808F}"/>
            </c:ext>
          </c:extLst>
        </c:ser>
        <c:dLbls>
          <c:showLegendKey val="0"/>
          <c:showVal val="0"/>
          <c:showCatName val="0"/>
          <c:showSerName val="0"/>
          <c:showPercent val="0"/>
          <c:showBubbleSize val="0"/>
          <c:showLeaderLines val="1"/>
        </c:dLbls>
        <c:firstSliceAng val="0"/>
        <c:extLst>
          <c:ext xmlns:c15="http://schemas.microsoft.com/office/drawing/2012/chart" uri="{02D57815-91ED-43cb-92C2-25804820EDAC}">
            <c15:filteredPieSeries>
              <c15: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C-F676-425A-848E-75BA51B5808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F676-425A-848E-75BA51B5808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F676-425A-848E-75BA51B5808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F676-425A-848E-75BA51B5808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F676-425A-848E-75BA51B5808F}"/>
                    </c:ext>
                  </c:extLst>
                </c:dPt>
                <c:cat>
                  <c:strRef>
                    <c:extLst>
                      <c:ex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c:ext uri="{02D57815-91ED-43cb-92C2-25804820EDAC}">
                        <c15:formulaRef>
                          <c15:sqref>'Modality Analysis_CS Achieved'!$I$15:$I$19</c15:sqref>
                        </c15:formulaRef>
                      </c:ext>
                    </c:extLst>
                    <c:numCache>
                      <c:formatCode>General</c:formatCode>
                      <c:ptCount val="5"/>
                      <c:pt idx="0" formatCode="0">
                        <c:v>47.058823529411761</c:v>
                      </c:pt>
                      <c:pt idx="2" formatCode="0">
                        <c:v>17.647058823529413</c:v>
                      </c:pt>
                      <c:pt idx="3" formatCode="0">
                        <c:v>35.294117647058826</c:v>
                      </c:pt>
                    </c:numCache>
                  </c:numRef>
                </c:val>
                <c:extLst>
                  <c:ext xmlns:c16="http://schemas.microsoft.com/office/drawing/2014/chart" uri="{C3380CC4-5D6E-409C-BE32-E72D297353CC}">
                    <c16:uniqueId val="{00000015-F676-425A-848E-75BA51B5808F}"/>
                  </c:ext>
                </c:extLst>
              </c15:ser>
            </c15:filteredPieSeries>
          </c:ext>
        </c:extLst>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2019</a:t>
            </a:r>
          </a:p>
          <a:p>
            <a:pPr>
              <a:defRPr/>
            </a:pPr>
            <a:r>
              <a:rPr lang="en-US" sz="1100" i="1"/>
              <a:t>Candidate Selections = 17</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2"/>
          <c:order val="2"/>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263-43F8-947D-EB741257AEE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263-43F8-947D-EB741257AEE3}"/>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0263-43F8-947D-EB741257AEE3}"/>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7-0263-43F8-947D-EB741257AEE3}"/>
              </c:ext>
            </c:extLst>
          </c:dPt>
          <c:dPt>
            <c:idx val="4"/>
            <c:bubble3D val="0"/>
            <c:spPr>
              <a:solidFill>
                <a:srgbClr val="C00000"/>
              </a:solidFill>
              <a:ln w="19050">
                <a:solidFill>
                  <a:schemeClr val="lt1"/>
                </a:solidFill>
              </a:ln>
              <a:effectLst/>
            </c:spPr>
            <c:extLst>
              <c:ext xmlns:c16="http://schemas.microsoft.com/office/drawing/2014/chart" uri="{C3380CC4-5D6E-409C-BE32-E72D297353CC}">
                <c16:uniqueId val="{00000009-0263-43F8-947D-EB741257AEE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'Modality Analysis_CS Achieved'!$H$15:$H$19</c:f>
              <c:strCache>
                <c:ptCount val="5"/>
                <c:pt idx="0">
                  <c:v>Antibody</c:v>
                </c:pt>
                <c:pt idx="1">
                  <c:v>ADC</c:v>
                </c:pt>
                <c:pt idx="2">
                  <c:v>Peptide</c:v>
                </c:pt>
                <c:pt idx="3">
                  <c:v>Small Molecule</c:v>
                </c:pt>
                <c:pt idx="4">
                  <c:v>siRNA</c:v>
                </c:pt>
              </c:strCache>
            </c:strRef>
          </c:cat>
          <c:val>
            <c:numRef>
              <c:f>'Modality Analysis_CS Achieved'!$K$15:$K$19</c:f>
              <c:numCache>
                <c:formatCode>General</c:formatCode>
                <c:ptCount val="5"/>
                <c:pt idx="0" formatCode="0">
                  <c:v>17.647058823529413</c:v>
                </c:pt>
                <c:pt idx="2" formatCode="0">
                  <c:v>35.294117647058826</c:v>
                </c:pt>
                <c:pt idx="3" formatCode="0">
                  <c:v>41.17647058823529</c:v>
                </c:pt>
                <c:pt idx="4" formatCode="0">
                  <c:v>5.8823529411764701</c:v>
                </c:pt>
              </c:numCache>
            </c:numRef>
          </c:val>
          <c:extLst>
            <c:ext xmlns:c16="http://schemas.microsoft.com/office/drawing/2014/chart" uri="{C3380CC4-5D6E-409C-BE32-E72D297353CC}">
              <c16:uniqueId val="{0000000A-0263-43F8-947D-EB741257AEE3}"/>
            </c:ext>
          </c:extLst>
        </c:ser>
        <c:dLbls>
          <c:showLegendKey val="0"/>
          <c:showVal val="0"/>
          <c:showCatName val="0"/>
          <c:showSerName val="0"/>
          <c:showPercent val="0"/>
          <c:showBubbleSize val="0"/>
          <c:showLeaderLines val="1"/>
        </c:dLbls>
        <c:firstSliceAng val="0"/>
        <c:extLst>
          <c:ext xmlns:c15="http://schemas.microsoft.com/office/drawing/2012/chart" uri="{02D57815-91ED-43cb-92C2-25804820EDAC}">
            <c15:filteredPieSeries>
              <c15: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C-0263-43F8-947D-EB741257AEE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0263-43F8-947D-EB741257AEE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0263-43F8-947D-EB741257AEE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0263-43F8-947D-EB741257AEE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0263-43F8-947D-EB741257AEE3}"/>
                    </c:ext>
                  </c:extLst>
                </c:dPt>
                <c:cat>
                  <c:strRef>
                    <c:extLst>
                      <c:ex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c:ext uri="{02D57815-91ED-43cb-92C2-25804820EDAC}">
                        <c15:formulaRef>
                          <c15:sqref>'Modality Analysis_CS Achieved'!$I$15:$I$19</c15:sqref>
                        </c15:formulaRef>
                      </c:ext>
                    </c:extLst>
                    <c:numCache>
                      <c:formatCode>General</c:formatCode>
                      <c:ptCount val="5"/>
                      <c:pt idx="0" formatCode="0">
                        <c:v>47.058823529411761</c:v>
                      </c:pt>
                      <c:pt idx="2" formatCode="0">
                        <c:v>17.647058823529413</c:v>
                      </c:pt>
                      <c:pt idx="3" formatCode="0">
                        <c:v>35.294117647058826</c:v>
                      </c:pt>
                    </c:numCache>
                  </c:numRef>
                </c:val>
                <c:extLst>
                  <c:ext xmlns:c16="http://schemas.microsoft.com/office/drawing/2014/chart" uri="{C3380CC4-5D6E-409C-BE32-E72D297353CC}">
                    <c16:uniqueId val="{00000015-0263-43F8-947D-EB741257AEE3}"/>
                  </c:ext>
                </c:extLst>
              </c15:ser>
            </c15:filteredPieSeries>
            <c15:filteredPieSeries>
              <c15:ser>
                <c:idx val="1"/>
                <c:order val="1"/>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17-0263-43F8-947D-EB741257AEE3}"/>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19-0263-43F8-947D-EB741257AEE3}"/>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1B-0263-43F8-947D-EB741257AEE3}"/>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1D-0263-43F8-947D-EB741257AEE3}"/>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1F-0263-43F8-947D-EB741257AEE3}"/>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Achieved'!$J$15:$J$19</c15:sqref>
                        </c15:formulaRef>
                      </c:ext>
                    </c:extLst>
                    <c:numCache>
                      <c:formatCode>General</c:formatCode>
                      <c:ptCount val="5"/>
                      <c:pt idx="0" formatCode="0">
                        <c:v>36.84210526315789</c:v>
                      </c:pt>
                      <c:pt idx="2" formatCode="0">
                        <c:v>31.578947368421051</c:v>
                      </c:pt>
                      <c:pt idx="3" formatCode="0">
                        <c:v>31.578947368421051</c:v>
                      </c:pt>
                    </c:numCache>
                  </c:numRef>
                </c:val>
                <c:extLst xmlns:c15="http://schemas.microsoft.com/office/drawing/2012/chart">
                  <c:ext xmlns:c16="http://schemas.microsoft.com/office/drawing/2014/chart" uri="{C3380CC4-5D6E-409C-BE32-E72D297353CC}">
                    <c16:uniqueId val="{00000020-0263-43F8-947D-EB741257AEE3}"/>
                  </c:ext>
                </c:extLst>
              </c15:ser>
            </c15:filteredPieSeries>
          </c:ext>
        </c:extLst>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2020</a:t>
            </a:r>
          </a:p>
          <a:p>
            <a:pPr>
              <a:defRPr/>
            </a:pPr>
            <a:r>
              <a:rPr lang="en-US" sz="1100" i="1"/>
              <a:t>Candidate Selections</a:t>
            </a:r>
            <a:r>
              <a:rPr lang="en-US" sz="1100" i="1" baseline="0"/>
              <a:t> = 17</a:t>
            </a:r>
            <a:endParaRPr lang="en-US" sz="1100" i="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3"/>
          <c:order val="3"/>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A75-4187-99BC-9E52D479ECB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A75-4187-99BC-9E52D479ECB8}"/>
              </c:ext>
            </c:extLst>
          </c:dPt>
          <c:dPt>
            <c:idx val="2"/>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05-7A75-4187-99BC-9E52D479ECB8}"/>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7-7A75-4187-99BC-9E52D479ECB8}"/>
              </c:ext>
            </c:extLst>
          </c:dPt>
          <c:dPt>
            <c:idx val="4"/>
            <c:bubble3D val="0"/>
            <c:spPr>
              <a:solidFill>
                <a:srgbClr val="C00000"/>
              </a:solidFill>
              <a:ln w="19050">
                <a:solidFill>
                  <a:schemeClr val="lt1"/>
                </a:solidFill>
              </a:ln>
              <a:effectLst/>
            </c:spPr>
            <c:extLst>
              <c:ext xmlns:c16="http://schemas.microsoft.com/office/drawing/2014/chart" uri="{C3380CC4-5D6E-409C-BE32-E72D297353CC}">
                <c16:uniqueId val="{00000009-7A75-4187-99BC-9E52D479ECB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'Modality Analysis_CS Achieved'!$H$15:$H$19</c:f>
              <c:strCache>
                <c:ptCount val="5"/>
                <c:pt idx="0">
                  <c:v>Antibody</c:v>
                </c:pt>
                <c:pt idx="1">
                  <c:v>ADC</c:v>
                </c:pt>
                <c:pt idx="2">
                  <c:v>Peptide</c:v>
                </c:pt>
                <c:pt idx="3">
                  <c:v>Small Molecule</c:v>
                </c:pt>
                <c:pt idx="4">
                  <c:v>siRNA</c:v>
                </c:pt>
              </c:strCache>
            </c:strRef>
          </c:cat>
          <c:val>
            <c:numRef>
              <c:f>'Modality Analysis_CS Achieved'!$L$15:$L$19</c:f>
              <c:numCache>
                <c:formatCode>General</c:formatCode>
                <c:ptCount val="5"/>
                <c:pt idx="0" formatCode="0">
                  <c:v>35.294117647058826</c:v>
                </c:pt>
                <c:pt idx="2" formatCode="0">
                  <c:v>11.76470588235294</c:v>
                </c:pt>
                <c:pt idx="3" formatCode="0">
                  <c:v>41.17647058823529</c:v>
                </c:pt>
                <c:pt idx="4" formatCode="0">
                  <c:v>11.76470588235294</c:v>
                </c:pt>
              </c:numCache>
            </c:numRef>
          </c:val>
          <c:extLst>
            <c:ext xmlns:c16="http://schemas.microsoft.com/office/drawing/2014/chart" uri="{C3380CC4-5D6E-409C-BE32-E72D297353CC}">
              <c16:uniqueId val="{0000000A-7A75-4187-99BC-9E52D479ECB8}"/>
            </c:ext>
          </c:extLst>
        </c:ser>
        <c:dLbls>
          <c:showLegendKey val="0"/>
          <c:showVal val="0"/>
          <c:showCatName val="0"/>
          <c:showSerName val="0"/>
          <c:showPercent val="0"/>
          <c:showBubbleSize val="0"/>
          <c:showLeaderLines val="1"/>
        </c:dLbls>
        <c:firstSliceAng val="0"/>
        <c:extLst>
          <c:ext xmlns:c15="http://schemas.microsoft.com/office/drawing/2012/chart" uri="{02D57815-91ED-43cb-92C2-25804820EDAC}">
            <c15:filteredPieSeries>
              <c15: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C-7A75-4187-99BC-9E52D479ECB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7A75-4187-99BC-9E52D479ECB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7A75-4187-99BC-9E52D479ECB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7A75-4187-99BC-9E52D479ECB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7A75-4187-99BC-9E52D479ECB8}"/>
                    </c:ext>
                  </c:extLst>
                </c:dPt>
                <c:cat>
                  <c:strRef>
                    <c:extLst>
                      <c:ex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c:ext uri="{02D57815-91ED-43cb-92C2-25804820EDAC}">
                        <c15:formulaRef>
                          <c15:sqref>'Modality Analysis_CS Achieved'!$I$15:$I$19</c15:sqref>
                        </c15:formulaRef>
                      </c:ext>
                    </c:extLst>
                    <c:numCache>
                      <c:formatCode>General</c:formatCode>
                      <c:ptCount val="5"/>
                      <c:pt idx="0" formatCode="0">
                        <c:v>47.058823529411761</c:v>
                      </c:pt>
                      <c:pt idx="2" formatCode="0">
                        <c:v>17.647058823529413</c:v>
                      </c:pt>
                      <c:pt idx="3" formatCode="0">
                        <c:v>35.294117647058826</c:v>
                      </c:pt>
                    </c:numCache>
                  </c:numRef>
                </c:val>
                <c:extLst>
                  <c:ext xmlns:c16="http://schemas.microsoft.com/office/drawing/2014/chart" uri="{C3380CC4-5D6E-409C-BE32-E72D297353CC}">
                    <c16:uniqueId val="{00000015-7A75-4187-99BC-9E52D479ECB8}"/>
                  </c:ext>
                </c:extLst>
              </c15:ser>
            </c15:filteredPieSeries>
            <c15:filteredPieSeries>
              <c15:ser>
                <c:idx val="1"/>
                <c:order val="1"/>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17-7A75-4187-99BC-9E52D479ECB8}"/>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19-7A75-4187-99BC-9E52D479ECB8}"/>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1B-7A75-4187-99BC-9E52D479ECB8}"/>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1D-7A75-4187-99BC-9E52D479ECB8}"/>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1F-7A75-4187-99BC-9E52D479ECB8}"/>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Achieved'!$J$15:$J$19</c15:sqref>
                        </c15:formulaRef>
                      </c:ext>
                    </c:extLst>
                    <c:numCache>
                      <c:formatCode>General</c:formatCode>
                      <c:ptCount val="5"/>
                      <c:pt idx="0" formatCode="0">
                        <c:v>36.84210526315789</c:v>
                      </c:pt>
                      <c:pt idx="2" formatCode="0">
                        <c:v>31.578947368421051</c:v>
                      </c:pt>
                      <c:pt idx="3" formatCode="0">
                        <c:v>31.578947368421051</c:v>
                      </c:pt>
                    </c:numCache>
                  </c:numRef>
                </c:val>
                <c:extLst xmlns:c15="http://schemas.microsoft.com/office/drawing/2012/chart">
                  <c:ext xmlns:c16="http://schemas.microsoft.com/office/drawing/2014/chart" uri="{C3380CC4-5D6E-409C-BE32-E72D297353CC}">
                    <c16:uniqueId val="{00000020-7A75-4187-99BC-9E52D479ECB8}"/>
                  </c:ext>
                </c:extLst>
              </c15:ser>
            </c15:filteredPieSeries>
            <c15:filteredPieSeries>
              <c15:ser>
                <c:idx val="2"/>
                <c:order val="2"/>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2-7A75-4187-99BC-9E52D479ECB8}"/>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24-7A75-4187-99BC-9E52D479ECB8}"/>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26-7A75-4187-99BC-9E52D479ECB8}"/>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28-7A75-4187-99BC-9E52D479ECB8}"/>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2A-7A75-4187-99BC-9E52D479ECB8}"/>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Achieved'!$K$15:$K$19</c15:sqref>
                        </c15:formulaRef>
                      </c:ext>
                    </c:extLst>
                    <c:numCache>
                      <c:formatCode>General</c:formatCode>
                      <c:ptCount val="5"/>
                      <c:pt idx="0" formatCode="0">
                        <c:v>17.647058823529413</c:v>
                      </c:pt>
                      <c:pt idx="2" formatCode="0">
                        <c:v>35.294117647058826</c:v>
                      </c:pt>
                      <c:pt idx="3" formatCode="0">
                        <c:v>41.17647058823529</c:v>
                      </c:pt>
                      <c:pt idx="4" formatCode="0">
                        <c:v>5.8823529411764701</c:v>
                      </c:pt>
                    </c:numCache>
                  </c:numRef>
                </c:val>
                <c:extLst xmlns:c15="http://schemas.microsoft.com/office/drawing/2012/chart">
                  <c:ext xmlns:c16="http://schemas.microsoft.com/office/drawing/2014/chart" uri="{C3380CC4-5D6E-409C-BE32-E72D297353CC}">
                    <c16:uniqueId val="{0000002B-7A75-4187-99BC-9E52D479ECB8}"/>
                  </c:ext>
                </c:extLst>
              </c15:ser>
            </c15:filteredPieSeries>
          </c:ext>
        </c:extLst>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2021</a:t>
            </a:r>
          </a:p>
          <a:p>
            <a:pPr>
              <a:defRPr/>
            </a:pPr>
            <a:r>
              <a:rPr lang="en-US" sz="1100" i="1"/>
              <a:t>Candidate Selections = 15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4"/>
          <c:order val="4"/>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87A-4B97-8969-AD778122303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87A-4B97-8969-AD7781223033}"/>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587A-4B97-8969-AD7781223033}"/>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7-587A-4B97-8969-AD7781223033}"/>
              </c:ext>
            </c:extLst>
          </c:dPt>
          <c:dPt>
            <c:idx val="4"/>
            <c:bubble3D val="0"/>
            <c:spPr>
              <a:solidFill>
                <a:srgbClr val="C00000"/>
              </a:solidFill>
              <a:ln w="19050">
                <a:solidFill>
                  <a:schemeClr val="lt1"/>
                </a:solidFill>
              </a:ln>
              <a:effectLst/>
            </c:spPr>
            <c:extLst>
              <c:ext xmlns:c16="http://schemas.microsoft.com/office/drawing/2014/chart" uri="{C3380CC4-5D6E-409C-BE32-E72D297353CC}">
                <c16:uniqueId val="{00000009-587A-4B97-8969-AD778122303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'Modality Analysis_CS Achieved'!$H$15:$H$19</c:f>
              <c:strCache>
                <c:ptCount val="5"/>
                <c:pt idx="0">
                  <c:v>Antibody</c:v>
                </c:pt>
                <c:pt idx="1">
                  <c:v>ADC</c:v>
                </c:pt>
                <c:pt idx="2">
                  <c:v>Peptide</c:v>
                </c:pt>
                <c:pt idx="3">
                  <c:v>Small Molecule</c:v>
                </c:pt>
                <c:pt idx="4">
                  <c:v>siRNA</c:v>
                </c:pt>
              </c:strCache>
            </c:strRef>
          </c:cat>
          <c:val>
            <c:numRef>
              <c:f>'Modality Analysis_CS Achieved'!$M$15:$M$19</c:f>
              <c:numCache>
                <c:formatCode>General</c:formatCode>
                <c:ptCount val="5"/>
                <c:pt idx="0" formatCode="0">
                  <c:v>20</c:v>
                </c:pt>
                <c:pt idx="2" formatCode="0">
                  <c:v>6.666666666666667</c:v>
                </c:pt>
                <c:pt idx="3" formatCode="0">
                  <c:v>33.333333333333329</c:v>
                </c:pt>
                <c:pt idx="4" formatCode="0">
                  <c:v>40</c:v>
                </c:pt>
              </c:numCache>
            </c:numRef>
          </c:val>
          <c:extLst>
            <c:ext xmlns:c16="http://schemas.microsoft.com/office/drawing/2014/chart" uri="{C3380CC4-5D6E-409C-BE32-E72D297353CC}">
              <c16:uniqueId val="{0000000A-587A-4B97-8969-AD7781223033}"/>
            </c:ext>
          </c:extLst>
        </c:ser>
        <c:dLbls>
          <c:showLegendKey val="0"/>
          <c:showVal val="0"/>
          <c:showCatName val="0"/>
          <c:showSerName val="0"/>
          <c:showPercent val="0"/>
          <c:showBubbleSize val="0"/>
          <c:showLeaderLines val="1"/>
        </c:dLbls>
        <c:firstSliceAng val="0"/>
        <c:extLst>
          <c:ext xmlns:c15="http://schemas.microsoft.com/office/drawing/2012/chart" uri="{02D57815-91ED-43cb-92C2-25804820EDAC}">
            <c15:filteredPieSeries>
              <c15: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C-587A-4B97-8969-AD778122303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587A-4B97-8969-AD778122303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587A-4B97-8969-AD778122303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587A-4B97-8969-AD778122303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587A-4B97-8969-AD7781223033}"/>
                    </c:ext>
                  </c:extLst>
                </c:dPt>
                <c:cat>
                  <c:strRef>
                    <c:extLst>
                      <c:ex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c:ext uri="{02D57815-91ED-43cb-92C2-25804820EDAC}">
                        <c15:formulaRef>
                          <c15:sqref>'Modality Analysis_CS Achieved'!$I$15:$I$19</c15:sqref>
                        </c15:formulaRef>
                      </c:ext>
                    </c:extLst>
                    <c:numCache>
                      <c:formatCode>General</c:formatCode>
                      <c:ptCount val="5"/>
                      <c:pt idx="0" formatCode="0">
                        <c:v>47.058823529411761</c:v>
                      </c:pt>
                      <c:pt idx="2" formatCode="0">
                        <c:v>17.647058823529413</c:v>
                      </c:pt>
                      <c:pt idx="3" formatCode="0">
                        <c:v>35.294117647058826</c:v>
                      </c:pt>
                    </c:numCache>
                  </c:numRef>
                </c:val>
                <c:extLst>
                  <c:ext xmlns:c16="http://schemas.microsoft.com/office/drawing/2014/chart" uri="{C3380CC4-5D6E-409C-BE32-E72D297353CC}">
                    <c16:uniqueId val="{00000015-587A-4B97-8969-AD7781223033}"/>
                  </c:ext>
                </c:extLst>
              </c15:ser>
            </c15:filteredPieSeries>
            <c15:filteredPieSeries>
              <c15:ser>
                <c:idx val="1"/>
                <c:order val="1"/>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17-587A-4B97-8969-AD7781223033}"/>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19-587A-4B97-8969-AD7781223033}"/>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1B-587A-4B97-8969-AD7781223033}"/>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1D-587A-4B97-8969-AD7781223033}"/>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1F-587A-4B97-8969-AD7781223033}"/>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Achieved'!$J$15:$J$19</c15:sqref>
                        </c15:formulaRef>
                      </c:ext>
                    </c:extLst>
                    <c:numCache>
                      <c:formatCode>General</c:formatCode>
                      <c:ptCount val="5"/>
                      <c:pt idx="0" formatCode="0">
                        <c:v>36.84210526315789</c:v>
                      </c:pt>
                      <c:pt idx="2" formatCode="0">
                        <c:v>31.578947368421051</c:v>
                      </c:pt>
                      <c:pt idx="3" formatCode="0">
                        <c:v>31.578947368421051</c:v>
                      </c:pt>
                    </c:numCache>
                  </c:numRef>
                </c:val>
                <c:extLst xmlns:c15="http://schemas.microsoft.com/office/drawing/2012/chart">
                  <c:ext xmlns:c16="http://schemas.microsoft.com/office/drawing/2014/chart" uri="{C3380CC4-5D6E-409C-BE32-E72D297353CC}">
                    <c16:uniqueId val="{00000020-587A-4B97-8969-AD7781223033}"/>
                  </c:ext>
                </c:extLst>
              </c15:ser>
            </c15:filteredPieSeries>
            <c15:filteredPieSeries>
              <c15:ser>
                <c:idx val="2"/>
                <c:order val="2"/>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2-587A-4B97-8969-AD7781223033}"/>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24-587A-4B97-8969-AD7781223033}"/>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26-587A-4B97-8969-AD7781223033}"/>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28-587A-4B97-8969-AD7781223033}"/>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2A-587A-4B97-8969-AD7781223033}"/>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Achieved'!$K$15:$K$19</c15:sqref>
                        </c15:formulaRef>
                      </c:ext>
                    </c:extLst>
                    <c:numCache>
                      <c:formatCode>General</c:formatCode>
                      <c:ptCount val="5"/>
                      <c:pt idx="0" formatCode="0">
                        <c:v>17.647058823529413</c:v>
                      </c:pt>
                      <c:pt idx="2" formatCode="0">
                        <c:v>35.294117647058826</c:v>
                      </c:pt>
                      <c:pt idx="3" formatCode="0">
                        <c:v>41.17647058823529</c:v>
                      </c:pt>
                      <c:pt idx="4" formatCode="0">
                        <c:v>5.8823529411764701</c:v>
                      </c:pt>
                    </c:numCache>
                  </c:numRef>
                </c:val>
                <c:extLst xmlns:c15="http://schemas.microsoft.com/office/drawing/2012/chart">
                  <c:ext xmlns:c16="http://schemas.microsoft.com/office/drawing/2014/chart" uri="{C3380CC4-5D6E-409C-BE32-E72D297353CC}">
                    <c16:uniqueId val="{0000002B-587A-4B97-8969-AD7781223033}"/>
                  </c:ext>
                </c:extLst>
              </c15:ser>
            </c15:filteredPieSeries>
            <c15:filteredPieSeries>
              <c15:ser>
                <c:idx val="3"/>
                <c:order val="3"/>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D-587A-4B97-8969-AD7781223033}"/>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2F-587A-4B97-8969-AD7781223033}"/>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31-587A-4B97-8969-AD7781223033}"/>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33-587A-4B97-8969-AD7781223033}"/>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35-587A-4B97-8969-AD7781223033}"/>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Achieved'!$L$15:$L$19</c15:sqref>
                        </c15:formulaRef>
                      </c:ext>
                    </c:extLst>
                    <c:numCache>
                      <c:formatCode>General</c:formatCode>
                      <c:ptCount val="5"/>
                      <c:pt idx="0" formatCode="0">
                        <c:v>35.294117647058826</c:v>
                      </c:pt>
                      <c:pt idx="2" formatCode="0">
                        <c:v>11.76470588235294</c:v>
                      </c:pt>
                      <c:pt idx="3" formatCode="0">
                        <c:v>41.17647058823529</c:v>
                      </c:pt>
                      <c:pt idx="4" formatCode="0">
                        <c:v>11.76470588235294</c:v>
                      </c:pt>
                    </c:numCache>
                  </c:numRef>
                </c:val>
                <c:extLst xmlns:c15="http://schemas.microsoft.com/office/drawing/2012/chart">
                  <c:ext xmlns:c16="http://schemas.microsoft.com/office/drawing/2014/chart" uri="{C3380CC4-5D6E-409C-BE32-E72D297353CC}">
                    <c16:uniqueId val="{00000036-587A-4B97-8969-AD7781223033}"/>
                  </c:ext>
                </c:extLst>
              </c15:ser>
            </c15:filteredPieSeries>
          </c:ext>
        </c:extLst>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2022</a:t>
            </a:r>
          </a:p>
          <a:p>
            <a:pPr>
              <a:defRPr/>
            </a:pPr>
            <a:r>
              <a:rPr lang="en-US" sz="1100" i="1"/>
              <a:t>Candidate Selections = 9</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5"/>
          <c:order val="5"/>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459-47C4-8804-145656D18585}"/>
              </c:ext>
            </c:extLst>
          </c:dPt>
          <c:dPt>
            <c:idx val="1"/>
            <c:bubble3D val="0"/>
            <c:spPr>
              <a:solidFill>
                <a:srgbClr val="9966FF"/>
              </a:solidFill>
              <a:ln w="19050">
                <a:solidFill>
                  <a:schemeClr val="lt1"/>
                </a:solidFill>
              </a:ln>
              <a:effectLst/>
            </c:spPr>
            <c:extLst>
              <c:ext xmlns:c16="http://schemas.microsoft.com/office/drawing/2014/chart" uri="{C3380CC4-5D6E-409C-BE32-E72D297353CC}">
                <c16:uniqueId val="{00000003-D459-47C4-8804-145656D1858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459-47C4-8804-145656D18585}"/>
              </c:ext>
            </c:extLst>
          </c:dPt>
          <c:dPt>
            <c:idx val="3"/>
            <c:bubble3D val="0"/>
            <c:spPr>
              <a:solidFill>
                <a:schemeClr val="accent1">
                  <a:lumMod val="20000"/>
                  <a:lumOff val="80000"/>
                </a:schemeClr>
              </a:solidFill>
              <a:ln w="19050">
                <a:solidFill>
                  <a:schemeClr val="lt1"/>
                </a:solidFill>
              </a:ln>
              <a:effectLst/>
            </c:spPr>
            <c:extLst>
              <c:ext xmlns:c16="http://schemas.microsoft.com/office/drawing/2014/chart" uri="{C3380CC4-5D6E-409C-BE32-E72D297353CC}">
                <c16:uniqueId val="{00000007-D459-47C4-8804-145656D18585}"/>
              </c:ext>
            </c:extLst>
          </c:dPt>
          <c:dPt>
            <c:idx val="4"/>
            <c:bubble3D val="0"/>
            <c:spPr>
              <a:solidFill>
                <a:srgbClr val="C00000"/>
              </a:solidFill>
              <a:ln w="19050">
                <a:solidFill>
                  <a:schemeClr val="lt1"/>
                </a:solidFill>
              </a:ln>
              <a:effectLst/>
            </c:spPr>
            <c:extLst>
              <c:ext xmlns:c16="http://schemas.microsoft.com/office/drawing/2014/chart" uri="{C3380CC4-5D6E-409C-BE32-E72D297353CC}">
                <c16:uniqueId val="{00000009-D459-47C4-8804-145656D1858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'Modality Analysis_CS Achieved'!$H$15:$H$19</c:f>
              <c:strCache>
                <c:ptCount val="5"/>
                <c:pt idx="0">
                  <c:v>Antibody</c:v>
                </c:pt>
                <c:pt idx="1">
                  <c:v>ADC</c:v>
                </c:pt>
                <c:pt idx="2">
                  <c:v>Peptide</c:v>
                </c:pt>
                <c:pt idx="3">
                  <c:v>Small Molecule</c:v>
                </c:pt>
                <c:pt idx="4">
                  <c:v>siRNA</c:v>
                </c:pt>
              </c:strCache>
            </c:strRef>
          </c:cat>
          <c:val>
            <c:numRef>
              <c:f>'Modality Analysis_CS Achieved'!$N$15:$N$19</c:f>
              <c:numCache>
                <c:formatCode>0</c:formatCode>
                <c:ptCount val="5"/>
                <c:pt idx="0">
                  <c:v>22.222222222222221</c:v>
                </c:pt>
                <c:pt idx="1">
                  <c:v>33.333333333333329</c:v>
                </c:pt>
                <c:pt idx="3">
                  <c:v>22.222222222222221</c:v>
                </c:pt>
                <c:pt idx="4">
                  <c:v>22.222222222222221</c:v>
                </c:pt>
              </c:numCache>
            </c:numRef>
          </c:val>
          <c:extLst>
            <c:ext xmlns:c16="http://schemas.microsoft.com/office/drawing/2014/chart" uri="{C3380CC4-5D6E-409C-BE32-E72D297353CC}">
              <c16:uniqueId val="{0000000A-D459-47C4-8804-145656D18585}"/>
            </c:ext>
          </c:extLst>
        </c:ser>
        <c:dLbls>
          <c:showLegendKey val="0"/>
          <c:showVal val="0"/>
          <c:showCatName val="0"/>
          <c:showSerName val="0"/>
          <c:showPercent val="0"/>
          <c:showBubbleSize val="0"/>
          <c:showLeaderLines val="1"/>
        </c:dLbls>
        <c:firstSliceAng val="0"/>
        <c:extLst>
          <c:ext xmlns:c15="http://schemas.microsoft.com/office/drawing/2012/chart" uri="{02D57815-91ED-43cb-92C2-25804820EDAC}">
            <c15:filteredPieSeries>
              <c15: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C-D459-47C4-8804-145656D1858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E-D459-47C4-8804-145656D1858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10-D459-47C4-8804-145656D1858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12-D459-47C4-8804-145656D1858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14-D459-47C4-8804-145656D18585}"/>
                    </c:ext>
                  </c:extLst>
                </c:dPt>
                <c:cat>
                  <c:strRef>
                    <c:extLst>
                      <c:ex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c:ext uri="{02D57815-91ED-43cb-92C2-25804820EDAC}">
                        <c15:formulaRef>
                          <c15:sqref>'Modality Analysis_CS Achieved'!$I$15:$I$19</c15:sqref>
                        </c15:formulaRef>
                      </c:ext>
                    </c:extLst>
                    <c:numCache>
                      <c:formatCode>General</c:formatCode>
                      <c:ptCount val="5"/>
                      <c:pt idx="0" formatCode="0">
                        <c:v>47.058823529411761</c:v>
                      </c:pt>
                      <c:pt idx="2" formatCode="0">
                        <c:v>17.647058823529413</c:v>
                      </c:pt>
                      <c:pt idx="3" formatCode="0">
                        <c:v>35.294117647058826</c:v>
                      </c:pt>
                    </c:numCache>
                  </c:numRef>
                </c:val>
                <c:extLst>
                  <c:ext xmlns:c16="http://schemas.microsoft.com/office/drawing/2014/chart" uri="{C3380CC4-5D6E-409C-BE32-E72D297353CC}">
                    <c16:uniqueId val="{00000015-D459-47C4-8804-145656D18585}"/>
                  </c:ext>
                </c:extLst>
              </c15:ser>
            </c15:filteredPieSeries>
            <c15:filteredPieSeries>
              <c15:ser>
                <c:idx val="1"/>
                <c:order val="1"/>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17-D459-47C4-8804-145656D18585}"/>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19-D459-47C4-8804-145656D18585}"/>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1B-D459-47C4-8804-145656D18585}"/>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1D-D459-47C4-8804-145656D18585}"/>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1F-D459-47C4-8804-145656D18585}"/>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Achieved'!$J$15:$J$19</c15:sqref>
                        </c15:formulaRef>
                      </c:ext>
                    </c:extLst>
                    <c:numCache>
                      <c:formatCode>General</c:formatCode>
                      <c:ptCount val="5"/>
                      <c:pt idx="0" formatCode="0">
                        <c:v>36.84210526315789</c:v>
                      </c:pt>
                      <c:pt idx="2" formatCode="0">
                        <c:v>31.578947368421051</c:v>
                      </c:pt>
                      <c:pt idx="3" formatCode="0">
                        <c:v>31.578947368421051</c:v>
                      </c:pt>
                    </c:numCache>
                  </c:numRef>
                </c:val>
                <c:extLst xmlns:c15="http://schemas.microsoft.com/office/drawing/2012/chart">
                  <c:ext xmlns:c16="http://schemas.microsoft.com/office/drawing/2014/chart" uri="{C3380CC4-5D6E-409C-BE32-E72D297353CC}">
                    <c16:uniqueId val="{00000020-D459-47C4-8804-145656D18585}"/>
                  </c:ext>
                </c:extLst>
              </c15:ser>
            </c15:filteredPieSeries>
            <c15:filteredPieSeries>
              <c15:ser>
                <c:idx val="2"/>
                <c:order val="2"/>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2-D459-47C4-8804-145656D18585}"/>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24-D459-47C4-8804-145656D18585}"/>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26-D459-47C4-8804-145656D18585}"/>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28-D459-47C4-8804-145656D18585}"/>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2A-D459-47C4-8804-145656D18585}"/>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Achieved'!$K$15:$K$19</c15:sqref>
                        </c15:formulaRef>
                      </c:ext>
                    </c:extLst>
                    <c:numCache>
                      <c:formatCode>General</c:formatCode>
                      <c:ptCount val="5"/>
                      <c:pt idx="0" formatCode="0">
                        <c:v>17.647058823529413</c:v>
                      </c:pt>
                      <c:pt idx="2" formatCode="0">
                        <c:v>35.294117647058826</c:v>
                      </c:pt>
                      <c:pt idx="3" formatCode="0">
                        <c:v>41.17647058823529</c:v>
                      </c:pt>
                      <c:pt idx="4" formatCode="0">
                        <c:v>5.8823529411764701</c:v>
                      </c:pt>
                    </c:numCache>
                  </c:numRef>
                </c:val>
                <c:extLst xmlns:c15="http://schemas.microsoft.com/office/drawing/2012/chart">
                  <c:ext xmlns:c16="http://schemas.microsoft.com/office/drawing/2014/chart" uri="{C3380CC4-5D6E-409C-BE32-E72D297353CC}">
                    <c16:uniqueId val="{0000002B-D459-47C4-8804-145656D18585}"/>
                  </c:ext>
                </c:extLst>
              </c15:ser>
            </c15:filteredPieSeries>
            <c15:filteredPieSeries>
              <c15:ser>
                <c:idx val="3"/>
                <c:order val="3"/>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D-D459-47C4-8804-145656D18585}"/>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2F-D459-47C4-8804-145656D18585}"/>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31-D459-47C4-8804-145656D18585}"/>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33-D459-47C4-8804-145656D18585}"/>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35-D459-47C4-8804-145656D18585}"/>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Achieved'!$L$15:$L$19</c15:sqref>
                        </c15:formulaRef>
                      </c:ext>
                    </c:extLst>
                    <c:numCache>
                      <c:formatCode>General</c:formatCode>
                      <c:ptCount val="5"/>
                      <c:pt idx="0" formatCode="0">
                        <c:v>35.294117647058826</c:v>
                      </c:pt>
                      <c:pt idx="2" formatCode="0">
                        <c:v>11.76470588235294</c:v>
                      </c:pt>
                      <c:pt idx="3" formatCode="0">
                        <c:v>41.17647058823529</c:v>
                      </c:pt>
                      <c:pt idx="4" formatCode="0">
                        <c:v>11.76470588235294</c:v>
                      </c:pt>
                    </c:numCache>
                  </c:numRef>
                </c:val>
                <c:extLst xmlns:c15="http://schemas.microsoft.com/office/drawing/2012/chart">
                  <c:ext xmlns:c16="http://schemas.microsoft.com/office/drawing/2014/chart" uri="{C3380CC4-5D6E-409C-BE32-E72D297353CC}">
                    <c16:uniqueId val="{00000036-D459-47C4-8804-145656D18585}"/>
                  </c:ext>
                </c:extLst>
              </c15:ser>
            </c15:filteredPieSeries>
            <c15:filteredPieSeries>
              <c15:ser>
                <c:idx val="4"/>
                <c:order val="4"/>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38-D459-47C4-8804-145656D18585}"/>
                    </c:ext>
                  </c:extLst>
                </c:dPt>
                <c:dPt>
                  <c:idx val="1"/>
                  <c:bubble3D val="0"/>
                  <c:spPr>
                    <a:solidFill>
                      <a:schemeClr val="accent2"/>
                    </a:solidFill>
                    <a:ln w="19050">
                      <a:solidFill>
                        <a:schemeClr val="lt1"/>
                      </a:solidFill>
                    </a:ln>
                    <a:effectLst/>
                  </c:spPr>
                  <c:extLst xmlns:c15="http://schemas.microsoft.com/office/drawing/2012/chart">
                    <c:ext xmlns:c16="http://schemas.microsoft.com/office/drawing/2014/chart" uri="{C3380CC4-5D6E-409C-BE32-E72D297353CC}">
                      <c16:uniqueId val="{0000003A-D459-47C4-8804-145656D18585}"/>
                    </c:ext>
                  </c:extLst>
                </c:dPt>
                <c:dPt>
                  <c:idx val="2"/>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3C-D459-47C4-8804-145656D18585}"/>
                    </c:ext>
                  </c:extLst>
                </c:dPt>
                <c:dPt>
                  <c:idx val="3"/>
                  <c:bubble3D val="0"/>
                  <c:spPr>
                    <a:solidFill>
                      <a:schemeClr val="accent4"/>
                    </a:solidFill>
                    <a:ln w="19050">
                      <a:solidFill>
                        <a:schemeClr val="lt1"/>
                      </a:solidFill>
                    </a:ln>
                    <a:effectLst/>
                  </c:spPr>
                  <c:extLst xmlns:c15="http://schemas.microsoft.com/office/drawing/2012/chart">
                    <c:ext xmlns:c16="http://schemas.microsoft.com/office/drawing/2014/chart" uri="{C3380CC4-5D6E-409C-BE32-E72D297353CC}">
                      <c16:uniqueId val="{0000003E-D459-47C4-8804-145656D18585}"/>
                    </c:ext>
                  </c:extLst>
                </c:dPt>
                <c:dPt>
                  <c:idx val="4"/>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40-D459-47C4-8804-145656D18585}"/>
                    </c:ext>
                  </c:extLst>
                </c:dPt>
                <c:cat>
                  <c:strRef>
                    <c:extLst xmlns:c15="http://schemas.microsoft.com/office/drawing/2012/chart">
                      <c:ext xmlns:c15="http://schemas.microsoft.com/office/drawing/2012/chart" uri="{02D57815-91ED-43cb-92C2-25804820EDAC}">
                        <c15:formulaRef>
                          <c15:sqref>'Modality Analysis_CS Achieved'!$H$15:$H$19</c15:sqref>
                        </c15:formulaRef>
                      </c:ext>
                    </c:extLst>
                    <c:strCache>
                      <c:ptCount val="5"/>
                      <c:pt idx="0">
                        <c:v>Antibody</c:v>
                      </c:pt>
                      <c:pt idx="1">
                        <c:v>ADC</c:v>
                      </c:pt>
                      <c:pt idx="2">
                        <c:v>Peptide</c:v>
                      </c:pt>
                      <c:pt idx="3">
                        <c:v>Small Molecule</c:v>
                      </c:pt>
                      <c:pt idx="4">
                        <c:v>siRNA</c:v>
                      </c:pt>
                    </c:strCache>
                  </c:strRef>
                </c:cat>
                <c:val>
                  <c:numRef>
                    <c:extLst xmlns:c15="http://schemas.microsoft.com/office/drawing/2012/chart">
                      <c:ext xmlns:c15="http://schemas.microsoft.com/office/drawing/2012/chart" uri="{02D57815-91ED-43cb-92C2-25804820EDAC}">
                        <c15:formulaRef>
                          <c15:sqref>'Modality Analysis_CS Achieved'!$M$15:$M$19</c15:sqref>
                        </c15:formulaRef>
                      </c:ext>
                    </c:extLst>
                    <c:numCache>
                      <c:formatCode>General</c:formatCode>
                      <c:ptCount val="5"/>
                      <c:pt idx="0" formatCode="0">
                        <c:v>20</c:v>
                      </c:pt>
                      <c:pt idx="2" formatCode="0">
                        <c:v>6.666666666666667</c:v>
                      </c:pt>
                      <c:pt idx="3" formatCode="0">
                        <c:v>33.333333333333329</c:v>
                      </c:pt>
                      <c:pt idx="4" formatCode="0">
                        <c:v>40</c:v>
                      </c:pt>
                    </c:numCache>
                  </c:numRef>
                </c:val>
                <c:extLst xmlns:c15="http://schemas.microsoft.com/office/drawing/2012/chart">
                  <c:ext xmlns:c16="http://schemas.microsoft.com/office/drawing/2014/chart" uri="{C3380CC4-5D6E-409C-BE32-E72D297353CC}">
                    <c16:uniqueId val="{00000041-D459-47C4-8804-145656D18585}"/>
                  </c:ext>
                </c:extLst>
              </c15:ser>
            </c15:filteredPieSeries>
          </c:ext>
        </c:extLst>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image" Target="../media/image43.png"/></Relationships>
</file>

<file path=ppt/diagrams/_rels/data5.xml.rels><?xml version="1.0" encoding="UTF-8" standalone="yes"?>
<Relationships xmlns="http://schemas.openxmlformats.org/package/2006/relationships"><Relationship Id="rId1" Type="http://schemas.openxmlformats.org/officeDocument/2006/relationships/image" Target="../media/image45.png"/></Relationships>
</file>

<file path=ppt/diagrams/_rels/drawing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image" Target="../media/image43.png"/></Relationships>
</file>

<file path=ppt/diagrams/_rels/drawing5.xml.rels><?xml version="1.0" encoding="UTF-8" standalone="yes"?>
<Relationships xmlns="http://schemas.openxmlformats.org/package/2006/relationships"><Relationship Id="rId1" Type="http://schemas.openxmlformats.org/officeDocument/2006/relationships/image" Target="../media/image4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1EC527-B713-4BC3-9F33-16F0DAE61FD5}" type="doc">
      <dgm:prSet loTypeId="urn:microsoft.com/office/officeart/2005/8/layout/process1" loCatId="process" qsTypeId="urn:microsoft.com/office/officeart/2005/8/quickstyle/simple1" qsCatId="simple" csTypeId="urn:microsoft.com/office/officeart/2005/8/colors/accent1_2" csCatId="accent1" phldr="1"/>
      <dgm:spPr/>
    </dgm:pt>
    <dgm:pt modelId="{7972B934-04DF-4E68-A6B2-6E1528ED8B09}">
      <dgm:prSet phldrT="[Text]" custT="1"/>
      <dgm:spPr>
        <a:solidFill>
          <a:srgbClr val="B95151"/>
        </a:solidFill>
      </dgm:spPr>
      <dgm:t>
        <a:bodyPr/>
        <a:lstStyle/>
        <a:p>
          <a:r>
            <a:rPr lang="en-US" sz="4000" b="1"/>
            <a:t>Discovery</a:t>
          </a:r>
        </a:p>
      </dgm:t>
    </dgm:pt>
    <dgm:pt modelId="{5BCFC413-EDBE-416C-9C4C-A57C8D4109F2}" type="parTrans" cxnId="{A497B8CB-FC78-46E9-B15A-32E439C5A454}">
      <dgm:prSet/>
      <dgm:spPr/>
      <dgm:t>
        <a:bodyPr/>
        <a:lstStyle/>
        <a:p>
          <a:endParaRPr lang="en-US"/>
        </a:p>
      </dgm:t>
    </dgm:pt>
    <dgm:pt modelId="{4095917B-C19A-482F-87E5-73FE7D3A5950}" type="sibTrans" cxnId="{A497B8CB-FC78-46E9-B15A-32E439C5A454}">
      <dgm:prSet/>
      <dgm:spPr/>
      <dgm:t>
        <a:bodyPr/>
        <a:lstStyle/>
        <a:p>
          <a:endParaRPr lang="en-US"/>
        </a:p>
      </dgm:t>
    </dgm:pt>
    <dgm:pt modelId="{4A9099DD-443E-48EB-9E6B-8D529702032A}" type="pres">
      <dgm:prSet presAssocID="{D51EC527-B713-4BC3-9F33-16F0DAE61FD5}" presName="Name0" presStyleCnt="0">
        <dgm:presLayoutVars>
          <dgm:dir/>
          <dgm:resizeHandles val="exact"/>
        </dgm:presLayoutVars>
      </dgm:prSet>
      <dgm:spPr/>
    </dgm:pt>
    <dgm:pt modelId="{4BD715FF-EA18-403C-9E61-8DD6D21E2ECE}" type="pres">
      <dgm:prSet presAssocID="{7972B934-04DF-4E68-A6B2-6E1528ED8B09}" presName="node" presStyleLbl="node1" presStyleIdx="0" presStyleCnt="1" custLinFactNeighborY="-1173">
        <dgm:presLayoutVars>
          <dgm:bulletEnabled val="1"/>
        </dgm:presLayoutVars>
      </dgm:prSet>
      <dgm:spPr/>
    </dgm:pt>
  </dgm:ptLst>
  <dgm:cxnLst>
    <dgm:cxn modelId="{A14EF463-DDD3-4104-B7F4-A000730065E0}" type="presOf" srcId="{7972B934-04DF-4E68-A6B2-6E1528ED8B09}" destId="{4BD715FF-EA18-403C-9E61-8DD6D21E2ECE}" srcOrd="0" destOrd="0" presId="urn:microsoft.com/office/officeart/2005/8/layout/process1"/>
    <dgm:cxn modelId="{49695645-2394-468B-81A6-4066B2854CE9}" type="presOf" srcId="{D51EC527-B713-4BC3-9F33-16F0DAE61FD5}" destId="{4A9099DD-443E-48EB-9E6B-8D529702032A}" srcOrd="0" destOrd="0" presId="urn:microsoft.com/office/officeart/2005/8/layout/process1"/>
    <dgm:cxn modelId="{A497B8CB-FC78-46E9-B15A-32E439C5A454}" srcId="{D51EC527-B713-4BC3-9F33-16F0DAE61FD5}" destId="{7972B934-04DF-4E68-A6B2-6E1528ED8B09}" srcOrd="0" destOrd="0" parTransId="{5BCFC413-EDBE-416C-9C4C-A57C8D4109F2}" sibTransId="{4095917B-C19A-482F-87E5-73FE7D3A5950}"/>
    <dgm:cxn modelId="{F2B30A8D-6E49-4CCE-8CA9-7BFC0B435679}" type="presParOf" srcId="{4A9099DD-443E-48EB-9E6B-8D529702032A}" destId="{4BD715FF-EA18-403C-9E61-8DD6D21E2ECE}"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A508302-AFFF-4E82-B696-3C665F10F8FB}" type="doc">
      <dgm:prSet loTypeId="urn:microsoft.com/office/officeart/2005/8/layout/hierarchy3" loCatId="list" qsTypeId="urn:microsoft.com/office/officeart/2005/8/quickstyle/simple1" qsCatId="simple" csTypeId="urn:microsoft.com/office/officeart/2005/8/colors/colorful3" csCatId="colorful" phldr="1"/>
      <dgm:spPr/>
      <dgm:t>
        <a:bodyPr/>
        <a:lstStyle/>
        <a:p>
          <a:endParaRPr lang="en-US"/>
        </a:p>
      </dgm:t>
    </dgm:pt>
    <dgm:pt modelId="{7184FB5F-2795-4078-9C17-EDEF5A7F4A80}">
      <dgm:prSet phldrT="[Text]"/>
      <dgm:spPr>
        <a:solidFill>
          <a:srgbClr val="B95151"/>
        </a:solidFill>
      </dgm:spPr>
      <dgm:t>
        <a:bodyPr/>
        <a:lstStyle/>
        <a:p>
          <a:r>
            <a:rPr lang="en-US"/>
            <a:t>External Innovation</a:t>
          </a:r>
        </a:p>
      </dgm:t>
    </dgm:pt>
    <dgm:pt modelId="{82B9E6A4-8B30-4795-8C14-7D4A7822C264}" type="parTrans" cxnId="{07309D91-3B31-4E3B-8C7D-3BA63A076538}">
      <dgm:prSet/>
      <dgm:spPr/>
      <dgm:t>
        <a:bodyPr/>
        <a:lstStyle/>
        <a:p>
          <a:endParaRPr lang="en-US"/>
        </a:p>
      </dgm:t>
    </dgm:pt>
    <dgm:pt modelId="{EE20639A-31BE-4958-8F4E-A34995E19E97}" type="sibTrans" cxnId="{07309D91-3B31-4E3B-8C7D-3BA63A076538}">
      <dgm:prSet/>
      <dgm:spPr/>
      <dgm:t>
        <a:bodyPr/>
        <a:lstStyle/>
        <a:p>
          <a:endParaRPr lang="en-US"/>
        </a:p>
      </dgm:t>
    </dgm:pt>
    <dgm:pt modelId="{400807D1-47A7-48F1-9751-E49C8EBACF8F}">
      <dgm:prSet phldrT="[Text]"/>
      <dgm:spPr>
        <a:solidFill>
          <a:schemeClr val="bg1"/>
        </a:solidFill>
        <a:ln>
          <a:solidFill>
            <a:srgbClr val="963C3C"/>
          </a:solidFill>
        </a:ln>
      </dgm:spPr>
      <dgm:t>
        <a:bodyPr/>
        <a:lstStyle/>
        <a:p>
          <a:r>
            <a:rPr lang="en-US"/>
            <a:t>Survey marketplace for new opportunities</a:t>
          </a:r>
        </a:p>
      </dgm:t>
    </dgm:pt>
    <dgm:pt modelId="{EDA5A13D-7285-41C3-BED6-A5F95C331741}" type="parTrans" cxnId="{20907187-5CA1-40D4-B77E-7A15072466BD}">
      <dgm:prSet/>
      <dgm:spPr>
        <a:solidFill>
          <a:srgbClr val="B95151"/>
        </a:solidFill>
        <a:ln>
          <a:solidFill>
            <a:srgbClr val="963C3C"/>
          </a:solidFill>
        </a:ln>
      </dgm:spPr>
      <dgm:t>
        <a:bodyPr/>
        <a:lstStyle/>
        <a:p>
          <a:endParaRPr lang="en-US"/>
        </a:p>
      </dgm:t>
    </dgm:pt>
    <dgm:pt modelId="{314D4E96-59A7-4FA0-BB4A-6C0495EA337B}" type="sibTrans" cxnId="{20907187-5CA1-40D4-B77E-7A15072466BD}">
      <dgm:prSet/>
      <dgm:spPr/>
      <dgm:t>
        <a:bodyPr/>
        <a:lstStyle/>
        <a:p>
          <a:endParaRPr lang="en-US"/>
        </a:p>
      </dgm:t>
    </dgm:pt>
    <dgm:pt modelId="{BA71FE56-E746-4B27-9440-C0636B803003}">
      <dgm:prSet phldrT="[Text]"/>
      <dgm:spPr>
        <a:solidFill>
          <a:srgbClr val="B95151"/>
        </a:solidFill>
      </dgm:spPr>
      <dgm:t>
        <a:bodyPr/>
        <a:lstStyle/>
        <a:p>
          <a:r>
            <a:rPr lang="en-US"/>
            <a:t>PM Strategy and Capabilities </a:t>
          </a:r>
        </a:p>
      </dgm:t>
    </dgm:pt>
    <dgm:pt modelId="{A391B92F-9530-4911-A1AB-1C16D85BBF76}" type="parTrans" cxnId="{EE460A3A-8EED-4552-9051-F121DCC3509E}">
      <dgm:prSet/>
      <dgm:spPr/>
      <dgm:t>
        <a:bodyPr/>
        <a:lstStyle/>
        <a:p>
          <a:endParaRPr lang="en-US"/>
        </a:p>
      </dgm:t>
    </dgm:pt>
    <dgm:pt modelId="{01496090-9328-4689-B8A7-2F487F22825A}" type="sibTrans" cxnId="{EE460A3A-8EED-4552-9051-F121DCC3509E}">
      <dgm:prSet/>
      <dgm:spPr/>
      <dgm:t>
        <a:bodyPr/>
        <a:lstStyle/>
        <a:p>
          <a:endParaRPr lang="en-US"/>
        </a:p>
      </dgm:t>
    </dgm:pt>
    <dgm:pt modelId="{B7573CE3-6ADE-44AD-A7BF-E4C166FD8538}">
      <dgm:prSet phldrT="[Text]"/>
      <dgm:spPr>
        <a:ln>
          <a:solidFill>
            <a:srgbClr val="963C3C"/>
          </a:solidFill>
        </a:ln>
      </dgm:spPr>
      <dgm:t>
        <a:bodyPr/>
        <a:lstStyle/>
        <a:p>
          <a:r>
            <a:rPr lang="en-US"/>
            <a:t>Process ownership &amp; budget management</a:t>
          </a:r>
        </a:p>
      </dgm:t>
    </dgm:pt>
    <dgm:pt modelId="{7090B68F-D094-40AC-A84A-73B7910ED647}" type="parTrans" cxnId="{524B1DE2-A588-424B-A686-A850BCE9B7CB}">
      <dgm:prSet/>
      <dgm:spPr>
        <a:ln>
          <a:solidFill>
            <a:srgbClr val="963C3C"/>
          </a:solidFill>
        </a:ln>
      </dgm:spPr>
      <dgm:t>
        <a:bodyPr/>
        <a:lstStyle/>
        <a:p>
          <a:endParaRPr lang="en-US"/>
        </a:p>
      </dgm:t>
    </dgm:pt>
    <dgm:pt modelId="{B4454EF6-AF4E-4722-BD98-0E39E38FAB9F}" type="sibTrans" cxnId="{524B1DE2-A588-424B-A686-A850BCE9B7CB}">
      <dgm:prSet/>
      <dgm:spPr/>
      <dgm:t>
        <a:bodyPr/>
        <a:lstStyle/>
        <a:p>
          <a:endParaRPr lang="en-US"/>
        </a:p>
      </dgm:t>
    </dgm:pt>
    <dgm:pt modelId="{5AF158E9-93C2-4863-948B-121A106D0837}">
      <dgm:prSet/>
      <dgm:spPr>
        <a:solidFill>
          <a:srgbClr val="B95151"/>
        </a:solidFill>
      </dgm:spPr>
      <dgm:t>
        <a:bodyPr/>
        <a:lstStyle/>
        <a:p>
          <a:r>
            <a:rPr lang="en-US"/>
            <a:t>Portfolio Strategy &amp; Competitive Intelligence</a:t>
          </a:r>
        </a:p>
      </dgm:t>
    </dgm:pt>
    <dgm:pt modelId="{EF0CFA0C-379A-4C55-9C59-78A2A6BE44F7}" type="parTrans" cxnId="{1B499D50-6D79-4D23-A6C5-605DE8ECBBDE}">
      <dgm:prSet/>
      <dgm:spPr/>
      <dgm:t>
        <a:bodyPr/>
        <a:lstStyle/>
        <a:p>
          <a:endParaRPr lang="en-US"/>
        </a:p>
      </dgm:t>
    </dgm:pt>
    <dgm:pt modelId="{3C2495C9-0653-40FF-BECA-462336E2556B}" type="sibTrans" cxnId="{1B499D50-6D79-4D23-A6C5-605DE8ECBBDE}">
      <dgm:prSet/>
      <dgm:spPr/>
      <dgm:t>
        <a:bodyPr/>
        <a:lstStyle/>
        <a:p>
          <a:endParaRPr lang="en-US"/>
        </a:p>
      </dgm:t>
    </dgm:pt>
    <dgm:pt modelId="{0A05EB64-5133-4AF8-BBFC-C07B9011E05D}">
      <dgm:prSet/>
      <dgm:spPr>
        <a:ln>
          <a:solidFill>
            <a:srgbClr val="963C3C"/>
          </a:solidFill>
        </a:ln>
      </dgm:spPr>
      <dgm:t>
        <a:bodyPr/>
        <a:lstStyle/>
        <a:p>
          <a:r>
            <a:rPr lang="en-US"/>
            <a:t>Measure pipeline and compare to competitive landscape</a:t>
          </a:r>
        </a:p>
      </dgm:t>
    </dgm:pt>
    <dgm:pt modelId="{337FC6FC-D99D-4A1C-967A-68AFB0ED008C}" type="parTrans" cxnId="{C945E1CC-5294-41F5-BEA0-5A2EB411DE30}">
      <dgm:prSet/>
      <dgm:spPr>
        <a:solidFill>
          <a:schemeClr val="bg1"/>
        </a:solidFill>
        <a:ln>
          <a:solidFill>
            <a:srgbClr val="963C3C"/>
          </a:solidFill>
        </a:ln>
      </dgm:spPr>
      <dgm:t>
        <a:bodyPr/>
        <a:lstStyle/>
        <a:p>
          <a:endParaRPr lang="en-US"/>
        </a:p>
      </dgm:t>
    </dgm:pt>
    <dgm:pt modelId="{A97F0284-3520-45BB-945D-57066F9AE07E}" type="sibTrans" cxnId="{C945E1CC-5294-41F5-BEA0-5A2EB411DE30}">
      <dgm:prSet/>
      <dgm:spPr/>
      <dgm:t>
        <a:bodyPr/>
        <a:lstStyle/>
        <a:p>
          <a:endParaRPr lang="en-US"/>
        </a:p>
      </dgm:t>
    </dgm:pt>
    <dgm:pt modelId="{3B5FB753-20E3-4184-9A06-C10F3FBC29D9}" type="pres">
      <dgm:prSet presAssocID="{CA508302-AFFF-4E82-B696-3C665F10F8FB}" presName="diagram" presStyleCnt="0">
        <dgm:presLayoutVars>
          <dgm:chPref val="1"/>
          <dgm:dir/>
          <dgm:animOne val="branch"/>
          <dgm:animLvl val="lvl"/>
          <dgm:resizeHandles/>
        </dgm:presLayoutVars>
      </dgm:prSet>
      <dgm:spPr/>
    </dgm:pt>
    <dgm:pt modelId="{5E36E493-0E6D-4807-A600-8866BABCD471}" type="pres">
      <dgm:prSet presAssocID="{7184FB5F-2795-4078-9C17-EDEF5A7F4A80}" presName="root" presStyleCnt="0"/>
      <dgm:spPr/>
    </dgm:pt>
    <dgm:pt modelId="{8BA124BE-516D-47E5-A0FD-C3F753E17BA9}" type="pres">
      <dgm:prSet presAssocID="{7184FB5F-2795-4078-9C17-EDEF5A7F4A80}" presName="rootComposite" presStyleCnt="0"/>
      <dgm:spPr/>
    </dgm:pt>
    <dgm:pt modelId="{F64A8431-7E56-45F4-AB02-6641FE94DE40}" type="pres">
      <dgm:prSet presAssocID="{7184FB5F-2795-4078-9C17-EDEF5A7F4A80}" presName="rootText" presStyleLbl="node1" presStyleIdx="0" presStyleCnt="3"/>
      <dgm:spPr/>
    </dgm:pt>
    <dgm:pt modelId="{57E847A1-217E-4B35-B3EC-DB3A418B4D6B}" type="pres">
      <dgm:prSet presAssocID="{7184FB5F-2795-4078-9C17-EDEF5A7F4A80}" presName="rootConnector" presStyleLbl="node1" presStyleIdx="0" presStyleCnt="3"/>
      <dgm:spPr/>
    </dgm:pt>
    <dgm:pt modelId="{E1E207C5-7495-40CC-92AC-D6C393EE52E8}" type="pres">
      <dgm:prSet presAssocID="{7184FB5F-2795-4078-9C17-EDEF5A7F4A80}" presName="childShape" presStyleCnt="0"/>
      <dgm:spPr/>
    </dgm:pt>
    <dgm:pt modelId="{D9B7BB61-A08A-4A96-83F9-B81F3F3F86FD}" type="pres">
      <dgm:prSet presAssocID="{EDA5A13D-7285-41C3-BED6-A5F95C331741}" presName="Name13" presStyleLbl="parChTrans1D2" presStyleIdx="0" presStyleCnt="3"/>
      <dgm:spPr/>
    </dgm:pt>
    <dgm:pt modelId="{B5EE588F-9F51-4E23-AEE3-994C14DCE01F}" type="pres">
      <dgm:prSet presAssocID="{400807D1-47A7-48F1-9751-E49C8EBACF8F}" presName="childText" presStyleLbl="bgAcc1" presStyleIdx="0" presStyleCnt="3">
        <dgm:presLayoutVars>
          <dgm:bulletEnabled val="1"/>
        </dgm:presLayoutVars>
      </dgm:prSet>
      <dgm:spPr/>
    </dgm:pt>
    <dgm:pt modelId="{7F9B7DFA-8785-4F48-9602-ADEB777B473C}" type="pres">
      <dgm:prSet presAssocID="{5AF158E9-93C2-4863-948B-121A106D0837}" presName="root" presStyleCnt="0"/>
      <dgm:spPr/>
    </dgm:pt>
    <dgm:pt modelId="{F47DEEE6-86BC-4A70-81F7-302F63022A27}" type="pres">
      <dgm:prSet presAssocID="{5AF158E9-93C2-4863-948B-121A106D0837}" presName="rootComposite" presStyleCnt="0"/>
      <dgm:spPr/>
    </dgm:pt>
    <dgm:pt modelId="{157E18E9-2349-42A3-8C8C-895D910CA479}" type="pres">
      <dgm:prSet presAssocID="{5AF158E9-93C2-4863-948B-121A106D0837}" presName="rootText" presStyleLbl="node1" presStyleIdx="1" presStyleCnt="3"/>
      <dgm:spPr/>
    </dgm:pt>
    <dgm:pt modelId="{F0092B14-0B70-4287-97C7-93477C2286E5}" type="pres">
      <dgm:prSet presAssocID="{5AF158E9-93C2-4863-948B-121A106D0837}" presName="rootConnector" presStyleLbl="node1" presStyleIdx="1" presStyleCnt="3"/>
      <dgm:spPr/>
    </dgm:pt>
    <dgm:pt modelId="{D34CAB82-C7B8-48AD-A97D-92883087AF31}" type="pres">
      <dgm:prSet presAssocID="{5AF158E9-93C2-4863-948B-121A106D0837}" presName="childShape" presStyleCnt="0"/>
      <dgm:spPr/>
    </dgm:pt>
    <dgm:pt modelId="{A41E806B-FB68-4882-A7A1-8E4C197FE95B}" type="pres">
      <dgm:prSet presAssocID="{337FC6FC-D99D-4A1C-967A-68AFB0ED008C}" presName="Name13" presStyleLbl="parChTrans1D2" presStyleIdx="1" presStyleCnt="3"/>
      <dgm:spPr/>
    </dgm:pt>
    <dgm:pt modelId="{8741B7CD-2CAD-4D86-ABA1-1FC949349000}" type="pres">
      <dgm:prSet presAssocID="{0A05EB64-5133-4AF8-BBFC-C07B9011E05D}" presName="childText" presStyleLbl="bgAcc1" presStyleIdx="1" presStyleCnt="3">
        <dgm:presLayoutVars>
          <dgm:bulletEnabled val="1"/>
        </dgm:presLayoutVars>
      </dgm:prSet>
      <dgm:spPr/>
    </dgm:pt>
    <dgm:pt modelId="{73635E59-400C-4256-83C9-50338FAC8A5C}" type="pres">
      <dgm:prSet presAssocID="{BA71FE56-E746-4B27-9440-C0636B803003}" presName="root" presStyleCnt="0"/>
      <dgm:spPr/>
    </dgm:pt>
    <dgm:pt modelId="{A803ADD9-ECA6-427B-8FD0-D53B1741DFD7}" type="pres">
      <dgm:prSet presAssocID="{BA71FE56-E746-4B27-9440-C0636B803003}" presName="rootComposite" presStyleCnt="0"/>
      <dgm:spPr/>
    </dgm:pt>
    <dgm:pt modelId="{21D4E10D-8939-4E9F-B08B-B742E2E9BF56}" type="pres">
      <dgm:prSet presAssocID="{BA71FE56-E746-4B27-9440-C0636B803003}" presName="rootText" presStyleLbl="node1" presStyleIdx="2" presStyleCnt="3"/>
      <dgm:spPr/>
    </dgm:pt>
    <dgm:pt modelId="{058F25C8-EE87-4391-861E-4BC1B3945CF2}" type="pres">
      <dgm:prSet presAssocID="{BA71FE56-E746-4B27-9440-C0636B803003}" presName="rootConnector" presStyleLbl="node1" presStyleIdx="2" presStyleCnt="3"/>
      <dgm:spPr/>
    </dgm:pt>
    <dgm:pt modelId="{4B440D9F-0E90-459D-9DD7-4FABED95E446}" type="pres">
      <dgm:prSet presAssocID="{BA71FE56-E746-4B27-9440-C0636B803003}" presName="childShape" presStyleCnt="0"/>
      <dgm:spPr/>
    </dgm:pt>
    <dgm:pt modelId="{D5F3804A-7302-4DF4-B0E6-DDE266AB0E3F}" type="pres">
      <dgm:prSet presAssocID="{7090B68F-D094-40AC-A84A-73B7910ED647}" presName="Name13" presStyleLbl="parChTrans1D2" presStyleIdx="2" presStyleCnt="3"/>
      <dgm:spPr/>
    </dgm:pt>
    <dgm:pt modelId="{BFED58C1-0629-4856-B144-BCCC08351637}" type="pres">
      <dgm:prSet presAssocID="{B7573CE3-6ADE-44AD-A7BF-E4C166FD8538}" presName="childText" presStyleLbl="bgAcc1" presStyleIdx="2" presStyleCnt="3">
        <dgm:presLayoutVars>
          <dgm:bulletEnabled val="1"/>
        </dgm:presLayoutVars>
      </dgm:prSet>
      <dgm:spPr/>
    </dgm:pt>
  </dgm:ptLst>
  <dgm:cxnLst>
    <dgm:cxn modelId="{09BDB417-D818-4A9F-9AC7-3DA0C8AE7B54}" type="presOf" srcId="{337FC6FC-D99D-4A1C-967A-68AFB0ED008C}" destId="{A41E806B-FB68-4882-A7A1-8E4C197FE95B}" srcOrd="0" destOrd="0" presId="urn:microsoft.com/office/officeart/2005/8/layout/hierarchy3"/>
    <dgm:cxn modelId="{5066B51D-CEDD-4E64-8B23-5E7278044EF2}" type="presOf" srcId="{BA71FE56-E746-4B27-9440-C0636B803003}" destId="{21D4E10D-8939-4E9F-B08B-B742E2E9BF56}" srcOrd="0" destOrd="0" presId="urn:microsoft.com/office/officeart/2005/8/layout/hierarchy3"/>
    <dgm:cxn modelId="{06D9982C-C870-40EE-9ECE-FC73C8995739}" type="presOf" srcId="{5AF158E9-93C2-4863-948B-121A106D0837}" destId="{F0092B14-0B70-4287-97C7-93477C2286E5}" srcOrd="1" destOrd="0" presId="urn:microsoft.com/office/officeart/2005/8/layout/hierarchy3"/>
    <dgm:cxn modelId="{2979C839-F4A1-4C4E-AB4B-F2A5EBE049D7}" type="presOf" srcId="{EDA5A13D-7285-41C3-BED6-A5F95C331741}" destId="{D9B7BB61-A08A-4A96-83F9-B81F3F3F86FD}" srcOrd="0" destOrd="0" presId="urn:microsoft.com/office/officeart/2005/8/layout/hierarchy3"/>
    <dgm:cxn modelId="{EE460A3A-8EED-4552-9051-F121DCC3509E}" srcId="{CA508302-AFFF-4E82-B696-3C665F10F8FB}" destId="{BA71FE56-E746-4B27-9440-C0636B803003}" srcOrd="2" destOrd="0" parTransId="{A391B92F-9530-4911-A1AB-1C16D85BBF76}" sibTransId="{01496090-9328-4689-B8A7-2F487F22825A}"/>
    <dgm:cxn modelId="{1CFB4A5E-221A-40D6-A3A8-56D8316B6E33}" type="presOf" srcId="{BA71FE56-E746-4B27-9440-C0636B803003}" destId="{058F25C8-EE87-4391-861E-4BC1B3945CF2}" srcOrd="1" destOrd="0" presId="urn:microsoft.com/office/officeart/2005/8/layout/hierarchy3"/>
    <dgm:cxn modelId="{10C8344C-EAC8-46BF-8423-F140999C7C81}" type="presOf" srcId="{7184FB5F-2795-4078-9C17-EDEF5A7F4A80}" destId="{57E847A1-217E-4B35-B3EC-DB3A418B4D6B}" srcOrd="1" destOrd="0" presId="urn:microsoft.com/office/officeart/2005/8/layout/hierarchy3"/>
    <dgm:cxn modelId="{450B926F-9004-4C92-8F3A-DE962B43BEED}" type="presOf" srcId="{7184FB5F-2795-4078-9C17-EDEF5A7F4A80}" destId="{F64A8431-7E56-45F4-AB02-6641FE94DE40}" srcOrd="0" destOrd="0" presId="urn:microsoft.com/office/officeart/2005/8/layout/hierarchy3"/>
    <dgm:cxn modelId="{1B499D50-6D79-4D23-A6C5-605DE8ECBBDE}" srcId="{CA508302-AFFF-4E82-B696-3C665F10F8FB}" destId="{5AF158E9-93C2-4863-948B-121A106D0837}" srcOrd="1" destOrd="0" parTransId="{EF0CFA0C-379A-4C55-9C59-78A2A6BE44F7}" sibTransId="{3C2495C9-0653-40FF-BECA-462336E2556B}"/>
    <dgm:cxn modelId="{3E9C8E5A-7522-4790-B59E-8149A21E4087}" type="presOf" srcId="{7090B68F-D094-40AC-A84A-73B7910ED647}" destId="{D5F3804A-7302-4DF4-B0E6-DDE266AB0E3F}" srcOrd="0" destOrd="0" presId="urn:microsoft.com/office/officeart/2005/8/layout/hierarchy3"/>
    <dgm:cxn modelId="{91565B7B-8680-454D-9F9B-AC98A35A9279}" type="presOf" srcId="{B7573CE3-6ADE-44AD-A7BF-E4C166FD8538}" destId="{BFED58C1-0629-4856-B144-BCCC08351637}" srcOrd="0" destOrd="0" presId="urn:microsoft.com/office/officeart/2005/8/layout/hierarchy3"/>
    <dgm:cxn modelId="{20907187-5CA1-40D4-B77E-7A15072466BD}" srcId="{7184FB5F-2795-4078-9C17-EDEF5A7F4A80}" destId="{400807D1-47A7-48F1-9751-E49C8EBACF8F}" srcOrd="0" destOrd="0" parTransId="{EDA5A13D-7285-41C3-BED6-A5F95C331741}" sibTransId="{314D4E96-59A7-4FA0-BB4A-6C0495EA337B}"/>
    <dgm:cxn modelId="{91424E8A-7C06-4489-97DB-C86933FDBEFB}" type="presOf" srcId="{400807D1-47A7-48F1-9751-E49C8EBACF8F}" destId="{B5EE588F-9F51-4E23-AEE3-994C14DCE01F}" srcOrd="0" destOrd="0" presId="urn:microsoft.com/office/officeart/2005/8/layout/hierarchy3"/>
    <dgm:cxn modelId="{07309D91-3B31-4E3B-8C7D-3BA63A076538}" srcId="{CA508302-AFFF-4E82-B696-3C665F10F8FB}" destId="{7184FB5F-2795-4078-9C17-EDEF5A7F4A80}" srcOrd="0" destOrd="0" parTransId="{82B9E6A4-8B30-4795-8C14-7D4A7822C264}" sibTransId="{EE20639A-31BE-4958-8F4E-A34995E19E97}"/>
    <dgm:cxn modelId="{422DC9AC-274C-4ADC-818B-33CA29293724}" type="presOf" srcId="{5AF158E9-93C2-4863-948B-121A106D0837}" destId="{157E18E9-2349-42A3-8C8C-895D910CA479}" srcOrd="0" destOrd="0" presId="urn:microsoft.com/office/officeart/2005/8/layout/hierarchy3"/>
    <dgm:cxn modelId="{C945E1CC-5294-41F5-BEA0-5A2EB411DE30}" srcId="{5AF158E9-93C2-4863-948B-121A106D0837}" destId="{0A05EB64-5133-4AF8-BBFC-C07B9011E05D}" srcOrd="0" destOrd="0" parTransId="{337FC6FC-D99D-4A1C-967A-68AFB0ED008C}" sibTransId="{A97F0284-3520-45BB-945D-57066F9AE07E}"/>
    <dgm:cxn modelId="{5D815BDF-32CD-43E1-B04A-7CE2FF833187}" type="presOf" srcId="{0A05EB64-5133-4AF8-BBFC-C07B9011E05D}" destId="{8741B7CD-2CAD-4D86-ABA1-1FC949349000}" srcOrd="0" destOrd="0" presId="urn:microsoft.com/office/officeart/2005/8/layout/hierarchy3"/>
    <dgm:cxn modelId="{524B1DE2-A588-424B-A686-A850BCE9B7CB}" srcId="{BA71FE56-E746-4B27-9440-C0636B803003}" destId="{B7573CE3-6ADE-44AD-A7BF-E4C166FD8538}" srcOrd="0" destOrd="0" parTransId="{7090B68F-D094-40AC-A84A-73B7910ED647}" sibTransId="{B4454EF6-AF4E-4722-BD98-0E39E38FAB9F}"/>
    <dgm:cxn modelId="{79D514E6-8ECE-4EC7-968F-FE094388B5F3}" type="presOf" srcId="{CA508302-AFFF-4E82-B696-3C665F10F8FB}" destId="{3B5FB753-20E3-4184-9A06-C10F3FBC29D9}" srcOrd="0" destOrd="0" presId="urn:microsoft.com/office/officeart/2005/8/layout/hierarchy3"/>
    <dgm:cxn modelId="{1FD95E38-194A-4C9A-A65D-DF7699A23845}" type="presParOf" srcId="{3B5FB753-20E3-4184-9A06-C10F3FBC29D9}" destId="{5E36E493-0E6D-4807-A600-8866BABCD471}" srcOrd="0" destOrd="0" presId="urn:microsoft.com/office/officeart/2005/8/layout/hierarchy3"/>
    <dgm:cxn modelId="{BE4E46CD-881B-46DD-96D0-1AA3BB5F18D1}" type="presParOf" srcId="{5E36E493-0E6D-4807-A600-8866BABCD471}" destId="{8BA124BE-516D-47E5-A0FD-C3F753E17BA9}" srcOrd="0" destOrd="0" presId="urn:microsoft.com/office/officeart/2005/8/layout/hierarchy3"/>
    <dgm:cxn modelId="{6C3D03D1-5F78-4F45-B75C-D9F37819D69B}" type="presParOf" srcId="{8BA124BE-516D-47E5-A0FD-C3F753E17BA9}" destId="{F64A8431-7E56-45F4-AB02-6641FE94DE40}" srcOrd="0" destOrd="0" presId="urn:microsoft.com/office/officeart/2005/8/layout/hierarchy3"/>
    <dgm:cxn modelId="{E3EA0071-E615-405E-A43B-AF54997251E2}" type="presParOf" srcId="{8BA124BE-516D-47E5-A0FD-C3F753E17BA9}" destId="{57E847A1-217E-4B35-B3EC-DB3A418B4D6B}" srcOrd="1" destOrd="0" presId="urn:microsoft.com/office/officeart/2005/8/layout/hierarchy3"/>
    <dgm:cxn modelId="{9A60265C-D4BA-4611-8D0E-D3BE9019D99C}" type="presParOf" srcId="{5E36E493-0E6D-4807-A600-8866BABCD471}" destId="{E1E207C5-7495-40CC-92AC-D6C393EE52E8}" srcOrd="1" destOrd="0" presId="urn:microsoft.com/office/officeart/2005/8/layout/hierarchy3"/>
    <dgm:cxn modelId="{A9EEDA93-BB56-46E8-9D65-02969CA4F209}" type="presParOf" srcId="{E1E207C5-7495-40CC-92AC-D6C393EE52E8}" destId="{D9B7BB61-A08A-4A96-83F9-B81F3F3F86FD}" srcOrd="0" destOrd="0" presId="urn:microsoft.com/office/officeart/2005/8/layout/hierarchy3"/>
    <dgm:cxn modelId="{4E7FCD74-E7BB-4817-9CD6-AE68B6EEC11C}" type="presParOf" srcId="{E1E207C5-7495-40CC-92AC-D6C393EE52E8}" destId="{B5EE588F-9F51-4E23-AEE3-994C14DCE01F}" srcOrd="1" destOrd="0" presId="urn:microsoft.com/office/officeart/2005/8/layout/hierarchy3"/>
    <dgm:cxn modelId="{2BFFA514-5403-405A-BBE2-CB017F1F41F0}" type="presParOf" srcId="{3B5FB753-20E3-4184-9A06-C10F3FBC29D9}" destId="{7F9B7DFA-8785-4F48-9602-ADEB777B473C}" srcOrd="1" destOrd="0" presId="urn:microsoft.com/office/officeart/2005/8/layout/hierarchy3"/>
    <dgm:cxn modelId="{BFEA5306-3D04-4C10-8ABC-88DB81C59C7B}" type="presParOf" srcId="{7F9B7DFA-8785-4F48-9602-ADEB777B473C}" destId="{F47DEEE6-86BC-4A70-81F7-302F63022A27}" srcOrd="0" destOrd="0" presId="urn:microsoft.com/office/officeart/2005/8/layout/hierarchy3"/>
    <dgm:cxn modelId="{4CAFBA93-E742-4832-BEF1-5B46188057D1}" type="presParOf" srcId="{F47DEEE6-86BC-4A70-81F7-302F63022A27}" destId="{157E18E9-2349-42A3-8C8C-895D910CA479}" srcOrd="0" destOrd="0" presId="urn:microsoft.com/office/officeart/2005/8/layout/hierarchy3"/>
    <dgm:cxn modelId="{7CDA67ED-BFE9-4EAA-9041-BFA30FB1B473}" type="presParOf" srcId="{F47DEEE6-86BC-4A70-81F7-302F63022A27}" destId="{F0092B14-0B70-4287-97C7-93477C2286E5}" srcOrd="1" destOrd="0" presId="urn:microsoft.com/office/officeart/2005/8/layout/hierarchy3"/>
    <dgm:cxn modelId="{83ED8D18-8983-4DFA-99EF-E4FBF179E784}" type="presParOf" srcId="{7F9B7DFA-8785-4F48-9602-ADEB777B473C}" destId="{D34CAB82-C7B8-48AD-A97D-92883087AF31}" srcOrd="1" destOrd="0" presId="urn:microsoft.com/office/officeart/2005/8/layout/hierarchy3"/>
    <dgm:cxn modelId="{93703C8E-B047-4819-B0BE-B08E9EFD2DBC}" type="presParOf" srcId="{D34CAB82-C7B8-48AD-A97D-92883087AF31}" destId="{A41E806B-FB68-4882-A7A1-8E4C197FE95B}" srcOrd="0" destOrd="0" presId="urn:microsoft.com/office/officeart/2005/8/layout/hierarchy3"/>
    <dgm:cxn modelId="{F1C416A6-1AA9-4A2B-A0F5-558AD1E464AC}" type="presParOf" srcId="{D34CAB82-C7B8-48AD-A97D-92883087AF31}" destId="{8741B7CD-2CAD-4D86-ABA1-1FC949349000}" srcOrd="1" destOrd="0" presId="urn:microsoft.com/office/officeart/2005/8/layout/hierarchy3"/>
    <dgm:cxn modelId="{508CD67E-2D43-437C-AB01-A1D34FDE79B0}" type="presParOf" srcId="{3B5FB753-20E3-4184-9A06-C10F3FBC29D9}" destId="{73635E59-400C-4256-83C9-50338FAC8A5C}" srcOrd="2" destOrd="0" presId="urn:microsoft.com/office/officeart/2005/8/layout/hierarchy3"/>
    <dgm:cxn modelId="{335D3E7D-BB80-4B84-9E1C-FE416B989C63}" type="presParOf" srcId="{73635E59-400C-4256-83C9-50338FAC8A5C}" destId="{A803ADD9-ECA6-427B-8FD0-D53B1741DFD7}" srcOrd="0" destOrd="0" presId="urn:microsoft.com/office/officeart/2005/8/layout/hierarchy3"/>
    <dgm:cxn modelId="{17E7C574-C5AA-4EA3-BC84-18AA5A4AEBB3}" type="presParOf" srcId="{A803ADD9-ECA6-427B-8FD0-D53B1741DFD7}" destId="{21D4E10D-8939-4E9F-B08B-B742E2E9BF56}" srcOrd="0" destOrd="0" presId="urn:microsoft.com/office/officeart/2005/8/layout/hierarchy3"/>
    <dgm:cxn modelId="{0EAFE762-2200-4938-9D94-6138092AC5E5}" type="presParOf" srcId="{A803ADD9-ECA6-427B-8FD0-D53B1741DFD7}" destId="{058F25C8-EE87-4391-861E-4BC1B3945CF2}" srcOrd="1" destOrd="0" presId="urn:microsoft.com/office/officeart/2005/8/layout/hierarchy3"/>
    <dgm:cxn modelId="{E7954A4D-98B9-4FF1-936D-3F9F406A2665}" type="presParOf" srcId="{73635E59-400C-4256-83C9-50338FAC8A5C}" destId="{4B440D9F-0E90-459D-9DD7-4FABED95E446}" srcOrd="1" destOrd="0" presId="urn:microsoft.com/office/officeart/2005/8/layout/hierarchy3"/>
    <dgm:cxn modelId="{22888350-0069-4208-A908-ECC720456F08}" type="presParOf" srcId="{4B440D9F-0E90-459D-9DD7-4FABED95E446}" destId="{D5F3804A-7302-4DF4-B0E6-DDE266AB0E3F}" srcOrd="0" destOrd="0" presId="urn:microsoft.com/office/officeart/2005/8/layout/hierarchy3"/>
    <dgm:cxn modelId="{5E7E1541-D18F-4304-B789-4263077E2966}" type="presParOf" srcId="{4B440D9F-0E90-459D-9DD7-4FABED95E446}" destId="{BFED58C1-0629-4856-B144-BCCC0835163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CE29EF-C1B2-4FE9-A0ED-6442487DE813}" type="doc">
      <dgm:prSet loTypeId="urn:microsoft.com/office/officeart/2005/8/layout/cycle8" loCatId="cycle" qsTypeId="urn:microsoft.com/office/officeart/2005/8/quickstyle/simple1" qsCatId="simple" csTypeId="urn:microsoft.com/office/officeart/2005/8/colors/accent1_2" csCatId="accent1" phldr="1"/>
      <dgm:spPr/>
    </dgm:pt>
    <dgm:pt modelId="{D26AF59E-F9C5-4205-9298-30A1ABB06827}">
      <dgm:prSet phldrT="[Text]"/>
      <dgm:spPr/>
      <dgm:t>
        <a:bodyPr/>
        <a:lstStyle/>
        <a:p>
          <a:r>
            <a:rPr lang="en-US" b="1"/>
            <a:t>Bioinformatics</a:t>
          </a:r>
        </a:p>
      </dgm:t>
    </dgm:pt>
    <dgm:pt modelId="{0FF4C20B-E61F-4733-9F20-3D8153863957}" type="parTrans" cxnId="{1609E699-AC52-4055-AD3F-6E231BB12A4B}">
      <dgm:prSet/>
      <dgm:spPr/>
      <dgm:t>
        <a:bodyPr/>
        <a:lstStyle/>
        <a:p>
          <a:endParaRPr lang="en-US"/>
        </a:p>
      </dgm:t>
    </dgm:pt>
    <dgm:pt modelId="{2F945B1A-6C47-40E9-A606-7CDA52E50EB4}" type="sibTrans" cxnId="{1609E699-AC52-4055-AD3F-6E231BB12A4B}">
      <dgm:prSet/>
      <dgm:spPr/>
      <dgm:t>
        <a:bodyPr/>
        <a:lstStyle/>
        <a:p>
          <a:endParaRPr lang="en-US"/>
        </a:p>
      </dgm:t>
    </dgm:pt>
    <dgm:pt modelId="{3B312CB2-8491-4E8D-B14E-379361AC942C}">
      <dgm:prSet phldrT="[Text]" custT="1"/>
      <dgm:spPr/>
      <dgm:t>
        <a:bodyPr/>
        <a:lstStyle/>
        <a:p>
          <a:r>
            <a:rPr lang="en-US" sz="900" b="1"/>
            <a:t>Clinical ‘Omics</a:t>
          </a:r>
        </a:p>
      </dgm:t>
    </dgm:pt>
    <dgm:pt modelId="{6ECD2062-862C-4CBB-9C28-23034AC2B7A7}" type="parTrans" cxnId="{9BD714EB-0C5B-48EC-B4DE-9B0E73019727}">
      <dgm:prSet/>
      <dgm:spPr/>
      <dgm:t>
        <a:bodyPr/>
        <a:lstStyle/>
        <a:p>
          <a:endParaRPr lang="en-US"/>
        </a:p>
      </dgm:t>
    </dgm:pt>
    <dgm:pt modelId="{4F018C66-E594-4636-8E44-2E419872CD51}" type="sibTrans" cxnId="{9BD714EB-0C5B-48EC-B4DE-9B0E73019727}">
      <dgm:prSet/>
      <dgm:spPr/>
      <dgm:t>
        <a:bodyPr/>
        <a:lstStyle/>
        <a:p>
          <a:endParaRPr lang="en-US"/>
        </a:p>
      </dgm:t>
    </dgm:pt>
    <dgm:pt modelId="{40F08E06-A635-43A5-A98C-A664276CB680}">
      <dgm:prSet phldrT="[Text]"/>
      <dgm:spPr/>
      <dgm:t>
        <a:bodyPr/>
        <a:lstStyle/>
        <a:p>
          <a:r>
            <a:rPr lang="en-US" b="1"/>
            <a:t>Literature &amp; Academic Collaborations</a:t>
          </a:r>
        </a:p>
      </dgm:t>
    </dgm:pt>
    <dgm:pt modelId="{AF1C37C3-F895-43E7-8D98-4645CFA16576}" type="parTrans" cxnId="{B75A0B44-4528-445A-9294-BC14483728D5}">
      <dgm:prSet/>
      <dgm:spPr/>
      <dgm:t>
        <a:bodyPr/>
        <a:lstStyle/>
        <a:p>
          <a:endParaRPr lang="en-US"/>
        </a:p>
      </dgm:t>
    </dgm:pt>
    <dgm:pt modelId="{7D0E7AC9-E5AB-4600-B90C-20B803A0D7A2}" type="sibTrans" cxnId="{B75A0B44-4528-445A-9294-BC14483728D5}">
      <dgm:prSet/>
      <dgm:spPr/>
      <dgm:t>
        <a:bodyPr/>
        <a:lstStyle/>
        <a:p>
          <a:endParaRPr lang="en-US"/>
        </a:p>
      </dgm:t>
    </dgm:pt>
    <dgm:pt modelId="{1C408DCF-3BCD-43C8-BF19-0997BEC2950E}">
      <dgm:prSet phldrT="[Text]"/>
      <dgm:spPr/>
      <dgm:t>
        <a:bodyPr/>
        <a:lstStyle/>
        <a:p>
          <a:r>
            <a:rPr lang="en-US" b="1"/>
            <a:t>Functional Screen Information</a:t>
          </a:r>
        </a:p>
      </dgm:t>
    </dgm:pt>
    <dgm:pt modelId="{49F672FE-B46D-43DD-980C-ACCDED1E2390}" type="parTrans" cxnId="{CC98D308-A7ED-4351-B5D9-19E631C08034}">
      <dgm:prSet/>
      <dgm:spPr/>
      <dgm:t>
        <a:bodyPr/>
        <a:lstStyle/>
        <a:p>
          <a:endParaRPr lang="en-US"/>
        </a:p>
      </dgm:t>
    </dgm:pt>
    <dgm:pt modelId="{2C9266A7-13F0-43F8-9A76-B076F4E14139}" type="sibTrans" cxnId="{CC98D308-A7ED-4351-B5D9-19E631C08034}">
      <dgm:prSet/>
      <dgm:spPr/>
      <dgm:t>
        <a:bodyPr/>
        <a:lstStyle/>
        <a:p>
          <a:endParaRPr lang="en-US"/>
        </a:p>
      </dgm:t>
    </dgm:pt>
    <dgm:pt modelId="{C9FD4AA5-4758-491A-AEF9-B8C7E2DB0636}" type="pres">
      <dgm:prSet presAssocID="{3CCE29EF-C1B2-4FE9-A0ED-6442487DE813}" presName="compositeShape" presStyleCnt="0">
        <dgm:presLayoutVars>
          <dgm:chMax val="7"/>
          <dgm:dir/>
          <dgm:resizeHandles val="exact"/>
        </dgm:presLayoutVars>
      </dgm:prSet>
      <dgm:spPr/>
    </dgm:pt>
    <dgm:pt modelId="{A8782812-3FD2-4558-AA94-4B4849122C62}" type="pres">
      <dgm:prSet presAssocID="{3CCE29EF-C1B2-4FE9-A0ED-6442487DE813}" presName="wedge1" presStyleLbl="node1" presStyleIdx="0" presStyleCnt="4"/>
      <dgm:spPr/>
    </dgm:pt>
    <dgm:pt modelId="{5993E2C7-8F88-4938-A4ED-405AF6FADD20}" type="pres">
      <dgm:prSet presAssocID="{3CCE29EF-C1B2-4FE9-A0ED-6442487DE813}" presName="dummy1a" presStyleCnt="0"/>
      <dgm:spPr/>
    </dgm:pt>
    <dgm:pt modelId="{91624DCF-F427-4D69-B399-B2935257FCE3}" type="pres">
      <dgm:prSet presAssocID="{3CCE29EF-C1B2-4FE9-A0ED-6442487DE813}" presName="dummy1b" presStyleCnt="0"/>
      <dgm:spPr/>
    </dgm:pt>
    <dgm:pt modelId="{3AE68BD7-7A83-4199-9563-65A8C92C8332}" type="pres">
      <dgm:prSet presAssocID="{3CCE29EF-C1B2-4FE9-A0ED-6442487DE813}" presName="wedge1Tx" presStyleLbl="node1" presStyleIdx="0" presStyleCnt="4">
        <dgm:presLayoutVars>
          <dgm:chMax val="0"/>
          <dgm:chPref val="0"/>
          <dgm:bulletEnabled val="1"/>
        </dgm:presLayoutVars>
      </dgm:prSet>
      <dgm:spPr/>
    </dgm:pt>
    <dgm:pt modelId="{76F29895-D64F-4F43-885A-E0958A280C9A}" type="pres">
      <dgm:prSet presAssocID="{3CCE29EF-C1B2-4FE9-A0ED-6442487DE813}" presName="wedge2" presStyleLbl="node1" presStyleIdx="1" presStyleCnt="4"/>
      <dgm:spPr/>
    </dgm:pt>
    <dgm:pt modelId="{4491F63A-E0F0-4B90-AF37-B38DF0EE37D1}" type="pres">
      <dgm:prSet presAssocID="{3CCE29EF-C1B2-4FE9-A0ED-6442487DE813}" presName="dummy2a" presStyleCnt="0"/>
      <dgm:spPr/>
    </dgm:pt>
    <dgm:pt modelId="{DDA4BA0B-FCC5-493C-A177-C1A552D59881}" type="pres">
      <dgm:prSet presAssocID="{3CCE29EF-C1B2-4FE9-A0ED-6442487DE813}" presName="dummy2b" presStyleCnt="0"/>
      <dgm:spPr/>
    </dgm:pt>
    <dgm:pt modelId="{217C9BE2-AACA-47CB-B34D-96DB0400883C}" type="pres">
      <dgm:prSet presAssocID="{3CCE29EF-C1B2-4FE9-A0ED-6442487DE813}" presName="wedge2Tx" presStyleLbl="node1" presStyleIdx="1" presStyleCnt="4">
        <dgm:presLayoutVars>
          <dgm:chMax val="0"/>
          <dgm:chPref val="0"/>
          <dgm:bulletEnabled val="1"/>
        </dgm:presLayoutVars>
      </dgm:prSet>
      <dgm:spPr/>
    </dgm:pt>
    <dgm:pt modelId="{71AC084D-94E8-4759-B13D-391265C431EE}" type="pres">
      <dgm:prSet presAssocID="{3CCE29EF-C1B2-4FE9-A0ED-6442487DE813}" presName="wedge3" presStyleLbl="node1" presStyleIdx="2" presStyleCnt="4"/>
      <dgm:spPr/>
    </dgm:pt>
    <dgm:pt modelId="{5234AC8A-4949-4FAC-858F-4D0ED1A5238D}" type="pres">
      <dgm:prSet presAssocID="{3CCE29EF-C1B2-4FE9-A0ED-6442487DE813}" presName="dummy3a" presStyleCnt="0"/>
      <dgm:spPr/>
    </dgm:pt>
    <dgm:pt modelId="{3B763AC6-5A66-456B-A83D-C15620DCC811}" type="pres">
      <dgm:prSet presAssocID="{3CCE29EF-C1B2-4FE9-A0ED-6442487DE813}" presName="dummy3b" presStyleCnt="0"/>
      <dgm:spPr/>
    </dgm:pt>
    <dgm:pt modelId="{C5ADBB36-B447-4A37-8F14-A17C8FE360E9}" type="pres">
      <dgm:prSet presAssocID="{3CCE29EF-C1B2-4FE9-A0ED-6442487DE813}" presName="wedge3Tx" presStyleLbl="node1" presStyleIdx="2" presStyleCnt="4">
        <dgm:presLayoutVars>
          <dgm:chMax val="0"/>
          <dgm:chPref val="0"/>
          <dgm:bulletEnabled val="1"/>
        </dgm:presLayoutVars>
      </dgm:prSet>
      <dgm:spPr/>
    </dgm:pt>
    <dgm:pt modelId="{0996D70D-0C6B-49B4-82CF-682B011334C1}" type="pres">
      <dgm:prSet presAssocID="{3CCE29EF-C1B2-4FE9-A0ED-6442487DE813}" presName="wedge4" presStyleLbl="node1" presStyleIdx="3" presStyleCnt="4"/>
      <dgm:spPr/>
    </dgm:pt>
    <dgm:pt modelId="{9D23EB83-A820-4666-9CBF-EE7FAA729F5C}" type="pres">
      <dgm:prSet presAssocID="{3CCE29EF-C1B2-4FE9-A0ED-6442487DE813}" presName="dummy4a" presStyleCnt="0"/>
      <dgm:spPr/>
    </dgm:pt>
    <dgm:pt modelId="{856F8BCB-C013-4E4F-88A9-D5F51F7A7D0B}" type="pres">
      <dgm:prSet presAssocID="{3CCE29EF-C1B2-4FE9-A0ED-6442487DE813}" presName="dummy4b" presStyleCnt="0"/>
      <dgm:spPr/>
    </dgm:pt>
    <dgm:pt modelId="{55A082FC-7D32-4CBD-84BC-C64A16BB0B94}" type="pres">
      <dgm:prSet presAssocID="{3CCE29EF-C1B2-4FE9-A0ED-6442487DE813}" presName="wedge4Tx" presStyleLbl="node1" presStyleIdx="3" presStyleCnt="4">
        <dgm:presLayoutVars>
          <dgm:chMax val="0"/>
          <dgm:chPref val="0"/>
          <dgm:bulletEnabled val="1"/>
        </dgm:presLayoutVars>
      </dgm:prSet>
      <dgm:spPr/>
    </dgm:pt>
    <dgm:pt modelId="{FD511513-AD47-4431-A45B-F517D86DAF8B}" type="pres">
      <dgm:prSet presAssocID="{2F945B1A-6C47-40E9-A606-7CDA52E50EB4}" presName="arrowWedge1" presStyleLbl="fgSibTrans2D1" presStyleIdx="0" presStyleCnt="4"/>
      <dgm:spPr>
        <a:solidFill>
          <a:schemeClr val="accent1">
            <a:lumMod val="40000"/>
            <a:lumOff val="60000"/>
          </a:schemeClr>
        </a:solidFill>
        <a:ln>
          <a:solidFill>
            <a:schemeClr val="tx1"/>
          </a:solidFill>
        </a:ln>
      </dgm:spPr>
    </dgm:pt>
    <dgm:pt modelId="{6050C04B-6BB6-489A-94CB-EB521170A579}" type="pres">
      <dgm:prSet presAssocID="{4F018C66-E594-4636-8E44-2E419872CD51}" presName="arrowWedge2" presStyleLbl="fgSibTrans2D1" presStyleIdx="1" presStyleCnt="4"/>
      <dgm:spPr>
        <a:solidFill>
          <a:schemeClr val="accent1">
            <a:lumMod val="40000"/>
            <a:lumOff val="60000"/>
          </a:schemeClr>
        </a:solidFill>
        <a:ln>
          <a:solidFill>
            <a:schemeClr val="tx1"/>
          </a:solidFill>
        </a:ln>
      </dgm:spPr>
    </dgm:pt>
    <dgm:pt modelId="{D8BF3EC1-78F9-44F0-8C64-1B3E2546905C}" type="pres">
      <dgm:prSet presAssocID="{7D0E7AC9-E5AB-4600-B90C-20B803A0D7A2}" presName="arrowWedge3" presStyleLbl="fgSibTrans2D1" presStyleIdx="2" presStyleCnt="4"/>
      <dgm:spPr>
        <a:solidFill>
          <a:schemeClr val="accent1">
            <a:lumMod val="40000"/>
            <a:lumOff val="60000"/>
          </a:schemeClr>
        </a:solidFill>
        <a:ln>
          <a:solidFill>
            <a:schemeClr val="tx1"/>
          </a:solidFill>
        </a:ln>
      </dgm:spPr>
    </dgm:pt>
    <dgm:pt modelId="{EFAAFB5B-A7A7-48C5-BEC7-1496A28BDA94}" type="pres">
      <dgm:prSet presAssocID="{2C9266A7-13F0-43F8-9A76-B076F4E14139}" presName="arrowWedge4" presStyleLbl="fgSibTrans2D1" presStyleIdx="3" presStyleCnt="4"/>
      <dgm:spPr>
        <a:solidFill>
          <a:schemeClr val="accent1">
            <a:lumMod val="40000"/>
            <a:lumOff val="60000"/>
          </a:schemeClr>
        </a:solidFill>
        <a:ln>
          <a:solidFill>
            <a:schemeClr val="tx1"/>
          </a:solidFill>
        </a:ln>
      </dgm:spPr>
    </dgm:pt>
  </dgm:ptLst>
  <dgm:cxnLst>
    <dgm:cxn modelId="{8C296008-8289-44B1-B18D-7C6067123D89}" type="presOf" srcId="{40F08E06-A635-43A5-A98C-A664276CB680}" destId="{C5ADBB36-B447-4A37-8F14-A17C8FE360E9}" srcOrd="1" destOrd="0" presId="urn:microsoft.com/office/officeart/2005/8/layout/cycle8"/>
    <dgm:cxn modelId="{CC98D308-A7ED-4351-B5D9-19E631C08034}" srcId="{3CCE29EF-C1B2-4FE9-A0ED-6442487DE813}" destId="{1C408DCF-3BCD-43C8-BF19-0997BEC2950E}" srcOrd="3" destOrd="0" parTransId="{49F672FE-B46D-43DD-980C-ACCDED1E2390}" sibTransId="{2C9266A7-13F0-43F8-9A76-B076F4E14139}"/>
    <dgm:cxn modelId="{7EF2AA10-241E-48FD-844B-CCC2FC923B64}" type="presOf" srcId="{3B312CB2-8491-4E8D-B14E-379361AC942C}" destId="{76F29895-D64F-4F43-885A-E0958A280C9A}" srcOrd="0" destOrd="0" presId="urn:microsoft.com/office/officeart/2005/8/layout/cycle8"/>
    <dgm:cxn modelId="{753CA71A-AB9F-4D7C-A39A-D46C00512700}" type="presOf" srcId="{3CCE29EF-C1B2-4FE9-A0ED-6442487DE813}" destId="{C9FD4AA5-4758-491A-AEF9-B8C7E2DB0636}" srcOrd="0" destOrd="0" presId="urn:microsoft.com/office/officeart/2005/8/layout/cycle8"/>
    <dgm:cxn modelId="{CCBEDA22-541F-4AF9-B274-977914B836E8}" type="presOf" srcId="{3B312CB2-8491-4E8D-B14E-379361AC942C}" destId="{217C9BE2-AACA-47CB-B34D-96DB0400883C}" srcOrd="1" destOrd="0" presId="urn:microsoft.com/office/officeart/2005/8/layout/cycle8"/>
    <dgm:cxn modelId="{01C2DC3F-762F-457F-80F1-82169FC50B00}" type="presOf" srcId="{1C408DCF-3BCD-43C8-BF19-0997BEC2950E}" destId="{55A082FC-7D32-4CBD-84BC-C64A16BB0B94}" srcOrd="1" destOrd="0" presId="urn:microsoft.com/office/officeart/2005/8/layout/cycle8"/>
    <dgm:cxn modelId="{B75A0B44-4528-445A-9294-BC14483728D5}" srcId="{3CCE29EF-C1B2-4FE9-A0ED-6442487DE813}" destId="{40F08E06-A635-43A5-A98C-A664276CB680}" srcOrd="2" destOrd="0" parTransId="{AF1C37C3-F895-43E7-8D98-4645CFA16576}" sibTransId="{7D0E7AC9-E5AB-4600-B90C-20B803A0D7A2}"/>
    <dgm:cxn modelId="{BCC59C4D-56DD-4834-8770-D8674A10D8D9}" type="presOf" srcId="{1C408DCF-3BCD-43C8-BF19-0997BEC2950E}" destId="{0996D70D-0C6B-49B4-82CF-682B011334C1}" srcOrd="0" destOrd="0" presId="urn:microsoft.com/office/officeart/2005/8/layout/cycle8"/>
    <dgm:cxn modelId="{B149C48B-0AB0-4729-9355-CACC30B379B4}" type="presOf" srcId="{D26AF59E-F9C5-4205-9298-30A1ABB06827}" destId="{A8782812-3FD2-4558-AA94-4B4849122C62}" srcOrd="0" destOrd="0" presId="urn:microsoft.com/office/officeart/2005/8/layout/cycle8"/>
    <dgm:cxn modelId="{1609E699-AC52-4055-AD3F-6E231BB12A4B}" srcId="{3CCE29EF-C1B2-4FE9-A0ED-6442487DE813}" destId="{D26AF59E-F9C5-4205-9298-30A1ABB06827}" srcOrd="0" destOrd="0" parTransId="{0FF4C20B-E61F-4733-9F20-3D8153863957}" sibTransId="{2F945B1A-6C47-40E9-A606-7CDA52E50EB4}"/>
    <dgm:cxn modelId="{EAF179A1-DDD2-4560-85F6-B72B8010703F}" type="presOf" srcId="{40F08E06-A635-43A5-A98C-A664276CB680}" destId="{71AC084D-94E8-4759-B13D-391265C431EE}" srcOrd="0" destOrd="0" presId="urn:microsoft.com/office/officeart/2005/8/layout/cycle8"/>
    <dgm:cxn modelId="{D414DDC9-5FCD-4943-A4A6-DED8EF3D6F02}" type="presOf" srcId="{D26AF59E-F9C5-4205-9298-30A1ABB06827}" destId="{3AE68BD7-7A83-4199-9563-65A8C92C8332}" srcOrd="1" destOrd="0" presId="urn:microsoft.com/office/officeart/2005/8/layout/cycle8"/>
    <dgm:cxn modelId="{9BD714EB-0C5B-48EC-B4DE-9B0E73019727}" srcId="{3CCE29EF-C1B2-4FE9-A0ED-6442487DE813}" destId="{3B312CB2-8491-4E8D-B14E-379361AC942C}" srcOrd="1" destOrd="0" parTransId="{6ECD2062-862C-4CBB-9C28-23034AC2B7A7}" sibTransId="{4F018C66-E594-4636-8E44-2E419872CD51}"/>
    <dgm:cxn modelId="{403D88B1-C96C-416D-8860-5D0F96BB1D69}" type="presParOf" srcId="{C9FD4AA5-4758-491A-AEF9-B8C7E2DB0636}" destId="{A8782812-3FD2-4558-AA94-4B4849122C62}" srcOrd="0" destOrd="0" presId="urn:microsoft.com/office/officeart/2005/8/layout/cycle8"/>
    <dgm:cxn modelId="{3BFF58C4-FAB8-48CE-8898-605D7D83F9F5}" type="presParOf" srcId="{C9FD4AA5-4758-491A-AEF9-B8C7E2DB0636}" destId="{5993E2C7-8F88-4938-A4ED-405AF6FADD20}" srcOrd="1" destOrd="0" presId="urn:microsoft.com/office/officeart/2005/8/layout/cycle8"/>
    <dgm:cxn modelId="{34C8B270-D57D-44AE-87EB-D4FC2B8008BD}" type="presParOf" srcId="{C9FD4AA5-4758-491A-AEF9-B8C7E2DB0636}" destId="{91624DCF-F427-4D69-B399-B2935257FCE3}" srcOrd="2" destOrd="0" presId="urn:microsoft.com/office/officeart/2005/8/layout/cycle8"/>
    <dgm:cxn modelId="{F1C1B6DD-D0A5-4DBD-9CFB-CB3F9D6E9913}" type="presParOf" srcId="{C9FD4AA5-4758-491A-AEF9-B8C7E2DB0636}" destId="{3AE68BD7-7A83-4199-9563-65A8C92C8332}" srcOrd="3" destOrd="0" presId="urn:microsoft.com/office/officeart/2005/8/layout/cycle8"/>
    <dgm:cxn modelId="{65D30A0F-7E6D-492C-8B3F-2860193D4EC0}" type="presParOf" srcId="{C9FD4AA5-4758-491A-AEF9-B8C7E2DB0636}" destId="{76F29895-D64F-4F43-885A-E0958A280C9A}" srcOrd="4" destOrd="0" presId="urn:microsoft.com/office/officeart/2005/8/layout/cycle8"/>
    <dgm:cxn modelId="{86F6B66B-F23D-4B0E-A894-5DCF15600C6D}" type="presParOf" srcId="{C9FD4AA5-4758-491A-AEF9-B8C7E2DB0636}" destId="{4491F63A-E0F0-4B90-AF37-B38DF0EE37D1}" srcOrd="5" destOrd="0" presId="urn:microsoft.com/office/officeart/2005/8/layout/cycle8"/>
    <dgm:cxn modelId="{53D57D4D-7268-426B-AF15-E06543D505C1}" type="presParOf" srcId="{C9FD4AA5-4758-491A-AEF9-B8C7E2DB0636}" destId="{DDA4BA0B-FCC5-493C-A177-C1A552D59881}" srcOrd="6" destOrd="0" presId="urn:microsoft.com/office/officeart/2005/8/layout/cycle8"/>
    <dgm:cxn modelId="{EBA9C055-8840-4B92-B2DE-8C663A598AAC}" type="presParOf" srcId="{C9FD4AA5-4758-491A-AEF9-B8C7E2DB0636}" destId="{217C9BE2-AACA-47CB-B34D-96DB0400883C}" srcOrd="7" destOrd="0" presId="urn:microsoft.com/office/officeart/2005/8/layout/cycle8"/>
    <dgm:cxn modelId="{779A8C92-707E-42B3-8F4F-E0B824B92D37}" type="presParOf" srcId="{C9FD4AA5-4758-491A-AEF9-B8C7E2DB0636}" destId="{71AC084D-94E8-4759-B13D-391265C431EE}" srcOrd="8" destOrd="0" presId="urn:microsoft.com/office/officeart/2005/8/layout/cycle8"/>
    <dgm:cxn modelId="{F692A6A9-DCD4-4E76-B72B-1E44FC90B1BC}" type="presParOf" srcId="{C9FD4AA5-4758-491A-AEF9-B8C7E2DB0636}" destId="{5234AC8A-4949-4FAC-858F-4D0ED1A5238D}" srcOrd="9" destOrd="0" presId="urn:microsoft.com/office/officeart/2005/8/layout/cycle8"/>
    <dgm:cxn modelId="{E44A9C9E-B3D5-43CF-8722-8E3FBA33F5DA}" type="presParOf" srcId="{C9FD4AA5-4758-491A-AEF9-B8C7E2DB0636}" destId="{3B763AC6-5A66-456B-A83D-C15620DCC811}" srcOrd="10" destOrd="0" presId="urn:microsoft.com/office/officeart/2005/8/layout/cycle8"/>
    <dgm:cxn modelId="{B5585E5C-3260-44D6-BDC0-2E693E5859F3}" type="presParOf" srcId="{C9FD4AA5-4758-491A-AEF9-B8C7E2DB0636}" destId="{C5ADBB36-B447-4A37-8F14-A17C8FE360E9}" srcOrd="11" destOrd="0" presId="urn:microsoft.com/office/officeart/2005/8/layout/cycle8"/>
    <dgm:cxn modelId="{72F03833-B35E-4CA1-9C94-376B4BA24820}" type="presParOf" srcId="{C9FD4AA5-4758-491A-AEF9-B8C7E2DB0636}" destId="{0996D70D-0C6B-49B4-82CF-682B011334C1}" srcOrd="12" destOrd="0" presId="urn:microsoft.com/office/officeart/2005/8/layout/cycle8"/>
    <dgm:cxn modelId="{634E3D15-B8B0-4F54-9953-4FBC91945452}" type="presParOf" srcId="{C9FD4AA5-4758-491A-AEF9-B8C7E2DB0636}" destId="{9D23EB83-A820-4666-9CBF-EE7FAA729F5C}" srcOrd="13" destOrd="0" presId="urn:microsoft.com/office/officeart/2005/8/layout/cycle8"/>
    <dgm:cxn modelId="{DE3EED82-546A-4010-92DF-03DC9E2C4AA3}" type="presParOf" srcId="{C9FD4AA5-4758-491A-AEF9-B8C7E2DB0636}" destId="{856F8BCB-C013-4E4F-88A9-D5F51F7A7D0B}" srcOrd="14" destOrd="0" presId="urn:microsoft.com/office/officeart/2005/8/layout/cycle8"/>
    <dgm:cxn modelId="{A4AB0941-69EB-41D3-8329-2D1463EAF0FE}" type="presParOf" srcId="{C9FD4AA5-4758-491A-AEF9-B8C7E2DB0636}" destId="{55A082FC-7D32-4CBD-84BC-C64A16BB0B94}" srcOrd="15" destOrd="0" presId="urn:microsoft.com/office/officeart/2005/8/layout/cycle8"/>
    <dgm:cxn modelId="{FD64DCF1-E75C-46C4-83DD-C7EAF5B4B014}" type="presParOf" srcId="{C9FD4AA5-4758-491A-AEF9-B8C7E2DB0636}" destId="{FD511513-AD47-4431-A45B-F517D86DAF8B}" srcOrd="16" destOrd="0" presId="urn:microsoft.com/office/officeart/2005/8/layout/cycle8"/>
    <dgm:cxn modelId="{40D56056-74B7-447A-A0E9-8BE90ADBC862}" type="presParOf" srcId="{C9FD4AA5-4758-491A-AEF9-B8C7E2DB0636}" destId="{6050C04B-6BB6-489A-94CB-EB521170A579}" srcOrd="17" destOrd="0" presId="urn:microsoft.com/office/officeart/2005/8/layout/cycle8"/>
    <dgm:cxn modelId="{BECBD4DF-2955-4740-A44F-7D8E0CECB14E}" type="presParOf" srcId="{C9FD4AA5-4758-491A-AEF9-B8C7E2DB0636}" destId="{D8BF3EC1-78F9-44F0-8C64-1B3E2546905C}" srcOrd="18" destOrd="0" presId="urn:microsoft.com/office/officeart/2005/8/layout/cycle8"/>
    <dgm:cxn modelId="{3380AA3F-4E63-480D-9F06-94AB6F959ADE}" type="presParOf" srcId="{C9FD4AA5-4758-491A-AEF9-B8C7E2DB0636}" destId="{EFAAFB5B-A7A7-48C5-BEC7-1496A28BDA94}" srcOrd="1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CE29EF-C1B2-4FE9-A0ED-6442487DE813}" type="doc">
      <dgm:prSet loTypeId="urn:microsoft.com/office/officeart/2005/8/layout/cycle8" loCatId="cycle" qsTypeId="urn:microsoft.com/office/officeart/2005/8/quickstyle/simple1" qsCatId="simple" csTypeId="urn:microsoft.com/office/officeart/2005/8/colors/accent1_2" csCatId="accent1" phldr="1"/>
      <dgm:spPr/>
    </dgm:pt>
    <dgm:pt modelId="{D26AF59E-F9C5-4205-9298-30A1ABB06827}">
      <dgm:prSet phldrT="[Text]"/>
      <dgm:spPr/>
      <dgm:t>
        <a:bodyPr/>
        <a:lstStyle/>
        <a:p>
          <a:r>
            <a:rPr lang="en-US" b="1"/>
            <a:t>Model Systems &amp; Pharmacologic Probes</a:t>
          </a:r>
        </a:p>
      </dgm:t>
    </dgm:pt>
    <dgm:pt modelId="{0FF4C20B-E61F-4733-9F20-3D8153863957}" type="parTrans" cxnId="{1609E699-AC52-4055-AD3F-6E231BB12A4B}">
      <dgm:prSet/>
      <dgm:spPr/>
      <dgm:t>
        <a:bodyPr/>
        <a:lstStyle/>
        <a:p>
          <a:endParaRPr lang="en-US"/>
        </a:p>
      </dgm:t>
    </dgm:pt>
    <dgm:pt modelId="{2F945B1A-6C47-40E9-A606-7CDA52E50EB4}" type="sibTrans" cxnId="{1609E699-AC52-4055-AD3F-6E231BB12A4B}">
      <dgm:prSet/>
      <dgm:spPr/>
      <dgm:t>
        <a:bodyPr/>
        <a:lstStyle/>
        <a:p>
          <a:endParaRPr lang="en-US"/>
        </a:p>
      </dgm:t>
    </dgm:pt>
    <dgm:pt modelId="{3B312CB2-8491-4E8D-B14E-379361AC942C}">
      <dgm:prSet phldrT="[Text]"/>
      <dgm:spPr/>
      <dgm:t>
        <a:bodyPr/>
        <a:lstStyle/>
        <a:p>
          <a:r>
            <a:rPr lang="en-US" b="1"/>
            <a:t>Gene Editing/ Interference Technology</a:t>
          </a:r>
        </a:p>
      </dgm:t>
    </dgm:pt>
    <dgm:pt modelId="{6ECD2062-862C-4CBB-9C28-23034AC2B7A7}" type="parTrans" cxnId="{9BD714EB-0C5B-48EC-B4DE-9B0E73019727}">
      <dgm:prSet/>
      <dgm:spPr/>
      <dgm:t>
        <a:bodyPr/>
        <a:lstStyle/>
        <a:p>
          <a:endParaRPr lang="en-US"/>
        </a:p>
      </dgm:t>
    </dgm:pt>
    <dgm:pt modelId="{4F018C66-E594-4636-8E44-2E419872CD51}" type="sibTrans" cxnId="{9BD714EB-0C5B-48EC-B4DE-9B0E73019727}">
      <dgm:prSet/>
      <dgm:spPr/>
      <dgm:t>
        <a:bodyPr/>
        <a:lstStyle/>
        <a:p>
          <a:endParaRPr lang="en-US"/>
        </a:p>
      </dgm:t>
    </dgm:pt>
    <dgm:pt modelId="{40F08E06-A635-43A5-A98C-A664276CB680}">
      <dgm:prSet phldrT="[Text]" custT="1"/>
      <dgm:spPr/>
      <dgm:t>
        <a:bodyPr/>
        <a:lstStyle/>
        <a:p>
          <a:r>
            <a:rPr lang="en-US" sz="900" b="1"/>
            <a:t>Informatics &amp; Modalities</a:t>
          </a:r>
        </a:p>
      </dgm:t>
    </dgm:pt>
    <dgm:pt modelId="{AF1C37C3-F895-43E7-8D98-4645CFA16576}" type="parTrans" cxnId="{B75A0B44-4528-445A-9294-BC14483728D5}">
      <dgm:prSet/>
      <dgm:spPr/>
      <dgm:t>
        <a:bodyPr/>
        <a:lstStyle/>
        <a:p>
          <a:endParaRPr lang="en-US"/>
        </a:p>
      </dgm:t>
    </dgm:pt>
    <dgm:pt modelId="{7D0E7AC9-E5AB-4600-B90C-20B803A0D7A2}" type="sibTrans" cxnId="{B75A0B44-4528-445A-9294-BC14483728D5}">
      <dgm:prSet/>
      <dgm:spPr/>
      <dgm:t>
        <a:bodyPr/>
        <a:lstStyle/>
        <a:p>
          <a:endParaRPr lang="en-US"/>
        </a:p>
      </dgm:t>
    </dgm:pt>
    <dgm:pt modelId="{1C408DCF-3BCD-43C8-BF19-0997BEC2950E}">
      <dgm:prSet phldrT="[Text]" custT="1"/>
      <dgm:spPr/>
      <dgm:t>
        <a:bodyPr/>
        <a:lstStyle/>
        <a:p>
          <a:r>
            <a:rPr lang="en-US" sz="900" b="1"/>
            <a:t>Reagents  &amp;  Primary Assay </a:t>
          </a:r>
        </a:p>
      </dgm:t>
    </dgm:pt>
    <dgm:pt modelId="{49F672FE-B46D-43DD-980C-ACCDED1E2390}" type="parTrans" cxnId="{CC98D308-A7ED-4351-B5D9-19E631C08034}">
      <dgm:prSet/>
      <dgm:spPr/>
      <dgm:t>
        <a:bodyPr/>
        <a:lstStyle/>
        <a:p>
          <a:endParaRPr lang="en-US"/>
        </a:p>
      </dgm:t>
    </dgm:pt>
    <dgm:pt modelId="{2C9266A7-13F0-43F8-9A76-B076F4E14139}" type="sibTrans" cxnId="{CC98D308-A7ED-4351-B5D9-19E631C08034}">
      <dgm:prSet/>
      <dgm:spPr/>
      <dgm:t>
        <a:bodyPr/>
        <a:lstStyle/>
        <a:p>
          <a:endParaRPr lang="en-US"/>
        </a:p>
      </dgm:t>
    </dgm:pt>
    <dgm:pt modelId="{C9FD4AA5-4758-491A-AEF9-B8C7E2DB0636}" type="pres">
      <dgm:prSet presAssocID="{3CCE29EF-C1B2-4FE9-A0ED-6442487DE813}" presName="compositeShape" presStyleCnt="0">
        <dgm:presLayoutVars>
          <dgm:chMax val="7"/>
          <dgm:dir/>
          <dgm:resizeHandles val="exact"/>
        </dgm:presLayoutVars>
      </dgm:prSet>
      <dgm:spPr/>
    </dgm:pt>
    <dgm:pt modelId="{A8782812-3FD2-4558-AA94-4B4849122C62}" type="pres">
      <dgm:prSet presAssocID="{3CCE29EF-C1B2-4FE9-A0ED-6442487DE813}" presName="wedge1" presStyleLbl="node1" presStyleIdx="0" presStyleCnt="4"/>
      <dgm:spPr/>
    </dgm:pt>
    <dgm:pt modelId="{5993E2C7-8F88-4938-A4ED-405AF6FADD20}" type="pres">
      <dgm:prSet presAssocID="{3CCE29EF-C1B2-4FE9-A0ED-6442487DE813}" presName="dummy1a" presStyleCnt="0"/>
      <dgm:spPr/>
    </dgm:pt>
    <dgm:pt modelId="{91624DCF-F427-4D69-B399-B2935257FCE3}" type="pres">
      <dgm:prSet presAssocID="{3CCE29EF-C1B2-4FE9-A0ED-6442487DE813}" presName="dummy1b" presStyleCnt="0"/>
      <dgm:spPr/>
    </dgm:pt>
    <dgm:pt modelId="{3AE68BD7-7A83-4199-9563-65A8C92C8332}" type="pres">
      <dgm:prSet presAssocID="{3CCE29EF-C1B2-4FE9-A0ED-6442487DE813}" presName="wedge1Tx" presStyleLbl="node1" presStyleIdx="0" presStyleCnt="4">
        <dgm:presLayoutVars>
          <dgm:chMax val="0"/>
          <dgm:chPref val="0"/>
          <dgm:bulletEnabled val="1"/>
        </dgm:presLayoutVars>
      </dgm:prSet>
      <dgm:spPr/>
    </dgm:pt>
    <dgm:pt modelId="{76F29895-D64F-4F43-885A-E0958A280C9A}" type="pres">
      <dgm:prSet presAssocID="{3CCE29EF-C1B2-4FE9-A0ED-6442487DE813}" presName="wedge2" presStyleLbl="node1" presStyleIdx="1" presStyleCnt="4"/>
      <dgm:spPr/>
    </dgm:pt>
    <dgm:pt modelId="{4491F63A-E0F0-4B90-AF37-B38DF0EE37D1}" type="pres">
      <dgm:prSet presAssocID="{3CCE29EF-C1B2-4FE9-A0ED-6442487DE813}" presName="dummy2a" presStyleCnt="0"/>
      <dgm:spPr/>
    </dgm:pt>
    <dgm:pt modelId="{DDA4BA0B-FCC5-493C-A177-C1A552D59881}" type="pres">
      <dgm:prSet presAssocID="{3CCE29EF-C1B2-4FE9-A0ED-6442487DE813}" presName="dummy2b" presStyleCnt="0"/>
      <dgm:spPr/>
    </dgm:pt>
    <dgm:pt modelId="{217C9BE2-AACA-47CB-B34D-96DB0400883C}" type="pres">
      <dgm:prSet presAssocID="{3CCE29EF-C1B2-4FE9-A0ED-6442487DE813}" presName="wedge2Tx" presStyleLbl="node1" presStyleIdx="1" presStyleCnt="4">
        <dgm:presLayoutVars>
          <dgm:chMax val="0"/>
          <dgm:chPref val="0"/>
          <dgm:bulletEnabled val="1"/>
        </dgm:presLayoutVars>
      </dgm:prSet>
      <dgm:spPr/>
    </dgm:pt>
    <dgm:pt modelId="{71AC084D-94E8-4759-B13D-391265C431EE}" type="pres">
      <dgm:prSet presAssocID="{3CCE29EF-C1B2-4FE9-A0ED-6442487DE813}" presName="wedge3" presStyleLbl="node1" presStyleIdx="2" presStyleCnt="4"/>
      <dgm:spPr/>
    </dgm:pt>
    <dgm:pt modelId="{5234AC8A-4949-4FAC-858F-4D0ED1A5238D}" type="pres">
      <dgm:prSet presAssocID="{3CCE29EF-C1B2-4FE9-A0ED-6442487DE813}" presName="dummy3a" presStyleCnt="0"/>
      <dgm:spPr/>
    </dgm:pt>
    <dgm:pt modelId="{3B763AC6-5A66-456B-A83D-C15620DCC811}" type="pres">
      <dgm:prSet presAssocID="{3CCE29EF-C1B2-4FE9-A0ED-6442487DE813}" presName="dummy3b" presStyleCnt="0"/>
      <dgm:spPr/>
    </dgm:pt>
    <dgm:pt modelId="{C5ADBB36-B447-4A37-8F14-A17C8FE360E9}" type="pres">
      <dgm:prSet presAssocID="{3CCE29EF-C1B2-4FE9-A0ED-6442487DE813}" presName="wedge3Tx" presStyleLbl="node1" presStyleIdx="2" presStyleCnt="4">
        <dgm:presLayoutVars>
          <dgm:chMax val="0"/>
          <dgm:chPref val="0"/>
          <dgm:bulletEnabled val="1"/>
        </dgm:presLayoutVars>
      </dgm:prSet>
      <dgm:spPr/>
    </dgm:pt>
    <dgm:pt modelId="{0996D70D-0C6B-49B4-82CF-682B011334C1}" type="pres">
      <dgm:prSet presAssocID="{3CCE29EF-C1B2-4FE9-A0ED-6442487DE813}" presName="wedge4" presStyleLbl="node1" presStyleIdx="3" presStyleCnt="4"/>
      <dgm:spPr/>
    </dgm:pt>
    <dgm:pt modelId="{9D23EB83-A820-4666-9CBF-EE7FAA729F5C}" type="pres">
      <dgm:prSet presAssocID="{3CCE29EF-C1B2-4FE9-A0ED-6442487DE813}" presName="dummy4a" presStyleCnt="0"/>
      <dgm:spPr/>
    </dgm:pt>
    <dgm:pt modelId="{856F8BCB-C013-4E4F-88A9-D5F51F7A7D0B}" type="pres">
      <dgm:prSet presAssocID="{3CCE29EF-C1B2-4FE9-A0ED-6442487DE813}" presName="dummy4b" presStyleCnt="0"/>
      <dgm:spPr/>
    </dgm:pt>
    <dgm:pt modelId="{55A082FC-7D32-4CBD-84BC-C64A16BB0B94}" type="pres">
      <dgm:prSet presAssocID="{3CCE29EF-C1B2-4FE9-A0ED-6442487DE813}" presName="wedge4Tx" presStyleLbl="node1" presStyleIdx="3" presStyleCnt="4">
        <dgm:presLayoutVars>
          <dgm:chMax val="0"/>
          <dgm:chPref val="0"/>
          <dgm:bulletEnabled val="1"/>
        </dgm:presLayoutVars>
      </dgm:prSet>
      <dgm:spPr/>
    </dgm:pt>
    <dgm:pt modelId="{FD511513-AD47-4431-A45B-F517D86DAF8B}" type="pres">
      <dgm:prSet presAssocID="{2F945B1A-6C47-40E9-A606-7CDA52E50EB4}" presName="arrowWedge1" presStyleLbl="fgSibTrans2D1" presStyleIdx="0" presStyleCnt="4"/>
      <dgm:spPr>
        <a:ln>
          <a:solidFill>
            <a:schemeClr val="tx1"/>
          </a:solidFill>
        </a:ln>
      </dgm:spPr>
    </dgm:pt>
    <dgm:pt modelId="{6050C04B-6BB6-489A-94CB-EB521170A579}" type="pres">
      <dgm:prSet presAssocID="{4F018C66-E594-4636-8E44-2E419872CD51}" presName="arrowWedge2" presStyleLbl="fgSibTrans2D1" presStyleIdx="1" presStyleCnt="4"/>
      <dgm:spPr>
        <a:blipFill rotWithShape="0">
          <a:blip xmlns:r="http://schemas.openxmlformats.org/officeDocument/2006/relationships" r:embed="rId1"/>
          <a:stretch>
            <a:fillRect/>
          </a:stretch>
        </a:blipFill>
        <a:ln>
          <a:solidFill>
            <a:schemeClr val="tx1"/>
          </a:solidFill>
        </a:ln>
      </dgm:spPr>
    </dgm:pt>
    <dgm:pt modelId="{D8BF3EC1-78F9-44F0-8C64-1B3E2546905C}" type="pres">
      <dgm:prSet presAssocID="{7D0E7AC9-E5AB-4600-B90C-20B803A0D7A2}" presName="arrowWedge3" presStyleLbl="fgSibTrans2D1" presStyleIdx="2" presStyleCnt="4"/>
      <dgm:spPr>
        <a:blipFill rotWithShape="0">
          <a:blip xmlns:r="http://schemas.openxmlformats.org/officeDocument/2006/relationships" r:embed="rId2"/>
          <a:stretch>
            <a:fillRect/>
          </a:stretch>
        </a:blipFill>
        <a:ln>
          <a:solidFill>
            <a:schemeClr val="tx1"/>
          </a:solidFill>
        </a:ln>
      </dgm:spPr>
    </dgm:pt>
    <dgm:pt modelId="{EFAAFB5B-A7A7-48C5-BEC7-1496A28BDA94}" type="pres">
      <dgm:prSet presAssocID="{2C9266A7-13F0-43F8-9A76-B076F4E14139}" presName="arrowWedge4" presStyleLbl="fgSibTrans2D1" presStyleIdx="3" presStyleCnt="4"/>
      <dgm:spPr>
        <a:ln>
          <a:solidFill>
            <a:schemeClr val="tx1"/>
          </a:solidFill>
        </a:ln>
      </dgm:spPr>
    </dgm:pt>
  </dgm:ptLst>
  <dgm:cxnLst>
    <dgm:cxn modelId="{8C296008-8289-44B1-B18D-7C6067123D89}" type="presOf" srcId="{40F08E06-A635-43A5-A98C-A664276CB680}" destId="{C5ADBB36-B447-4A37-8F14-A17C8FE360E9}" srcOrd="1" destOrd="0" presId="urn:microsoft.com/office/officeart/2005/8/layout/cycle8"/>
    <dgm:cxn modelId="{CC98D308-A7ED-4351-B5D9-19E631C08034}" srcId="{3CCE29EF-C1B2-4FE9-A0ED-6442487DE813}" destId="{1C408DCF-3BCD-43C8-BF19-0997BEC2950E}" srcOrd="3" destOrd="0" parTransId="{49F672FE-B46D-43DD-980C-ACCDED1E2390}" sibTransId="{2C9266A7-13F0-43F8-9A76-B076F4E14139}"/>
    <dgm:cxn modelId="{7EF2AA10-241E-48FD-844B-CCC2FC923B64}" type="presOf" srcId="{3B312CB2-8491-4E8D-B14E-379361AC942C}" destId="{76F29895-D64F-4F43-885A-E0958A280C9A}" srcOrd="0" destOrd="0" presId="urn:microsoft.com/office/officeart/2005/8/layout/cycle8"/>
    <dgm:cxn modelId="{753CA71A-AB9F-4D7C-A39A-D46C00512700}" type="presOf" srcId="{3CCE29EF-C1B2-4FE9-A0ED-6442487DE813}" destId="{C9FD4AA5-4758-491A-AEF9-B8C7E2DB0636}" srcOrd="0" destOrd="0" presId="urn:microsoft.com/office/officeart/2005/8/layout/cycle8"/>
    <dgm:cxn modelId="{CCBEDA22-541F-4AF9-B274-977914B836E8}" type="presOf" srcId="{3B312CB2-8491-4E8D-B14E-379361AC942C}" destId="{217C9BE2-AACA-47CB-B34D-96DB0400883C}" srcOrd="1" destOrd="0" presId="urn:microsoft.com/office/officeart/2005/8/layout/cycle8"/>
    <dgm:cxn modelId="{01C2DC3F-762F-457F-80F1-82169FC50B00}" type="presOf" srcId="{1C408DCF-3BCD-43C8-BF19-0997BEC2950E}" destId="{55A082FC-7D32-4CBD-84BC-C64A16BB0B94}" srcOrd="1" destOrd="0" presId="urn:microsoft.com/office/officeart/2005/8/layout/cycle8"/>
    <dgm:cxn modelId="{B75A0B44-4528-445A-9294-BC14483728D5}" srcId="{3CCE29EF-C1B2-4FE9-A0ED-6442487DE813}" destId="{40F08E06-A635-43A5-A98C-A664276CB680}" srcOrd="2" destOrd="0" parTransId="{AF1C37C3-F895-43E7-8D98-4645CFA16576}" sibTransId="{7D0E7AC9-E5AB-4600-B90C-20B803A0D7A2}"/>
    <dgm:cxn modelId="{BCC59C4D-56DD-4834-8770-D8674A10D8D9}" type="presOf" srcId="{1C408DCF-3BCD-43C8-BF19-0997BEC2950E}" destId="{0996D70D-0C6B-49B4-82CF-682B011334C1}" srcOrd="0" destOrd="0" presId="urn:microsoft.com/office/officeart/2005/8/layout/cycle8"/>
    <dgm:cxn modelId="{B149C48B-0AB0-4729-9355-CACC30B379B4}" type="presOf" srcId="{D26AF59E-F9C5-4205-9298-30A1ABB06827}" destId="{A8782812-3FD2-4558-AA94-4B4849122C62}" srcOrd="0" destOrd="0" presId="urn:microsoft.com/office/officeart/2005/8/layout/cycle8"/>
    <dgm:cxn modelId="{1609E699-AC52-4055-AD3F-6E231BB12A4B}" srcId="{3CCE29EF-C1B2-4FE9-A0ED-6442487DE813}" destId="{D26AF59E-F9C5-4205-9298-30A1ABB06827}" srcOrd="0" destOrd="0" parTransId="{0FF4C20B-E61F-4733-9F20-3D8153863957}" sibTransId="{2F945B1A-6C47-40E9-A606-7CDA52E50EB4}"/>
    <dgm:cxn modelId="{EAF179A1-DDD2-4560-85F6-B72B8010703F}" type="presOf" srcId="{40F08E06-A635-43A5-A98C-A664276CB680}" destId="{71AC084D-94E8-4759-B13D-391265C431EE}" srcOrd="0" destOrd="0" presId="urn:microsoft.com/office/officeart/2005/8/layout/cycle8"/>
    <dgm:cxn modelId="{D414DDC9-5FCD-4943-A4A6-DED8EF3D6F02}" type="presOf" srcId="{D26AF59E-F9C5-4205-9298-30A1ABB06827}" destId="{3AE68BD7-7A83-4199-9563-65A8C92C8332}" srcOrd="1" destOrd="0" presId="urn:microsoft.com/office/officeart/2005/8/layout/cycle8"/>
    <dgm:cxn modelId="{9BD714EB-0C5B-48EC-B4DE-9B0E73019727}" srcId="{3CCE29EF-C1B2-4FE9-A0ED-6442487DE813}" destId="{3B312CB2-8491-4E8D-B14E-379361AC942C}" srcOrd="1" destOrd="0" parTransId="{6ECD2062-862C-4CBB-9C28-23034AC2B7A7}" sibTransId="{4F018C66-E594-4636-8E44-2E419872CD51}"/>
    <dgm:cxn modelId="{403D88B1-C96C-416D-8860-5D0F96BB1D69}" type="presParOf" srcId="{C9FD4AA5-4758-491A-AEF9-B8C7E2DB0636}" destId="{A8782812-3FD2-4558-AA94-4B4849122C62}" srcOrd="0" destOrd="0" presId="urn:microsoft.com/office/officeart/2005/8/layout/cycle8"/>
    <dgm:cxn modelId="{3BFF58C4-FAB8-48CE-8898-605D7D83F9F5}" type="presParOf" srcId="{C9FD4AA5-4758-491A-AEF9-B8C7E2DB0636}" destId="{5993E2C7-8F88-4938-A4ED-405AF6FADD20}" srcOrd="1" destOrd="0" presId="urn:microsoft.com/office/officeart/2005/8/layout/cycle8"/>
    <dgm:cxn modelId="{34C8B270-D57D-44AE-87EB-D4FC2B8008BD}" type="presParOf" srcId="{C9FD4AA5-4758-491A-AEF9-B8C7E2DB0636}" destId="{91624DCF-F427-4D69-B399-B2935257FCE3}" srcOrd="2" destOrd="0" presId="urn:microsoft.com/office/officeart/2005/8/layout/cycle8"/>
    <dgm:cxn modelId="{F1C1B6DD-D0A5-4DBD-9CFB-CB3F9D6E9913}" type="presParOf" srcId="{C9FD4AA5-4758-491A-AEF9-B8C7E2DB0636}" destId="{3AE68BD7-7A83-4199-9563-65A8C92C8332}" srcOrd="3" destOrd="0" presId="urn:microsoft.com/office/officeart/2005/8/layout/cycle8"/>
    <dgm:cxn modelId="{65D30A0F-7E6D-492C-8B3F-2860193D4EC0}" type="presParOf" srcId="{C9FD4AA5-4758-491A-AEF9-B8C7E2DB0636}" destId="{76F29895-D64F-4F43-885A-E0958A280C9A}" srcOrd="4" destOrd="0" presId="urn:microsoft.com/office/officeart/2005/8/layout/cycle8"/>
    <dgm:cxn modelId="{86F6B66B-F23D-4B0E-A894-5DCF15600C6D}" type="presParOf" srcId="{C9FD4AA5-4758-491A-AEF9-B8C7E2DB0636}" destId="{4491F63A-E0F0-4B90-AF37-B38DF0EE37D1}" srcOrd="5" destOrd="0" presId="urn:microsoft.com/office/officeart/2005/8/layout/cycle8"/>
    <dgm:cxn modelId="{53D57D4D-7268-426B-AF15-E06543D505C1}" type="presParOf" srcId="{C9FD4AA5-4758-491A-AEF9-B8C7E2DB0636}" destId="{DDA4BA0B-FCC5-493C-A177-C1A552D59881}" srcOrd="6" destOrd="0" presId="urn:microsoft.com/office/officeart/2005/8/layout/cycle8"/>
    <dgm:cxn modelId="{EBA9C055-8840-4B92-B2DE-8C663A598AAC}" type="presParOf" srcId="{C9FD4AA5-4758-491A-AEF9-B8C7E2DB0636}" destId="{217C9BE2-AACA-47CB-B34D-96DB0400883C}" srcOrd="7" destOrd="0" presId="urn:microsoft.com/office/officeart/2005/8/layout/cycle8"/>
    <dgm:cxn modelId="{779A8C92-707E-42B3-8F4F-E0B824B92D37}" type="presParOf" srcId="{C9FD4AA5-4758-491A-AEF9-B8C7E2DB0636}" destId="{71AC084D-94E8-4759-B13D-391265C431EE}" srcOrd="8" destOrd="0" presId="urn:microsoft.com/office/officeart/2005/8/layout/cycle8"/>
    <dgm:cxn modelId="{F692A6A9-DCD4-4E76-B72B-1E44FC90B1BC}" type="presParOf" srcId="{C9FD4AA5-4758-491A-AEF9-B8C7E2DB0636}" destId="{5234AC8A-4949-4FAC-858F-4D0ED1A5238D}" srcOrd="9" destOrd="0" presId="urn:microsoft.com/office/officeart/2005/8/layout/cycle8"/>
    <dgm:cxn modelId="{E44A9C9E-B3D5-43CF-8722-8E3FBA33F5DA}" type="presParOf" srcId="{C9FD4AA5-4758-491A-AEF9-B8C7E2DB0636}" destId="{3B763AC6-5A66-456B-A83D-C15620DCC811}" srcOrd="10" destOrd="0" presId="urn:microsoft.com/office/officeart/2005/8/layout/cycle8"/>
    <dgm:cxn modelId="{B5585E5C-3260-44D6-BDC0-2E693E5859F3}" type="presParOf" srcId="{C9FD4AA5-4758-491A-AEF9-B8C7E2DB0636}" destId="{C5ADBB36-B447-4A37-8F14-A17C8FE360E9}" srcOrd="11" destOrd="0" presId="urn:microsoft.com/office/officeart/2005/8/layout/cycle8"/>
    <dgm:cxn modelId="{72F03833-B35E-4CA1-9C94-376B4BA24820}" type="presParOf" srcId="{C9FD4AA5-4758-491A-AEF9-B8C7E2DB0636}" destId="{0996D70D-0C6B-49B4-82CF-682B011334C1}" srcOrd="12" destOrd="0" presId="urn:microsoft.com/office/officeart/2005/8/layout/cycle8"/>
    <dgm:cxn modelId="{634E3D15-B8B0-4F54-9953-4FBC91945452}" type="presParOf" srcId="{C9FD4AA5-4758-491A-AEF9-B8C7E2DB0636}" destId="{9D23EB83-A820-4666-9CBF-EE7FAA729F5C}" srcOrd="13" destOrd="0" presId="urn:microsoft.com/office/officeart/2005/8/layout/cycle8"/>
    <dgm:cxn modelId="{DE3EED82-546A-4010-92DF-03DC9E2C4AA3}" type="presParOf" srcId="{C9FD4AA5-4758-491A-AEF9-B8C7E2DB0636}" destId="{856F8BCB-C013-4E4F-88A9-D5F51F7A7D0B}" srcOrd="14" destOrd="0" presId="urn:microsoft.com/office/officeart/2005/8/layout/cycle8"/>
    <dgm:cxn modelId="{A4AB0941-69EB-41D3-8329-2D1463EAF0FE}" type="presParOf" srcId="{C9FD4AA5-4758-491A-AEF9-B8C7E2DB0636}" destId="{55A082FC-7D32-4CBD-84BC-C64A16BB0B94}" srcOrd="15" destOrd="0" presId="urn:microsoft.com/office/officeart/2005/8/layout/cycle8"/>
    <dgm:cxn modelId="{FD64DCF1-E75C-46C4-83DD-C7EAF5B4B014}" type="presParOf" srcId="{C9FD4AA5-4758-491A-AEF9-B8C7E2DB0636}" destId="{FD511513-AD47-4431-A45B-F517D86DAF8B}" srcOrd="16" destOrd="0" presId="urn:microsoft.com/office/officeart/2005/8/layout/cycle8"/>
    <dgm:cxn modelId="{40D56056-74B7-447A-A0E9-8BE90ADBC862}" type="presParOf" srcId="{C9FD4AA5-4758-491A-AEF9-B8C7E2DB0636}" destId="{6050C04B-6BB6-489A-94CB-EB521170A579}" srcOrd="17" destOrd="0" presId="urn:microsoft.com/office/officeart/2005/8/layout/cycle8"/>
    <dgm:cxn modelId="{BECBD4DF-2955-4740-A44F-7D8E0CECB14E}" type="presParOf" srcId="{C9FD4AA5-4758-491A-AEF9-B8C7E2DB0636}" destId="{D8BF3EC1-78F9-44F0-8C64-1B3E2546905C}" srcOrd="18" destOrd="0" presId="urn:microsoft.com/office/officeart/2005/8/layout/cycle8"/>
    <dgm:cxn modelId="{3380AA3F-4E63-480D-9F06-94AB6F959ADE}" type="presParOf" srcId="{C9FD4AA5-4758-491A-AEF9-B8C7E2DB0636}" destId="{EFAAFB5B-A7A7-48C5-BEC7-1496A28BDA94}" srcOrd="19" destOrd="0" presId="urn:microsoft.com/office/officeart/2005/8/layout/cycle8"/>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CCE29EF-C1B2-4FE9-A0ED-6442487DE813}" type="doc">
      <dgm:prSet loTypeId="urn:microsoft.com/office/officeart/2005/8/layout/cycle8" loCatId="cycle" qsTypeId="urn:microsoft.com/office/officeart/2005/8/quickstyle/simple1" qsCatId="simple" csTypeId="urn:microsoft.com/office/officeart/2005/8/colors/accent1_2" csCatId="accent1" phldr="1"/>
      <dgm:spPr/>
    </dgm:pt>
    <dgm:pt modelId="{D26AF59E-F9C5-4205-9298-30A1ABB06827}">
      <dgm:prSet phldrT="[Text]" custT="1"/>
      <dgm:spPr/>
      <dgm:t>
        <a:bodyPr/>
        <a:lstStyle/>
        <a:p>
          <a:r>
            <a:rPr lang="en-US" sz="800" b="1"/>
            <a:t>Assay Development/ Biophysics</a:t>
          </a:r>
        </a:p>
      </dgm:t>
    </dgm:pt>
    <dgm:pt modelId="{0FF4C20B-E61F-4733-9F20-3D8153863957}" type="parTrans" cxnId="{1609E699-AC52-4055-AD3F-6E231BB12A4B}">
      <dgm:prSet/>
      <dgm:spPr/>
      <dgm:t>
        <a:bodyPr/>
        <a:lstStyle/>
        <a:p>
          <a:endParaRPr lang="en-US"/>
        </a:p>
      </dgm:t>
    </dgm:pt>
    <dgm:pt modelId="{2F945B1A-6C47-40E9-A606-7CDA52E50EB4}" type="sibTrans" cxnId="{1609E699-AC52-4055-AD3F-6E231BB12A4B}">
      <dgm:prSet/>
      <dgm:spPr/>
      <dgm:t>
        <a:bodyPr/>
        <a:lstStyle/>
        <a:p>
          <a:endParaRPr lang="en-US"/>
        </a:p>
      </dgm:t>
    </dgm:pt>
    <dgm:pt modelId="{3B312CB2-8491-4E8D-B14E-379361AC942C}">
      <dgm:prSet phldrT="[Text]" custT="1"/>
      <dgm:spPr/>
      <dgm:t>
        <a:bodyPr/>
        <a:lstStyle/>
        <a:p>
          <a:r>
            <a:rPr lang="en-US" sz="800" b="1"/>
            <a:t>Pharmacology/chemo-proteomics</a:t>
          </a:r>
        </a:p>
      </dgm:t>
    </dgm:pt>
    <dgm:pt modelId="{6ECD2062-862C-4CBB-9C28-23034AC2B7A7}" type="parTrans" cxnId="{9BD714EB-0C5B-48EC-B4DE-9B0E73019727}">
      <dgm:prSet/>
      <dgm:spPr/>
      <dgm:t>
        <a:bodyPr/>
        <a:lstStyle/>
        <a:p>
          <a:endParaRPr lang="en-US"/>
        </a:p>
      </dgm:t>
    </dgm:pt>
    <dgm:pt modelId="{4F018C66-E594-4636-8E44-2E419872CD51}" type="sibTrans" cxnId="{9BD714EB-0C5B-48EC-B4DE-9B0E73019727}">
      <dgm:prSet/>
      <dgm:spPr/>
      <dgm:t>
        <a:bodyPr/>
        <a:lstStyle/>
        <a:p>
          <a:endParaRPr lang="en-US"/>
        </a:p>
      </dgm:t>
    </dgm:pt>
    <dgm:pt modelId="{40F08E06-A635-43A5-A98C-A664276CB680}">
      <dgm:prSet phldrT="[Text]" custT="1"/>
      <dgm:spPr/>
      <dgm:t>
        <a:bodyPr/>
        <a:lstStyle/>
        <a:p>
          <a:r>
            <a:rPr lang="en-US" sz="900" b="1" err="1"/>
            <a:t>Ligandability</a:t>
          </a:r>
          <a:endParaRPr lang="en-US" sz="900" b="1"/>
        </a:p>
        <a:p>
          <a:r>
            <a:rPr lang="en-US" sz="900" b="1"/>
            <a:t>Tech Screen</a:t>
          </a:r>
        </a:p>
      </dgm:t>
    </dgm:pt>
    <dgm:pt modelId="{AF1C37C3-F895-43E7-8D98-4645CFA16576}" type="parTrans" cxnId="{B75A0B44-4528-445A-9294-BC14483728D5}">
      <dgm:prSet/>
      <dgm:spPr/>
      <dgm:t>
        <a:bodyPr/>
        <a:lstStyle/>
        <a:p>
          <a:endParaRPr lang="en-US"/>
        </a:p>
      </dgm:t>
    </dgm:pt>
    <dgm:pt modelId="{7D0E7AC9-E5AB-4600-B90C-20B803A0D7A2}" type="sibTrans" cxnId="{B75A0B44-4528-445A-9294-BC14483728D5}">
      <dgm:prSet/>
      <dgm:spPr/>
      <dgm:t>
        <a:bodyPr/>
        <a:lstStyle/>
        <a:p>
          <a:endParaRPr lang="en-US"/>
        </a:p>
      </dgm:t>
    </dgm:pt>
    <dgm:pt modelId="{1C408DCF-3BCD-43C8-BF19-0997BEC2950E}">
      <dgm:prSet phldrT="[Text]" custT="1"/>
      <dgm:spPr/>
      <dgm:t>
        <a:bodyPr/>
        <a:lstStyle/>
        <a:p>
          <a:r>
            <a:rPr lang="en-US" sz="900" b="1"/>
            <a:t>Structural Biology</a:t>
          </a:r>
        </a:p>
      </dgm:t>
    </dgm:pt>
    <dgm:pt modelId="{49F672FE-B46D-43DD-980C-ACCDED1E2390}" type="parTrans" cxnId="{CC98D308-A7ED-4351-B5D9-19E631C08034}">
      <dgm:prSet/>
      <dgm:spPr/>
      <dgm:t>
        <a:bodyPr/>
        <a:lstStyle/>
        <a:p>
          <a:endParaRPr lang="en-US"/>
        </a:p>
      </dgm:t>
    </dgm:pt>
    <dgm:pt modelId="{2C9266A7-13F0-43F8-9A76-B076F4E14139}" type="sibTrans" cxnId="{CC98D308-A7ED-4351-B5D9-19E631C08034}">
      <dgm:prSet/>
      <dgm:spPr/>
      <dgm:t>
        <a:bodyPr/>
        <a:lstStyle/>
        <a:p>
          <a:endParaRPr lang="en-US"/>
        </a:p>
      </dgm:t>
    </dgm:pt>
    <dgm:pt modelId="{C9FD4AA5-4758-491A-AEF9-B8C7E2DB0636}" type="pres">
      <dgm:prSet presAssocID="{3CCE29EF-C1B2-4FE9-A0ED-6442487DE813}" presName="compositeShape" presStyleCnt="0">
        <dgm:presLayoutVars>
          <dgm:chMax val="7"/>
          <dgm:dir/>
          <dgm:resizeHandles val="exact"/>
        </dgm:presLayoutVars>
      </dgm:prSet>
      <dgm:spPr/>
    </dgm:pt>
    <dgm:pt modelId="{A8782812-3FD2-4558-AA94-4B4849122C62}" type="pres">
      <dgm:prSet presAssocID="{3CCE29EF-C1B2-4FE9-A0ED-6442487DE813}" presName="wedge1" presStyleLbl="node1" presStyleIdx="0" presStyleCnt="4" custScaleX="101169" custScaleY="102704"/>
      <dgm:spPr/>
    </dgm:pt>
    <dgm:pt modelId="{5993E2C7-8F88-4938-A4ED-405AF6FADD20}" type="pres">
      <dgm:prSet presAssocID="{3CCE29EF-C1B2-4FE9-A0ED-6442487DE813}" presName="dummy1a" presStyleCnt="0"/>
      <dgm:spPr/>
    </dgm:pt>
    <dgm:pt modelId="{91624DCF-F427-4D69-B399-B2935257FCE3}" type="pres">
      <dgm:prSet presAssocID="{3CCE29EF-C1B2-4FE9-A0ED-6442487DE813}" presName="dummy1b" presStyleCnt="0"/>
      <dgm:spPr/>
    </dgm:pt>
    <dgm:pt modelId="{3AE68BD7-7A83-4199-9563-65A8C92C8332}" type="pres">
      <dgm:prSet presAssocID="{3CCE29EF-C1B2-4FE9-A0ED-6442487DE813}" presName="wedge1Tx" presStyleLbl="node1" presStyleIdx="0" presStyleCnt="4">
        <dgm:presLayoutVars>
          <dgm:chMax val="0"/>
          <dgm:chPref val="0"/>
          <dgm:bulletEnabled val="1"/>
        </dgm:presLayoutVars>
      </dgm:prSet>
      <dgm:spPr/>
    </dgm:pt>
    <dgm:pt modelId="{76F29895-D64F-4F43-885A-E0958A280C9A}" type="pres">
      <dgm:prSet presAssocID="{3CCE29EF-C1B2-4FE9-A0ED-6442487DE813}" presName="wedge2" presStyleLbl="node1" presStyleIdx="1" presStyleCnt="4"/>
      <dgm:spPr/>
    </dgm:pt>
    <dgm:pt modelId="{4491F63A-E0F0-4B90-AF37-B38DF0EE37D1}" type="pres">
      <dgm:prSet presAssocID="{3CCE29EF-C1B2-4FE9-A0ED-6442487DE813}" presName="dummy2a" presStyleCnt="0"/>
      <dgm:spPr/>
    </dgm:pt>
    <dgm:pt modelId="{DDA4BA0B-FCC5-493C-A177-C1A552D59881}" type="pres">
      <dgm:prSet presAssocID="{3CCE29EF-C1B2-4FE9-A0ED-6442487DE813}" presName="dummy2b" presStyleCnt="0"/>
      <dgm:spPr/>
    </dgm:pt>
    <dgm:pt modelId="{217C9BE2-AACA-47CB-B34D-96DB0400883C}" type="pres">
      <dgm:prSet presAssocID="{3CCE29EF-C1B2-4FE9-A0ED-6442487DE813}" presName="wedge2Tx" presStyleLbl="node1" presStyleIdx="1" presStyleCnt="4">
        <dgm:presLayoutVars>
          <dgm:chMax val="0"/>
          <dgm:chPref val="0"/>
          <dgm:bulletEnabled val="1"/>
        </dgm:presLayoutVars>
      </dgm:prSet>
      <dgm:spPr/>
    </dgm:pt>
    <dgm:pt modelId="{71AC084D-94E8-4759-B13D-391265C431EE}" type="pres">
      <dgm:prSet presAssocID="{3CCE29EF-C1B2-4FE9-A0ED-6442487DE813}" presName="wedge3" presStyleLbl="node1" presStyleIdx="2" presStyleCnt="4"/>
      <dgm:spPr/>
    </dgm:pt>
    <dgm:pt modelId="{5234AC8A-4949-4FAC-858F-4D0ED1A5238D}" type="pres">
      <dgm:prSet presAssocID="{3CCE29EF-C1B2-4FE9-A0ED-6442487DE813}" presName="dummy3a" presStyleCnt="0"/>
      <dgm:spPr/>
    </dgm:pt>
    <dgm:pt modelId="{3B763AC6-5A66-456B-A83D-C15620DCC811}" type="pres">
      <dgm:prSet presAssocID="{3CCE29EF-C1B2-4FE9-A0ED-6442487DE813}" presName="dummy3b" presStyleCnt="0"/>
      <dgm:spPr/>
    </dgm:pt>
    <dgm:pt modelId="{C5ADBB36-B447-4A37-8F14-A17C8FE360E9}" type="pres">
      <dgm:prSet presAssocID="{3CCE29EF-C1B2-4FE9-A0ED-6442487DE813}" presName="wedge3Tx" presStyleLbl="node1" presStyleIdx="2" presStyleCnt="4">
        <dgm:presLayoutVars>
          <dgm:chMax val="0"/>
          <dgm:chPref val="0"/>
          <dgm:bulletEnabled val="1"/>
        </dgm:presLayoutVars>
      </dgm:prSet>
      <dgm:spPr/>
    </dgm:pt>
    <dgm:pt modelId="{0996D70D-0C6B-49B4-82CF-682B011334C1}" type="pres">
      <dgm:prSet presAssocID="{3CCE29EF-C1B2-4FE9-A0ED-6442487DE813}" presName="wedge4" presStyleLbl="node1" presStyleIdx="3" presStyleCnt="4"/>
      <dgm:spPr/>
    </dgm:pt>
    <dgm:pt modelId="{9D23EB83-A820-4666-9CBF-EE7FAA729F5C}" type="pres">
      <dgm:prSet presAssocID="{3CCE29EF-C1B2-4FE9-A0ED-6442487DE813}" presName="dummy4a" presStyleCnt="0"/>
      <dgm:spPr/>
    </dgm:pt>
    <dgm:pt modelId="{856F8BCB-C013-4E4F-88A9-D5F51F7A7D0B}" type="pres">
      <dgm:prSet presAssocID="{3CCE29EF-C1B2-4FE9-A0ED-6442487DE813}" presName="dummy4b" presStyleCnt="0"/>
      <dgm:spPr/>
    </dgm:pt>
    <dgm:pt modelId="{55A082FC-7D32-4CBD-84BC-C64A16BB0B94}" type="pres">
      <dgm:prSet presAssocID="{3CCE29EF-C1B2-4FE9-A0ED-6442487DE813}" presName="wedge4Tx" presStyleLbl="node1" presStyleIdx="3" presStyleCnt="4">
        <dgm:presLayoutVars>
          <dgm:chMax val="0"/>
          <dgm:chPref val="0"/>
          <dgm:bulletEnabled val="1"/>
        </dgm:presLayoutVars>
      </dgm:prSet>
      <dgm:spPr/>
    </dgm:pt>
    <dgm:pt modelId="{FD511513-AD47-4431-A45B-F517D86DAF8B}" type="pres">
      <dgm:prSet presAssocID="{2F945B1A-6C47-40E9-A606-7CDA52E50EB4}" presName="arrowWedge1" presStyleLbl="fgSibTrans2D1" presStyleIdx="0" presStyleCnt="4"/>
      <dgm:spPr>
        <a:ln>
          <a:solidFill>
            <a:schemeClr val="tx1"/>
          </a:solidFill>
        </a:ln>
      </dgm:spPr>
    </dgm:pt>
    <dgm:pt modelId="{6050C04B-6BB6-489A-94CB-EB521170A579}" type="pres">
      <dgm:prSet presAssocID="{4F018C66-E594-4636-8E44-2E419872CD51}" presName="arrowWedge2" presStyleLbl="fgSibTrans2D1" presStyleIdx="1" presStyleCnt="4"/>
      <dgm:spPr>
        <a:ln>
          <a:solidFill>
            <a:schemeClr val="tx1"/>
          </a:solidFill>
        </a:ln>
      </dgm:spPr>
    </dgm:pt>
    <dgm:pt modelId="{D8BF3EC1-78F9-44F0-8C64-1B3E2546905C}" type="pres">
      <dgm:prSet presAssocID="{7D0E7AC9-E5AB-4600-B90C-20B803A0D7A2}" presName="arrowWedge3" presStyleLbl="fgSibTrans2D1" presStyleIdx="2" presStyleCnt="4"/>
      <dgm:spPr>
        <a:blipFill rotWithShape="0">
          <a:blip xmlns:r="http://schemas.openxmlformats.org/officeDocument/2006/relationships" r:embed="rId1"/>
          <a:stretch>
            <a:fillRect/>
          </a:stretch>
        </a:blipFill>
        <a:ln>
          <a:solidFill>
            <a:schemeClr val="tx1"/>
          </a:solidFill>
        </a:ln>
      </dgm:spPr>
    </dgm:pt>
    <dgm:pt modelId="{EFAAFB5B-A7A7-48C5-BEC7-1496A28BDA94}" type="pres">
      <dgm:prSet presAssocID="{2C9266A7-13F0-43F8-9A76-B076F4E14139}" presName="arrowWedge4" presStyleLbl="fgSibTrans2D1" presStyleIdx="3" presStyleCnt="4"/>
      <dgm:spPr>
        <a:ln>
          <a:solidFill>
            <a:schemeClr val="tx1"/>
          </a:solidFill>
        </a:ln>
      </dgm:spPr>
    </dgm:pt>
  </dgm:ptLst>
  <dgm:cxnLst>
    <dgm:cxn modelId="{8C296008-8289-44B1-B18D-7C6067123D89}" type="presOf" srcId="{40F08E06-A635-43A5-A98C-A664276CB680}" destId="{C5ADBB36-B447-4A37-8F14-A17C8FE360E9}" srcOrd="1" destOrd="0" presId="urn:microsoft.com/office/officeart/2005/8/layout/cycle8"/>
    <dgm:cxn modelId="{CC98D308-A7ED-4351-B5D9-19E631C08034}" srcId="{3CCE29EF-C1B2-4FE9-A0ED-6442487DE813}" destId="{1C408DCF-3BCD-43C8-BF19-0997BEC2950E}" srcOrd="3" destOrd="0" parTransId="{49F672FE-B46D-43DD-980C-ACCDED1E2390}" sibTransId="{2C9266A7-13F0-43F8-9A76-B076F4E14139}"/>
    <dgm:cxn modelId="{7EF2AA10-241E-48FD-844B-CCC2FC923B64}" type="presOf" srcId="{3B312CB2-8491-4E8D-B14E-379361AC942C}" destId="{76F29895-D64F-4F43-885A-E0958A280C9A}" srcOrd="0" destOrd="0" presId="urn:microsoft.com/office/officeart/2005/8/layout/cycle8"/>
    <dgm:cxn modelId="{753CA71A-AB9F-4D7C-A39A-D46C00512700}" type="presOf" srcId="{3CCE29EF-C1B2-4FE9-A0ED-6442487DE813}" destId="{C9FD4AA5-4758-491A-AEF9-B8C7E2DB0636}" srcOrd="0" destOrd="0" presId="urn:microsoft.com/office/officeart/2005/8/layout/cycle8"/>
    <dgm:cxn modelId="{CCBEDA22-541F-4AF9-B274-977914B836E8}" type="presOf" srcId="{3B312CB2-8491-4E8D-B14E-379361AC942C}" destId="{217C9BE2-AACA-47CB-B34D-96DB0400883C}" srcOrd="1" destOrd="0" presId="urn:microsoft.com/office/officeart/2005/8/layout/cycle8"/>
    <dgm:cxn modelId="{01C2DC3F-762F-457F-80F1-82169FC50B00}" type="presOf" srcId="{1C408DCF-3BCD-43C8-BF19-0997BEC2950E}" destId="{55A082FC-7D32-4CBD-84BC-C64A16BB0B94}" srcOrd="1" destOrd="0" presId="urn:microsoft.com/office/officeart/2005/8/layout/cycle8"/>
    <dgm:cxn modelId="{B75A0B44-4528-445A-9294-BC14483728D5}" srcId="{3CCE29EF-C1B2-4FE9-A0ED-6442487DE813}" destId="{40F08E06-A635-43A5-A98C-A664276CB680}" srcOrd="2" destOrd="0" parTransId="{AF1C37C3-F895-43E7-8D98-4645CFA16576}" sibTransId="{7D0E7AC9-E5AB-4600-B90C-20B803A0D7A2}"/>
    <dgm:cxn modelId="{BCC59C4D-56DD-4834-8770-D8674A10D8D9}" type="presOf" srcId="{1C408DCF-3BCD-43C8-BF19-0997BEC2950E}" destId="{0996D70D-0C6B-49B4-82CF-682B011334C1}" srcOrd="0" destOrd="0" presId="urn:microsoft.com/office/officeart/2005/8/layout/cycle8"/>
    <dgm:cxn modelId="{B149C48B-0AB0-4729-9355-CACC30B379B4}" type="presOf" srcId="{D26AF59E-F9C5-4205-9298-30A1ABB06827}" destId="{A8782812-3FD2-4558-AA94-4B4849122C62}" srcOrd="0" destOrd="0" presId="urn:microsoft.com/office/officeart/2005/8/layout/cycle8"/>
    <dgm:cxn modelId="{1609E699-AC52-4055-AD3F-6E231BB12A4B}" srcId="{3CCE29EF-C1B2-4FE9-A0ED-6442487DE813}" destId="{D26AF59E-F9C5-4205-9298-30A1ABB06827}" srcOrd="0" destOrd="0" parTransId="{0FF4C20B-E61F-4733-9F20-3D8153863957}" sibTransId="{2F945B1A-6C47-40E9-A606-7CDA52E50EB4}"/>
    <dgm:cxn modelId="{EAF179A1-DDD2-4560-85F6-B72B8010703F}" type="presOf" srcId="{40F08E06-A635-43A5-A98C-A664276CB680}" destId="{71AC084D-94E8-4759-B13D-391265C431EE}" srcOrd="0" destOrd="0" presId="urn:microsoft.com/office/officeart/2005/8/layout/cycle8"/>
    <dgm:cxn modelId="{D414DDC9-5FCD-4943-A4A6-DED8EF3D6F02}" type="presOf" srcId="{D26AF59E-F9C5-4205-9298-30A1ABB06827}" destId="{3AE68BD7-7A83-4199-9563-65A8C92C8332}" srcOrd="1" destOrd="0" presId="urn:microsoft.com/office/officeart/2005/8/layout/cycle8"/>
    <dgm:cxn modelId="{9BD714EB-0C5B-48EC-B4DE-9B0E73019727}" srcId="{3CCE29EF-C1B2-4FE9-A0ED-6442487DE813}" destId="{3B312CB2-8491-4E8D-B14E-379361AC942C}" srcOrd="1" destOrd="0" parTransId="{6ECD2062-862C-4CBB-9C28-23034AC2B7A7}" sibTransId="{4F018C66-E594-4636-8E44-2E419872CD51}"/>
    <dgm:cxn modelId="{403D88B1-C96C-416D-8860-5D0F96BB1D69}" type="presParOf" srcId="{C9FD4AA5-4758-491A-AEF9-B8C7E2DB0636}" destId="{A8782812-3FD2-4558-AA94-4B4849122C62}" srcOrd="0" destOrd="0" presId="urn:microsoft.com/office/officeart/2005/8/layout/cycle8"/>
    <dgm:cxn modelId="{3BFF58C4-FAB8-48CE-8898-605D7D83F9F5}" type="presParOf" srcId="{C9FD4AA5-4758-491A-AEF9-B8C7E2DB0636}" destId="{5993E2C7-8F88-4938-A4ED-405AF6FADD20}" srcOrd="1" destOrd="0" presId="urn:microsoft.com/office/officeart/2005/8/layout/cycle8"/>
    <dgm:cxn modelId="{34C8B270-D57D-44AE-87EB-D4FC2B8008BD}" type="presParOf" srcId="{C9FD4AA5-4758-491A-AEF9-B8C7E2DB0636}" destId="{91624DCF-F427-4D69-B399-B2935257FCE3}" srcOrd="2" destOrd="0" presId="urn:microsoft.com/office/officeart/2005/8/layout/cycle8"/>
    <dgm:cxn modelId="{F1C1B6DD-D0A5-4DBD-9CFB-CB3F9D6E9913}" type="presParOf" srcId="{C9FD4AA5-4758-491A-AEF9-B8C7E2DB0636}" destId="{3AE68BD7-7A83-4199-9563-65A8C92C8332}" srcOrd="3" destOrd="0" presId="urn:microsoft.com/office/officeart/2005/8/layout/cycle8"/>
    <dgm:cxn modelId="{65D30A0F-7E6D-492C-8B3F-2860193D4EC0}" type="presParOf" srcId="{C9FD4AA5-4758-491A-AEF9-B8C7E2DB0636}" destId="{76F29895-D64F-4F43-885A-E0958A280C9A}" srcOrd="4" destOrd="0" presId="urn:microsoft.com/office/officeart/2005/8/layout/cycle8"/>
    <dgm:cxn modelId="{86F6B66B-F23D-4B0E-A894-5DCF15600C6D}" type="presParOf" srcId="{C9FD4AA5-4758-491A-AEF9-B8C7E2DB0636}" destId="{4491F63A-E0F0-4B90-AF37-B38DF0EE37D1}" srcOrd="5" destOrd="0" presId="urn:microsoft.com/office/officeart/2005/8/layout/cycle8"/>
    <dgm:cxn modelId="{53D57D4D-7268-426B-AF15-E06543D505C1}" type="presParOf" srcId="{C9FD4AA5-4758-491A-AEF9-B8C7E2DB0636}" destId="{DDA4BA0B-FCC5-493C-A177-C1A552D59881}" srcOrd="6" destOrd="0" presId="urn:microsoft.com/office/officeart/2005/8/layout/cycle8"/>
    <dgm:cxn modelId="{EBA9C055-8840-4B92-B2DE-8C663A598AAC}" type="presParOf" srcId="{C9FD4AA5-4758-491A-AEF9-B8C7E2DB0636}" destId="{217C9BE2-AACA-47CB-B34D-96DB0400883C}" srcOrd="7" destOrd="0" presId="urn:microsoft.com/office/officeart/2005/8/layout/cycle8"/>
    <dgm:cxn modelId="{779A8C92-707E-42B3-8F4F-E0B824B92D37}" type="presParOf" srcId="{C9FD4AA5-4758-491A-AEF9-B8C7E2DB0636}" destId="{71AC084D-94E8-4759-B13D-391265C431EE}" srcOrd="8" destOrd="0" presId="urn:microsoft.com/office/officeart/2005/8/layout/cycle8"/>
    <dgm:cxn modelId="{F692A6A9-DCD4-4E76-B72B-1E44FC90B1BC}" type="presParOf" srcId="{C9FD4AA5-4758-491A-AEF9-B8C7E2DB0636}" destId="{5234AC8A-4949-4FAC-858F-4D0ED1A5238D}" srcOrd="9" destOrd="0" presId="urn:microsoft.com/office/officeart/2005/8/layout/cycle8"/>
    <dgm:cxn modelId="{E44A9C9E-B3D5-43CF-8722-8E3FBA33F5DA}" type="presParOf" srcId="{C9FD4AA5-4758-491A-AEF9-B8C7E2DB0636}" destId="{3B763AC6-5A66-456B-A83D-C15620DCC811}" srcOrd="10" destOrd="0" presId="urn:microsoft.com/office/officeart/2005/8/layout/cycle8"/>
    <dgm:cxn modelId="{B5585E5C-3260-44D6-BDC0-2E693E5859F3}" type="presParOf" srcId="{C9FD4AA5-4758-491A-AEF9-B8C7E2DB0636}" destId="{C5ADBB36-B447-4A37-8F14-A17C8FE360E9}" srcOrd="11" destOrd="0" presId="urn:microsoft.com/office/officeart/2005/8/layout/cycle8"/>
    <dgm:cxn modelId="{72F03833-B35E-4CA1-9C94-376B4BA24820}" type="presParOf" srcId="{C9FD4AA5-4758-491A-AEF9-B8C7E2DB0636}" destId="{0996D70D-0C6B-49B4-82CF-682B011334C1}" srcOrd="12" destOrd="0" presId="urn:microsoft.com/office/officeart/2005/8/layout/cycle8"/>
    <dgm:cxn modelId="{634E3D15-B8B0-4F54-9953-4FBC91945452}" type="presParOf" srcId="{C9FD4AA5-4758-491A-AEF9-B8C7E2DB0636}" destId="{9D23EB83-A820-4666-9CBF-EE7FAA729F5C}" srcOrd="13" destOrd="0" presId="urn:microsoft.com/office/officeart/2005/8/layout/cycle8"/>
    <dgm:cxn modelId="{DE3EED82-546A-4010-92DF-03DC9E2C4AA3}" type="presParOf" srcId="{C9FD4AA5-4758-491A-AEF9-B8C7E2DB0636}" destId="{856F8BCB-C013-4E4F-88A9-D5F51F7A7D0B}" srcOrd="14" destOrd="0" presId="urn:microsoft.com/office/officeart/2005/8/layout/cycle8"/>
    <dgm:cxn modelId="{A4AB0941-69EB-41D3-8329-2D1463EAF0FE}" type="presParOf" srcId="{C9FD4AA5-4758-491A-AEF9-B8C7E2DB0636}" destId="{55A082FC-7D32-4CBD-84BC-C64A16BB0B94}" srcOrd="15" destOrd="0" presId="urn:microsoft.com/office/officeart/2005/8/layout/cycle8"/>
    <dgm:cxn modelId="{FD64DCF1-E75C-46C4-83DD-C7EAF5B4B014}" type="presParOf" srcId="{C9FD4AA5-4758-491A-AEF9-B8C7E2DB0636}" destId="{FD511513-AD47-4431-A45B-F517D86DAF8B}" srcOrd="16" destOrd="0" presId="urn:microsoft.com/office/officeart/2005/8/layout/cycle8"/>
    <dgm:cxn modelId="{40D56056-74B7-447A-A0E9-8BE90ADBC862}" type="presParOf" srcId="{C9FD4AA5-4758-491A-AEF9-B8C7E2DB0636}" destId="{6050C04B-6BB6-489A-94CB-EB521170A579}" srcOrd="17" destOrd="0" presId="urn:microsoft.com/office/officeart/2005/8/layout/cycle8"/>
    <dgm:cxn modelId="{BECBD4DF-2955-4740-A44F-7D8E0CECB14E}" type="presParOf" srcId="{C9FD4AA5-4758-491A-AEF9-B8C7E2DB0636}" destId="{D8BF3EC1-78F9-44F0-8C64-1B3E2546905C}" srcOrd="18" destOrd="0" presId="urn:microsoft.com/office/officeart/2005/8/layout/cycle8"/>
    <dgm:cxn modelId="{3380AA3F-4E63-480D-9F06-94AB6F959ADE}" type="presParOf" srcId="{C9FD4AA5-4758-491A-AEF9-B8C7E2DB0636}" destId="{EFAAFB5B-A7A7-48C5-BEC7-1496A28BDA94}" srcOrd="19" destOrd="0" presId="urn:microsoft.com/office/officeart/2005/8/layout/cycle8"/>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CCE29EF-C1B2-4FE9-A0ED-6442487DE813}" type="doc">
      <dgm:prSet loTypeId="urn:microsoft.com/office/officeart/2005/8/layout/cycle8" loCatId="cycle" qsTypeId="urn:microsoft.com/office/officeart/2005/8/quickstyle/simple1" qsCatId="simple" csTypeId="urn:microsoft.com/office/officeart/2005/8/colors/accent1_2" csCatId="accent1" phldr="1"/>
      <dgm:spPr/>
    </dgm:pt>
    <dgm:pt modelId="{D26AF59E-F9C5-4205-9298-30A1ABB06827}">
      <dgm:prSet phldrT="[Text]" custT="1"/>
      <dgm:spPr/>
      <dgm:t>
        <a:bodyPr/>
        <a:lstStyle/>
        <a:p>
          <a:r>
            <a:rPr lang="en-US" sz="900" b="1" err="1"/>
            <a:t>MoA</a:t>
          </a:r>
          <a:r>
            <a:rPr lang="en-US" sz="900" b="1"/>
            <a:t> &amp;</a:t>
          </a:r>
        </a:p>
        <a:p>
          <a:r>
            <a:rPr lang="en-US" sz="900" b="1"/>
            <a:t>Flow Scheme</a:t>
          </a:r>
        </a:p>
      </dgm:t>
    </dgm:pt>
    <dgm:pt modelId="{0FF4C20B-E61F-4733-9F20-3D8153863957}" type="parTrans" cxnId="{1609E699-AC52-4055-AD3F-6E231BB12A4B}">
      <dgm:prSet/>
      <dgm:spPr/>
      <dgm:t>
        <a:bodyPr/>
        <a:lstStyle/>
        <a:p>
          <a:endParaRPr lang="en-US"/>
        </a:p>
      </dgm:t>
    </dgm:pt>
    <dgm:pt modelId="{2F945B1A-6C47-40E9-A606-7CDA52E50EB4}" type="sibTrans" cxnId="{1609E699-AC52-4055-AD3F-6E231BB12A4B}">
      <dgm:prSet/>
      <dgm:spPr/>
      <dgm:t>
        <a:bodyPr/>
        <a:lstStyle/>
        <a:p>
          <a:endParaRPr lang="en-US"/>
        </a:p>
      </dgm:t>
    </dgm:pt>
    <dgm:pt modelId="{3B312CB2-8491-4E8D-B14E-379361AC942C}">
      <dgm:prSet phldrT="[Text]"/>
      <dgm:spPr/>
      <dgm:t>
        <a:bodyPr/>
        <a:lstStyle/>
        <a:p>
          <a:r>
            <a:rPr lang="en-US" b="1"/>
            <a:t>Mechanistic ADME</a:t>
          </a:r>
        </a:p>
      </dgm:t>
    </dgm:pt>
    <dgm:pt modelId="{6ECD2062-862C-4CBB-9C28-23034AC2B7A7}" type="parTrans" cxnId="{9BD714EB-0C5B-48EC-B4DE-9B0E73019727}">
      <dgm:prSet/>
      <dgm:spPr/>
      <dgm:t>
        <a:bodyPr/>
        <a:lstStyle/>
        <a:p>
          <a:endParaRPr lang="en-US"/>
        </a:p>
      </dgm:t>
    </dgm:pt>
    <dgm:pt modelId="{4F018C66-E594-4636-8E44-2E419872CD51}" type="sibTrans" cxnId="{9BD714EB-0C5B-48EC-B4DE-9B0E73019727}">
      <dgm:prSet/>
      <dgm:spPr/>
      <dgm:t>
        <a:bodyPr/>
        <a:lstStyle/>
        <a:p>
          <a:endParaRPr lang="en-US"/>
        </a:p>
      </dgm:t>
    </dgm:pt>
    <dgm:pt modelId="{40F08E06-A635-43A5-A98C-A664276CB680}">
      <dgm:prSet phldrT="[Text]" custT="1"/>
      <dgm:spPr/>
      <dgm:t>
        <a:bodyPr/>
        <a:lstStyle/>
        <a:p>
          <a:r>
            <a:rPr lang="en-US" sz="900" b="1"/>
            <a:t>Chemical Diversity &amp; Screen</a:t>
          </a:r>
        </a:p>
      </dgm:t>
    </dgm:pt>
    <dgm:pt modelId="{AF1C37C3-F895-43E7-8D98-4645CFA16576}" type="parTrans" cxnId="{B75A0B44-4528-445A-9294-BC14483728D5}">
      <dgm:prSet/>
      <dgm:spPr/>
      <dgm:t>
        <a:bodyPr/>
        <a:lstStyle/>
        <a:p>
          <a:endParaRPr lang="en-US"/>
        </a:p>
      </dgm:t>
    </dgm:pt>
    <dgm:pt modelId="{7D0E7AC9-E5AB-4600-B90C-20B803A0D7A2}" type="sibTrans" cxnId="{B75A0B44-4528-445A-9294-BC14483728D5}">
      <dgm:prSet/>
      <dgm:spPr/>
      <dgm:t>
        <a:bodyPr/>
        <a:lstStyle/>
        <a:p>
          <a:endParaRPr lang="en-US"/>
        </a:p>
      </dgm:t>
    </dgm:pt>
    <dgm:pt modelId="{1C408DCF-3BCD-43C8-BF19-0997BEC2950E}">
      <dgm:prSet phldrT="[Text]"/>
      <dgm:spPr/>
      <dgm:t>
        <a:bodyPr/>
        <a:lstStyle/>
        <a:p>
          <a:r>
            <a:rPr lang="en-US" b="1"/>
            <a:t>Design, Synthesis &amp; Trajectory</a:t>
          </a:r>
        </a:p>
      </dgm:t>
    </dgm:pt>
    <dgm:pt modelId="{49F672FE-B46D-43DD-980C-ACCDED1E2390}" type="parTrans" cxnId="{CC98D308-A7ED-4351-B5D9-19E631C08034}">
      <dgm:prSet/>
      <dgm:spPr/>
      <dgm:t>
        <a:bodyPr/>
        <a:lstStyle/>
        <a:p>
          <a:endParaRPr lang="en-US"/>
        </a:p>
      </dgm:t>
    </dgm:pt>
    <dgm:pt modelId="{2C9266A7-13F0-43F8-9A76-B076F4E14139}" type="sibTrans" cxnId="{CC98D308-A7ED-4351-B5D9-19E631C08034}">
      <dgm:prSet/>
      <dgm:spPr/>
      <dgm:t>
        <a:bodyPr/>
        <a:lstStyle/>
        <a:p>
          <a:endParaRPr lang="en-US"/>
        </a:p>
      </dgm:t>
    </dgm:pt>
    <dgm:pt modelId="{C9FD4AA5-4758-491A-AEF9-B8C7E2DB0636}" type="pres">
      <dgm:prSet presAssocID="{3CCE29EF-C1B2-4FE9-A0ED-6442487DE813}" presName="compositeShape" presStyleCnt="0">
        <dgm:presLayoutVars>
          <dgm:chMax val="7"/>
          <dgm:dir/>
          <dgm:resizeHandles val="exact"/>
        </dgm:presLayoutVars>
      </dgm:prSet>
      <dgm:spPr/>
    </dgm:pt>
    <dgm:pt modelId="{A8782812-3FD2-4558-AA94-4B4849122C62}" type="pres">
      <dgm:prSet presAssocID="{3CCE29EF-C1B2-4FE9-A0ED-6442487DE813}" presName="wedge1" presStyleLbl="node1" presStyleIdx="0" presStyleCnt="4"/>
      <dgm:spPr/>
    </dgm:pt>
    <dgm:pt modelId="{5993E2C7-8F88-4938-A4ED-405AF6FADD20}" type="pres">
      <dgm:prSet presAssocID="{3CCE29EF-C1B2-4FE9-A0ED-6442487DE813}" presName="dummy1a" presStyleCnt="0"/>
      <dgm:spPr/>
    </dgm:pt>
    <dgm:pt modelId="{91624DCF-F427-4D69-B399-B2935257FCE3}" type="pres">
      <dgm:prSet presAssocID="{3CCE29EF-C1B2-4FE9-A0ED-6442487DE813}" presName="dummy1b" presStyleCnt="0"/>
      <dgm:spPr/>
    </dgm:pt>
    <dgm:pt modelId="{3AE68BD7-7A83-4199-9563-65A8C92C8332}" type="pres">
      <dgm:prSet presAssocID="{3CCE29EF-C1B2-4FE9-A0ED-6442487DE813}" presName="wedge1Tx" presStyleLbl="node1" presStyleIdx="0" presStyleCnt="4">
        <dgm:presLayoutVars>
          <dgm:chMax val="0"/>
          <dgm:chPref val="0"/>
          <dgm:bulletEnabled val="1"/>
        </dgm:presLayoutVars>
      </dgm:prSet>
      <dgm:spPr/>
    </dgm:pt>
    <dgm:pt modelId="{76F29895-D64F-4F43-885A-E0958A280C9A}" type="pres">
      <dgm:prSet presAssocID="{3CCE29EF-C1B2-4FE9-A0ED-6442487DE813}" presName="wedge2" presStyleLbl="node1" presStyleIdx="1" presStyleCnt="4"/>
      <dgm:spPr/>
    </dgm:pt>
    <dgm:pt modelId="{4491F63A-E0F0-4B90-AF37-B38DF0EE37D1}" type="pres">
      <dgm:prSet presAssocID="{3CCE29EF-C1B2-4FE9-A0ED-6442487DE813}" presName="dummy2a" presStyleCnt="0"/>
      <dgm:spPr/>
    </dgm:pt>
    <dgm:pt modelId="{DDA4BA0B-FCC5-493C-A177-C1A552D59881}" type="pres">
      <dgm:prSet presAssocID="{3CCE29EF-C1B2-4FE9-A0ED-6442487DE813}" presName="dummy2b" presStyleCnt="0"/>
      <dgm:spPr/>
    </dgm:pt>
    <dgm:pt modelId="{217C9BE2-AACA-47CB-B34D-96DB0400883C}" type="pres">
      <dgm:prSet presAssocID="{3CCE29EF-C1B2-4FE9-A0ED-6442487DE813}" presName="wedge2Tx" presStyleLbl="node1" presStyleIdx="1" presStyleCnt="4">
        <dgm:presLayoutVars>
          <dgm:chMax val="0"/>
          <dgm:chPref val="0"/>
          <dgm:bulletEnabled val="1"/>
        </dgm:presLayoutVars>
      </dgm:prSet>
      <dgm:spPr/>
    </dgm:pt>
    <dgm:pt modelId="{71AC084D-94E8-4759-B13D-391265C431EE}" type="pres">
      <dgm:prSet presAssocID="{3CCE29EF-C1B2-4FE9-A0ED-6442487DE813}" presName="wedge3" presStyleLbl="node1" presStyleIdx="2" presStyleCnt="4"/>
      <dgm:spPr/>
    </dgm:pt>
    <dgm:pt modelId="{5234AC8A-4949-4FAC-858F-4D0ED1A5238D}" type="pres">
      <dgm:prSet presAssocID="{3CCE29EF-C1B2-4FE9-A0ED-6442487DE813}" presName="dummy3a" presStyleCnt="0"/>
      <dgm:spPr/>
    </dgm:pt>
    <dgm:pt modelId="{3B763AC6-5A66-456B-A83D-C15620DCC811}" type="pres">
      <dgm:prSet presAssocID="{3CCE29EF-C1B2-4FE9-A0ED-6442487DE813}" presName="dummy3b" presStyleCnt="0"/>
      <dgm:spPr/>
    </dgm:pt>
    <dgm:pt modelId="{C5ADBB36-B447-4A37-8F14-A17C8FE360E9}" type="pres">
      <dgm:prSet presAssocID="{3CCE29EF-C1B2-4FE9-A0ED-6442487DE813}" presName="wedge3Tx" presStyleLbl="node1" presStyleIdx="2" presStyleCnt="4">
        <dgm:presLayoutVars>
          <dgm:chMax val="0"/>
          <dgm:chPref val="0"/>
          <dgm:bulletEnabled val="1"/>
        </dgm:presLayoutVars>
      </dgm:prSet>
      <dgm:spPr/>
    </dgm:pt>
    <dgm:pt modelId="{0996D70D-0C6B-49B4-82CF-682B011334C1}" type="pres">
      <dgm:prSet presAssocID="{3CCE29EF-C1B2-4FE9-A0ED-6442487DE813}" presName="wedge4" presStyleLbl="node1" presStyleIdx="3" presStyleCnt="4"/>
      <dgm:spPr/>
    </dgm:pt>
    <dgm:pt modelId="{9D23EB83-A820-4666-9CBF-EE7FAA729F5C}" type="pres">
      <dgm:prSet presAssocID="{3CCE29EF-C1B2-4FE9-A0ED-6442487DE813}" presName="dummy4a" presStyleCnt="0"/>
      <dgm:spPr/>
    </dgm:pt>
    <dgm:pt modelId="{856F8BCB-C013-4E4F-88A9-D5F51F7A7D0B}" type="pres">
      <dgm:prSet presAssocID="{3CCE29EF-C1B2-4FE9-A0ED-6442487DE813}" presName="dummy4b" presStyleCnt="0"/>
      <dgm:spPr/>
    </dgm:pt>
    <dgm:pt modelId="{55A082FC-7D32-4CBD-84BC-C64A16BB0B94}" type="pres">
      <dgm:prSet presAssocID="{3CCE29EF-C1B2-4FE9-A0ED-6442487DE813}" presName="wedge4Tx" presStyleLbl="node1" presStyleIdx="3" presStyleCnt="4">
        <dgm:presLayoutVars>
          <dgm:chMax val="0"/>
          <dgm:chPref val="0"/>
          <dgm:bulletEnabled val="1"/>
        </dgm:presLayoutVars>
      </dgm:prSet>
      <dgm:spPr/>
    </dgm:pt>
    <dgm:pt modelId="{FD511513-AD47-4431-A45B-F517D86DAF8B}" type="pres">
      <dgm:prSet presAssocID="{2F945B1A-6C47-40E9-A606-7CDA52E50EB4}" presName="arrowWedge1" presStyleLbl="fgSibTrans2D1" presStyleIdx="0" presStyleCnt="4"/>
      <dgm:spPr>
        <a:ln>
          <a:solidFill>
            <a:schemeClr val="tx1"/>
          </a:solidFill>
        </a:ln>
      </dgm:spPr>
    </dgm:pt>
    <dgm:pt modelId="{6050C04B-6BB6-489A-94CB-EB521170A579}" type="pres">
      <dgm:prSet presAssocID="{4F018C66-E594-4636-8E44-2E419872CD51}" presName="arrowWedge2" presStyleLbl="fgSibTrans2D1" presStyleIdx="1" presStyleCnt="4"/>
      <dgm:spPr>
        <a:ln>
          <a:solidFill>
            <a:schemeClr val="tx1"/>
          </a:solidFill>
        </a:ln>
      </dgm:spPr>
    </dgm:pt>
    <dgm:pt modelId="{D8BF3EC1-78F9-44F0-8C64-1B3E2546905C}" type="pres">
      <dgm:prSet presAssocID="{7D0E7AC9-E5AB-4600-B90C-20B803A0D7A2}" presName="arrowWedge3" presStyleLbl="fgSibTrans2D1" presStyleIdx="2" presStyleCnt="4"/>
      <dgm:spPr>
        <a:ln>
          <a:solidFill>
            <a:schemeClr val="tx1"/>
          </a:solidFill>
        </a:ln>
      </dgm:spPr>
    </dgm:pt>
    <dgm:pt modelId="{EFAAFB5B-A7A7-48C5-BEC7-1496A28BDA94}" type="pres">
      <dgm:prSet presAssocID="{2C9266A7-13F0-43F8-9A76-B076F4E14139}" presName="arrowWedge4" presStyleLbl="fgSibTrans2D1" presStyleIdx="3" presStyleCnt="4"/>
      <dgm:spPr>
        <a:ln>
          <a:solidFill>
            <a:schemeClr val="tx1"/>
          </a:solidFill>
        </a:ln>
      </dgm:spPr>
    </dgm:pt>
  </dgm:ptLst>
  <dgm:cxnLst>
    <dgm:cxn modelId="{8C296008-8289-44B1-B18D-7C6067123D89}" type="presOf" srcId="{40F08E06-A635-43A5-A98C-A664276CB680}" destId="{C5ADBB36-B447-4A37-8F14-A17C8FE360E9}" srcOrd="1" destOrd="0" presId="urn:microsoft.com/office/officeart/2005/8/layout/cycle8"/>
    <dgm:cxn modelId="{CC98D308-A7ED-4351-B5D9-19E631C08034}" srcId="{3CCE29EF-C1B2-4FE9-A0ED-6442487DE813}" destId="{1C408DCF-3BCD-43C8-BF19-0997BEC2950E}" srcOrd="3" destOrd="0" parTransId="{49F672FE-B46D-43DD-980C-ACCDED1E2390}" sibTransId="{2C9266A7-13F0-43F8-9A76-B076F4E14139}"/>
    <dgm:cxn modelId="{7EF2AA10-241E-48FD-844B-CCC2FC923B64}" type="presOf" srcId="{3B312CB2-8491-4E8D-B14E-379361AC942C}" destId="{76F29895-D64F-4F43-885A-E0958A280C9A}" srcOrd="0" destOrd="0" presId="urn:microsoft.com/office/officeart/2005/8/layout/cycle8"/>
    <dgm:cxn modelId="{753CA71A-AB9F-4D7C-A39A-D46C00512700}" type="presOf" srcId="{3CCE29EF-C1B2-4FE9-A0ED-6442487DE813}" destId="{C9FD4AA5-4758-491A-AEF9-B8C7E2DB0636}" srcOrd="0" destOrd="0" presId="urn:microsoft.com/office/officeart/2005/8/layout/cycle8"/>
    <dgm:cxn modelId="{CCBEDA22-541F-4AF9-B274-977914B836E8}" type="presOf" srcId="{3B312CB2-8491-4E8D-B14E-379361AC942C}" destId="{217C9BE2-AACA-47CB-B34D-96DB0400883C}" srcOrd="1" destOrd="0" presId="urn:microsoft.com/office/officeart/2005/8/layout/cycle8"/>
    <dgm:cxn modelId="{01C2DC3F-762F-457F-80F1-82169FC50B00}" type="presOf" srcId="{1C408DCF-3BCD-43C8-BF19-0997BEC2950E}" destId="{55A082FC-7D32-4CBD-84BC-C64A16BB0B94}" srcOrd="1" destOrd="0" presId="urn:microsoft.com/office/officeart/2005/8/layout/cycle8"/>
    <dgm:cxn modelId="{B75A0B44-4528-445A-9294-BC14483728D5}" srcId="{3CCE29EF-C1B2-4FE9-A0ED-6442487DE813}" destId="{40F08E06-A635-43A5-A98C-A664276CB680}" srcOrd="2" destOrd="0" parTransId="{AF1C37C3-F895-43E7-8D98-4645CFA16576}" sibTransId="{7D0E7AC9-E5AB-4600-B90C-20B803A0D7A2}"/>
    <dgm:cxn modelId="{BCC59C4D-56DD-4834-8770-D8674A10D8D9}" type="presOf" srcId="{1C408DCF-3BCD-43C8-BF19-0997BEC2950E}" destId="{0996D70D-0C6B-49B4-82CF-682B011334C1}" srcOrd="0" destOrd="0" presId="urn:microsoft.com/office/officeart/2005/8/layout/cycle8"/>
    <dgm:cxn modelId="{B149C48B-0AB0-4729-9355-CACC30B379B4}" type="presOf" srcId="{D26AF59E-F9C5-4205-9298-30A1ABB06827}" destId="{A8782812-3FD2-4558-AA94-4B4849122C62}" srcOrd="0" destOrd="0" presId="urn:microsoft.com/office/officeart/2005/8/layout/cycle8"/>
    <dgm:cxn modelId="{1609E699-AC52-4055-AD3F-6E231BB12A4B}" srcId="{3CCE29EF-C1B2-4FE9-A0ED-6442487DE813}" destId="{D26AF59E-F9C5-4205-9298-30A1ABB06827}" srcOrd="0" destOrd="0" parTransId="{0FF4C20B-E61F-4733-9F20-3D8153863957}" sibTransId="{2F945B1A-6C47-40E9-A606-7CDA52E50EB4}"/>
    <dgm:cxn modelId="{EAF179A1-DDD2-4560-85F6-B72B8010703F}" type="presOf" srcId="{40F08E06-A635-43A5-A98C-A664276CB680}" destId="{71AC084D-94E8-4759-B13D-391265C431EE}" srcOrd="0" destOrd="0" presId="urn:microsoft.com/office/officeart/2005/8/layout/cycle8"/>
    <dgm:cxn modelId="{D414DDC9-5FCD-4943-A4A6-DED8EF3D6F02}" type="presOf" srcId="{D26AF59E-F9C5-4205-9298-30A1ABB06827}" destId="{3AE68BD7-7A83-4199-9563-65A8C92C8332}" srcOrd="1" destOrd="0" presId="urn:microsoft.com/office/officeart/2005/8/layout/cycle8"/>
    <dgm:cxn modelId="{9BD714EB-0C5B-48EC-B4DE-9B0E73019727}" srcId="{3CCE29EF-C1B2-4FE9-A0ED-6442487DE813}" destId="{3B312CB2-8491-4E8D-B14E-379361AC942C}" srcOrd="1" destOrd="0" parTransId="{6ECD2062-862C-4CBB-9C28-23034AC2B7A7}" sibTransId="{4F018C66-E594-4636-8E44-2E419872CD51}"/>
    <dgm:cxn modelId="{403D88B1-C96C-416D-8860-5D0F96BB1D69}" type="presParOf" srcId="{C9FD4AA5-4758-491A-AEF9-B8C7E2DB0636}" destId="{A8782812-3FD2-4558-AA94-4B4849122C62}" srcOrd="0" destOrd="0" presId="urn:microsoft.com/office/officeart/2005/8/layout/cycle8"/>
    <dgm:cxn modelId="{3BFF58C4-FAB8-48CE-8898-605D7D83F9F5}" type="presParOf" srcId="{C9FD4AA5-4758-491A-AEF9-B8C7E2DB0636}" destId="{5993E2C7-8F88-4938-A4ED-405AF6FADD20}" srcOrd="1" destOrd="0" presId="urn:microsoft.com/office/officeart/2005/8/layout/cycle8"/>
    <dgm:cxn modelId="{34C8B270-D57D-44AE-87EB-D4FC2B8008BD}" type="presParOf" srcId="{C9FD4AA5-4758-491A-AEF9-B8C7E2DB0636}" destId="{91624DCF-F427-4D69-B399-B2935257FCE3}" srcOrd="2" destOrd="0" presId="urn:microsoft.com/office/officeart/2005/8/layout/cycle8"/>
    <dgm:cxn modelId="{F1C1B6DD-D0A5-4DBD-9CFB-CB3F9D6E9913}" type="presParOf" srcId="{C9FD4AA5-4758-491A-AEF9-B8C7E2DB0636}" destId="{3AE68BD7-7A83-4199-9563-65A8C92C8332}" srcOrd="3" destOrd="0" presId="urn:microsoft.com/office/officeart/2005/8/layout/cycle8"/>
    <dgm:cxn modelId="{65D30A0F-7E6D-492C-8B3F-2860193D4EC0}" type="presParOf" srcId="{C9FD4AA5-4758-491A-AEF9-B8C7E2DB0636}" destId="{76F29895-D64F-4F43-885A-E0958A280C9A}" srcOrd="4" destOrd="0" presId="urn:microsoft.com/office/officeart/2005/8/layout/cycle8"/>
    <dgm:cxn modelId="{86F6B66B-F23D-4B0E-A894-5DCF15600C6D}" type="presParOf" srcId="{C9FD4AA5-4758-491A-AEF9-B8C7E2DB0636}" destId="{4491F63A-E0F0-4B90-AF37-B38DF0EE37D1}" srcOrd="5" destOrd="0" presId="urn:microsoft.com/office/officeart/2005/8/layout/cycle8"/>
    <dgm:cxn modelId="{53D57D4D-7268-426B-AF15-E06543D505C1}" type="presParOf" srcId="{C9FD4AA5-4758-491A-AEF9-B8C7E2DB0636}" destId="{DDA4BA0B-FCC5-493C-A177-C1A552D59881}" srcOrd="6" destOrd="0" presId="urn:microsoft.com/office/officeart/2005/8/layout/cycle8"/>
    <dgm:cxn modelId="{EBA9C055-8840-4B92-B2DE-8C663A598AAC}" type="presParOf" srcId="{C9FD4AA5-4758-491A-AEF9-B8C7E2DB0636}" destId="{217C9BE2-AACA-47CB-B34D-96DB0400883C}" srcOrd="7" destOrd="0" presId="urn:microsoft.com/office/officeart/2005/8/layout/cycle8"/>
    <dgm:cxn modelId="{779A8C92-707E-42B3-8F4F-E0B824B92D37}" type="presParOf" srcId="{C9FD4AA5-4758-491A-AEF9-B8C7E2DB0636}" destId="{71AC084D-94E8-4759-B13D-391265C431EE}" srcOrd="8" destOrd="0" presId="urn:microsoft.com/office/officeart/2005/8/layout/cycle8"/>
    <dgm:cxn modelId="{F692A6A9-DCD4-4E76-B72B-1E44FC90B1BC}" type="presParOf" srcId="{C9FD4AA5-4758-491A-AEF9-B8C7E2DB0636}" destId="{5234AC8A-4949-4FAC-858F-4D0ED1A5238D}" srcOrd="9" destOrd="0" presId="urn:microsoft.com/office/officeart/2005/8/layout/cycle8"/>
    <dgm:cxn modelId="{E44A9C9E-B3D5-43CF-8722-8E3FBA33F5DA}" type="presParOf" srcId="{C9FD4AA5-4758-491A-AEF9-B8C7E2DB0636}" destId="{3B763AC6-5A66-456B-A83D-C15620DCC811}" srcOrd="10" destOrd="0" presId="urn:microsoft.com/office/officeart/2005/8/layout/cycle8"/>
    <dgm:cxn modelId="{B5585E5C-3260-44D6-BDC0-2E693E5859F3}" type="presParOf" srcId="{C9FD4AA5-4758-491A-AEF9-B8C7E2DB0636}" destId="{C5ADBB36-B447-4A37-8F14-A17C8FE360E9}" srcOrd="11" destOrd="0" presId="urn:microsoft.com/office/officeart/2005/8/layout/cycle8"/>
    <dgm:cxn modelId="{72F03833-B35E-4CA1-9C94-376B4BA24820}" type="presParOf" srcId="{C9FD4AA5-4758-491A-AEF9-B8C7E2DB0636}" destId="{0996D70D-0C6B-49B4-82CF-682B011334C1}" srcOrd="12" destOrd="0" presId="urn:microsoft.com/office/officeart/2005/8/layout/cycle8"/>
    <dgm:cxn modelId="{634E3D15-B8B0-4F54-9953-4FBC91945452}" type="presParOf" srcId="{C9FD4AA5-4758-491A-AEF9-B8C7E2DB0636}" destId="{9D23EB83-A820-4666-9CBF-EE7FAA729F5C}" srcOrd="13" destOrd="0" presId="urn:microsoft.com/office/officeart/2005/8/layout/cycle8"/>
    <dgm:cxn modelId="{DE3EED82-546A-4010-92DF-03DC9E2C4AA3}" type="presParOf" srcId="{C9FD4AA5-4758-491A-AEF9-B8C7E2DB0636}" destId="{856F8BCB-C013-4E4F-88A9-D5F51F7A7D0B}" srcOrd="14" destOrd="0" presId="urn:microsoft.com/office/officeart/2005/8/layout/cycle8"/>
    <dgm:cxn modelId="{A4AB0941-69EB-41D3-8329-2D1463EAF0FE}" type="presParOf" srcId="{C9FD4AA5-4758-491A-AEF9-B8C7E2DB0636}" destId="{55A082FC-7D32-4CBD-84BC-C64A16BB0B94}" srcOrd="15" destOrd="0" presId="urn:microsoft.com/office/officeart/2005/8/layout/cycle8"/>
    <dgm:cxn modelId="{FD64DCF1-E75C-46C4-83DD-C7EAF5B4B014}" type="presParOf" srcId="{C9FD4AA5-4758-491A-AEF9-B8C7E2DB0636}" destId="{FD511513-AD47-4431-A45B-F517D86DAF8B}" srcOrd="16" destOrd="0" presId="urn:microsoft.com/office/officeart/2005/8/layout/cycle8"/>
    <dgm:cxn modelId="{40D56056-74B7-447A-A0E9-8BE90ADBC862}" type="presParOf" srcId="{C9FD4AA5-4758-491A-AEF9-B8C7E2DB0636}" destId="{6050C04B-6BB6-489A-94CB-EB521170A579}" srcOrd="17" destOrd="0" presId="urn:microsoft.com/office/officeart/2005/8/layout/cycle8"/>
    <dgm:cxn modelId="{BECBD4DF-2955-4740-A44F-7D8E0CECB14E}" type="presParOf" srcId="{C9FD4AA5-4758-491A-AEF9-B8C7E2DB0636}" destId="{D8BF3EC1-78F9-44F0-8C64-1B3E2546905C}" srcOrd="18" destOrd="0" presId="urn:microsoft.com/office/officeart/2005/8/layout/cycle8"/>
    <dgm:cxn modelId="{3380AA3F-4E63-480D-9F06-94AB6F959ADE}" type="presParOf" srcId="{C9FD4AA5-4758-491A-AEF9-B8C7E2DB0636}" destId="{EFAAFB5B-A7A7-48C5-BEC7-1496A28BDA94}" srcOrd="19" destOrd="0" presId="urn:microsoft.com/office/officeart/2005/8/layout/cycle8"/>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D715FF-EA18-403C-9E61-8DD6D21E2ECE}">
      <dsp:nvSpPr>
        <dsp:cNvPr id="0" name=""/>
        <dsp:cNvSpPr/>
      </dsp:nvSpPr>
      <dsp:spPr>
        <a:xfrm>
          <a:off x="11432" y="0"/>
          <a:ext cx="11689494" cy="656038"/>
        </a:xfrm>
        <a:prstGeom prst="roundRect">
          <a:avLst>
            <a:gd name="adj" fmla="val 10000"/>
          </a:avLst>
        </a:prstGeom>
        <a:solidFill>
          <a:srgbClr val="B9515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b="1" kern="1200"/>
            <a:t>Discovery</a:t>
          </a:r>
        </a:p>
      </dsp:txBody>
      <dsp:txXfrm>
        <a:off x="30647" y="19215"/>
        <a:ext cx="11651064" cy="6176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4A8431-7E56-45F4-AB02-6641FE94DE40}">
      <dsp:nvSpPr>
        <dsp:cNvPr id="0" name=""/>
        <dsp:cNvSpPr/>
      </dsp:nvSpPr>
      <dsp:spPr>
        <a:xfrm>
          <a:off x="252875" y="1067"/>
          <a:ext cx="1861852" cy="930926"/>
        </a:xfrm>
        <a:prstGeom prst="roundRect">
          <a:avLst>
            <a:gd name="adj" fmla="val 10000"/>
          </a:avLst>
        </a:prstGeom>
        <a:solidFill>
          <a:srgbClr val="B9515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External Innovation</a:t>
          </a:r>
        </a:p>
      </dsp:txBody>
      <dsp:txXfrm>
        <a:off x="280141" y="28333"/>
        <a:ext cx="1807320" cy="876394"/>
      </dsp:txXfrm>
    </dsp:sp>
    <dsp:sp modelId="{D9B7BB61-A08A-4A96-83F9-B81F3F3F86FD}">
      <dsp:nvSpPr>
        <dsp:cNvPr id="0" name=""/>
        <dsp:cNvSpPr/>
      </dsp:nvSpPr>
      <dsp:spPr>
        <a:xfrm>
          <a:off x="439061" y="931994"/>
          <a:ext cx="186185" cy="698194"/>
        </a:xfrm>
        <a:custGeom>
          <a:avLst/>
          <a:gdLst/>
          <a:ahLst/>
          <a:cxnLst/>
          <a:rect l="0" t="0" r="0" b="0"/>
          <a:pathLst>
            <a:path>
              <a:moveTo>
                <a:pt x="0" y="0"/>
              </a:moveTo>
              <a:lnTo>
                <a:pt x="0" y="698194"/>
              </a:lnTo>
              <a:lnTo>
                <a:pt x="186185" y="698194"/>
              </a:lnTo>
            </a:path>
          </a:pathLst>
        </a:custGeom>
        <a:noFill/>
        <a:ln w="25400" cap="flat" cmpd="sng" algn="ctr">
          <a:solidFill>
            <a:srgbClr val="963C3C"/>
          </a:solidFill>
          <a:prstDash val="solid"/>
        </a:ln>
        <a:effectLst/>
      </dsp:spPr>
      <dsp:style>
        <a:lnRef idx="2">
          <a:scrgbClr r="0" g="0" b="0"/>
        </a:lnRef>
        <a:fillRef idx="0">
          <a:scrgbClr r="0" g="0" b="0"/>
        </a:fillRef>
        <a:effectRef idx="0">
          <a:scrgbClr r="0" g="0" b="0"/>
        </a:effectRef>
        <a:fontRef idx="minor"/>
      </dsp:style>
    </dsp:sp>
    <dsp:sp modelId="{B5EE588F-9F51-4E23-AEE3-994C14DCE01F}">
      <dsp:nvSpPr>
        <dsp:cNvPr id="0" name=""/>
        <dsp:cNvSpPr/>
      </dsp:nvSpPr>
      <dsp:spPr>
        <a:xfrm>
          <a:off x="625246" y="1164725"/>
          <a:ext cx="1489482" cy="930926"/>
        </a:xfrm>
        <a:prstGeom prst="roundRect">
          <a:avLst>
            <a:gd name="adj" fmla="val 10000"/>
          </a:avLst>
        </a:prstGeom>
        <a:solidFill>
          <a:schemeClr val="bg1"/>
        </a:solidFill>
        <a:ln w="25400" cap="flat" cmpd="sng" algn="ctr">
          <a:solidFill>
            <a:srgbClr val="963C3C"/>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Survey marketplace for new opportunities</a:t>
          </a:r>
        </a:p>
      </dsp:txBody>
      <dsp:txXfrm>
        <a:off x="652512" y="1191991"/>
        <a:ext cx="1434950" cy="876394"/>
      </dsp:txXfrm>
    </dsp:sp>
    <dsp:sp modelId="{157E18E9-2349-42A3-8C8C-895D910CA479}">
      <dsp:nvSpPr>
        <dsp:cNvPr id="0" name=""/>
        <dsp:cNvSpPr/>
      </dsp:nvSpPr>
      <dsp:spPr>
        <a:xfrm>
          <a:off x="2580192" y="1067"/>
          <a:ext cx="1861852" cy="930926"/>
        </a:xfrm>
        <a:prstGeom prst="roundRect">
          <a:avLst>
            <a:gd name="adj" fmla="val 10000"/>
          </a:avLst>
        </a:prstGeom>
        <a:solidFill>
          <a:srgbClr val="B9515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Portfolio Strategy &amp; Competitive Intelligence</a:t>
          </a:r>
        </a:p>
      </dsp:txBody>
      <dsp:txXfrm>
        <a:off x="2607458" y="28333"/>
        <a:ext cx="1807320" cy="876394"/>
      </dsp:txXfrm>
    </dsp:sp>
    <dsp:sp modelId="{A41E806B-FB68-4882-A7A1-8E4C197FE95B}">
      <dsp:nvSpPr>
        <dsp:cNvPr id="0" name=""/>
        <dsp:cNvSpPr/>
      </dsp:nvSpPr>
      <dsp:spPr>
        <a:xfrm>
          <a:off x="2766377" y="931994"/>
          <a:ext cx="186185" cy="698194"/>
        </a:xfrm>
        <a:custGeom>
          <a:avLst/>
          <a:gdLst/>
          <a:ahLst/>
          <a:cxnLst/>
          <a:rect l="0" t="0" r="0" b="0"/>
          <a:pathLst>
            <a:path>
              <a:moveTo>
                <a:pt x="0" y="0"/>
              </a:moveTo>
              <a:lnTo>
                <a:pt x="0" y="698194"/>
              </a:lnTo>
              <a:lnTo>
                <a:pt x="186185" y="698194"/>
              </a:lnTo>
            </a:path>
          </a:pathLst>
        </a:custGeom>
        <a:noFill/>
        <a:ln w="25400" cap="flat" cmpd="sng" algn="ctr">
          <a:solidFill>
            <a:srgbClr val="963C3C"/>
          </a:solidFill>
          <a:prstDash val="solid"/>
        </a:ln>
        <a:effectLst/>
      </dsp:spPr>
      <dsp:style>
        <a:lnRef idx="2">
          <a:scrgbClr r="0" g="0" b="0"/>
        </a:lnRef>
        <a:fillRef idx="0">
          <a:scrgbClr r="0" g="0" b="0"/>
        </a:fillRef>
        <a:effectRef idx="0">
          <a:scrgbClr r="0" g="0" b="0"/>
        </a:effectRef>
        <a:fontRef idx="minor"/>
      </dsp:style>
    </dsp:sp>
    <dsp:sp modelId="{8741B7CD-2CAD-4D86-ABA1-1FC949349000}">
      <dsp:nvSpPr>
        <dsp:cNvPr id="0" name=""/>
        <dsp:cNvSpPr/>
      </dsp:nvSpPr>
      <dsp:spPr>
        <a:xfrm>
          <a:off x="2952562" y="1164725"/>
          <a:ext cx="1489482" cy="930926"/>
        </a:xfrm>
        <a:prstGeom prst="roundRect">
          <a:avLst>
            <a:gd name="adj" fmla="val 10000"/>
          </a:avLst>
        </a:prstGeom>
        <a:solidFill>
          <a:schemeClr val="lt1">
            <a:alpha val="90000"/>
            <a:hueOff val="0"/>
            <a:satOff val="0"/>
            <a:lumOff val="0"/>
            <a:alphaOff val="0"/>
          </a:schemeClr>
        </a:solidFill>
        <a:ln w="25400" cap="flat" cmpd="sng" algn="ctr">
          <a:solidFill>
            <a:srgbClr val="963C3C"/>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Measure pipeline and compare to competitive landscape</a:t>
          </a:r>
        </a:p>
      </dsp:txBody>
      <dsp:txXfrm>
        <a:off x="2979828" y="1191991"/>
        <a:ext cx="1434950" cy="876394"/>
      </dsp:txXfrm>
    </dsp:sp>
    <dsp:sp modelId="{21D4E10D-8939-4E9F-B08B-B742E2E9BF56}">
      <dsp:nvSpPr>
        <dsp:cNvPr id="0" name=""/>
        <dsp:cNvSpPr/>
      </dsp:nvSpPr>
      <dsp:spPr>
        <a:xfrm>
          <a:off x="4907508" y="1067"/>
          <a:ext cx="1861852" cy="930926"/>
        </a:xfrm>
        <a:prstGeom prst="roundRect">
          <a:avLst>
            <a:gd name="adj" fmla="val 10000"/>
          </a:avLst>
        </a:prstGeom>
        <a:solidFill>
          <a:srgbClr val="B9515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PM Strategy and Capabilities </a:t>
          </a:r>
        </a:p>
      </dsp:txBody>
      <dsp:txXfrm>
        <a:off x="4934774" y="28333"/>
        <a:ext cx="1807320" cy="876394"/>
      </dsp:txXfrm>
    </dsp:sp>
    <dsp:sp modelId="{D5F3804A-7302-4DF4-B0E6-DDE266AB0E3F}">
      <dsp:nvSpPr>
        <dsp:cNvPr id="0" name=""/>
        <dsp:cNvSpPr/>
      </dsp:nvSpPr>
      <dsp:spPr>
        <a:xfrm>
          <a:off x="5093693" y="931994"/>
          <a:ext cx="186185" cy="698194"/>
        </a:xfrm>
        <a:custGeom>
          <a:avLst/>
          <a:gdLst/>
          <a:ahLst/>
          <a:cxnLst/>
          <a:rect l="0" t="0" r="0" b="0"/>
          <a:pathLst>
            <a:path>
              <a:moveTo>
                <a:pt x="0" y="0"/>
              </a:moveTo>
              <a:lnTo>
                <a:pt x="0" y="698194"/>
              </a:lnTo>
              <a:lnTo>
                <a:pt x="186185" y="698194"/>
              </a:lnTo>
            </a:path>
          </a:pathLst>
        </a:custGeom>
        <a:noFill/>
        <a:ln w="25400" cap="flat" cmpd="sng" algn="ctr">
          <a:solidFill>
            <a:srgbClr val="963C3C"/>
          </a:solidFill>
          <a:prstDash val="solid"/>
        </a:ln>
        <a:effectLst/>
      </dsp:spPr>
      <dsp:style>
        <a:lnRef idx="2">
          <a:scrgbClr r="0" g="0" b="0"/>
        </a:lnRef>
        <a:fillRef idx="0">
          <a:scrgbClr r="0" g="0" b="0"/>
        </a:fillRef>
        <a:effectRef idx="0">
          <a:scrgbClr r="0" g="0" b="0"/>
        </a:effectRef>
        <a:fontRef idx="minor"/>
      </dsp:style>
    </dsp:sp>
    <dsp:sp modelId="{BFED58C1-0629-4856-B144-BCCC08351637}">
      <dsp:nvSpPr>
        <dsp:cNvPr id="0" name=""/>
        <dsp:cNvSpPr/>
      </dsp:nvSpPr>
      <dsp:spPr>
        <a:xfrm>
          <a:off x="5279878" y="1164725"/>
          <a:ext cx="1489482" cy="930926"/>
        </a:xfrm>
        <a:prstGeom prst="roundRect">
          <a:avLst>
            <a:gd name="adj" fmla="val 10000"/>
          </a:avLst>
        </a:prstGeom>
        <a:solidFill>
          <a:schemeClr val="lt1">
            <a:alpha val="90000"/>
            <a:hueOff val="0"/>
            <a:satOff val="0"/>
            <a:lumOff val="0"/>
            <a:alphaOff val="0"/>
          </a:schemeClr>
        </a:solidFill>
        <a:ln w="25400" cap="flat" cmpd="sng" algn="ctr">
          <a:solidFill>
            <a:srgbClr val="963C3C"/>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kern="1200"/>
            <a:t>Process ownership &amp; budget management</a:t>
          </a:r>
        </a:p>
      </dsp:txBody>
      <dsp:txXfrm>
        <a:off x="5307144" y="1191991"/>
        <a:ext cx="1434950" cy="8763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82812-3FD2-4558-AA94-4B4849122C62}">
      <dsp:nvSpPr>
        <dsp:cNvPr id="0" name=""/>
        <dsp:cNvSpPr/>
      </dsp:nvSpPr>
      <dsp:spPr>
        <a:xfrm>
          <a:off x="253770" y="129634"/>
          <a:ext cx="1881835" cy="1881835"/>
        </a:xfrm>
        <a:prstGeom prst="pie">
          <a:avLst>
            <a:gd name="adj1" fmla="val 162000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Bioinformatics</a:t>
          </a:r>
        </a:p>
      </dsp:txBody>
      <dsp:txXfrm>
        <a:off x="1252711" y="519667"/>
        <a:ext cx="694486" cy="515264"/>
      </dsp:txXfrm>
    </dsp:sp>
    <dsp:sp modelId="{76F29895-D64F-4F43-885A-E0958A280C9A}">
      <dsp:nvSpPr>
        <dsp:cNvPr id="0" name=""/>
        <dsp:cNvSpPr/>
      </dsp:nvSpPr>
      <dsp:spPr>
        <a:xfrm>
          <a:off x="253770" y="192810"/>
          <a:ext cx="1881835" cy="1881835"/>
        </a:xfrm>
        <a:prstGeom prst="pie">
          <a:avLst>
            <a:gd name="adj1" fmla="val 0"/>
            <a:gd name="adj2" fmla="val 54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a:t>Clinical ‘Omics</a:t>
          </a:r>
        </a:p>
      </dsp:txBody>
      <dsp:txXfrm>
        <a:off x="1252711" y="1169348"/>
        <a:ext cx="694486" cy="515264"/>
      </dsp:txXfrm>
    </dsp:sp>
    <dsp:sp modelId="{71AC084D-94E8-4759-B13D-391265C431EE}">
      <dsp:nvSpPr>
        <dsp:cNvPr id="0" name=""/>
        <dsp:cNvSpPr/>
      </dsp:nvSpPr>
      <dsp:spPr>
        <a:xfrm>
          <a:off x="190594" y="192810"/>
          <a:ext cx="1881835" cy="1881835"/>
        </a:xfrm>
        <a:prstGeom prst="pie">
          <a:avLst>
            <a:gd name="adj1" fmla="val 5400000"/>
            <a:gd name="adj2" fmla="val 10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Literature &amp; Academic Collaborations</a:t>
          </a:r>
        </a:p>
      </dsp:txBody>
      <dsp:txXfrm>
        <a:off x="379001" y="1169348"/>
        <a:ext cx="694486" cy="515264"/>
      </dsp:txXfrm>
    </dsp:sp>
    <dsp:sp modelId="{0996D70D-0C6B-49B4-82CF-682B011334C1}">
      <dsp:nvSpPr>
        <dsp:cNvPr id="0" name=""/>
        <dsp:cNvSpPr/>
      </dsp:nvSpPr>
      <dsp:spPr>
        <a:xfrm>
          <a:off x="190594" y="129634"/>
          <a:ext cx="1881835" cy="1881835"/>
        </a:xfrm>
        <a:prstGeom prst="pie">
          <a:avLst>
            <a:gd name="adj1" fmla="val 108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Functional Screen Information</a:t>
          </a:r>
        </a:p>
      </dsp:txBody>
      <dsp:txXfrm>
        <a:off x="379001" y="519667"/>
        <a:ext cx="694486" cy="515264"/>
      </dsp:txXfrm>
    </dsp:sp>
    <dsp:sp modelId="{FD511513-AD47-4431-A45B-F517D86DAF8B}">
      <dsp:nvSpPr>
        <dsp:cNvPr id="0" name=""/>
        <dsp:cNvSpPr/>
      </dsp:nvSpPr>
      <dsp:spPr>
        <a:xfrm>
          <a:off x="137275" y="13139"/>
          <a:ext cx="2114824" cy="2114824"/>
        </a:xfrm>
        <a:prstGeom prst="circularArrow">
          <a:avLst>
            <a:gd name="adj1" fmla="val 5085"/>
            <a:gd name="adj2" fmla="val 327528"/>
            <a:gd name="adj3" fmla="val 21272472"/>
            <a:gd name="adj4" fmla="val 16200000"/>
            <a:gd name="adj5" fmla="val 5932"/>
          </a:avLst>
        </a:prstGeom>
        <a:solidFill>
          <a:schemeClr val="accent1">
            <a:lumMod val="40000"/>
            <a:lumOff val="6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6050C04B-6BB6-489A-94CB-EB521170A579}">
      <dsp:nvSpPr>
        <dsp:cNvPr id="0" name=""/>
        <dsp:cNvSpPr/>
      </dsp:nvSpPr>
      <dsp:spPr>
        <a:xfrm>
          <a:off x="137275" y="76315"/>
          <a:ext cx="2114824" cy="2114824"/>
        </a:xfrm>
        <a:prstGeom prst="circularArrow">
          <a:avLst>
            <a:gd name="adj1" fmla="val 5085"/>
            <a:gd name="adj2" fmla="val 327528"/>
            <a:gd name="adj3" fmla="val 5072472"/>
            <a:gd name="adj4" fmla="val 0"/>
            <a:gd name="adj5" fmla="val 5932"/>
          </a:avLst>
        </a:prstGeom>
        <a:solidFill>
          <a:schemeClr val="accent1">
            <a:lumMod val="40000"/>
            <a:lumOff val="6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D8BF3EC1-78F9-44F0-8C64-1B3E2546905C}">
      <dsp:nvSpPr>
        <dsp:cNvPr id="0" name=""/>
        <dsp:cNvSpPr/>
      </dsp:nvSpPr>
      <dsp:spPr>
        <a:xfrm>
          <a:off x="74099" y="76315"/>
          <a:ext cx="2114824" cy="2114824"/>
        </a:xfrm>
        <a:prstGeom prst="circularArrow">
          <a:avLst>
            <a:gd name="adj1" fmla="val 5085"/>
            <a:gd name="adj2" fmla="val 327528"/>
            <a:gd name="adj3" fmla="val 10472472"/>
            <a:gd name="adj4" fmla="val 5400000"/>
            <a:gd name="adj5" fmla="val 5932"/>
          </a:avLst>
        </a:prstGeom>
        <a:solidFill>
          <a:schemeClr val="accent1">
            <a:lumMod val="40000"/>
            <a:lumOff val="6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EFAAFB5B-A7A7-48C5-BEC7-1496A28BDA94}">
      <dsp:nvSpPr>
        <dsp:cNvPr id="0" name=""/>
        <dsp:cNvSpPr/>
      </dsp:nvSpPr>
      <dsp:spPr>
        <a:xfrm>
          <a:off x="74099" y="13139"/>
          <a:ext cx="2114824" cy="2114824"/>
        </a:xfrm>
        <a:prstGeom prst="circularArrow">
          <a:avLst>
            <a:gd name="adj1" fmla="val 5085"/>
            <a:gd name="adj2" fmla="val 327528"/>
            <a:gd name="adj3" fmla="val 15872472"/>
            <a:gd name="adj4" fmla="val 10800000"/>
            <a:gd name="adj5" fmla="val 5932"/>
          </a:avLst>
        </a:prstGeom>
        <a:solidFill>
          <a:schemeClr val="accent1">
            <a:lumMod val="40000"/>
            <a:lumOff val="6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82812-3FD2-4558-AA94-4B4849122C62}">
      <dsp:nvSpPr>
        <dsp:cNvPr id="0" name=""/>
        <dsp:cNvSpPr/>
      </dsp:nvSpPr>
      <dsp:spPr>
        <a:xfrm>
          <a:off x="194976" y="180600"/>
          <a:ext cx="1901173" cy="1901173"/>
        </a:xfrm>
        <a:prstGeom prst="pie">
          <a:avLst>
            <a:gd name="adj1" fmla="val 162000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Model Systems &amp; Pharmacologic Probes</a:t>
          </a:r>
        </a:p>
      </dsp:txBody>
      <dsp:txXfrm>
        <a:off x="1204183" y="574641"/>
        <a:ext cx="701623" cy="520559"/>
      </dsp:txXfrm>
    </dsp:sp>
    <dsp:sp modelId="{76F29895-D64F-4F43-885A-E0958A280C9A}">
      <dsp:nvSpPr>
        <dsp:cNvPr id="0" name=""/>
        <dsp:cNvSpPr/>
      </dsp:nvSpPr>
      <dsp:spPr>
        <a:xfrm>
          <a:off x="194976" y="244425"/>
          <a:ext cx="1901173" cy="1901173"/>
        </a:xfrm>
        <a:prstGeom prst="pie">
          <a:avLst>
            <a:gd name="adj1" fmla="val 0"/>
            <a:gd name="adj2" fmla="val 54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Gene Editing/ Interference Technology</a:t>
          </a:r>
        </a:p>
      </dsp:txBody>
      <dsp:txXfrm>
        <a:off x="1204183" y="1230999"/>
        <a:ext cx="701623" cy="520559"/>
      </dsp:txXfrm>
    </dsp:sp>
    <dsp:sp modelId="{71AC084D-94E8-4759-B13D-391265C431EE}">
      <dsp:nvSpPr>
        <dsp:cNvPr id="0" name=""/>
        <dsp:cNvSpPr/>
      </dsp:nvSpPr>
      <dsp:spPr>
        <a:xfrm>
          <a:off x="131151" y="244425"/>
          <a:ext cx="1901173" cy="1901173"/>
        </a:xfrm>
        <a:prstGeom prst="pie">
          <a:avLst>
            <a:gd name="adj1" fmla="val 5400000"/>
            <a:gd name="adj2" fmla="val 10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a:t>Informatics &amp; Modalities</a:t>
          </a:r>
        </a:p>
      </dsp:txBody>
      <dsp:txXfrm>
        <a:off x="321495" y="1230999"/>
        <a:ext cx="701623" cy="520559"/>
      </dsp:txXfrm>
    </dsp:sp>
    <dsp:sp modelId="{0996D70D-0C6B-49B4-82CF-682B011334C1}">
      <dsp:nvSpPr>
        <dsp:cNvPr id="0" name=""/>
        <dsp:cNvSpPr/>
      </dsp:nvSpPr>
      <dsp:spPr>
        <a:xfrm>
          <a:off x="131151" y="180600"/>
          <a:ext cx="1901173" cy="1901173"/>
        </a:xfrm>
        <a:prstGeom prst="pie">
          <a:avLst>
            <a:gd name="adj1" fmla="val 108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a:t>Reagents  &amp;  Primary Assay </a:t>
          </a:r>
        </a:p>
      </dsp:txBody>
      <dsp:txXfrm>
        <a:off x="321495" y="574641"/>
        <a:ext cx="701623" cy="520559"/>
      </dsp:txXfrm>
    </dsp:sp>
    <dsp:sp modelId="{FD511513-AD47-4431-A45B-F517D86DAF8B}">
      <dsp:nvSpPr>
        <dsp:cNvPr id="0" name=""/>
        <dsp:cNvSpPr/>
      </dsp:nvSpPr>
      <dsp:spPr>
        <a:xfrm>
          <a:off x="77285" y="62908"/>
          <a:ext cx="2136557" cy="2136557"/>
        </a:xfrm>
        <a:prstGeom prst="circularArrow">
          <a:avLst>
            <a:gd name="adj1" fmla="val 5085"/>
            <a:gd name="adj2" fmla="val 327528"/>
            <a:gd name="adj3" fmla="val 21272472"/>
            <a:gd name="adj4" fmla="val 1620000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6050C04B-6BB6-489A-94CB-EB521170A579}">
      <dsp:nvSpPr>
        <dsp:cNvPr id="0" name=""/>
        <dsp:cNvSpPr/>
      </dsp:nvSpPr>
      <dsp:spPr>
        <a:xfrm>
          <a:off x="77285" y="126734"/>
          <a:ext cx="2136557" cy="2136557"/>
        </a:xfrm>
        <a:prstGeom prst="circularArrow">
          <a:avLst>
            <a:gd name="adj1" fmla="val 5085"/>
            <a:gd name="adj2" fmla="val 327528"/>
            <a:gd name="adj3" fmla="val 5072472"/>
            <a:gd name="adj4" fmla="val 0"/>
            <a:gd name="adj5" fmla="val 5932"/>
          </a:avLst>
        </a:prstGeom>
        <a:blipFill rotWithShape="0">
          <a:blip xmlns:r="http://schemas.openxmlformats.org/officeDocument/2006/relationships" r:embed="rId1"/>
          <a:stretch>
            <a:fillRect/>
          </a:stretch>
        </a:blip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D8BF3EC1-78F9-44F0-8C64-1B3E2546905C}">
      <dsp:nvSpPr>
        <dsp:cNvPr id="0" name=""/>
        <dsp:cNvSpPr/>
      </dsp:nvSpPr>
      <dsp:spPr>
        <a:xfrm>
          <a:off x="13459" y="126734"/>
          <a:ext cx="2136557" cy="2136557"/>
        </a:xfrm>
        <a:prstGeom prst="circularArrow">
          <a:avLst>
            <a:gd name="adj1" fmla="val 5085"/>
            <a:gd name="adj2" fmla="val 327528"/>
            <a:gd name="adj3" fmla="val 10472472"/>
            <a:gd name="adj4" fmla="val 5400000"/>
            <a:gd name="adj5" fmla="val 5932"/>
          </a:avLst>
        </a:prstGeom>
        <a:blipFill rotWithShape="0">
          <a:blip xmlns:r="http://schemas.openxmlformats.org/officeDocument/2006/relationships" r:embed="rId2"/>
          <a:stretch>
            <a:fillRect/>
          </a:stretch>
        </a:blip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EFAAFB5B-A7A7-48C5-BEC7-1496A28BDA94}">
      <dsp:nvSpPr>
        <dsp:cNvPr id="0" name=""/>
        <dsp:cNvSpPr/>
      </dsp:nvSpPr>
      <dsp:spPr>
        <a:xfrm>
          <a:off x="13459" y="62908"/>
          <a:ext cx="2136557" cy="2136557"/>
        </a:xfrm>
        <a:prstGeom prst="circularArrow">
          <a:avLst>
            <a:gd name="adj1" fmla="val 5085"/>
            <a:gd name="adj2" fmla="val 327528"/>
            <a:gd name="adj3" fmla="val 15872472"/>
            <a:gd name="adj4" fmla="val 1080000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82812-3FD2-4558-AA94-4B4849122C62}">
      <dsp:nvSpPr>
        <dsp:cNvPr id="0" name=""/>
        <dsp:cNvSpPr/>
      </dsp:nvSpPr>
      <dsp:spPr>
        <a:xfrm>
          <a:off x="178992" y="155918"/>
          <a:ext cx="1879998" cy="1908522"/>
        </a:xfrm>
        <a:prstGeom prst="pie">
          <a:avLst>
            <a:gd name="adj1" fmla="val 162000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Assay Development/ Biophysics</a:t>
          </a:r>
        </a:p>
      </dsp:txBody>
      <dsp:txXfrm>
        <a:off x="1176958" y="551482"/>
        <a:ext cx="693808" cy="522571"/>
      </dsp:txXfrm>
    </dsp:sp>
    <dsp:sp modelId="{76F29895-D64F-4F43-885A-E0958A280C9A}">
      <dsp:nvSpPr>
        <dsp:cNvPr id="0" name=""/>
        <dsp:cNvSpPr/>
      </dsp:nvSpPr>
      <dsp:spPr>
        <a:xfrm>
          <a:off x="189854" y="243426"/>
          <a:ext cx="1858274" cy="1858274"/>
        </a:xfrm>
        <a:prstGeom prst="pie">
          <a:avLst>
            <a:gd name="adj1" fmla="val 0"/>
            <a:gd name="adj2" fmla="val 54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a:t>Pharmacology/chemo-proteomics</a:t>
          </a:r>
        </a:p>
      </dsp:txBody>
      <dsp:txXfrm>
        <a:off x="1176288" y="1207738"/>
        <a:ext cx="685791" cy="508813"/>
      </dsp:txXfrm>
    </dsp:sp>
    <dsp:sp modelId="{71AC084D-94E8-4759-B13D-391265C431EE}">
      <dsp:nvSpPr>
        <dsp:cNvPr id="0" name=""/>
        <dsp:cNvSpPr/>
      </dsp:nvSpPr>
      <dsp:spPr>
        <a:xfrm>
          <a:off x="127469" y="243426"/>
          <a:ext cx="1858274" cy="1858274"/>
        </a:xfrm>
        <a:prstGeom prst="pie">
          <a:avLst>
            <a:gd name="adj1" fmla="val 5400000"/>
            <a:gd name="adj2" fmla="val 10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err="1"/>
            <a:t>Ligandability</a:t>
          </a:r>
          <a:endParaRPr lang="en-US" sz="900" b="1" kern="1200"/>
        </a:p>
        <a:p>
          <a:pPr marL="0" lvl="0" indent="0" algn="ctr" defTabSz="400050">
            <a:lnSpc>
              <a:spcPct val="90000"/>
            </a:lnSpc>
            <a:spcBef>
              <a:spcPct val="0"/>
            </a:spcBef>
            <a:spcAft>
              <a:spcPct val="35000"/>
            </a:spcAft>
            <a:buNone/>
          </a:pPr>
          <a:r>
            <a:rPr lang="en-US" sz="900" b="1" kern="1200"/>
            <a:t>Tech Screen</a:t>
          </a:r>
        </a:p>
      </dsp:txBody>
      <dsp:txXfrm>
        <a:off x="313517" y="1207738"/>
        <a:ext cx="685791" cy="508813"/>
      </dsp:txXfrm>
    </dsp:sp>
    <dsp:sp modelId="{0996D70D-0C6B-49B4-82CF-682B011334C1}">
      <dsp:nvSpPr>
        <dsp:cNvPr id="0" name=""/>
        <dsp:cNvSpPr/>
      </dsp:nvSpPr>
      <dsp:spPr>
        <a:xfrm>
          <a:off x="127469" y="181042"/>
          <a:ext cx="1858274" cy="1858274"/>
        </a:xfrm>
        <a:prstGeom prst="pie">
          <a:avLst>
            <a:gd name="adj1" fmla="val 108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a:t>Structural Biology</a:t>
          </a:r>
        </a:p>
      </dsp:txBody>
      <dsp:txXfrm>
        <a:off x="313517" y="566191"/>
        <a:ext cx="685791" cy="508813"/>
      </dsp:txXfrm>
    </dsp:sp>
    <dsp:sp modelId="{FD511513-AD47-4431-A45B-F517D86DAF8B}">
      <dsp:nvSpPr>
        <dsp:cNvPr id="0" name=""/>
        <dsp:cNvSpPr/>
      </dsp:nvSpPr>
      <dsp:spPr>
        <a:xfrm>
          <a:off x="74605" y="65506"/>
          <a:ext cx="2088347" cy="2088347"/>
        </a:xfrm>
        <a:prstGeom prst="circularArrow">
          <a:avLst>
            <a:gd name="adj1" fmla="val 5085"/>
            <a:gd name="adj2" fmla="val 327528"/>
            <a:gd name="adj3" fmla="val 21272472"/>
            <a:gd name="adj4" fmla="val 1620000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6050C04B-6BB6-489A-94CB-EB521170A579}">
      <dsp:nvSpPr>
        <dsp:cNvPr id="0" name=""/>
        <dsp:cNvSpPr/>
      </dsp:nvSpPr>
      <dsp:spPr>
        <a:xfrm>
          <a:off x="74818" y="128390"/>
          <a:ext cx="2088347" cy="2088347"/>
        </a:xfrm>
        <a:prstGeom prst="circularArrow">
          <a:avLst>
            <a:gd name="adj1" fmla="val 5085"/>
            <a:gd name="adj2" fmla="val 327528"/>
            <a:gd name="adj3" fmla="val 5072472"/>
            <a:gd name="adj4" fmla="val 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D8BF3EC1-78F9-44F0-8C64-1B3E2546905C}">
      <dsp:nvSpPr>
        <dsp:cNvPr id="0" name=""/>
        <dsp:cNvSpPr/>
      </dsp:nvSpPr>
      <dsp:spPr>
        <a:xfrm>
          <a:off x="12433" y="128390"/>
          <a:ext cx="2088347" cy="2088347"/>
        </a:xfrm>
        <a:prstGeom prst="circularArrow">
          <a:avLst>
            <a:gd name="adj1" fmla="val 5085"/>
            <a:gd name="adj2" fmla="val 327528"/>
            <a:gd name="adj3" fmla="val 10472472"/>
            <a:gd name="adj4" fmla="val 5400000"/>
            <a:gd name="adj5" fmla="val 5932"/>
          </a:avLst>
        </a:prstGeom>
        <a:blipFill rotWithShape="0">
          <a:blip xmlns:r="http://schemas.openxmlformats.org/officeDocument/2006/relationships" r:embed="rId1"/>
          <a:stretch>
            <a:fillRect/>
          </a:stretch>
        </a:blip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EFAAFB5B-A7A7-48C5-BEC7-1496A28BDA94}">
      <dsp:nvSpPr>
        <dsp:cNvPr id="0" name=""/>
        <dsp:cNvSpPr/>
      </dsp:nvSpPr>
      <dsp:spPr>
        <a:xfrm>
          <a:off x="12433" y="66005"/>
          <a:ext cx="2088347" cy="2088347"/>
        </a:xfrm>
        <a:prstGeom prst="circularArrow">
          <a:avLst>
            <a:gd name="adj1" fmla="val 5085"/>
            <a:gd name="adj2" fmla="val 327528"/>
            <a:gd name="adj3" fmla="val 15872472"/>
            <a:gd name="adj4" fmla="val 1080000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782812-3FD2-4558-AA94-4B4849122C62}">
      <dsp:nvSpPr>
        <dsp:cNvPr id="0" name=""/>
        <dsp:cNvSpPr/>
      </dsp:nvSpPr>
      <dsp:spPr>
        <a:xfrm>
          <a:off x="253770" y="129634"/>
          <a:ext cx="1881835" cy="1881835"/>
        </a:xfrm>
        <a:prstGeom prst="pie">
          <a:avLst>
            <a:gd name="adj1" fmla="val 16200000"/>
            <a:gd name="adj2" fmla="val 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err="1"/>
            <a:t>MoA</a:t>
          </a:r>
          <a:r>
            <a:rPr lang="en-US" sz="900" b="1" kern="1200"/>
            <a:t> &amp;</a:t>
          </a:r>
        </a:p>
        <a:p>
          <a:pPr marL="0" lvl="0" indent="0" algn="ctr" defTabSz="400050">
            <a:lnSpc>
              <a:spcPct val="90000"/>
            </a:lnSpc>
            <a:spcBef>
              <a:spcPct val="0"/>
            </a:spcBef>
            <a:spcAft>
              <a:spcPct val="35000"/>
            </a:spcAft>
            <a:buNone/>
          </a:pPr>
          <a:r>
            <a:rPr lang="en-US" sz="900" b="1" kern="1200"/>
            <a:t>Flow Scheme</a:t>
          </a:r>
        </a:p>
      </dsp:txBody>
      <dsp:txXfrm>
        <a:off x="1252711" y="519667"/>
        <a:ext cx="694486" cy="515264"/>
      </dsp:txXfrm>
    </dsp:sp>
    <dsp:sp modelId="{76F29895-D64F-4F43-885A-E0958A280C9A}">
      <dsp:nvSpPr>
        <dsp:cNvPr id="0" name=""/>
        <dsp:cNvSpPr/>
      </dsp:nvSpPr>
      <dsp:spPr>
        <a:xfrm>
          <a:off x="253770" y="192810"/>
          <a:ext cx="1881835" cy="1881835"/>
        </a:xfrm>
        <a:prstGeom prst="pie">
          <a:avLst>
            <a:gd name="adj1" fmla="val 0"/>
            <a:gd name="adj2" fmla="val 54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b="1" kern="1200"/>
            <a:t>Mechanistic ADME</a:t>
          </a:r>
        </a:p>
      </dsp:txBody>
      <dsp:txXfrm>
        <a:off x="1252711" y="1169348"/>
        <a:ext cx="694486" cy="515264"/>
      </dsp:txXfrm>
    </dsp:sp>
    <dsp:sp modelId="{71AC084D-94E8-4759-B13D-391265C431EE}">
      <dsp:nvSpPr>
        <dsp:cNvPr id="0" name=""/>
        <dsp:cNvSpPr/>
      </dsp:nvSpPr>
      <dsp:spPr>
        <a:xfrm>
          <a:off x="190594" y="192810"/>
          <a:ext cx="1881835" cy="1881835"/>
        </a:xfrm>
        <a:prstGeom prst="pie">
          <a:avLst>
            <a:gd name="adj1" fmla="val 5400000"/>
            <a:gd name="adj2" fmla="val 10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1" kern="1200"/>
            <a:t>Chemical Diversity &amp; Screen</a:t>
          </a:r>
        </a:p>
      </dsp:txBody>
      <dsp:txXfrm>
        <a:off x="379001" y="1169348"/>
        <a:ext cx="694486" cy="515264"/>
      </dsp:txXfrm>
    </dsp:sp>
    <dsp:sp modelId="{0996D70D-0C6B-49B4-82CF-682B011334C1}">
      <dsp:nvSpPr>
        <dsp:cNvPr id="0" name=""/>
        <dsp:cNvSpPr/>
      </dsp:nvSpPr>
      <dsp:spPr>
        <a:xfrm>
          <a:off x="190594" y="129634"/>
          <a:ext cx="1881835" cy="1881835"/>
        </a:xfrm>
        <a:prstGeom prst="pie">
          <a:avLst>
            <a:gd name="adj1" fmla="val 108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b="1" kern="1200"/>
            <a:t>Design, Synthesis &amp; Trajectory</a:t>
          </a:r>
        </a:p>
      </dsp:txBody>
      <dsp:txXfrm>
        <a:off x="379001" y="519667"/>
        <a:ext cx="694486" cy="515264"/>
      </dsp:txXfrm>
    </dsp:sp>
    <dsp:sp modelId="{FD511513-AD47-4431-A45B-F517D86DAF8B}">
      <dsp:nvSpPr>
        <dsp:cNvPr id="0" name=""/>
        <dsp:cNvSpPr/>
      </dsp:nvSpPr>
      <dsp:spPr>
        <a:xfrm>
          <a:off x="137275" y="13139"/>
          <a:ext cx="2114824" cy="2114824"/>
        </a:xfrm>
        <a:prstGeom prst="circularArrow">
          <a:avLst>
            <a:gd name="adj1" fmla="val 5085"/>
            <a:gd name="adj2" fmla="val 327528"/>
            <a:gd name="adj3" fmla="val 21272472"/>
            <a:gd name="adj4" fmla="val 1620000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6050C04B-6BB6-489A-94CB-EB521170A579}">
      <dsp:nvSpPr>
        <dsp:cNvPr id="0" name=""/>
        <dsp:cNvSpPr/>
      </dsp:nvSpPr>
      <dsp:spPr>
        <a:xfrm>
          <a:off x="137275" y="76315"/>
          <a:ext cx="2114824" cy="2114824"/>
        </a:xfrm>
        <a:prstGeom prst="circularArrow">
          <a:avLst>
            <a:gd name="adj1" fmla="val 5085"/>
            <a:gd name="adj2" fmla="val 327528"/>
            <a:gd name="adj3" fmla="val 5072472"/>
            <a:gd name="adj4" fmla="val 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D8BF3EC1-78F9-44F0-8C64-1B3E2546905C}">
      <dsp:nvSpPr>
        <dsp:cNvPr id="0" name=""/>
        <dsp:cNvSpPr/>
      </dsp:nvSpPr>
      <dsp:spPr>
        <a:xfrm>
          <a:off x="74099" y="76315"/>
          <a:ext cx="2114824" cy="2114824"/>
        </a:xfrm>
        <a:prstGeom prst="circularArrow">
          <a:avLst>
            <a:gd name="adj1" fmla="val 5085"/>
            <a:gd name="adj2" fmla="val 327528"/>
            <a:gd name="adj3" fmla="val 10472472"/>
            <a:gd name="adj4" fmla="val 540000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 modelId="{EFAAFB5B-A7A7-48C5-BEC7-1496A28BDA94}">
      <dsp:nvSpPr>
        <dsp:cNvPr id="0" name=""/>
        <dsp:cNvSpPr/>
      </dsp:nvSpPr>
      <dsp:spPr>
        <a:xfrm>
          <a:off x="74099" y="13139"/>
          <a:ext cx="2114824" cy="2114824"/>
        </a:xfrm>
        <a:prstGeom prst="circularArrow">
          <a:avLst>
            <a:gd name="adj1" fmla="val 5085"/>
            <a:gd name="adj2" fmla="val 327528"/>
            <a:gd name="adj3" fmla="val 15872472"/>
            <a:gd name="adj4" fmla="val 10800000"/>
            <a:gd name="adj5" fmla="val 5932"/>
          </a:avLst>
        </a:prstGeom>
        <a:solidFill>
          <a:schemeClr val="accent1">
            <a:tint val="60000"/>
            <a:hueOff val="0"/>
            <a:satOff val="0"/>
            <a:lumOff val="0"/>
            <a:alphaOff val="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1B5C2-46FF-41F4-A6FC-D924D03952B1}"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1A58F-C6E0-49CB-A5AC-3041F758BDF1}" type="slidenum">
              <a:rPr lang="en-US" smtClean="0"/>
              <a:t>‹#›</a:t>
            </a:fld>
            <a:endParaRPr lang="en-US"/>
          </a:p>
        </p:txBody>
      </p:sp>
    </p:spTree>
    <p:extLst>
      <p:ext uri="{BB962C8B-B14F-4D97-AF65-F5344CB8AC3E}">
        <p14:creationId xmlns:p14="http://schemas.microsoft.com/office/powerpoint/2010/main" val="3733694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CFE407-59DA-4749-9C33-228AC5BC3D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887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8F0FB1-10E7-4E9D-9528-C086B85390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01834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06DF7C-211F-4C53-96A2-17D2F4DA560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9598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defTabSz="457146">
              <a:buFont typeface="Arial" panose="020B0604020202020204" pitchFamily="34" charset="0"/>
              <a:buChar char="•"/>
              <a:defRPr/>
            </a:pPr>
            <a:r>
              <a:rPr lang="en-US"/>
              <a:t>As project managers, it is our</a:t>
            </a:r>
            <a:r>
              <a:rPr lang="en-US" baseline="0"/>
              <a:t> responsibility to integrate across functions supporting drug development and to lead the team.  </a:t>
            </a:r>
            <a:endParaRPr lang="en-US"/>
          </a:p>
          <a:p>
            <a:pPr marL="285750" indent="-285750">
              <a:buFont typeface="Arial" panose="020B0604020202020204" pitchFamily="34" charset="0"/>
              <a:buChar char="•"/>
            </a:pPr>
            <a:r>
              <a:rPr lang="en-US"/>
              <a:t>Project management is a central hub and integration point for the drug development team.</a:t>
            </a:r>
          </a:p>
          <a:p>
            <a:pPr marL="285750" indent="-285750">
              <a:buFont typeface="Arial" panose="020B0604020202020204" pitchFamily="34" charset="0"/>
              <a:buChar char="•"/>
            </a:pPr>
            <a:r>
              <a:rPr lang="en-US"/>
              <a:t>This includes integrating information, ideas, people, deliverables.</a:t>
            </a:r>
          </a:p>
          <a:p>
            <a:pPr marL="285750" indent="-285750">
              <a:buFont typeface="Arial" panose="020B0604020202020204" pitchFamily="34" charset="0"/>
              <a:buChar char="•"/>
            </a:pPr>
            <a:r>
              <a:rPr lang="en-US"/>
              <a:t>PPM responsibility to play a role in integrating functions together</a:t>
            </a:r>
            <a:r>
              <a:rPr lang="en-US" baseline="0"/>
              <a:t> to advance the development of drugs.</a:t>
            </a:r>
          </a:p>
          <a:p>
            <a:endParaRPr lang="en-US" baseline="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41B620-B61F-466C-979B-A49EB85AFB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753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Specific diseases are chosen by what is currently in the portfolio and what is anticipated in the near future.</a:t>
            </a:r>
          </a:p>
        </p:txBody>
      </p:sp>
      <p:sp>
        <p:nvSpPr>
          <p:cNvPr id="4" name="Slide Number Placeholder 3"/>
          <p:cNvSpPr>
            <a:spLocks noGrp="1"/>
          </p:cNvSpPr>
          <p:nvPr>
            <p:ph type="sldNum" sz="quarter" idx="5"/>
          </p:nvPr>
        </p:nvSpPr>
        <p:spPr/>
        <p:txBody>
          <a:bodyPr/>
          <a:lstStyle/>
          <a:p>
            <a:fld id="{2FCBCEF0-85D3-4DDB-9AAC-C6F8E62D256B}" type="slidenum">
              <a:rPr lang="en-US" smtClean="0"/>
              <a:t>19</a:t>
            </a:fld>
            <a:endParaRPr lang="en-US"/>
          </a:p>
        </p:txBody>
      </p:sp>
    </p:spTree>
    <p:extLst>
      <p:ext uri="{BB962C8B-B14F-4D97-AF65-F5344CB8AC3E}">
        <p14:creationId xmlns:p14="http://schemas.microsoft.com/office/powerpoint/2010/main" val="2063405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b="1" i="1"/>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2079531-2DE6-40A8-BAE8-447EF5B1E99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5246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08F0FB1-10E7-4E9D-9528-C086B8539037}" type="slidenum">
              <a:rPr lang="en-US" smtClean="0"/>
              <a:t>36</a:t>
            </a:fld>
            <a:endParaRPr lang="en-US"/>
          </a:p>
        </p:txBody>
      </p:sp>
    </p:spTree>
    <p:extLst>
      <p:ext uri="{BB962C8B-B14F-4D97-AF65-F5344CB8AC3E}">
        <p14:creationId xmlns:p14="http://schemas.microsoft.com/office/powerpoint/2010/main" val="4204086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CFE407-59DA-4749-9C33-228AC5BC3DE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2812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PPM is an integral part of the development process regardless of phase. Collaboration with other functions may vary across the development phases but a key partnership will be that of the PPM and COO. </a:t>
            </a:r>
          </a:p>
          <a:p>
            <a:r>
              <a:rPr lang="en-US">
                <a:cs typeface="Calibri"/>
              </a:rPr>
              <a:t>RTO=Right to Operate </a:t>
            </a:r>
          </a:p>
        </p:txBody>
      </p:sp>
      <p:sp>
        <p:nvSpPr>
          <p:cNvPr id="4" name="Slide Number Placeholder 3"/>
          <p:cNvSpPr>
            <a:spLocks noGrp="1"/>
          </p:cNvSpPr>
          <p:nvPr>
            <p:ph type="sldNum" sz="quarter" idx="5"/>
          </p:nvPr>
        </p:nvSpPr>
        <p:spPr/>
        <p:txBody>
          <a:bodyPr/>
          <a:lstStyle/>
          <a:p>
            <a:fld id="{42428A18-DE60-4203-A3AD-06E6EFFAAC2F}" type="slidenum">
              <a:rPr lang="en-US" smtClean="0"/>
              <a:t>39</a:t>
            </a:fld>
            <a:endParaRPr lang="en-US"/>
          </a:p>
        </p:txBody>
      </p:sp>
    </p:spTree>
    <p:extLst>
      <p:ext uri="{BB962C8B-B14F-4D97-AF65-F5344CB8AC3E}">
        <p14:creationId xmlns:p14="http://schemas.microsoft.com/office/powerpoint/2010/main" val="1260945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334C06-F0B7-4ABD-BDC9-1DC9725C58D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3273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8F0FB1-10E7-4E9D-9528-C086B85390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559007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urved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33242" y="6143268"/>
            <a:ext cx="1423004" cy="581527"/>
          </a:xfrm>
          <a:prstGeom prst="rect">
            <a:avLst/>
          </a:prstGeom>
        </p:spPr>
      </p:pic>
      <p:sp>
        <p:nvSpPr>
          <p:cNvPr id="2" name="Title 1"/>
          <p:cNvSpPr>
            <a:spLocks noGrp="1"/>
          </p:cNvSpPr>
          <p:nvPr>
            <p:ph type="ctrTitle"/>
          </p:nvPr>
        </p:nvSpPr>
        <p:spPr>
          <a:xfrm>
            <a:off x="609600" y="2130443"/>
            <a:ext cx="10363200" cy="1470025"/>
          </a:xfrm>
        </p:spPr>
        <p:txBody>
          <a:bodyPr/>
          <a:lstStyle>
            <a:lvl1pPr algn="l">
              <a:defRPr b="0" i="0">
                <a:solidFill>
                  <a:srgbClr val="FFFFFF"/>
                </a:solidFill>
                <a:latin typeface="DIN-Bold"/>
                <a:cs typeface="DIN-Bold"/>
              </a:defRPr>
            </a:lvl1pPr>
          </a:lstStyle>
          <a:p>
            <a:r>
              <a:rPr lang="en-US"/>
              <a:t>Click to edit Master title style</a:t>
            </a:r>
          </a:p>
        </p:txBody>
      </p:sp>
      <p:sp>
        <p:nvSpPr>
          <p:cNvPr id="3" name="Subtitle 2"/>
          <p:cNvSpPr>
            <a:spLocks noGrp="1"/>
          </p:cNvSpPr>
          <p:nvPr>
            <p:ph type="subTitle" idx="1"/>
          </p:nvPr>
        </p:nvSpPr>
        <p:spPr>
          <a:xfrm>
            <a:off x="609600" y="3600451"/>
            <a:ext cx="8534400" cy="1752600"/>
          </a:xfrm>
        </p:spPr>
        <p:txBody>
          <a:bodyPr/>
          <a:lstStyle>
            <a:lvl1pPr marL="0" indent="0" algn="l">
              <a:buNone/>
              <a:defRPr>
                <a:solidFill>
                  <a:srgbClr val="FFFFFF"/>
                </a:solidFill>
                <a:latin typeface="DIN-Regular"/>
                <a:cs typeface="DIN-Regul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5"/>
            <a:ext cx="846976" cy="365125"/>
          </a:xfrm>
        </p:spPr>
        <p:txBody>
          <a:bodyPr/>
          <a:lstStyle>
            <a:lvl1pPr>
              <a:defRPr>
                <a:solidFill>
                  <a:srgbClr val="FFFFFF"/>
                </a:solidFill>
              </a:defRPr>
            </a:lvl1pPr>
          </a:lstStyle>
          <a:p>
            <a:r>
              <a:rPr lang="en-US"/>
              <a:t>SAPR R&amp;D Strategy Review Template</a:t>
            </a:r>
          </a:p>
        </p:txBody>
      </p:sp>
      <p:sp>
        <p:nvSpPr>
          <p:cNvPr id="5" name="Footer Placeholder 4"/>
          <p:cNvSpPr>
            <a:spLocks noGrp="1"/>
          </p:cNvSpPr>
          <p:nvPr>
            <p:ph type="ftr" sz="quarter" idx="11"/>
          </p:nvPr>
        </p:nvSpPr>
        <p:spPr>
          <a:xfrm>
            <a:off x="1561987" y="6356355"/>
            <a:ext cx="3526943" cy="365125"/>
          </a:xfrm>
        </p:spPr>
        <p:txBody>
          <a:bodyPr/>
          <a:lstStyle>
            <a:lvl1pPr>
              <a:defRPr sz="800">
                <a:solidFill>
                  <a:srgbClr val="FFFFFF"/>
                </a:solidFill>
              </a:defRPr>
            </a:lvl1pPr>
          </a:lstStyle>
          <a:p>
            <a:r>
              <a:rPr lang="en-US"/>
              <a:t>Company Confidential  ©2014 Eli Lilly and Company </a:t>
            </a:r>
          </a:p>
        </p:txBody>
      </p:sp>
      <p:sp>
        <p:nvSpPr>
          <p:cNvPr id="6" name="Slide Number Placeholder 5"/>
          <p:cNvSpPr>
            <a:spLocks noGrp="1"/>
          </p:cNvSpPr>
          <p:nvPr>
            <p:ph type="sldNum" sz="quarter" idx="12"/>
          </p:nvPr>
        </p:nvSpPr>
        <p:spPr>
          <a:xfrm>
            <a:off x="5187211" y="6356355"/>
            <a:ext cx="894012" cy="365125"/>
          </a:xfrm>
        </p:spPr>
        <p:txBody>
          <a:bodyPr/>
          <a:lstStyle>
            <a:lvl1pPr>
              <a:defRPr>
                <a:solidFill>
                  <a:srgbClr val="FFFFFF"/>
                </a:solidFill>
              </a:defRPr>
            </a:lvl1pPr>
          </a:lstStyle>
          <a:p>
            <a:fld id="{1DA079B0-34FF-9449-83ED-AEDF3F6C1CC6}" type="slidenum">
              <a:rPr lang="en-US" smtClean="0"/>
              <a:pPr/>
              <a:t>‹#›</a:t>
            </a:fld>
            <a:endParaRPr lang="en-US"/>
          </a:p>
        </p:txBody>
      </p:sp>
    </p:spTree>
    <p:extLst>
      <p:ext uri="{BB962C8B-B14F-4D97-AF65-F5344CB8AC3E}">
        <p14:creationId xmlns:p14="http://schemas.microsoft.com/office/powerpoint/2010/main" val="3648516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SAPR R&amp;D Strategy Review Template</a:t>
            </a:r>
          </a:p>
        </p:txBody>
      </p:sp>
      <p:sp>
        <p:nvSpPr>
          <p:cNvPr id="5" name="Footer Placeholder 4"/>
          <p:cNvSpPr>
            <a:spLocks noGrp="1"/>
          </p:cNvSpPr>
          <p:nvPr>
            <p:ph type="ftr" sz="quarter" idx="11"/>
          </p:nvPr>
        </p:nvSpPr>
        <p:spPr/>
        <p:txBody>
          <a:bodyPr/>
          <a:lstStyle/>
          <a:p>
            <a:r>
              <a:rPr lang="en-US"/>
              <a:t>Company Confidential  ©2014 Eli Lilly and Company </a:t>
            </a:r>
          </a:p>
        </p:txBody>
      </p:sp>
      <p:sp>
        <p:nvSpPr>
          <p:cNvPr id="6" name="Slide Number Placeholder 5"/>
          <p:cNvSpPr>
            <a:spLocks noGrp="1"/>
          </p:cNvSpPr>
          <p:nvPr>
            <p:ph type="sldNum" sz="quarter" idx="12"/>
          </p:nvPr>
        </p:nvSpPr>
        <p:spPr/>
        <p:txBody>
          <a:bodyPr/>
          <a:lstStyle/>
          <a:p>
            <a:fld id="{1DA079B0-34FF-9449-83ED-AEDF3F6C1CC6}" type="slidenum">
              <a:rPr lang="en-US" smtClean="0"/>
              <a:pPr/>
              <a:t>‹#›</a:t>
            </a:fld>
            <a:endParaRPr lang="en-US"/>
          </a:p>
        </p:txBody>
      </p:sp>
    </p:spTree>
    <p:extLst>
      <p:ext uri="{BB962C8B-B14F-4D97-AF65-F5344CB8AC3E}">
        <p14:creationId xmlns:p14="http://schemas.microsoft.com/office/powerpoint/2010/main" val="2603659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r>
              <a:rPr lang="en-US"/>
              <a:t>SAPR R&amp;D Strategy Review Template</a:t>
            </a:r>
          </a:p>
        </p:txBody>
      </p:sp>
      <p:sp>
        <p:nvSpPr>
          <p:cNvPr id="5" name="Footer Placeholder 4"/>
          <p:cNvSpPr>
            <a:spLocks noGrp="1"/>
          </p:cNvSpPr>
          <p:nvPr>
            <p:ph type="ftr" sz="quarter" idx="11"/>
          </p:nvPr>
        </p:nvSpPr>
        <p:spPr/>
        <p:txBody>
          <a:bodyPr/>
          <a:lstStyle/>
          <a:p>
            <a:r>
              <a:rPr lang="en-US"/>
              <a:t>Company Confidential  ©2014 Eli Lilly and Company </a:t>
            </a:r>
          </a:p>
        </p:txBody>
      </p:sp>
      <p:sp>
        <p:nvSpPr>
          <p:cNvPr id="6" name="Slide Number Placeholder 5"/>
          <p:cNvSpPr>
            <a:spLocks noGrp="1"/>
          </p:cNvSpPr>
          <p:nvPr>
            <p:ph type="sldNum" sz="quarter" idx="12"/>
          </p:nvPr>
        </p:nvSpPr>
        <p:spPr/>
        <p:txBody>
          <a:bodyPr/>
          <a:lstStyle/>
          <a:p>
            <a:fld id="{1DA079B0-34FF-9449-83ED-AEDF3F6C1CC6}" type="slidenum">
              <a:rPr lang="en-US" smtClean="0"/>
              <a:pPr/>
              <a:t>‹#›</a:t>
            </a:fld>
            <a:endParaRPr lang="en-US"/>
          </a:p>
        </p:txBody>
      </p:sp>
    </p:spTree>
    <p:extLst>
      <p:ext uri="{BB962C8B-B14F-4D97-AF65-F5344CB8AC3E}">
        <p14:creationId xmlns:p14="http://schemas.microsoft.com/office/powerpoint/2010/main" val="4286848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SAPR R&amp;D Strategy Review Template</a:t>
            </a:r>
          </a:p>
        </p:txBody>
      </p:sp>
      <p:sp>
        <p:nvSpPr>
          <p:cNvPr id="3" name="Footer Placeholder 2"/>
          <p:cNvSpPr>
            <a:spLocks noGrp="1"/>
          </p:cNvSpPr>
          <p:nvPr>
            <p:ph type="ftr" sz="quarter" idx="11"/>
          </p:nvPr>
        </p:nvSpPr>
        <p:spPr/>
        <p:txBody>
          <a:bodyPr/>
          <a:lstStyle/>
          <a:p>
            <a:r>
              <a:rPr lang="en-US"/>
              <a:t>Company Confidential  ©2014 Eli Lilly and Company </a:t>
            </a:r>
          </a:p>
        </p:txBody>
      </p:sp>
      <p:sp>
        <p:nvSpPr>
          <p:cNvPr id="4" name="Slide Number Placeholder 3"/>
          <p:cNvSpPr>
            <a:spLocks noGrp="1"/>
          </p:cNvSpPr>
          <p:nvPr>
            <p:ph type="sldNum" sz="quarter" idx="12"/>
          </p:nvPr>
        </p:nvSpPr>
        <p:spPr/>
        <p:txBody>
          <a:bodyPr/>
          <a:lstStyle/>
          <a:p>
            <a:fld id="{1DA079B0-34FF-9449-83ED-AEDF3F6C1CC6}" type="slidenum">
              <a:rPr lang="en-US" smtClean="0"/>
              <a:pPr/>
              <a:t>‹#›</a:t>
            </a:fld>
            <a:endParaRPr lang="en-US"/>
          </a:p>
        </p:txBody>
      </p:sp>
    </p:spTree>
    <p:extLst>
      <p:ext uri="{BB962C8B-B14F-4D97-AF65-F5344CB8AC3E}">
        <p14:creationId xmlns:p14="http://schemas.microsoft.com/office/powerpoint/2010/main" val="1588141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6"/>
            <a:ext cx="5386917" cy="63976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0" y="1535116"/>
            <a:ext cx="5389033" cy="63976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0"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9552180"/>
      </p:ext>
    </p:extLst>
  </p:cSld>
  <p:clrMapOvr>
    <a:masterClrMapping/>
  </p:clrMapOvr>
  <p:transition spd="med">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6_Blan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3003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a:t>Click to edit Master title style</a:t>
            </a:r>
          </a:p>
        </p:txBody>
      </p:sp>
    </p:spTree>
    <p:extLst>
      <p:ext uri="{BB962C8B-B14F-4D97-AF65-F5344CB8AC3E}">
        <p14:creationId xmlns:p14="http://schemas.microsoft.com/office/powerpoint/2010/main" val="1221037803"/>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3" name="Picture 2" descr="CorporateSlides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Rectangle 7"/>
          <p:cNvSpPr/>
          <p:nvPr userDrawn="1"/>
        </p:nvSpPr>
        <p:spPr>
          <a:xfrm>
            <a:off x="0" y="2949751"/>
            <a:ext cx="12192000" cy="1167609"/>
          </a:xfrm>
          <a:prstGeom prst="rect">
            <a:avLst/>
          </a:prstGeom>
          <a:solidFill>
            <a:schemeClr val="bg1">
              <a:alpha val="3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963084" y="2949751"/>
            <a:ext cx="10363200" cy="1167609"/>
          </a:xfrm>
        </p:spPr>
        <p:txBody>
          <a:bodyPr anchor="ctr" anchorCtr="0">
            <a:normAutofit/>
          </a:bodyPr>
          <a:lstStyle>
            <a:lvl1pPr algn="l">
              <a:defRPr sz="3200" b="0" cap="none"/>
            </a:lvl1pPr>
          </a:lstStyle>
          <a:p>
            <a:r>
              <a:rPr lang="en-US"/>
              <a:t>Click to edit Master title style</a:t>
            </a:r>
          </a:p>
        </p:txBody>
      </p:sp>
    </p:spTree>
    <p:extLst>
      <p:ext uri="{BB962C8B-B14F-4D97-AF65-F5344CB8AC3E}">
        <p14:creationId xmlns:p14="http://schemas.microsoft.com/office/powerpoint/2010/main" val="1308741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48412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412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66E3B1-92CC-6C48-A53D-586BA8A7DFE4}" type="datetime1">
              <a:rPr lang="en-US" smtClean="0"/>
              <a:t>9/1/2026</a:t>
            </a:fld>
            <a:endParaRPr lang="en-US"/>
          </a:p>
        </p:txBody>
      </p:sp>
      <p:sp>
        <p:nvSpPr>
          <p:cNvPr id="6" name="Footer Placeholder 5"/>
          <p:cNvSpPr>
            <a:spLocks noGrp="1"/>
          </p:cNvSpPr>
          <p:nvPr>
            <p:ph type="ftr" sz="quarter" idx="11"/>
          </p:nvPr>
        </p:nvSpPr>
        <p:spPr/>
        <p:txBody>
          <a:bodyPr/>
          <a:lstStyle/>
          <a:p>
            <a:r>
              <a:rPr lang="en-US"/>
              <a:t>Company Confidential  ©2015 Eli Lilly and Company </a:t>
            </a:r>
          </a:p>
        </p:txBody>
      </p:sp>
      <p:sp>
        <p:nvSpPr>
          <p:cNvPr id="7" name="Slide Number Placeholder 6"/>
          <p:cNvSpPr>
            <a:spLocks noGrp="1"/>
          </p:cNvSpPr>
          <p:nvPr>
            <p:ph type="sldNum" sz="quarter" idx="12"/>
          </p:nvPr>
        </p:nvSpPr>
        <p:spPr/>
        <p:txBody>
          <a:bodyPr/>
          <a:lstStyle/>
          <a:p>
            <a:fld id="{2CB3F8A8-6F36-0C49-ABBB-E77095462C33}" type="slidenum">
              <a:rPr lang="en-US" smtClean="0"/>
              <a:t>‹#›</a:t>
            </a:fld>
            <a:endParaRPr lang="en-US"/>
          </a:p>
        </p:txBody>
      </p:sp>
    </p:spTree>
    <p:extLst>
      <p:ext uri="{BB962C8B-B14F-4D97-AF65-F5344CB8AC3E}">
        <p14:creationId xmlns:p14="http://schemas.microsoft.com/office/powerpoint/2010/main" val="171589560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27C91-A626-F10F-87DE-03FA3CD46D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73A336-98E5-E1C5-518B-1E4F8F1AB8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D017C70-CD30-40C3-B417-60C6FE8E9117}"/>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5" name="Footer Placeholder 4">
            <a:extLst>
              <a:ext uri="{FF2B5EF4-FFF2-40B4-BE49-F238E27FC236}">
                <a16:creationId xmlns:a16="http://schemas.microsoft.com/office/drawing/2014/main" id="{21E1CA9A-5EDC-9E76-3780-A6198EFEE0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DBE294-F041-25DE-5581-0BB2694AA43C}"/>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1421160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47607-A90C-ABA1-697D-3FCF1D03D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528B3F-5FF5-327A-75D7-254FE138ED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DD1D1-C14B-8EAB-3D70-E30150B52192}"/>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5" name="Footer Placeholder 4">
            <a:extLst>
              <a:ext uri="{FF2B5EF4-FFF2-40B4-BE49-F238E27FC236}">
                <a16:creationId xmlns:a16="http://schemas.microsoft.com/office/drawing/2014/main" id="{44C86E5B-6A30-7042-FD00-0CEB58A1CF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7486BE-0F16-4142-2B01-FC7D51A63B4C}"/>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4104126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5ED14-BB82-0BE9-E631-11A94CB675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0B3A06-9155-BE76-12E5-92148BD663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16DD05-C3E4-1C03-B8F3-D697AA9F2FCC}"/>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5" name="Footer Placeholder 4">
            <a:extLst>
              <a:ext uri="{FF2B5EF4-FFF2-40B4-BE49-F238E27FC236}">
                <a16:creationId xmlns:a16="http://schemas.microsoft.com/office/drawing/2014/main" id="{8E12CBAD-5A60-A4F8-2854-037F35747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74D61-61F5-BEBF-9ECC-72DCF3667234}"/>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30627287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0D58-8E24-D519-4CE1-B04379C9E5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5EBDDB-0A1C-6FB6-E004-35E4455F3A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93D5FD-D55C-3EF1-79FE-692BCCF2AC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594223-F25B-0F1F-4499-97C3B87442AB}"/>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6" name="Footer Placeholder 5">
            <a:extLst>
              <a:ext uri="{FF2B5EF4-FFF2-40B4-BE49-F238E27FC236}">
                <a16:creationId xmlns:a16="http://schemas.microsoft.com/office/drawing/2014/main" id="{EFEFAEA3-8555-0BB0-B7BF-E366AB7B26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7BB79D-82F2-3F68-6C25-3044C3CCB6FF}"/>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1940284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E0C26-F8F5-FF15-12C3-D1F0D19C66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BCF414-FDFA-9A42-FBF9-E6D4C422D4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48842F-38C2-494C-B0E4-090636C141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7F7E74-46F9-5A51-E009-A55DDF64A4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C0AD01-ED96-2C6F-FAA2-AF5792DDA3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AB3220-2734-9A25-DC09-3627076F6534}"/>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8" name="Footer Placeholder 7">
            <a:extLst>
              <a:ext uri="{FF2B5EF4-FFF2-40B4-BE49-F238E27FC236}">
                <a16:creationId xmlns:a16="http://schemas.microsoft.com/office/drawing/2014/main" id="{76AD6303-8B33-D734-FC47-A5AB334ABF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C1C595-D90C-5340-95FE-4184AFCEAF6A}"/>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2802292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0D22-5CA6-00CF-96EF-46727AA44C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206241-B17E-A487-EE7B-3234AA3A49BD}"/>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4" name="Footer Placeholder 3">
            <a:extLst>
              <a:ext uri="{FF2B5EF4-FFF2-40B4-BE49-F238E27FC236}">
                <a16:creationId xmlns:a16="http://schemas.microsoft.com/office/drawing/2014/main" id="{2E14458C-3F9D-73C1-AE86-FEC727FC7A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58D07A-D310-BBDC-890F-88EA287266A3}"/>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1825658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DEFF7C-D303-A477-FC37-E41358F27C96}"/>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3" name="Footer Placeholder 2">
            <a:extLst>
              <a:ext uri="{FF2B5EF4-FFF2-40B4-BE49-F238E27FC236}">
                <a16:creationId xmlns:a16="http://schemas.microsoft.com/office/drawing/2014/main" id="{4B97CD9E-1FFF-014C-EED7-96D7C448D2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B480A4-25FF-675D-EC8D-24C2BC17AC53}"/>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40180345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2ACBF-21E6-4714-342A-3229492FD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B25C02-BB97-F12B-E1F5-4D53EA77B8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6EB2F4-EC9F-200C-851C-F837A294B0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215833-6160-9B82-FA50-3622A79C58E4}"/>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6" name="Footer Placeholder 5">
            <a:extLst>
              <a:ext uri="{FF2B5EF4-FFF2-40B4-BE49-F238E27FC236}">
                <a16:creationId xmlns:a16="http://schemas.microsoft.com/office/drawing/2014/main" id="{FE26150F-5970-C1D5-D709-19B0F7E10E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70863D-5040-1369-84C8-7745E0F7BC45}"/>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3535048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4333-B294-3752-96AE-656C0E6402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50EB19C-5421-38D3-2C30-322CA948C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1F7244-6E07-5B58-6FC2-6CAD65449F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B3529E-CB61-B6BF-CA36-59A7DA9039E8}"/>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6" name="Footer Placeholder 5">
            <a:extLst>
              <a:ext uri="{FF2B5EF4-FFF2-40B4-BE49-F238E27FC236}">
                <a16:creationId xmlns:a16="http://schemas.microsoft.com/office/drawing/2014/main" id="{720358C1-3E7C-958F-4B13-A361AEB4F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D70231-8C8D-8A20-3B32-0A8256A96438}"/>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1399958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11497-AE4F-CA12-F0E6-8726A4DD5C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F157A3-4FCA-BCEA-DC3E-7D4476FDD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5CAC93-C0E1-8266-6532-478F4FA9790E}"/>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5" name="Footer Placeholder 4">
            <a:extLst>
              <a:ext uri="{FF2B5EF4-FFF2-40B4-BE49-F238E27FC236}">
                <a16:creationId xmlns:a16="http://schemas.microsoft.com/office/drawing/2014/main" id="{422DB007-AA71-44BA-DFF3-702497C57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4FF9E-7918-1F9E-18EA-5F0288DB274D}"/>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17329137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AD9165-39BE-2E51-312A-909FF91463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209D90-6ED1-B4FD-345B-D811B7794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2DC9B-616C-550A-196D-1E69B5D55EBC}"/>
              </a:ext>
            </a:extLst>
          </p:cNvPr>
          <p:cNvSpPr>
            <a:spLocks noGrp="1"/>
          </p:cNvSpPr>
          <p:nvPr>
            <p:ph type="dt" sz="half" idx="10"/>
          </p:nvPr>
        </p:nvSpPr>
        <p:spPr/>
        <p:txBody>
          <a:bodyPr/>
          <a:lstStyle/>
          <a:p>
            <a:fld id="{62E4ED2D-D6C5-4A23-B8B3-294EB6847D09}" type="datetimeFigureOut">
              <a:rPr lang="en-US" smtClean="0"/>
              <a:t>9/1/2026</a:t>
            </a:fld>
            <a:endParaRPr lang="en-US"/>
          </a:p>
        </p:txBody>
      </p:sp>
      <p:sp>
        <p:nvSpPr>
          <p:cNvPr id="5" name="Footer Placeholder 4">
            <a:extLst>
              <a:ext uri="{FF2B5EF4-FFF2-40B4-BE49-F238E27FC236}">
                <a16:creationId xmlns:a16="http://schemas.microsoft.com/office/drawing/2014/main" id="{DBC2AF6B-7DA9-8F86-625F-E15BEB94F3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4BD5C-E93C-A615-87B7-A937924B0152}"/>
              </a:ext>
            </a:extLst>
          </p:cNvPr>
          <p:cNvSpPr>
            <a:spLocks noGrp="1"/>
          </p:cNvSpPr>
          <p:nvPr>
            <p:ph type="sldNum" sz="quarter" idx="12"/>
          </p:nvPr>
        </p:nvSpPr>
        <p:spPr/>
        <p:txBody>
          <a:bodyPr/>
          <a:lstStyle/>
          <a:p>
            <a:fld id="{E8E6033F-A590-4A26-AD1E-0C1C9F0EEA29}" type="slidenum">
              <a:rPr lang="en-US" smtClean="0"/>
              <a:t>‹#›</a:t>
            </a:fld>
            <a:endParaRPr lang="en-US"/>
          </a:p>
        </p:txBody>
      </p:sp>
    </p:spTree>
    <p:extLst>
      <p:ext uri="{BB962C8B-B14F-4D97-AF65-F5344CB8AC3E}">
        <p14:creationId xmlns:p14="http://schemas.microsoft.com/office/powerpoint/2010/main" val="3025854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A23EAC-D21D-7342-8802-301CE4F785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Title Placeholder 1">
            <a:extLst>
              <a:ext uri="{FF2B5EF4-FFF2-40B4-BE49-F238E27FC236}">
                <a16:creationId xmlns:a16="http://schemas.microsoft.com/office/drawing/2014/main" id="{9603C365-C8AE-8545-88F8-AE2D5AB5135E}"/>
              </a:ext>
            </a:extLst>
          </p:cNvPr>
          <p:cNvSpPr>
            <a:spLocks noGrp="1"/>
          </p:cNvSpPr>
          <p:nvPr>
            <p:ph type="title" hasCustomPrompt="1"/>
          </p:nvPr>
        </p:nvSpPr>
        <p:spPr bwMode="auto">
          <a:xfrm>
            <a:off x="609600" y="105669"/>
            <a:ext cx="10972800" cy="11430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30622" tIns="65311" rIns="130622" bIns="65311" numCol="1" anchor="ctr" anchorCtr="0" compatLnSpc="1">
            <a:prstTxWarp prst="textNoShape">
              <a:avLst/>
            </a:prstTxWarp>
          </a:bodyPr>
          <a:lstStyle>
            <a:lvl1pPr>
              <a:defRPr sz="4000" b="1" i="0">
                <a:solidFill>
                  <a:schemeClr val="bg1"/>
                </a:solidFill>
                <a:latin typeface="Arial" panose="020B0604020202020204" pitchFamily="34" charset="0"/>
                <a:cs typeface="Arial" panose="020B0604020202020204" pitchFamily="34" charset="0"/>
              </a:defRPr>
            </a:lvl1pPr>
          </a:lstStyle>
          <a:p>
            <a:pPr lvl="0"/>
            <a:r>
              <a:rPr lang="en-US"/>
              <a:t>CLICK TO EDIT TITLE</a:t>
            </a:r>
          </a:p>
        </p:txBody>
      </p:sp>
      <p:sp>
        <p:nvSpPr>
          <p:cNvPr id="18" name="Text Placeholder 2">
            <a:extLst>
              <a:ext uri="{FF2B5EF4-FFF2-40B4-BE49-F238E27FC236}">
                <a16:creationId xmlns:a16="http://schemas.microsoft.com/office/drawing/2014/main" id="{F5D654AB-BF52-8246-A4ED-C628D6CD2FE7}"/>
              </a:ext>
            </a:extLst>
          </p:cNvPr>
          <p:cNvSpPr>
            <a:spLocks noGrp="1"/>
          </p:cNvSpPr>
          <p:nvPr>
            <p:ph idx="1" hasCustomPrompt="1"/>
          </p:nvPr>
        </p:nvSpPr>
        <p:spPr>
          <a:xfrm>
            <a:off x="609600" y="1613325"/>
            <a:ext cx="10514542" cy="4351073"/>
          </a:xfrm>
          <a:prstGeom prst="rect">
            <a:avLst/>
          </a:prstGeom>
        </p:spPr>
        <p:txBody>
          <a:bodyPr vert="horz" lIns="91440" tIns="45720" rIns="91440" bIns="45720" rtlCol="0">
            <a:normAutofit/>
          </a:bodyPr>
          <a:lstStyle>
            <a:lvl1pPr marL="45720" indent="0">
              <a:buFontTx/>
              <a:buNone/>
              <a:defRPr sz="2500">
                <a:latin typeface="Arial" panose="020B0604020202020204" pitchFamily="34" charset="0"/>
                <a:cs typeface="Arial" panose="020B0604020202020204" pitchFamily="34" charset="0"/>
              </a:defRPr>
            </a:lvl1pPr>
          </a:lstStyle>
          <a:p>
            <a:pPr lvl="0"/>
            <a:r>
              <a:rPr lang="en-US"/>
              <a:t>Click to edit text</a:t>
            </a:r>
          </a:p>
        </p:txBody>
      </p:sp>
      <p:sp>
        <p:nvSpPr>
          <p:cNvPr id="19" name="Date Placeholder 2">
            <a:extLst>
              <a:ext uri="{FF2B5EF4-FFF2-40B4-BE49-F238E27FC236}">
                <a16:creationId xmlns:a16="http://schemas.microsoft.com/office/drawing/2014/main" id="{F72417E2-157B-5141-BAF2-5B51D619FD03}"/>
              </a:ext>
            </a:extLst>
          </p:cNvPr>
          <p:cNvSpPr>
            <a:spLocks noGrp="1"/>
          </p:cNvSpPr>
          <p:nvPr>
            <p:ph type="dt" sz="half" idx="10"/>
          </p:nvPr>
        </p:nvSpPr>
        <p:spPr>
          <a:xfrm>
            <a:off x="609600" y="6356351"/>
            <a:ext cx="2844800" cy="365125"/>
          </a:xfrm>
          <a:prstGeom prst="rect">
            <a:avLst/>
          </a:prstGeom>
        </p:spPr>
        <p:txBody>
          <a:bodyPr anchor="ctr"/>
          <a:lstStyle>
            <a:lvl1pPr>
              <a:defRPr sz="1000">
                <a:solidFill>
                  <a:schemeClr val="bg1">
                    <a:lumMod val="75000"/>
                  </a:schemeClr>
                </a:solidFill>
                <a:latin typeface="Arial" panose="020B0604020202020204" pitchFamily="34" charset="0"/>
                <a:cs typeface="Arial" panose="020B0604020202020204" pitchFamily="34" charset="0"/>
              </a:defRPr>
            </a:lvl1pPr>
          </a:lstStyle>
          <a:p>
            <a:pPr>
              <a:defRPr/>
            </a:pPr>
            <a:fld id="{422F276D-2F55-4342-BA4C-590689A0D9DF}" type="datetime1">
              <a:rPr lang="en-US" smtClean="0"/>
              <a:t>9/1/2026</a:t>
            </a:fld>
            <a:endParaRPr lang="en-US"/>
          </a:p>
        </p:txBody>
      </p:sp>
      <p:sp>
        <p:nvSpPr>
          <p:cNvPr id="20" name="Footer Placeholder 3">
            <a:extLst>
              <a:ext uri="{FF2B5EF4-FFF2-40B4-BE49-F238E27FC236}">
                <a16:creationId xmlns:a16="http://schemas.microsoft.com/office/drawing/2014/main" id="{B645FE2A-3239-054E-B5F6-3DA5069511AC}"/>
              </a:ext>
            </a:extLst>
          </p:cNvPr>
          <p:cNvSpPr>
            <a:spLocks noGrp="1"/>
          </p:cNvSpPr>
          <p:nvPr>
            <p:ph type="ftr" sz="quarter" idx="11"/>
          </p:nvPr>
        </p:nvSpPr>
        <p:spPr>
          <a:xfrm>
            <a:off x="4165600" y="6356351"/>
            <a:ext cx="3860800" cy="365125"/>
          </a:xfrm>
          <a:prstGeom prst="rect">
            <a:avLst/>
          </a:prstGeom>
        </p:spPr>
        <p:txBody>
          <a:bodyPr anchor="ctr"/>
          <a:lstStyle>
            <a:lvl1pPr algn="ctr">
              <a:defRPr sz="1000" b="0" i="0">
                <a:solidFill>
                  <a:schemeClr val="bg1">
                    <a:lumMod val="75000"/>
                  </a:schemeClr>
                </a:solidFill>
                <a:latin typeface="Arial" panose="020B0604020202020204" pitchFamily="34" charset="0"/>
                <a:cs typeface="Arial" panose="020B0604020202020204" pitchFamily="34" charset="0"/>
              </a:defRPr>
            </a:lvl1pPr>
          </a:lstStyle>
          <a:p>
            <a:pPr>
              <a:defRPr/>
            </a:pPr>
            <a:r>
              <a:rPr lang="en-US"/>
              <a:t>©2020 Eli Lilly and Company </a:t>
            </a:r>
          </a:p>
        </p:txBody>
      </p:sp>
      <p:sp>
        <p:nvSpPr>
          <p:cNvPr id="21" name="Slide Number Placeholder 4">
            <a:extLst>
              <a:ext uri="{FF2B5EF4-FFF2-40B4-BE49-F238E27FC236}">
                <a16:creationId xmlns:a16="http://schemas.microsoft.com/office/drawing/2014/main" id="{612DD083-FDC4-B240-821E-3F6D1426274E}"/>
              </a:ext>
            </a:extLst>
          </p:cNvPr>
          <p:cNvSpPr>
            <a:spLocks noGrp="1"/>
          </p:cNvSpPr>
          <p:nvPr>
            <p:ph type="sldNum" sz="quarter" idx="12"/>
          </p:nvPr>
        </p:nvSpPr>
        <p:spPr>
          <a:xfrm>
            <a:off x="8737600" y="6356351"/>
            <a:ext cx="2844800" cy="365125"/>
          </a:xfrm>
          <a:prstGeom prst="rect">
            <a:avLst/>
          </a:prstGeom>
        </p:spPr>
        <p:txBody>
          <a:bodyPr anchor="ctr"/>
          <a:lstStyle>
            <a:lvl1pPr algn="r">
              <a:defRPr sz="1000">
                <a:solidFill>
                  <a:schemeClr val="bg1">
                    <a:lumMod val="75000"/>
                  </a:schemeClr>
                </a:solidFill>
                <a:latin typeface="Arial" panose="020B0604020202020204" pitchFamily="34" charset="0"/>
                <a:cs typeface="Arial" panose="020B0604020202020204" pitchFamily="34" charset="0"/>
              </a:defRPr>
            </a:lvl1pPr>
          </a:lstStyle>
          <a:p>
            <a:pPr>
              <a:defRPr/>
            </a:pPr>
            <a:fld id="{AA26E4DD-3705-C34F-BBF3-04369A652A45}" type="slidenum">
              <a:rPr lang="en-US" smtClean="0"/>
              <a:pPr>
                <a:defRPr/>
              </a:pPr>
              <a:t>‹#›</a:t>
            </a:fld>
            <a:endParaRPr lang="en-US"/>
          </a:p>
        </p:txBody>
      </p:sp>
    </p:spTree>
    <p:extLst>
      <p:ext uri="{BB962C8B-B14F-4D97-AF65-F5344CB8AC3E}">
        <p14:creationId xmlns:p14="http://schemas.microsoft.com/office/powerpoint/2010/main" val="11583047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04E98-885D-4440-B56F-C027F1B857DD}"/>
              </a:ext>
            </a:extLst>
          </p:cNvPr>
          <p:cNvPicPr>
            <a:picLocks noChangeAspect="1"/>
          </p:cNvPicPr>
          <p:nvPr userDrawn="1"/>
        </p:nvPicPr>
        <p:blipFill>
          <a:blip r:embed="rId2"/>
          <a:srcRect/>
          <a:stretch/>
        </p:blipFill>
        <p:spPr>
          <a:xfrm>
            <a:off x="1" y="428"/>
            <a:ext cx="12191998" cy="6857142"/>
          </a:xfrm>
          <a:prstGeom prst="rect">
            <a:avLst/>
          </a:prstGeom>
        </p:spPr>
      </p:pic>
      <p:sp>
        <p:nvSpPr>
          <p:cNvPr id="3" name="Title 2">
            <a:extLst>
              <a:ext uri="{FF2B5EF4-FFF2-40B4-BE49-F238E27FC236}">
                <a16:creationId xmlns:a16="http://schemas.microsoft.com/office/drawing/2014/main" id="{19C7E1FB-6974-476B-A1B8-1469432AEA03}"/>
              </a:ext>
            </a:extLst>
          </p:cNvPr>
          <p:cNvSpPr>
            <a:spLocks noGrp="1"/>
          </p:cNvSpPr>
          <p:nvPr>
            <p:ph type="title"/>
          </p:nvPr>
        </p:nvSpPr>
        <p:spPr>
          <a:xfrm>
            <a:off x="495300" y="4520226"/>
            <a:ext cx="11201400" cy="1244599"/>
          </a:xfrm>
        </p:spPr>
        <p:txBody>
          <a:bodyPr anchor="t" anchorCtr="0">
            <a:normAutofit/>
          </a:bodyPr>
          <a:lstStyle>
            <a:lvl1pPr algn="ctr">
              <a:defRPr sz="5400" b="1">
                <a:solidFill>
                  <a:schemeClr val="bg1"/>
                </a:solidFill>
                <a:latin typeface="DIN Pro" panose="02000503040000020003" pitchFamily="50" charset="0"/>
              </a:defRPr>
            </a:lvl1pPr>
          </a:lstStyle>
          <a:p>
            <a:r>
              <a:rPr lang="en-US"/>
              <a:t>Click to edit Master title style</a:t>
            </a:r>
          </a:p>
        </p:txBody>
      </p:sp>
    </p:spTree>
    <p:extLst>
      <p:ext uri="{BB962C8B-B14F-4D97-AF65-F5344CB8AC3E}">
        <p14:creationId xmlns:p14="http://schemas.microsoft.com/office/powerpoint/2010/main" val="125611764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Questio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04E98-885D-4440-B56F-C027F1B857DD}"/>
              </a:ext>
            </a:extLst>
          </p:cNvPr>
          <p:cNvPicPr>
            <a:picLocks noChangeAspect="1"/>
          </p:cNvPicPr>
          <p:nvPr userDrawn="1"/>
        </p:nvPicPr>
        <p:blipFill>
          <a:blip r:embed="rId2"/>
          <a:srcRect/>
          <a:stretch/>
        </p:blipFill>
        <p:spPr>
          <a:xfrm>
            <a:off x="1" y="428"/>
            <a:ext cx="12191998" cy="6857142"/>
          </a:xfrm>
          <a:prstGeom prst="rect">
            <a:avLst/>
          </a:prstGeom>
        </p:spPr>
      </p:pic>
      <p:sp>
        <p:nvSpPr>
          <p:cNvPr id="3" name="Title 2">
            <a:extLst>
              <a:ext uri="{FF2B5EF4-FFF2-40B4-BE49-F238E27FC236}">
                <a16:creationId xmlns:a16="http://schemas.microsoft.com/office/drawing/2014/main" id="{19C7E1FB-6974-476B-A1B8-1469432AEA03}"/>
              </a:ext>
            </a:extLst>
          </p:cNvPr>
          <p:cNvSpPr>
            <a:spLocks noGrp="1"/>
          </p:cNvSpPr>
          <p:nvPr>
            <p:ph type="title"/>
          </p:nvPr>
        </p:nvSpPr>
        <p:spPr>
          <a:xfrm>
            <a:off x="495300" y="4520226"/>
            <a:ext cx="11201400" cy="1244599"/>
          </a:xfrm>
        </p:spPr>
        <p:txBody>
          <a:bodyPr anchor="t" anchorCtr="0">
            <a:normAutofit/>
          </a:bodyPr>
          <a:lstStyle>
            <a:lvl1pPr algn="ctr">
              <a:defRPr sz="5400" b="1">
                <a:solidFill>
                  <a:schemeClr val="bg1"/>
                </a:solidFill>
                <a:latin typeface="DIN Pro" panose="02000503040000020003" pitchFamily="50" charset="0"/>
              </a:defRPr>
            </a:lvl1pPr>
          </a:lstStyle>
          <a:p>
            <a:r>
              <a:rPr lang="en-US"/>
              <a:t>Click to edit Master title style</a:t>
            </a:r>
          </a:p>
        </p:txBody>
      </p:sp>
    </p:spTree>
    <p:extLst>
      <p:ext uri="{BB962C8B-B14F-4D97-AF65-F5344CB8AC3E}">
        <p14:creationId xmlns:p14="http://schemas.microsoft.com/office/powerpoint/2010/main" val="84730273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B44B4-36FB-4F9C-B42A-152AF78BAC98}"/>
              </a:ext>
            </a:extLst>
          </p:cNvPr>
          <p:cNvSpPr>
            <a:spLocks noGrp="1"/>
          </p:cNvSpPr>
          <p:nvPr>
            <p:ph idx="1"/>
          </p:nvPr>
        </p:nvSpPr>
        <p:spPr/>
        <p:txBody>
          <a:bodyPr/>
          <a:lstStyle>
            <a:lvl1pPr>
              <a:defRPr sz="1400" b="1" cap="all" baseline="0">
                <a:latin typeface="DIN Pro Black" panose="02000503030000020004" pitchFamily="50" charset="0"/>
              </a:defRPr>
            </a:lvl1pPr>
            <a:lvl2pPr marL="0" indent="0">
              <a:spcBef>
                <a:spcPts val="0"/>
              </a:spcBef>
              <a:spcAft>
                <a:spcPts val="1000"/>
              </a:spcAft>
              <a:buNone/>
              <a:defRPr>
                <a:latin typeface="DIN Pro" panose="02000503040000020003" pitchFamily="50" charset="0"/>
              </a:defRPr>
            </a:lvl2pPr>
            <a:lvl3pPr marL="228635" indent="-228635">
              <a:spcBef>
                <a:spcPts val="0"/>
              </a:spcBef>
              <a:spcAft>
                <a:spcPts val="1000"/>
              </a:spcAft>
              <a:buFont typeface="Arial" panose="020B0604020202020204" pitchFamily="34" charset="0"/>
              <a:buChar char="•"/>
              <a:defRPr>
                <a:latin typeface="DIN Pro" panose="02000503040000020003" pitchFamily="50" charset="0"/>
              </a:defRPr>
            </a:lvl3pPr>
            <a:lvl4pPr marL="514428" indent="-228635">
              <a:spcBef>
                <a:spcPts val="0"/>
              </a:spcBef>
              <a:spcAft>
                <a:spcPts val="1000"/>
              </a:spcAft>
              <a:buFont typeface="DIN Pro Light" panose="020B0504020101010102" pitchFamily="34" charset="0"/>
              <a:buChar char="–"/>
              <a:defRPr>
                <a:latin typeface="DIN Pro" panose="02000503040000020003" pitchFamily="50" charset="0"/>
              </a:defRPr>
            </a:lvl4pPr>
            <a:lvl5pPr marL="800220" indent="-228635">
              <a:spcBef>
                <a:spcPts val="0"/>
              </a:spcBef>
              <a:spcAft>
                <a:spcPts val="1000"/>
              </a:spcAft>
              <a:buFont typeface="Arial" panose="020B0604020202020204" pitchFamily="34" charset="0"/>
              <a:buChar char="•"/>
              <a:defRPr>
                <a:latin typeface="DIN Pro" panose="02000503040000020003"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42AF11A9-4332-4E5A-909E-0D0EE3BA0935}"/>
              </a:ext>
            </a:extLst>
          </p:cNvPr>
          <p:cNvSpPr>
            <a:spLocks noGrp="1"/>
          </p:cNvSpPr>
          <p:nvPr>
            <p:ph type="ftr" sz="quarter" idx="14"/>
          </p:nvPr>
        </p:nvSpPr>
        <p:spPr/>
        <p:txBody>
          <a:bodyPr/>
          <a:lstStyle/>
          <a:p>
            <a:r>
              <a:rPr lang="en-US"/>
              <a:t>Company Confidential  ©2022 Eli Lilly and Company </a:t>
            </a:r>
          </a:p>
        </p:txBody>
      </p:sp>
      <p:sp>
        <p:nvSpPr>
          <p:cNvPr id="8" name="Slide Number Placeholder 7">
            <a:extLst>
              <a:ext uri="{FF2B5EF4-FFF2-40B4-BE49-F238E27FC236}">
                <a16:creationId xmlns:a16="http://schemas.microsoft.com/office/drawing/2014/main" id="{3AF40326-5A28-4D2C-9076-DA86CCEA3BA1}"/>
              </a:ext>
            </a:extLst>
          </p:cNvPr>
          <p:cNvSpPr>
            <a:spLocks noGrp="1"/>
          </p:cNvSpPr>
          <p:nvPr>
            <p:ph type="sldNum" sz="quarter" idx="15"/>
          </p:nvPr>
        </p:nvSpPr>
        <p:spPr/>
        <p:txBody>
          <a:bodyPr/>
          <a:lstStyle/>
          <a:p>
            <a:fld id="{7E80B146-301A-481F-8D59-328DC994CDDA}" type="slidenum">
              <a:rPr lang="en-US" smtClean="0"/>
              <a:pPr/>
              <a:t>‹#›</a:t>
            </a:fld>
            <a:endParaRPr lang="en-US"/>
          </a:p>
        </p:txBody>
      </p:sp>
      <p:sp>
        <p:nvSpPr>
          <p:cNvPr id="10" name="Title 1">
            <a:extLst>
              <a:ext uri="{FF2B5EF4-FFF2-40B4-BE49-F238E27FC236}">
                <a16:creationId xmlns:a16="http://schemas.microsoft.com/office/drawing/2014/main" id="{4310A730-9BA7-4953-BF07-49723CED0936}"/>
              </a:ext>
            </a:extLst>
          </p:cNvPr>
          <p:cNvSpPr>
            <a:spLocks noGrp="1"/>
          </p:cNvSpPr>
          <p:nvPr>
            <p:ph type="title"/>
          </p:nvPr>
        </p:nvSpPr>
        <p:spPr>
          <a:xfrm>
            <a:off x="838202" y="885562"/>
            <a:ext cx="10380198" cy="940065"/>
          </a:xfrm>
        </p:spPr>
        <p:txBody>
          <a:bodyPr>
            <a:normAutofit/>
          </a:bodyPr>
          <a:lstStyle>
            <a:lvl1pPr>
              <a:defRPr sz="3000" b="1">
                <a:latin typeface="DIN Pro" panose="02000503040000020003" pitchFamily="50" charset="0"/>
              </a:defRPr>
            </a:lvl1pPr>
          </a:lstStyle>
          <a:p>
            <a:r>
              <a:rPr lang="en-US"/>
              <a:t>Click to edit Master title style</a:t>
            </a:r>
          </a:p>
        </p:txBody>
      </p:sp>
      <p:sp>
        <p:nvSpPr>
          <p:cNvPr id="11" name="Text Placeholder 4">
            <a:extLst>
              <a:ext uri="{FF2B5EF4-FFF2-40B4-BE49-F238E27FC236}">
                <a16:creationId xmlns:a16="http://schemas.microsoft.com/office/drawing/2014/main" id="{03859730-C04D-451D-B117-421A8DB125AD}"/>
              </a:ext>
            </a:extLst>
          </p:cNvPr>
          <p:cNvSpPr>
            <a:spLocks noGrp="1"/>
          </p:cNvSpPr>
          <p:nvPr>
            <p:ph type="body" sz="quarter" idx="13"/>
          </p:nvPr>
        </p:nvSpPr>
        <p:spPr>
          <a:xfrm>
            <a:off x="857251" y="571504"/>
            <a:ext cx="10407652" cy="275958"/>
          </a:xfrm>
        </p:spPr>
        <p:txBody>
          <a:bodyPr anchor="b" anchorCtr="0"/>
          <a:lstStyle>
            <a:lvl1pPr>
              <a:defRPr sz="900" b="1" cap="all" spc="300" baseline="0">
                <a:solidFill>
                  <a:schemeClr val="accent3"/>
                </a:solidFill>
                <a:latin typeface="DIN Pro Light" panose="02000503040000020003" pitchFamily="50" charset="0"/>
              </a:defRPr>
            </a:lvl1pPr>
          </a:lstStyle>
          <a:p>
            <a:pPr lvl="0"/>
            <a:r>
              <a:rPr lang="en-US"/>
              <a:t>Click to edit Master text styles</a:t>
            </a:r>
          </a:p>
        </p:txBody>
      </p:sp>
    </p:spTree>
    <p:extLst>
      <p:ext uri="{BB962C8B-B14F-4D97-AF65-F5344CB8AC3E}">
        <p14:creationId xmlns:p14="http://schemas.microsoft.com/office/powerpoint/2010/main" val="2314620705"/>
      </p:ext>
    </p:extLst>
  </p:cSld>
  <p:clrMapOvr>
    <a:masterClrMapping/>
  </p:clrMapOvr>
  <p:extLst>
    <p:ext uri="{DCECCB84-F9BA-43D5-87BE-67443E8EF086}">
      <p15:sldGuideLst xmlns:p15="http://schemas.microsoft.com/office/powerpoint/2012/main">
        <p15:guide id="1" orient="horz" pos="5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2957AE-E648-4392-9D45-D04D679E505A}"/>
              </a:ext>
            </a:extLst>
          </p:cNvPr>
          <p:cNvSpPr>
            <a:spLocks noGrp="1"/>
          </p:cNvSpPr>
          <p:nvPr>
            <p:ph type="title"/>
          </p:nvPr>
        </p:nvSpPr>
        <p:spPr>
          <a:xfrm>
            <a:off x="838202" y="885562"/>
            <a:ext cx="10380198" cy="1109662"/>
          </a:xfrm>
        </p:spPr>
        <p:txBody>
          <a:bodyPr>
            <a:normAutofit/>
          </a:bodyPr>
          <a:lstStyle>
            <a:lvl1pPr>
              <a:defRPr sz="3000" b="1">
                <a:latin typeface="DIN Pro" panose="02000503040000020003" pitchFamily="50" charset="0"/>
              </a:defRPr>
            </a:lvl1pPr>
          </a:lstStyle>
          <a:p>
            <a:r>
              <a:rPr lang="en-US"/>
              <a:t>Click to edit Master title style</a:t>
            </a:r>
          </a:p>
        </p:txBody>
      </p:sp>
      <p:sp>
        <p:nvSpPr>
          <p:cNvPr id="6" name="Text Placeholder 4">
            <a:extLst>
              <a:ext uri="{FF2B5EF4-FFF2-40B4-BE49-F238E27FC236}">
                <a16:creationId xmlns:a16="http://schemas.microsoft.com/office/drawing/2014/main" id="{30E6B355-4B80-478E-9408-64D73B5D21DA}"/>
              </a:ext>
            </a:extLst>
          </p:cNvPr>
          <p:cNvSpPr>
            <a:spLocks noGrp="1"/>
          </p:cNvSpPr>
          <p:nvPr>
            <p:ph type="body" sz="quarter" idx="13"/>
          </p:nvPr>
        </p:nvSpPr>
        <p:spPr>
          <a:xfrm>
            <a:off x="857251" y="571504"/>
            <a:ext cx="10407652" cy="275958"/>
          </a:xfrm>
        </p:spPr>
        <p:txBody>
          <a:bodyPr anchor="b" anchorCtr="0"/>
          <a:lstStyle>
            <a:lvl1pPr>
              <a:defRPr sz="900" b="1" cap="all" spc="300" baseline="0">
                <a:solidFill>
                  <a:schemeClr val="accent3"/>
                </a:solidFill>
                <a:latin typeface="DIN Pro Light" panose="02000503040000020003" pitchFamily="50" charset="0"/>
              </a:defRPr>
            </a:lvl1pPr>
          </a:lstStyle>
          <a:p>
            <a:pPr lvl="0"/>
            <a:r>
              <a:rPr lang="en-US"/>
              <a:t>Click to edit Master text styles</a:t>
            </a:r>
          </a:p>
        </p:txBody>
      </p:sp>
      <p:sp>
        <p:nvSpPr>
          <p:cNvPr id="2" name="Footer Placeholder 1">
            <a:extLst>
              <a:ext uri="{FF2B5EF4-FFF2-40B4-BE49-F238E27FC236}">
                <a16:creationId xmlns:a16="http://schemas.microsoft.com/office/drawing/2014/main" id="{ACCE0396-A468-4F5B-8BDC-A6BCE6D920D3}"/>
              </a:ext>
            </a:extLst>
          </p:cNvPr>
          <p:cNvSpPr>
            <a:spLocks noGrp="1"/>
          </p:cNvSpPr>
          <p:nvPr>
            <p:ph type="ftr" sz="quarter" idx="14"/>
          </p:nvPr>
        </p:nvSpPr>
        <p:spPr/>
        <p:txBody>
          <a:bodyPr/>
          <a:lstStyle/>
          <a:p>
            <a:r>
              <a:rPr lang="en-US"/>
              <a:t>Company Confidential  ©2022 Eli Lilly and Company </a:t>
            </a:r>
          </a:p>
        </p:txBody>
      </p:sp>
      <p:sp>
        <p:nvSpPr>
          <p:cNvPr id="3" name="Slide Number Placeholder 2">
            <a:extLst>
              <a:ext uri="{FF2B5EF4-FFF2-40B4-BE49-F238E27FC236}">
                <a16:creationId xmlns:a16="http://schemas.microsoft.com/office/drawing/2014/main" id="{21B51600-CB36-4308-98D0-F5CADD458B57}"/>
              </a:ext>
            </a:extLst>
          </p:cNvPr>
          <p:cNvSpPr>
            <a:spLocks noGrp="1"/>
          </p:cNvSpPr>
          <p:nvPr>
            <p:ph type="sldNum" sz="quarter" idx="15"/>
          </p:nvPr>
        </p:nvSpPr>
        <p:spPr/>
        <p:txBody>
          <a:bodyPr/>
          <a:lstStyle/>
          <a:p>
            <a:fld id="{7E80B146-301A-481F-8D59-328DC994CDDA}" type="slidenum">
              <a:rPr lang="en-US" smtClean="0"/>
              <a:pPr/>
              <a:t>‹#›</a:t>
            </a:fld>
            <a:endParaRPr lang="en-US"/>
          </a:p>
        </p:txBody>
      </p:sp>
    </p:spTree>
    <p:extLst>
      <p:ext uri="{BB962C8B-B14F-4D97-AF65-F5344CB8AC3E}">
        <p14:creationId xmlns:p14="http://schemas.microsoft.com/office/powerpoint/2010/main" val="51221879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chemeClr val="accent1"/>
        </a:solidFill>
        <a:effectLst/>
      </p:bgPr>
    </p:bg>
    <p:spTree>
      <p:nvGrpSpPr>
        <p:cNvPr id="1" name=""/>
        <p:cNvGrpSpPr/>
        <p:nvPr/>
      </p:nvGrpSpPr>
      <p:grpSpPr>
        <a:xfrm>
          <a:off x="0" y="0"/>
          <a:ext cx="0" cy="0"/>
          <a:chOff x="0" y="0"/>
          <a:chExt cx="0" cy="0"/>
        </a:xfrm>
      </p:grpSpPr>
      <p:pic>
        <p:nvPicPr>
          <p:cNvPr id="11" name="Picture 10" descr="A person playing a guitar&#10;&#10;Description automatically generated with medium confidence">
            <a:extLst>
              <a:ext uri="{FF2B5EF4-FFF2-40B4-BE49-F238E27FC236}">
                <a16:creationId xmlns:a16="http://schemas.microsoft.com/office/drawing/2014/main" id="{B4303F8C-711F-4BFB-907A-DDE3F0EE3BB9}"/>
              </a:ext>
            </a:extLst>
          </p:cNvPr>
          <p:cNvPicPr>
            <a:picLocks noChangeAspect="1"/>
          </p:cNvPicPr>
          <p:nvPr userDrawn="1"/>
        </p:nvPicPr>
        <p:blipFill rotWithShape="1">
          <a:blip r:embed="rId2"/>
          <a:srcRect t="7805" b="7814"/>
          <a:stretch/>
        </p:blipFill>
        <p:spPr>
          <a:xfrm>
            <a:off x="-871" y="0"/>
            <a:ext cx="12192871" cy="6858000"/>
          </a:xfrm>
          <a:prstGeom prst="rect">
            <a:avLst/>
          </a:prstGeom>
        </p:spPr>
      </p:pic>
      <p:sp>
        <p:nvSpPr>
          <p:cNvPr id="4" name="Title 1">
            <a:extLst>
              <a:ext uri="{FF2B5EF4-FFF2-40B4-BE49-F238E27FC236}">
                <a16:creationId xmlns:a16="http://schemas.microsoft.com/office/drawing/2014/main" id="{682957AE-E648-4392-9D45-D04D679E505A}"/>
              </a:ext>
            </a:extLst>
          </p:cNvPr>
          <p:cNvSpPr>
            <a:spLocks noGrp="1"/>
          </p:cNvSpPr>
          <p:nvPr>
            <p:ph type="title"/>
          </p:nvPr>
        </p:nvSpPr>
        <p:spPr>
          <a:xfrm>
            <a:off x="838202" y="2930262"/>
            <a:ext cx="10380198" cy="1109662"/>
          </a:xfrm>
        </p:spPr>
        <p:txBody>
          <a:bodyPr anchor="ctr" anchorCtr="0">
            <a:normAutofit/>
          </a:bodyPr>
          <a:lstStyle>
            <a:lvl1pPr algn="ctr">
              <a:defRPr sz="5334" b="1">
                <a:solidFill>
                  <a:schemeClr val="bg1"/>
                </a:solidFill>
                <a:latin typeface="DIN Pro" panose="02000503040000020003" pitchFamily="50" charset="0"/>
              </a:defRPr>
            </a:lvl1pPr>
          </a:lstStyle>
          <a:p>
            <a:r>
              <a:rPr lang="en-US"/>
              <a:t>Click to edit Master title style</a:t>
            </a:r>
          </a:p>
        </p:txBody>
      </p:sp>
      <p:sp>
        <p:nvSpPr>
          <p:cNvPr id="2" name="Footer Placeholder 1">
            <a:extLst>
              <a:ext uri="{FF2B5EF4-FFF2-40B4-BE49-F238E27FC236}">
                <a16:creationId xmlns:a16="http://schemas.microsoft.com/office/drawing/2014/main" id="{ACCE0396-A468-4F5B-8BDC-A6BCE6D920D3}"/>
              </a:ext>
            </a:extLst>
          </p:cNvPr>
          <p:cNvSpPr>
            <a:spLocks noGrp="1"/>
          </p:cNvSpPr>
          <p:nvPr>
            <p:ph type="ftr" sz="quarter" idx="14"/>
          </p:nvPr>
        </p:nvSpPr>
        <p:spPr/>
        <p:txBody>
          <a:bodyPr/>
          <a:lstStyle>
            <a:lvl1pPr>
              <a:defRPr>
                <a:solidFill>
                  <a:schemeClr val="bg1"/>
                </a:solidFill>
              </a:defRPr>
            </a:lvl1pPr>
          </a:lstStyle>
          <a:p>
            <a:r>
              <a:rPr lang="en-US"/>
              <a:t>Company Confidential  ©2022 Eli Lilly and Company </a:t>
            </a:r>
          </a:p>
        </p:txBody>
      </p:sp>
      <p:sp>
        <p:nvSpPr>
          <p:cNvPr id="3" name="Slide Number Placeholder 2">
            <a:extLst>
              <a:ext uri="{FF2B5EF4-FFF2-40B4-BE49-F238E27FC236}">
                <a16:creationId xmlns:a16="http://schemas.microsoft.com/office/drawing/2014/main" id="{21B51600-CB36-4308-98D0-F5CADD458B57}"/>
              </a:ext>
            </a:extLst>
          </p:cNvPr>
          <p:cNvSpPr>
            <a:spLocks noGrp="1"/>
          </p:cNvSpPr>
          <p:nvPr>
            <p:ph type="sldNum" sz="quarter" idx="15"/>
          </p:nvPr>
        </p:nvSpPr>
        <p:spPr/>
        <p:txBody>
          <a:bodyPr/>
          <a:lstStyle>
            <a:lvl1pPr>
              <a:defRPr>
                <a:solidFill>
                  <a:schemeClr val="bg1"/>
                </a:solidFill>
              </a:defRPr>
            </a:lvl1pPr>
          </a:lstStyle>
          <a:p>
            <a:fld id="{7E80B146-301A-481F-8D59-328DC994CDDA}" type="slidenum">
              <a:rPr lang="en-US" smtClean="0"/>
              <a:pPr/>
              <a:t>‹#›</a:t>
            </a:fld>
            <a:endParaRPr lang="en-US"/>
          </a:p>
        </p:txBody>
      </p:sp>
      <p:grpSp>
        <p:nvGrpSpPr>
          <p:cNvPr id="7" name="Group 6">
            <a:extLst>
              <a:ext uri="{FF2B5EF4-FFF2-40B4-BE49-F238E27FC236}">
                <a16:creationId xmlns:a16="http://schemas.microsoft.com/office/drawing/2014/main" id="{68255700-1E4F-4579-90B8-36C32D4BDCDB}"/>
              </a:ext>
            </a:extLst>
          </p:cNvPr>
          <p:cNvGrpSpPr/>
          <p:nvPr userDrawn="1"/>
        </p:nvGrpSpPr>
        <p:grpSpPr>
          <a:xfrm>
            <a:off x="489263" y="504094"/>
            <a:ext cx="11213476" cy="5873261"/>
            <a:chOff x="489263" y="504093"/>
            <a:chExt cx="11213476" cy="5873261"/>
          </a:xfrm>
        </p:grpSpPr>
        <p:cxnSp>
          <p:nvCxnSpPr>
            <p:cNvPr id="8" name="Straight Connector 7">
              <a:extLst>
                <a:ext uri="{FF2B5EF4-FFF2-40B4-BE49-F238E27FC236}">
                  <a16:creationId xmlns:a16="http://schemas.microsoft.com/office/drawing/2014/main" id="{4EA1878D-A561-4E21-A4C0-BF08A8DC79DC}"/>
                </a:ext>
              </a:extLst>
            </p:cNvPr>
            <p:cNvCxnSpPr>
              <a:cxnSpLocks/>
            </p:cNvCxnSpPr>
            <p:nvPr userDrawn="1"/>
          </p:nvCxnSpPr>
          <p:spPr>
            <a:xfrm>
              <a:off x="489263" y="504093"/>
              <a:ext cx="112134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896E9D-B235-4211-AEE2-6491C3ECCAD8}"/>
                </a:ext>
              </a:extLst>
            </p:cNvPr>
            <p:cNvCxnSpPr>
              <a:cxnSpLocks/>
            </p:cNvCxnSpPr>
            <p:nvPr userDrawn="1"/>
          </p:nvCxnSpPr>
          <p:spPr>
            <a:xfrm>
              <a:off x="489263" y="6377354"/>
              <a:ext cx="1121347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10" name="Graphic 9">
            <a:extLst>
              <a:ext uri="{FF2B5EF4-FFF2-40B4-BE49-F238E27FC236}">
                <a16:creationId xmlns:a16="http://schemas.microsoft.com/office/drawing/2014/main" id="{590C6B7E-0179-4023-A2C3-707089B9AD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214101" y="6475253"/>
            <a:ext cx="482600" cy="261749"/>
          </a:xfrm>
          <a:prstGeom prst="rect">
            <a:avLst/>
          </a:prstGeom>
        </p:spPr>
      </p:pic>
    </p:spTree>
    <p:extLst>
      <p:ext uri="{BB962C8B-B14F-4D97-AF65-F5344CB8AC3E}">
        <p14:creationId xmlns:p14="http://schemas.microsoft.com/office/powerpoint/2010/main" val="171202773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idebar Lef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FB2F4998-FF71-4064-AB5C-C1C13B18D767}"/>
              </a:ext>
            </a:extLst>
          </p:cNvPr>
          <p:cNvSpPr>
            <a:spLocks noGrp="1"/>
          </p:cNvSpPr>
          <p:nvPr>
            <p:ph type="pic" sz="quarter" idx="15" hasCustomPrompt="1"/>
          </p:nvPr>
        </p:nvSpPr>
        <p:spPr>
          <a:xfrm>
            <a:off x="2554628" y="0"/>
            <a:ext cx="9637372" cy="6858000"/>
          </a:xfrm>
          <a:custGeom>
            <a:avLst/>
            <a:gdLst>
              <a:gd name="connsiteX0" fmla="*/ 0 w 9637372"/>
              <a:gd name="connsiteY0" fmla="*/ 0 h 6858000"/>
              <a:gd name="connsiteX1" fmla="*/ 9637372 w 9637372"/>
              <a:gd name="connsiteY1" fmla="*/ 0 h 6858000"/>
              <a:gd name="connsiteX2" fmla="*/ 9637372 w 9637372"/>
              <a:gd name="connsiteY2" fmla="*/ 6858000 h 6858000"/>
              <a:gd name="connsiteX3" fmla="*/ 0 w 9637372"/>
              <a:gd name="connsiteY3" fmla="*/ 6858000 h 6858000"/>
              <a:gd name="connsiteX4" fmla="*/ 0 w 9637372"/>
              <a:gd name="connsiteY4" fmla="*/ 6686550 h 6858000"/>
              <a:gd name="connsiteX5" fmla="*/ 1884022 w 9637372"/>
              <a:gd name="connsiteY5" fmla="*/ 6686550 h 6858000"/>
              <a:gd name="connsiteX6" fmla="*/ 1884022 w 9637372"/>
              <a:gd name="connsiteY6" fmla="*/ 171450 h 6858000"/>
              <a:gd name="connsiteX7" fmla="*/ 0 w 9637372"/>
              <a:gd name="connsiteY7" fmla="*/ 1714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37372" h="6858000">
                <a:moveTo>
                  <a:pt x="0" y="0"/>
                </a:moveTo>
                <a:lnTo>
                  <a:pt x="9637372" y="0"/>
                </a:lnTo>
                <a:lnTo>
                  <a:pt x="9637372" y="6858000"/>
                </a:lnTo>
                <a:lnTo>
                  <a:pt x="0" y="6858000"/>
                </a:lnTo>
                <a:lnTo>
                  <a:pt x="0" y="6686550"/>
                </a:lnTo>
                <a:lnTo>
                  <a:pt x="1884022" y="6686550"/>
                </a:lnTo>
                <a:lnTo>
                  <a:pt x="1884022" y="171450"/>
                </a:lnTo>
                <a:lnTo>
                  <a:pt x="0" y="171450"/>
                </a:lnTo>
                <a:close/>
              </a:path>
            </a:pathLst>
          </a:custGeom>
          <a:solidFill>
            <a:schemeClr val="bg1">
              <a:lumMod val="85000"/>
            </a:schemeClr>
          </a:solidFill>
        </p:spPr>
        <p:txBody>
          <a:bodyPr wrap="square">
            <a:noAutofit/>
          </a:bodyPr>
          <a:lstStyle>
            <a:lvl1pPr algn="r">
              <a:defRPr sz="2000"/>
            </a:lvl1pPr>
          </a:lstStyle>
          <a:p>
            <a:r>
              <a:rPr lang="en-US"/>
              <a:t>Drag Picture here</a:t>
            </a:r>
          </a:p>
        </p:txBody>
      </p:sp>
      <p:grpSp>
        <p:nvGrpSpPr>
          <p:cNvPr id="3" name="Group 2">
            <a:extLst>
              <a:ext uri="{FF2B5EF4-FFF2-40B4-BE49-F238E27FC236}">
                <a16:creationId xmlns:a16="http://schemas.microsoft.com/office/drawing/2014/main" id="{D5161F11-CD25-4774-9E59-5D3C7606C895}"/>
              </a:ext>
            </a:extLst>
          </p:cNvPr>
          <p:cNvGrpSpPr/>
          <p:nvPr userDrawn="1"/>
        </p:nvGrpSpPr>
        <p:grpSpPr>
          <a:xfrm>
            <a:off x="495302" y="504096"/>
            <a:ext cx="3507357" cy="5873261"/>
            <a:chOff x="489263" y="504093"/>
            <a:chExt cx="11213476" cy="5873261"/>
          </a:xfrm>
        </p:grpSpPr>
        <p:cxnSp>
          <p:nvCxnSpPr>
            <p:cNvPr id="15" name="Straight Connector 14">
              <a:extLst>
                <a:ext uri="{FF2B5EF4-FFF2-40B4-BE49-F238E27FC236}">
                  <a16:creationId xmlns:a16="http://schemas.microsoft.com/office/drawing/2014/main" id="{3411EC74-69A4-4228-880C-302755CF1BEF}"/>
                </a:ext>
              </a:extLst>
            </p:cNvPr>
            <p:cNvCxnSpPr>
              <a:cxnSpLocks/>
            </p:cNvCxnSpPr>
            <p:nvPr userDrawn="1"/>
          </p:nvCxnSpPr>
          <p:spPr>
            <a:xfrm>
              <a:off x="489263" y="504093"/>
              <a:ext cx="1121347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741AF42-354B-46EA-93B3-B9495BBBD784}"/>
                </a:ext>
              </a:extLst>
            </p:cNvPr>
            <p:cNvCxnSpPr>
              <a:cxnSpLocks/>
            </p:cNvCxnSpPr>
            <p:nvPr userDrawn="1"/>
          </p:nvCxnSpPr>
          <p:spPr>
            <a:xfrm>
              <a:off x="489263" y="6377354"/>
              <a:ext cx="1121347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0" name="Text Placeholder 19">
            <a:extLst>
              <a:ext uri="{FF2B5EF4-FFF2-40B4-BE49-F238E27FC236}">
                <a16:creationId xmlns:a16="http://schemas.microsoft.com/office/drawing/2014/main" id="{F9192EE2-C275-429A-AA1C-7FB2CF1D115C}"/>
              </a:ext>
            </a:extLst>
          </p:cNvPr>
          <p:cNvSpPr>
            <a:spLocks noGrp="1"/>
          </p:cNvSpPr>
          <p:nvPr>
            <p:ph type="body" sz="quarter" idx="18"/>
          </p:nvPr>
        </p:nvSpPr>
        <p:spPr>
          <a:xfrm>
            <a:off x="838200" y="2822578"/>
            <a:ext cx="2876550" cy="1782763"/>
          </a:xfrm>
        </p:spPr>
        <p:txBody>
          <a:bodyPr/>
          <a:lstStyle>
            <a:lvl1pPr>
              <a:defRPr>
                <a:latin typeface="DIN Pro" panose="02000503040000020003" pitchFamily="50" charset="0"/>
              </a:defRPr>
            </a:lvl1pPr>
            <a:lvl2pPr>
              <a:defRPr>
                <a:latin typeface="DIN Pro" panose="02000503040000020003" pitchFamily="50" charset="0"/>
              </a:defRPr>
            </a:lvl2pPr>
            <a:lvl3pPr>
              <a:defRPr>
                <a:latin typeface="DIN Pro" panose="02000503040000020003" pitchFamily="50" charset="0"/>
              </a:defRPr>
            </a:lvl3pPr>
            <a:lvl4pPr>
              <a:defRPr>
                <a:latin typeface="DIN Pro" panose="02000503040000020003" pitchFamily="50" charset="0"/>
              </a:defRPr>
            </a:lvl4pPr>
            <a:lvl5pPr>
              <a:defRPr>
                <a:latin typeface="DIN Pro" panose="02000503040000020003"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E609727-96A3-4080-AA56-9DC9FBD98579}"/>
              </a:ext>
            </a:extLst>
          </p:cNvPr>
          <p:cNvSpPr>
            <a:spLocks noGrp="1"/>
          </p:cNvSpPr>
          <p:nvPr>
            <p:ph type="ftr" sz="quarter" idx="19"/>
          </p:nvPr>
        </p:nvSpPr>
        <p:spPr/>
        <p:txBody>
          <a:bodyPr/>
          <a:lstStyle>
            <a:lvl1pPr>
              <a:defRPr>
                <a:solidFill>
                  <a:srgbClr val="81776E"/>
                </a:solidFill>
              </a:defRPr>
            </a:lvl1pPr>
          </a:lstStyle>
          <a:p>
            <a:r>
              <a:rPr lang="en-US"/>
              <a:t>Company Confidential  ©2022 Eli Lilly and Company </a:t>
            </a:r>
          </a:p>
        </p:txBody>
      </p:sp>
      <p:sp>
        <p:nvSpPr>
          <p:cNvPr id="7" name="Slide Number Placeholder 6">
            <a:extLst>
              <a:ext uri="{FF2B5EF4-FFF2-40B4-BE49-F238E27FC236}">
                <a16:creationId xmlns:a16="http://schemas.microsoft.com/office/drawing/2014/main" id="{FC6C5028-8CC6-4D4A-8F62-F3E938A47311}"/>
              </a:ext>
            </a:extLst>
          </p:cNvPr>
          <p:cNvSpPr>
            <a:spLocks noGrp="1"/>
          </p:cNvSpPr>
          <p:nvPr>
            <p:ph type="sldNum" sz="quarter" idx="20"/>
          </p:nvPr>
        </p:nvSpPr>
        <p:spPr/>
        <p:txBody>
          <a:bodyPr/>
          <a:lstStyle>
            <a:lvl1pPr>
              <a:defRPr>
                <a:solidFill>
                  <a:srgbClr val="81776E"/>
                </a:solidFill>
              </a:defRPr>
            </a:lvl1pPr>
          </a:lstStyle>
          <a:p>
            <a:fld id="{7E80B146-301A-481F-8D59-328DC994CDDA}" type="slidenum">
              <a:rPr lang="en-US" smtClean="0"/>
              <a:pPr/>
              <a:t>‹#›</a:t>
            </a:fld>
            <a:endParaRPr lang="en-US"/>
          </a:p>
        </p:txBody>
      </p:sp>
      <p:sp>
        <p:nvSpPr>
          <p:cNvPr id="2" name="Title 1">
            <a:extLst>
              <a:ext uri="{FF2B5EF4-FFF2-40B4-BE49-F238E27FC236}">
                <a16:creationId xmlns:a16="http://schemas.microsoft.com/office/drawing/2014/main" id="{DEE7101D-096A-4BCB-B79E-38329355D642}"/>
              </a:ext>
            </a:extLst>
          </p:cNvPr>
          <p:cNvSpPr>
            <a:spLocks noGrp="1"/>
          </p:cNvSpPr>
          <p:nvPr>
            <p:ph type="title"/>
          </p:nvPr>
        </p:nvSpPr>
        <p:spPr>
          <a:xfrm>
            <a:off x="838202" y="876302"/>
            <a:ext cx="3164457" cy="835446"/>
          </a:xfrm>
        </p:spPr>
        <p:txBody>
          <a:bodyPr/>
          <a:lstStyle>
            <a:lvl1pPr>
              <a:defRPr>
                <a:latin typeface="DIN Pro" panose="02000503040000020003" pitchFamily="50" charset="0"/>
              </a:defRPr>
            </a:lvl1pPr>
          </a:lstStyle>
          <a:p>
            <a:r>
              <a:rPr lang="en-US"/>
              <a:t>Click to edit Master title style</a:t>
            </a:r>
          </a:p>
        </p:txBody>
      </p:sp>
      <p:sp>
        <p:nvSpPr>
          <p:cNvPr id="12" name="Text Placeholder 4">
            <a:extLst>
              <a:ext uri="{FF2B5EF4-FFF2-40B4-BE49-F238E27FC236}">
                <a16:creationId xmlns:a16="http://schemas.microsoft.com/office/drawing/2014/main" id="{2413DB16-149B-410E-B106-72199DA253C1}"/>
              </a:ext>
            </a:extLst>
          </p:cNvPr>
          <p:cNvSpPr>
            <a:spLocks noGrp="1"/>
          </p:cNvSpPr>
          <p:nvPr>
            <p:ph type="body" sz="quarter" idx="13"/>
          </p:nvPr>
        </p:nvSpPr>
        <p:spPr>
          <a:xfrm>
            <a:off x="857252" y="571504"/>
            <a:ext cx="3371849" cy="275958"/>
          </a:xfrm>
        </p:spPr>
        <p:txBody>
          <a:bodyPr anchor="b" anchorCtr="0"/>
          <a:lstStyle>
            <a:lvl1pPr>
              <a:defRPr sz="900" cap="all" spc="300" baseline="0">
                <a:solidFill>
                  <a:schemeClr val="accent3"/>
                </a:solidFill>
                <a:latin typeface="DIN Pro Light" panose="02000503040000020003" pitchFamily="50" charset="0"/>
              </a:defRPr>
            </a:lvl1pPr>
          </a:lstStyle>
          <a:p>
            <a:pPr lvl="0"/>
            <a:r>
              <a:rPr lang="en-US"/>
              <a:t>Click to edit Master text styles</a:t>
            </a:r>
          </a:p>
        </p:txBody>
      </p:sp>
    </p:spTree>
    <p:extLst>
      <p:ext uri="{BB962C8B-B14F-4D97-AF65-F5344CB8AC3E}">
        <p14:creationId xmlns:p14="http://schemas.microsoft.com/office/powerpoint/2010/main" val="185815163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Sidebar Lef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938A377-BA70-48DD-A035-799BE5CF2183}"/>
              </a:ext>
            </a:extLst>
          </p:cNvPr>
          <p:cNvSpPr>
            <a:spLocks noGrp="1"/>
          </p:cNvSpPr>
          <p:nvPr>
            <p:ph type="pic" sz="quarter" idx="15" hasCustomPrompt="1"/>
          </p:nvPr>
        </p:nvSpPr>
        <p:spPr>
          <a:xfrm>
            <a:off x="0" y="0"/>
            <a:ext cx="9637372" cy="6858000"/>
          </a:xfrm>
          <a:custGeom>
            <a:avLst/>
            <a:gdLst>
              <a:gd name="connsiteX0" fmla="*/ 0 w 14456058"/>
              <a:gd name="connsiteY0" fmla="*/ 0 h 10287000"/>
              <a:gd name="connsiteX1" fmla="*/ 14456058 w 14456058"/>
              <a:gd name="connsiteY1" fmla="*/ 0 h 10287000"/>
              <a:gd name="connsiteX2" fmla="*/ 14456058 w 14456058"/>
              <a:gd name="connsiteY2" fmla="*/ 263527 h 10287000"/>
              <a:gd name="connsiteX3" fmla="*/ 11640457 w 14456058"/>
              <a:gd name="connsiteY3" fmla="*/ 263527 h 10287000"/>
              <a:gd name="connsiteX4" fmla="*/ 11640457 w 14456058"/>
              <a:gd name="connsiteY4" fmla="*/ 10021021 h 10287000"/>
              <a:gd name="connsiteX5" fmla="*/ 14456058 w 14456058"/>
              <a:gd name="connsiteY5" fmla="*/ 10021021 h 10287000"/>
              <a:gd name="connsiteX6" fmla="*/ 14456058 w 14456058"/>
              <a:gd name="connsiteY6" fmla="*/ 10287000 h 10287000"/>
              <a:gd name="connsiteX7" fmla="*/ 0 w 14456058"/>
              <a:gd name="connsiteY7" fmla="*/ 102870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56058" h="10287000">
                <a:moveTo>
                  <a:pt x="0" y="0"/>
                </a:moveTo>
                <a:lnTo>
                  <a:pt x="14456058" y="0"/>
                </a:lnTo>
                <a:lnTo>
                  <a:pt x="14456058" y="263527"/>
                </a:lnTo>
                <a:lnTo>
                  <a:pt x="11640457" y="263527"/>
                </a:lnTo>
                <a:lnTo>
                  <a:pt x="11640457" y="10021021"/>
                </a:lnTo>
                <a:lnTo>
                  <a:pt x="14456058" y="10021021"/>
                </a:lnTo>
                <a:lnTo>
                  <a:pt x="14456058" y="10287000"/>
                </a:lnTo>
                <a:lnTo>
                  <a:pt x="0" y="10287000"/>
                </a:lnTo>
                <a:close/>
              </a:path>
            </a:pathLst>
          </a:custGeom>
          <a:solidFill>
            <a:schemeClr val="bg1">
              <a:lumMod val="85000"/>
            </a:schemeClr>
          </a:solidFill>
        </p:spPr>
        <p:txBody>
          <a:bodyPr wrap="square">
            <a:noAutofit/>
          </a:bodyPr>
          <a:lstStyle>
            <a:lvl1pPr algn="l">
              <a:defRPr sz="1333"/>
            </a:lvl1pPr>
          </a:lstStyle>
          <a:p>
            <a:r>
              <a:rPr lang="en-US"/>
              <a:t>Drag Picture here</a:t>
            </a:r>
          </a:p>
        </p:txBody>
      </p:sp>
      <p:grpSp>
        <p:nvGrpSpPr>
          <p:cNvPr id="3" name="Group 2">
            <a:extLst>
              <a:ext uri="{FF2B5EF4-FFF2-40B4-BE49-F238E27FC236}">
                <a16:creationId xmlns:a16="http://schemas.microsoft.com/office/drawing/2014/main" id="{D5161F11-CD25-4774-9E59-5D3C7606C895}"/>
              </a:ext>
            </a:extLst>
          </p:cNvPr>
          <p:cNvGrpSpPr/>
          <p:nvPr userDrawn="1"/>
        </p:nvGrpSpPr>
        <p:grpSpPr>
          <a:xfrm>
            <a:off x="8197557" y="504096"/>
            <a:ext cx="3507357" cy="5873261"/>
            <a:chOff x="489263" y="504093"/>
            <a:chExt cx="11213476" cy="5873261"/>
          </a:xfrm>
        </p:grpSpPr>
        <p:cxnSp>
          <p:nvCxnSpPr>
            <p:cNvPr id="15" name="Straight Connector 14">
              <a:extLst>
                <a:ext uri="{FF2B5EF4-FFF2-40B4-BE49-F238E27FC236}">
                  <a16:creationId xmlns:a16="http://schemas.microsoft.com/office/drawing/2014/main" id="{3411EC74-69A4-4228-880C-302755CF1BEF}"/>
                </a:ext>
              </a:extLst>
            </p:cNvPr>
            <p:cNvCxnSpPr>
              <a:cxnSpLocks/>
            </p:cNvCxnSpPr>
            <p:nvPr userDrawn="1"/>
          </p:nvCxnSpPr>
          <p:spPr>
            <a:xfrm>
              <a:off x="489263" y="504093"/>
              <a:ext cx="1121347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741AF42-354B-46EA-93B3-B9495BBBD784}"/>
                </a:ext>
              </a:extLst>
            </p:cNvPr>
            <p:cNvCxnSpPr>
              <a:cxnSpLocks/>
            </p:cNvCxnSpPr>
            <p:nvPr userDrawn="1"/>
          </p:nvCxnSpPr>
          <p:spPr>
            <a:xfrm>
              <a:off x="489263" y="6377354"/>
              <a:ext cx="1121347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0" name="Text Placeholder 19">
            <a:extLst>
              <a:ext uri="{FF2B5EF4-FFF2-40B4-BE49-F238E27FC236}">
                <a16:creationId xmlns:a16="http://schemas.microsoft.com/office/drawing/2014/main" id="{F9192EE2-C275-429A-AA1C-7FB2CF1D115C}"/>
              </a:ext>
            </a:extLst>
          </p:cNvPr>
          <p:cNvSpPr>
            <a:spLocks noGrp="1"/>
          </p:cNvSpPr>
          <p:nvPr>
            <p:ph type="body" sz="quarter" idx="18"/>
          </p:nvPr>
        </p:nvSpPr>
        <p:spPr>
          <a:xfrm>
            <a:off x="8540456" y="2822578"/>
            <a:ext cx="2876550" cy="1782763"/>
          </a:xfrm>
        </p:spPr>
        <p:txBody>
          <a:bodyPr/>
          <a:lstStyle>
            <a:lvl1pPr>
              <a:defRPr>
                <a:latin typeface="DIN Pro" panose="02000503040000020003" pitchFamily="50" charset="0"/>
              </a:defRPr>
            </a:lvl1pPr>
            <a:lvl2pPr>
              <a:defRPr>
                <a:latin typeface="DIN Pro" panose="02000503040000020003" pitchFamily="50" charset="0"/>
              </a:defRPr>
            </a:lvl2pPr>
            <a:lvl3pPr>
              <a:defRPr>
                <a:latin typeface="DIN Pro" panose="02000503040000020003" pitchFamily="50" charset="0"/>
              </a:defRPr>
            </a:lvl3pPr>
            <a:lvl4pPr>
              <a:defRPr>
                <a:latin typeface="DIN Pro" panose="02000503040000020003" pitchFamily="50" charset="0"/>
              </a:defRPr>
            </a:lvl4pPr>
            <a:lvl5pPr>
              <a:defRPr>
                <a:latin typeface="DIN Pro" panose="02000503040000020003"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E609727-96A3-4080-AA56-9DC9FBD98579}"/>
              </a:ext>
            </a:extLst>
          </p:cNvPr>
          <p:cNvSpPr>
            <a:spLocks noGrp="1"/>
          </p:cNvSpPr>
          <p:nvPr>
            <p:ph type="ftr" sz="quarter" idx="19"/>
          </p:nvPr>
        </p:nvSpPr>
        <p:spPr/>
        <p:txBody>
          <a:bodyPr/>
          <a:lstStyle>
            <a:lvl1pPr>
              <a:defRPr>
                <a:solidFill>
                  <a:srgbClr val="81776E"/>
                </a:solidFill>
              </a:defRPr>
            </a:lvl1pPr>
          </a:lstStyle>
          <a:p>
            <a:r>
              <a:rPr lang="en-US"/>
              <a:t>Company Confidential  ©2022 Eli Lilly and Company </a:t>
            </a:r>
          </a:p>
        </p:txBody>
      </p:sp>
      <p:sp>
        <p:nvSpPr>
          <p:cNvPr id="7" name="Slide Number Placeholder 6">
            <a:extLst>
              <a:ext uri="{FF2B5EF4-FFF2-40B4-BE49-F238E27FC236}">
                <a16:creationId xmlns:a16="http://schemas.microsoft.com/office/drawing/2014/main" id="{FC6C5028-8CC6-4D4A-8F62-F3E938A47311}"/>
              </a:ext>
            </a:extLst>
          </p:cNvPr>
          <p:cNvSpPr>
            <a:spLocks noGrp="1"/>
          </p:cNvSpPr>
          <p:nvPr>
            <p:ph type="sldNum" sz="quarter" idx="20"/>
          </p:nvPr>
        </p:nvSpPr>
        <p:spPr/>
        <p:txBody>
          <a:bodyPr/>
          <a:lstStyle>
            <a:lvl1pPr>
              <a:defRPr>
                <a:solidFill>
                  <a:srgbClr val="81776E"/>
                </a:solidFill>
              </a:defRPr>
            </a:lvl1pPr>
          </a:lstStyle>
          <a:p>
            <a:fld id="{7E80B146-301A-481F-8D59-328DC994CDDA}" type="slidenum">
              <a:rPr lang="en-US" smtClean="0"/>
              <a:pPr/>
              <a:t>‹#›</a:t>
            </a:fld>
            <a:endParaRPr lang="en-US"/>
          </a:p>
        </p:txBody>
      </p:sp>
      <p:sp>
        <p:nvSpPr>
          <p:cNvPr id="2" name="Title 1">
            <a:extLst>
              <a:ext uri="{FF2B5EF4-FFF2-40B4-BE49-F238E27FC236}">
                <a16:creationId xmlns:a16="http://schemas.microsoft.com/office/drawing/2014/main" id="{DEE7101D-096A-4BCB-B79E-38329355D642}"/>
              </a:ext>
            </a:extLst>
          </p:cNvPr>
          <p:cNvSpPr>
            <a:spLocks noGrp="1"/>
          </p:cNvSpPr>
          <p:nvPr>
            <p:ph type="title"/>
          </p:nvPr>
        </p:nvSpPr>
        <p:spPr>
          <a:xfrm>
            <a:off x="8540456" y="876302"/>
            <a:ext cx="3371849" cy="835446"/>
          </a:xfrm>
        </p:spPr>
        <p:txBody>
          <a:bodyPr/>
          <a:lstStyle>
            <a:lvl1pPr>
              <a:defRPr>
                <a:latin typeface="DIN Pro" panose="02000503040000020003" pitchFamily="50" charset="0"/>
              </a:defRPr>
            </a:lvl1pPr>
          </a:lstStyle>
          <a:p>
            <a:r>
              <a:rPr lang="en-US"/>
              <a:t>Click to edit Master title style</a:t>
            </a:r>
          </a:p>
        </p:txBody>
      </p:sp>
      <p:sp>
        <p:nvSpPr>
          <p:cNvPr id="12" name="Text Placeholder 4">
            <a:extLst>
              <a:ext uri="{FF2B5EF4-FFF2-40B4-BE49-F238E27FC236}">
                <a16:creationId xmlns:a16="http://schemas.microsoft.com/office/drawing/2014/main" id="{2413DB16-149B-410E-B106-72199DA253C1}"/>
              </a:ext>
            </a:extLst>
          </p:cNvPr>
          <p:cNvSpPr>
            <a:spLocks noGrp="1"/>
          </p:cNvSpPr>
          <p:nvPr>
            <p:ph type="body" sz="quarter" idx="13"/>
          </p:nvPr>
        </p:nvSpPr>
        <p:spPr>
          <a:xfrm>
            <a:off x="8559507" y="571504"/>
            <a:ext cx="3371849" cy="275958"/>
          </a:xfrm>
        </p:spPr>
        <p:txBody>
          <a:bodyPr anchor="b" anchorCtr="0"/>
          <a:lstStyle>
            <a:lvl1pPr>
              <a:defRPr sz="900" cap="all" spc="300" baseline="0">
                <a:solidFill>
                  <a:schemeClr val="accent3"/>
                </a:solidFill>
                <a:latin typeface="DIN Pro Light" panose="02000503040000020003" pitchFamily="50" charset="0"/>
              </a:defRPr>
            </a:lvl1pPr>
          </a:lstStyle>
          <a:p>
            <a:pPr lvl="0"/>
            <a:r>
              <a:rPr lang="en-US"/>
              <a:t>Click to edit Master text styles</a:t>
            </a:r>
          </a:p>
        </p:txBody>
      </p:sp>
      <p:pic>
        <p:nvPicPr>
          <p:cNvPr id="11" name="Graphic 10">
            <a:extLst>
              <a:ext uri="{FF2B5EF4-FFF2-40B4-BE49-F238E27FC236}">
                <a16:creationId xmlns:a16="http://schemas.microsoft.com/office/drawing/2014/main" id="{F7CDC6E2-25A1-47DB-836D-345BBDBD99D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214101" y="6475253"/>
            <a:ext cx="482600" cy="261749"/>
          </a:xfrm>
          <a:prstGeom prst="rect">
            <a:avLst/>
          </a:prstGeom>
        </p:spPr>
      </p:pic>
    </p:spTree>
    <p:extLst>
      <p:ext uri="{BB962C8B-B14F-4D97-AF65-F5344CB8AC3E}">
        <p14:creationId xmlns:p14="http://schemas.microsoft.com/office/powerpoint/2010/main" val="339021742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07D8752-BC9B-4267-8748-A5128DCBD664}"/>
              </a:ext>
            </a:extLst>
          </p:cNvPr>
          <p:cNvSpPr>
            <a:spLocks noGrp="1"/>
          </p:cNvSpPr>
          <p:nvPr>
            <p:ph type="ftr" sz="quarter" idx="10"/>
          </p:nvPr>
        </p:nvSpPr>
        <p:spPr/>
        <p:txBody>
          <a:bodyPr/>
          <a:lstStyle/>
          <a:p>
            <a:r>
              <a:rPr lang="en-US"/>
              <a:t>Company Confidential  ©2022 Eli Lilly and Company </a:t>
            </a:r>
          </a:p>
        </p:txBody>
      </p:sp>
      <p:sp>
        <p:nvSpPr>
          <p:cNvPr id="6" name="Slide Number Placeholder 5">
            <a:extLst>
              <a:ext uri="{FF2B5EF4-FFF2-40B4-BE49-F238E27FC236}">
                <a16:creationId xmlns:a16="http://schemas.microsoft.com/office/drawing/2014/main" id="{94E5A4C7-6998-49A4-AAB8-B5D0CB42DA76}"/>
              </a:ext>
            </a:extLst>
          </p:cNvPr>
          <p:cNvSpPr>
            <a:spLocks noGrp="1"/>
          </p:cNvSpPr>
          <p:nvPr>
            <p:ph type="sldNum" sz="quarter" idx="11"/>
          </p:nvPr>
        </p:nvSpPr>
        <p:spPr/>
        <p:txBody>
          <a:bodyPr/>
          <a:lstStyle/>
          <a:p>
            <a:fld id="{7E80B146-301A-481F-8D59-328DC994CDDA}" type="slidenum">
              <a:rPr lang="en-US" smtClean="0"/>
              <a:pPr/>
              <a:t>‹#›</a:t>
            </a:fld>
            <a:endParaRPr lang="en-US"/>
          </a:p>
        </p:txBody>
      </p:sp>
    </p:spTree>
    <p:extLst>
      <p:ext uri="{BB962C8B-B14F-4D97-AF65-F5344CB8AC3E}">
        <p14:creationId xmlns:p14="http://schemas.microsoft.com/office/powerpoint/2010/main" val="35980000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52549DC-364E-374C-BC15-BEA901B74AEC}"/>
              </a:ext>
            </a:extLst>
          </p:cNvPr>
          <p:cNvSpPr>
            <a:spLocks noGrp="1"/>
          </p:cNvSpPr>
          <p:nvPr>
            <p:ph type="pic" sz="quarter" idx="14"/>
          </p:nvPr>
        </p:nvSpPr>
        <p:spPr>
          <a:xfrm>
            <a:off x="228600" y="228599"/>
            <a:ext cx="11734800" cy="6400803"/>
          </a:xfrm>
          <a:solidFill>
            <a:schemeClr val="bg1">
              <a:lumMod val="95000"/>
            </a:schemeClr>
          </a:solidFill>
        </p:spPr>
        <p:txBody>
          <a:bodyPr anchor="ctr"/>
          <a:lstStyle>
            <a:lvl1pPr algn="ctr">
              <a:defRPr/>
            </a:lvl1pPr>
          </a:lstStyle>
          <a:p>
            <a:r>
              <a:rPr lang="en-US"/>
              <a:t>Click icon to add picture</a:t>
            </a:r>
          </a:p>
        </p:txBody>
      </p:sp>
      <p:sp>
        <p:nvSpPr>
          <p:cNvPr id="10" name="Picture Placeholder 9">
            <a:extLst>
              <a:ext uri="{FF2B5EF4-FFF2-40B4-BE49-F238E27FC236}">
                <a16:creationId xmlns:a16="http://schemas.microsoft.com/office/drawing/2014/main" id="{7719D9EB-87C3-A141-9A81-876AB183A496}"/>
              </a:ext>
            </a:extLst>
          </p:cNvPr>
          <p:cNvSpPr>
            <a:spLocks noGrp="1"/>
          </p:cNvSpPr>
          <p:nvPr>
            <p:ph type="pic" sz="quarter" idx="13"/>
          </p:nvPr>
        </p:nvSpPr>
        <p:spPr>
          <a:xfrm>
            <a:off x="0" y="0"/>
            <a:ext cx="6781800" cy="6858000"/>
          </a:xfrm>
          <a:custGeom>
            <a:avLst/>
            <a:gdLst>
              <a:gd name="connsiteX0" fmla="*/ 0 w 6781800"/>
              <a:gd name="connsiteY0" fmla="*/ 0 h 6858000"/>
              <a:gd name="connsiteX1" fmla="*/ 6781800 w 6781800"/>
              <a:gd name="connsiteY1" fmla="*/ 0 h 6858000"/>
              <a:gd name="connsiteX2" fmla="*/ 6781800 w 6781800"/>
              <a:gd name="connsiteY2" fmla="*/ 6858000 h 6858000"/>
              <a:gd name="connsiteX3" fmla="*/ 0 w 6781800"/>
              <a:gd name="connsiteY3" fmla="*/ 6858000 h 6858000"/>
              <a:gd name="connsiteX4" fmla="*/ 0 w 6781800"/>
              <a:gd name="connsiteY4" fmla="*/ 0 h 6858000"/>
              <a:gd name="connsiteX0" fmla="*/ 0 w 6781800"/>
              <a:gd name="connsiteY0" fmla="*/ 0 h 6858000"/>
              <a:gd name="connsiteX1" fmla="*/ 6781800 w 6781800"/>
              <a:gd name="connsiteY1" fmla="*/ 0 h 6858000"/>
              <a:gd name="connsiteX2" fmla="*/ 4087368 w 6781800"/>
              <a:gd name="connsiteY2" fmla="*/ 6858000 h 6858000"/>
              <a:gd name="connsiteX3" fmla="*/ 0 w 6781800"/>
              <a:gd name="connsiteY3" fmla="*/ 6858000 h 6858000"/>
              <a:gd name="connsiteX4" fmla="*/ 0 w 67818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800" h="6858000">
                <a:moveTo>
                  <a:pt x="0" y="0"/>
                </a:moveTo>
                <a:lnTo>
                  <a:pt x="6781800" y="0"/>
                </a:lnTo>
                <a:lnTo>
                  <a:pt x="4087368" y="6858000"/>
                </a:lnTo>
                <a:lnTo>
                  <a:pt x="0" y="6858000"/>
                </a:lnTo>
                <a:lnTo>
                  <a:pt x="0" y="0"/>
                </a:lnTo>
                <a:close/>
              </a:path>
            </a:pathLst>
          </a:custGeom>
          <a:solidFill>
            <a:srgbClr val="D52A1E">
              <a:alpha val="80000"/>
            </a:srgbClr>
          </a:solidFill>
        </p:spPr>
        <p:txBody>
          <a:bodyPr/>
          <a:lstStyle>
            <a:lvl1pPr>
              <a:defRPr>
                <a:solidFill>
                  <a:srgbClr val="D52A1E">
                    <a:alpha val="0"/>
                  </a:srgbClr>
                </a:solidFill>
              </a:defRPr>
            </a:lvl1pPr>
          </a:lstStyle>
          <a:p>
            <a:r>
              <a:rPr lang="en-US"/>
              <a:t>Click icon to add picture</a:t>
            </a:r>
          </a:p>
        </p:txBody>
      </p:sp>
      <p:sp>
        <p:nvSpPr>
          <p:cNvPr id="5" name="Footer Placeholder 4">
            <a:extLst>
              <a:ext uri="{FF2B5EF4-FFF2-40B4-BE49-F238E27FC236}">
                <a16:creationId xmlns:a16="http://schemas.microsoft.com/office/drawing/2014/main" id="{D0A77B4B-BC77-9B48-B394-425935073F50}"/>
              </a:ext>
            </a:extLst>
          </p:cNvPr>
          <p:cNvSpPr>
            <a:spLocks noGrp="1"/>
          </p:cNvSpPr>
          <p:nvPr>
            <p:ph type="ftr" sz="quarter" idx="11"/>
          </p:nvPr>
        </p:nvSpPr>
        <p:spPr/>
        <p:txBody>
          <a:bodyPr/>
          <a:lstStyle/>
          <a:p>
            <a:pPr defTabSz="609632"/>
            <a:r>
              <a:rPr lang="en-US"/>
              <a:t>Company Confidential  ©2021 Eli Lilly and Company </a:t>
            </a:r>
          </a:p>
        </p:txBody>
      </p:sp>
      <p:sp>
        <p:nvSpPr>
          <p:cNvPr id="6" name="Slide Number Placeholder 5">
            <a:extLst>
              <a:ext uri="{FF2B5EF4-FFF2-40B4-BE49-F238E27FC236}">
                <a16:creationId xmlns:a16="http://schemas.microsoft.com/office/drawing/2014/main" id="{5C79AD16-A2DC-1B4B-823F-49D2410374C2}"/>
              </a:ext>
            </a:extLst>
          </p:cNvPr>
          <p:cNvSpPr>
            <a:spLocks noGrp="1"/>
          </p:cNvSpPr>
          <p:nvPr>
            <p:ph type="sldNum" sz="quarter" idx="12"/>
          </p:nvPr>
        </p:nvSpPr>
        <p:spPr/>
        <p:txBody>
          <a:bodyPr/>
          <a:lstStyle/>
          <a:p>
            <a:pPr defTabSz="609632"/>
            <a:fld id="{1DA079B0-34FF-9449-83ED-AEDF3F6C1CC6}" type="slidenum">
              <a:rPr lang="en-US" smtClean="0"/>
              <a:pPr defTabSz="609632"/>
              <a:t>‹#›</a:t>
            </a:fld>
            <a:endParaRPr lang="en-US"/>
          </a:p>
        </p:txBody>
      </p:sp>
      <p:sp>
        <p:nvSpPr>
          <p:cNvPr id="2" name="Title 1">
            <a:extLst>
              <a:ext uri="{FF2B5EF4-FFF2-40B4-BE49-F238E27FC236}">
                <a16:creationId xmlns:a16="http://schemas.microsoft.com/office/drawing/2014/main" id="{A63AB5DE-8034-DC43-A797-E7D5D1A22D93}"/>
              </a:ext>
            </a:extLst>
          </p:cNvPr>
          <p:cNvSpPr>
            <a:spLocks noGrp="1"/>
          </p:cNvSpPr>
          <p:nvPr>
            <p:ph type="ctrTitle"/>
          </p:nvPr>
        </p:nvSpPr>
        <p:spPr>
          <a:xfrm>
            <a:off x="876300" y="1122363"/>
            <a:ext cx="3810000" cy="2261056"/>
          </a:xfrm>
        </p:spPr>
        <p:txBody>
          <a:bodyPr anchor="b"/>
          <a:lstStyle>
            <a:lvl1pPr algn="l">
              <a:defRPr sz="3200" cap="none"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922C996E-7B6D-D34A-A664-AAB8C7E5E821}"/>
              </a:ext>
            </a:extLst>
          </p:cNvPr>
          <p:cNvSpPr>
            <a:spLocks noGrp="1"/>
          </p:cNvSpPr>
          <p:nvPr>
            <p:ph type="subTitle" idx="1"/>
          </p:nvPr>
        </p:nvSpPr>
        <p:spPr>
          <a:xfrm>
            <a:off x="876300" y="3602038"/>
            <a:ext cx="3810000" cy="1122362"/>
          </a:xfrm>
        </p:spPr>
        <p:txBody>
          <a:bodyPr/>
          <a:lstStyle>
            <a:lvl1pPr marL="0" indent="0" algn="l">
              <a:buNone/>
              <a:defRPr sz="1600" b="0" i="1">
                <a:solidFill>
                  <a:schemeClr val="bg1"/>
                </a:solidFill>
                <a:latin typeface="DIN Pro" panose="02000503040000020003" pitchFamily="50" charset="0"/>
                <a:cs typeface="Times New Roman" panose="02020603050405020304" pitchFamily="18" charset="0"/>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a:t>Click to edit Master subtitle style</a:t>
            </a:r>
          </a:p>
        </p:txBody>
      </p:sp>
      <p:pic>
        <p:nvPicPr>
          <p:cNvPr id="8" name="Picture 7" descr="A picture containing drawing&#10;&#10;Description automatically generated">
            <a:extLst>
              <a:ext uri="{FF2B5EF4-FFF2-40B4-BE49-F238E27FC236}">
                <a16:creationId xmlns:a16="http://schemas.microsoft.com/office/drawing/2014/main" id="{E0C35B11-F93B-4577-A2FB-1CF575CA05AF}"/>
              </a:ext>
            </a:extLst>
          </p:cNvPr>
          <p:cNvPicPr>
            <a:picLocks noChangeAspect="1"/>
          </p:cNvPicPr>
          <p:nvPr userDrawn="1"/>
        </p:nvPicPr>
        <p:blipFill>
          <a:blip r:embed="rId2"/>
          <a:stretch>
            <a:fillRect/>
          </a:stretch>
        </p:blipFill>
        <p:spPr>
          <a:xfrm>
            <a:off x="10653710" y="5929356"/>
            <a:ext cx="994172" cy="543112"/>
          </a:xfrm>
          <a:prstGeom prst="rect">
            <a:avLst/>
          </a:prstGeom>
        </p:spPr>
      </p:pic>
    </p:spTree>
    <p:extLst>
      <p:ext uri="{BB962C8B-B14F-4D97-AF65-F5344CB8AC3E}">
        <p14:creationId xmlns:p14="http://schemas.microsoft.com/office/powerpoint/2010/main" val="41730667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Event Slid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14EE120-5FEF-6647-A48F-3298B8281C0E}"/>
              </a:ext>
            </a:extLst>
          </p:cNvPr>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latin typeface="DIN Pro" panose="02000503040000020003" pitchFamily="50" charset="0"/>
            </a:endParaRPr>
          </a:p>
        </p:txBody>
      </p:sp>
      <p:sp>
        <p:nvSpPr>
          <p:cNvPr id="8" name="Text Placeholder 10">
            <a:extLst>
              <a:ext uri="{FF2B5EF4-FFF2-40B4-BE49-F238E27FC236}">
                <a16:creationId xmlns:a16="http://schemas.microsoft.com/office/drawing/2014/main" id="{50171104-AF34-D949-B380-6092DF19C82B}"/>
              </a:ext>
            </a:extLst>
          </p:cNvPr>
          <p:cNvSpPr>
            <a:spLocks noGrp="1"/>
          </p:cNvSpPr>
          <p:nvPr>
            <p:ph type="body" sz="quarter" idx="14" hasCustomPrompt="1"/>
          </p:nvPr>
        </p:nvSpPr>
        <p:spPr>
          <a:xfrm>
            <a:off x="4408336" y="6036971"/>
            <a:ext cx="3375328" cy="282882"/>
          </a:xfrm>
          <a:prstGeom prst="rect">
            <a:avLst/>
          </a:prstGeom>
        </p:spPr>
        <p:txBody>
          <a:bodyPr anchor="ctr">
            <a:noAutofit/>
          </a:bodyPr>
          <a:lstStyle>
            <a:lvl1pPr marL="0" indent="0" algn="ctr">
              <a:buFontTx/>
              <a:buNone/>
              <a:defRPr sz="1100" b="1" i="0" spc="250">
                <a:solidFill>
                  <a:schemeClr val="bg1">
                    <a:lumMod val="75000"/>
                  </a:schemeClr>
                </a:solidFill>
                <a:latin typeface="DIN Pro" panose="02000503040000020003" pitchFamily="50" charset="0"/>
                <a:cs typeface="Arial" panose="020B0604020202020204" pitchFamily="34" charset="0"/>
              </a:defRPr>
            </a:lvl1pPr>
            <a:lvl2pPr marL="544237" indent="0">
              <a:buFontTx/>
              <a:buNone/>
              <a:defRPr/>
            </a:lvl2pPr>
            <a:lvl3pPr marL="1088474" indent="0">
              <a:buFontTx/>
              <a:buNone/>
              <a:defRPr/>
            </a:lvl3pPr>
            <a:lvl4pPr marL="1632711" indent="0">
              <a:buFontTx/>
              <a:buNone/>
              <a:defRPr/>
            </a:lvl4pPr>
            <a:lvl5pPr marL="2176947" indent="0">
              <a:buFontTx/>
              <a:buNone/>
              <a:defRPr/>
            </a:lvl5pPr>
          </a:lstStyle>
          <a:p>
            <a:r>
              <a:rPr lang="en-US" sz="1100">
                <a:solidFill>
                  <a:srgbClr val="EE342A"/>
                </a:solidFill>
              </a:rPr>
              <a:t>Lilly</a:t>
            </a:r>
            <a:r>
              <a:rPr lang="en-US" sz="1100">
                <a:solidFill>
                  <a:schemeClr val="tx1">
                    <a:lumMod val="50000"/>
                  </a:schemeClr>
                </a:solidFill>
              </a:rPr>
              <a:t> | Next Generation R&amp;D</a:t>
            </a:r>
          </a:p>
        </p:txBody>
      </p:sp>
      <p:sp>
        <p:nvSpPr>
          <p:cNvPr id="13" name="Title Placeholder 1">
            <a:extLst>
              <a:ext uri="{FF2B5EF4-FFF2-40B4-BE49-F238E27FC236}">
                <a16:creationId xmlns:a16="http://schemas.microsoft.com/office/drawing/2014/main" id="{A817DCAD-54E4-3140-AF54-C01409544B69}"/>
              </a:ext>
            </a:extLst>
          </p:cNvPr>
          <p:cNvSpPr>
            <a:spLocks noGrp="1"/>
          </p:cNvSpPr>
          <p:nvPr>
            <p:ph type="title" hasCustomPrompt="1"/>
          </p:nvPr>
        </p:nvSpPr>
        <p:spPr bwMode="auto">
          <a:xfrm>
            <a:off x="609600" y="78373"/>
            <a:ext cx="10972800" cy="11430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30622" tIns="65311" rIns="130622" bIns="65311" numCol="1" anchor="ctr" anchorCtr="0" compatLnSpc="1">
            <a:prstTxWarp prst="textNoShape">
              <a:avLst/>
            </a:prstTxWarp>
          </a:bodyPr>
          <a:lstStyle>
            <a:lvl1pPr>
              <a:defRPr sz="4000" b="1" i="0">
                <a:solidFill>
                  <a:srgbClr val="EE342A"/>
                </a:solidFill>
                <a:latin typeface="DIN Pro" panose="02000503040000020003" pitchFamily="50" charset="0"/>
                <a:cs typeface="Arial" panose="020B0604020202020204" pitchFamily="34" charset="0"/>
              </a:defRPr>
            </a:lvl1pPr>
          </a:lstStyle>
          <a:p>
            <a:pPr lvl="0"/>
            <a:r>
              <a:rPr lang="en-US"/>
              <a:t>CLICK TO EDIT TITLE</a:t>
            </a:r>
          </a:p>
        </p:txBody>
      </p:sp>
      <p:sp>
        <p:nvSpPr>
          <p:cNvPr id="14" name="Text Placeholder 2">
            <a:extLst>
              <a:ext uri="{FF2B5EF4-FFF2-40B4-BE49-F238E27FC236}">
                <a16:creationId xmlns:a16="http://schemas.microsoft.com/office/drawing/2014/main" id="{249002F8-9D9A-3E40-A57C-699FA97E312F}"/>
              </a:ext>
            </a:extLst>
          </p:cNvPr>
          <p:cNvSpPr>
            <a:spLocks noGrp="1"/>
          </p:cNvSpPr>
          <p:nvPr>
            <p:ph idx="1" hasCustomPrompt="1"/>
          </p:nvPr>
        </p:nvSpPr>
        <p:spPr>
          <a:xfrm>
            <a:off x="609600" y="1369485"/>
            <a:ext cx="10514542" cy="4351073"/>
          </a:xfrm>
          <a:prstGeom prst="rect">
            <a:avLst/>
          </a:prstGeom>
        </p:spPr>
        <p:txBody>
          <a:bodyPr vert="horz" lIns="91440" tIns="45720" rIns="91440" bIns="45720" rtlCol="0">
            <a:normAutofit/>
          </a:bodyPr>
          <a:lstStyle>
            <a:lvl1pPr marL="45720" indent="0">
              <a:buFontTx/>
              <a:buNone/>
              <a:defRPr sz="2500">
                <a:solidFill>
                  <a:schemeClr val="tx1"/>
                </a:solidFill>
                <a:latin typeface="DIN Pro" panose="02000503040000020003" pitchFamily="50" charset="0"/>
                <a:cs typeface="Arial" panose="020B0604020202020204" pitchFamily="34" charset="0"/>
              </a:defRPr>
            </a:lvl1pPr>
          </a:lstStyle>
          <a:p>
            <a:pPr lvl="0"/>
            <a:r>
              <a:rPr lang="en-US"/>
              <a:t>Click to edit text</a:t>
            </a:r>
          </a:p>
        </p:txBody>
      </p:sp>
      <p:pic>
        <p:nvPicPr>
          <p:cNvPr id="15" name="Picture 14" descr="A picture containing drawing&#10;&#10;Description automatically generated">
            <a:extLst>
              <a:ext uri="{FF2B5EF4-FFF2-40B4-BE49-F238E27FC236}">
                <a16:creationId xmlns:a16="http://schemas.microsoft.com/office/drawing/2014/main" id="{28724BB9-2599-6C4C-9027-E5EC67B8C0A8}"/>
              </a:ext>
            </a:extLst>
          </p:cNvPr>
          <p:cNvPicPr>
            <a:picLocks noChangeAspect="1"/>
          </p:cNvPicPr>
          <p:nvPr userDrawn="1"/>
        </p:nvPicPr>
        <p:blipFill>
          <a:blip r:embed="rId2"/>
          <a:stretch>
            <a:fillRect/>
          </a:stretch>
        </p:blipFill>
        <p:spPr>
          <a:xfrm>
            <a:off x="10653710" y="5929356"/>
            <a:ext cx="994172" cy="543112"/>
          </a:xfrm>
          <a:prstGeom prst="rect">
            <a:avLst/>
          </a:prstGeom>
        </p:spPr>
      </p:pic>
      <p:pic>
        <p:nvPicPr>
          <p:cNvPr id="9" name="Picture 8" descr="Diagram&#10;&#10;Description automatically generated">
            <a:extLst>
              <a:ext uri="{FF2B5EF4-FFF2-40B4-BE49-F238E27FC236}">
                <a16:creationId xmlns:a16="http://schemas.microsoft.com/office/drawing/2014/main" id="{7E9466D5-49F5-466E-9AE0-9D807D128845}"/>
              </a:ext>
            </a:extLst>
          </p:cNvPr>
          <p:cNvPicPr>
            <a:picLocks noChangeAspect="1"/>
          </p:cNvPicPr>
          <p:nvPr userDrawn="1"/>
        </p:nvPicPr>
        <p:blipFill>
          <a:blip r:embed="rId3"/>
          <a:stretch>
            <a:fillRect/>
          </a:stretch>
        </p:blipFill>
        <p:spPr>
          <a:xfrm>
            <a:off x="565969" y="5598400"/>
            <a:ext cx="874068" cy="874068"/>
          </a:xfrm>
          <a:prstGeom prst="rect">
            <a:avLst/>
          </a:prstGeom>
        </p:spPr>
      </p:pic>
    </p:spTree>
    <p:extLst>
      <p:ext uri="{BB962C8B-B14F-4D97-AF65-F5344CB8AC3E}">
        <p14:creationId xmlns:p14="http://schemas.microsoft.com/office/powerpoint/2010/main" val="30042346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57971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Blank with Tit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21B3717-6C22-490E-8554-012D3E36AD28}"/>
              </a:ext>
            </a:extLst>
          </p:cNvPr>
          <p:cNvSpPr>
            <a:spLocks noGrp="1"/>
          </p:cNvSpPr>
          <p:nvPr>
            <p:ph type="sldNum" sz="quarter" idx="12"/>
          </p:nvPr>
        </p:nvSpPr>
        <p:spPr/>
        <p:txBody>
          <a:bodyPr/>
          <a:lstStyle>
            <a:lvl1pPr>
              <a:defRPr>
                <a:latin typeface="+mj-lt"/>
              </a:defRPr>
            </a:lvl1pPr>
          </a:lstStyle>
          <a:p>
            <a:pPr defTabSz="609632"/>
            <a:fld id="{1DA079B0-34FF-9449-83ED-AEDF3F6C1CC6}" type="slidenum">
              <a:rPr lang="en-US" smtClean="0"/>
              <a:pPr defTabSz="609632"/>
              <a:t>‹#›</a:t>
            </a:fld>
            <a:endParaRPr lang="en-US"/>
          </a:p>
        </p:txBody>
      </p:sp>
      <p:sp>
        <p:nvSpPr>
          <p:cNvPr id="2" name="Title 1">
            <a:extLst>
              <a:ext uri="{FF2B5EF4-FFF2-40B4-BE49-F238E27FC236}">
                <a16:creationId xmlns:a16="http://schemas.microsoft.com/office/drawing/2014/main" id="{26BC6C17-DAD4-4ECD-9406-53D4BBF5D967}"/>
              </a:ext>
            </a:extLst>
          </p:cNvPr>
          <p:cNvSpPr>
            <a:spLocks noGrp="1"/>
          </p:cNvSpPr>
          <p:nvPr>
            <p:ph type="title"/>
          </p:nvPr>
        </p:nvSpPr>
        <p:spPr/>
        <p:txBody>
          <a:bodyPr>
            <a:normAutofit/>
          </a:bodyPr>
          <a:lstStyle>
            <a:lvl1pPr>
              <a:defRPr sz="2667">
                <a:solidFill>
                  <a:schemeClr val="tx1">
                    <a:lumMod val="75000"/>
                    <a:lumOff val="25000"/>
                  </a:schemeClr>
                </a:solidFill>
                <a:latin typeface="+mj-lt"/>
              </a:defRPr>
            </a:lvl1pPr>
          </a:lstStyle>
          <a:p>
            <a:r>
              <a:rPr lang="en-US"/>
              <a:t>Click to edit Master title style</a:t>
            </a:r>
          </a:p>
        </p:txBody>
      </p:sp>
      <p:sp>
        <p:nvSpPr>
          <p:cNvPr id="8" name="Footer Placeholder 3">
            <a:extLst>
              <a:ext uri="{FF2B5EF4-FFF2-40B4-BE49-F238E27FC236}">
                <a16:creationId xmlns:a16="http://schemas.microsoft.com/office/drawing/2014/main" id="{9B0A7379-50CC-41AD-B00C-31F1A4B501F0}"/>
              </a:ext>
            </a:extLst>
          </p:cNvPr>
          <p:cNvSpPr>
            <a:spLocks noGrp="1"/>
          </p:cNvSpPr>
          <p:nvPr>
            <p:ph type="ftr" sz="quarter" idx="11"/>
          </p:nvPr>
        </p:nvSpPr>
        <p:spPr>
          <a:xfrm>
            <a:off x="4165600" y="6587416"/>
            <a:ext cx="3860800" cy="182880"/>
          </a:xfrm>
          <a:prstGeom prst="rect">
            <a:avLst/>
          </a:prstGeom>
        </p:spPr>
        <p:txBody>
          <a:bodyPr/>
          <a:lstStyle>
            <a:lvl1pPr>
              <a:defRPr>
                <a:latin typeface="+mj-lt"/>
              </a:defRPr>
            </a:lvl1pPr>
          </a:lstStyle>
          <a:p>
            <a:pPr defTabSz="609632"/>
            <a:r>
              <a:rPr lang="en-US"/>
              <a:t>Company Confidential  ©2021 Eli Lilly and Company </a:t>
            </a:r>
          </a:p>
        </p:txBody>
      </p:sp>
      <p:cxnSp>
        <p:nvCxnSpPr>
          <p:cNvPr id="4" name="Straight Connector 3">
            <a:extLst>
              <a:ext uri="{FF2B5EF4-FFF2-40B4-BE49-F238E27FC236}">
                <a16:creationId xmlns:a16="http://schemas.microsoft.com/office/drawing/2014/main" id="{86F183E0-42EE-4B5E-9197-8BF4214C71AD}"/>
              </a:ext>
            </a:extLst>
          </p:cNvPr>
          <p:cNvCxnSpPr/>
          <p:nvPr userDrawn="1"/>
        </p:nvCxnSpPr>
        <p:spPr>
          <a:xfrm>
            <a:off x="0" y="952500"/>
            <a:ext cx="12192000" cy="0"/>
          </a:xfrm>
          <a:prstGeom prst="line">
            <a:avLst/>
          </a:prstGeom>
          <a:ln w="28575">
            <a:solidFill>
              <a:schemeClr val="bg1">
                <a:lumMod val="65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9" name="Date Placeholder 3">
            <a:extLst>
              <a:ext uri="{FF2B5EF4-FFF2-40B4-BE49-F238E27FC236}">
                <a16:creationId xmlns:a16="http://schemas.microsoft.com/office/drawing/2014/main" id="{C1792BCB-040A-49BC-A0ED-C9C16E761D9B}"/>
              </a:ext>
            </a:extLst>
          </p:cNvPr>
          <p:cNvSpPr>
            <a:spLocks noGrp="1"/>
          </p:cNvSpPr>
          <p:nvPr>
            <p:ph type="dt" sz="half" idx="2"/>
          </p:nvPr>
        </p:nvSpPr>
        <p:spPr>
          <a:xfrm>
            <a:off x="609600" y="6587416"/>
            <a:ext cx="3225800" cy="182880"/>
          </a:xfrm>
          <a:prstGeom prst="rect">
            <a:avLst/>
          </a:prstGeom>
        </p:spPr>
        <p:txBody>
          <a:bodyPr vert="horz" lIns="91440" tIns="45720" rIns="91440" bIns="45720" rtlCol="0" anchor="ctr"/>
          <a:lstStyle>
            <a:lvl1pPr algn="l">
              <a:defRPr sz="875">
                <a:solidFill>
                  <a:schemeClr val="tx1">
                    <a:lumMod val="65000"/>
                    <a:lumOff val="35000"/>
                  </a:schemeClr>
                </a:solidFill>
                <a:latin typeface="+mj-lt"/>
                <a:cs typeface="DIN-Regular"/>
              </a:defRPr>
            </a:lvl1pPr>
          </a:lstStyle>
          <a:p>
            <a:pPr defTabSz="609632"/>
            <a:r>
              <a:rPr lang="en-US"/>
              <a:t>NGR 2.0 Update</a:t>
            </a:r>
          </a:p>
        </p:txBody>
      </p:sp>
    </p:spTree>
    <p:extLst>
      <p:ext uri="{BB962C8B-B14F-4D97-AF65-F5344CB8AC3E}">
        <p14:creationId xmlns:p14="http://schemas.microsoft.com/office/powerpoint/2010/main" val="25536679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1164-2689-4B04-A14D-663DC3C68C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04A100-B2B2-45BE-96E9-F8B160175F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CF06FB-F3FA-474B-B61F-890F62C6DE41}"/>
              </a:ext>
            </a:extLst>
          </p:cNvPr>
          <p:cNvSpPr>
            <a:spLocks noGrp="1"/>
          </p:cNvSpPr>
          <p:nvPr>
            <p:ph type="dt" sz="half" idx="10"/>
          </p:nvPr>
        </p:nvSpPr>
        <p:spPr/>
        <p:txBody>
          <a:bodyPr/>
          <a:lstStyle/>
          <a:p>
            <a:fld id="{FA2A8E6B-F39B-4BF3-89EE-863A77EC9768}" type="datetimeFigureOut">
              <a:rPr lang="en-US" smtClean="0"/>
              <a:t>9/1/2026</a:t>
            </a:fld>
            <a:endParaRPr lang="en-US"/>
          </a:p>
        </p:txBody>
      </p:sp>
      <p:sp>
        <p:nvSpPr>
          <p:cNvPr id="5" name="Footer Placeholder 4">
            <a:extLst>
              <a:ext uri="{FF2B5EF4-FFF2-40B4-BE49-F238E27FC236}">
                <a16:creationId xmlns:a16="http://schemas.microsoft.com/office/drawing/2014/main" id="{5D3F092D-ABCE-47DF-80D7-63345455A5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FECF73-1BE8-4F62-BC17-35C9738919B4}"/>
              </a:ext>
            </a:extLst>
          </p:cNvPr>
          <p:cNvSpPr>
            <a:spLocks noGrp="1"/>
          </p:cNvSpPr>
          <p:nvPr>
            <p:ph type="sldNum" sz="quarter" idx="12"/>
          </p:nvPr>
        </p:nvSpPr>
        <p:spPr/>
        <p:txBody>
          <a:bodyPr/>
          <a:lstStyle/>
          <a:p>
            <a:fld id="{D971A409-23A3-4AF0-A159-253EC4F4097F}" type="slidenum">
              <a:rPr lang="en-US" smtClean="0"/>
              <a:t>‹#›</a:t>
            </a:fld>
            <a:endParaRPr lang="en-US"/>
          </a:p>
        </p:txBody>
      </p:sp>
    </p:spTree>
    <p:extLst>
      <p:ext uri="{BB962C8B-B14F-4D97-AF65-F5344CB8AC3E}">
        <p14:creationId xmlns:p14="http://schemas.microsoft.com/office/powerpoint/2010/main" val="3091130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914400"/>
          </a:xfrm>
          <a:prstGeom prst="rect">
            <a:avLst/>
          </a:prstGeom>
          <a:solidFill>
            <a:srgbClr val="E1272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sp>
        <p:nvSpPr>
          <p:cNvPr id="2" name="Title Placeholder 1"/>
          <p:cNvSpPr>
            <a:spLocks noGrp="1"/>
          </p:cNvSpPr>
          <p:nvPr>
            <p:ph type="title"/>
          </p:nvPr>
        </p:nvSpPr>
        <p:spPr>
          <a:xfrm>
            <a:off x="609600" y="45720"/>
            <a:ext cx="11097208" cy="82296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609600" y="1371564"/>
            <a:ext cx="10972800" cy="48612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587416"/>
            <a:ext cx="2844800" cy="182880"/>
          </a:xfrm>
          <a:prstGeom prst="rect">
            <a:avLst/>
          </a:prstGeom>
        </p:spPr>
        <p:txBody>
          <a:bodyPr vert="horz" lIns="91440" tIns="45720" rIns="91440" bIns="45720" rtlCol="0" anchor="ctr"/>
          <a:lstStyle>
            <a:lvl1pPr algn="l">
              <a:defRPr sz="800">
                <a:solidFill>
                  <a:srgbClr val="86786F"/>
                </a:solidFill>
                <a:latin typeface="DIN-Regular"/>
                <a:cs typeface="DIN-Regular"/>
              </a:defRPr>
            </a:lvl1pPr>
          </a:lstStyle>
          <a:p>
            <a:pPr defTabSz="457200"/>
            <a:r>
              <a:rPr lang="en-US"/>
              <a:t>SAPR R&amp;D Strategy Review Template</a:t>
            </a:r>
          </a:p>
        </p:txBody>
      </p:sp>
      <p:sp>
        <p:nvSpPr>
          <p:cNvPr id="5" name="Footer Placeholder 4"/>
          <p:cNvSpPr>
            <a:spLocks noGrp="1"/>
          </p:cNvSpPr>
          <p:nvPr>
            <p:ph type="ftr" sz="quarter" idx="3"/>
          </p:nvPr>
        </p:nvSpPr>
        <p:spPr>
          <a:xfrm>
            <a:off x="4165600" y="6587416"/>
            <a:ext cx="3860800" cy="182880"/>
          </a:xfrm>
          <a:prstGeom prst="rect">
            <a:avLst/>
          </a:prstGeom>
        </p:spPr>
        <p:txBody>
          <a:bodyPr vert="horz" lIns="91440" tIns="45720" rIns="91440" bIns="45720" rtlCol="0" anchor="ctr"/>
          <a:lstStyle>
            <a:lvl1pPr algn="ctr">
              <a:defRPr sz="800">
                <a:solidFill>
                  <a:srgbClr val="86786F"/>
                </a:solidFill>
                <a:latin typeface="DIN-Regular"/>
                <a:cs typeface="DIN-Regular"/>
              </a:defRPr>
            </a:lvl1pPr>
          </a:lstStyle>
          <a:p>
            <a:pPr defTabSz="457200"/>
            <a:r>
              <a:rPr lang="en-US"/>
              <a:t>Company Confidential  ©2014 Eli Lilly and Company </a:t>
            </a:r>
          </a:p>
        </p:txBody>
      </p:sp>
      <p:sp>
        <p:nvSpPr>
          <p:cNvPr id="6" name="Slide Number Placeholder 5"/>
          <p:cNvSpPr>
            <a:spLocks noGrp="1"/>
          </p:cNvSpPr>
          <p:nvPr>
            <p:ph type="sldNum" sz="quarter" idx="4"/>
          </p:nvPr>
        </p:nvSpPr>
        <p:spPr>
          <a:xfrm>
            <a:off x="8737600" y="6587416"/>
            <a:ext cx="2844800" cy="182880"/>
          </a:xfrm>
          <a:prstGeom prst="rect">
            <a:avLst/>
          </a:prstGeom>
        </p:spPr>
        <p:txBody>
          <a:bodyPr vert="horz" lIns="91440" tIns="45720" rIns="91440" bIns="45720" rtlCol="0" anchor="ctr"/>
          <a:lstStyle>
            <a:lvl1pPr algn="r">
              <a:defRPr sz="800">
                <a:solidFill>
                  <a:srgbClr val="86786F"/>
                </a:solidFill>
                <a:latin typeface="DIN-Regular"/>
                <a:cs typeface="DIN-Regular"/>
              </a:defRPr>
            </a:lvl1pPr>
          </a:lstStyle>
          <a:p>
            <a:pPr defTabSz="457200"/>
            <a:fld id="{1DA079B0-34FF-9449-83ED-AEDF3F6C1CC6}" type="slidenum">
              <a:rPr lang="en-US" smtClean="0"/>
              <a:pPr defTabSz="457200"/>
              <a:t>‹#›</a:t>
            </a:fld>
            <a:endParaRPr lang="en-US"/>
          </a:p>
        </p:txBody>
      </p:sp>
    </p:spTree>
    <p:extLst>
      <p:ext uri="{BB962C8B-B14F-4D97-AF65-F5344CB8AC3E}">
        <p14:creationId xmlns:p14="http://schemas.microsoft.com/office/powerpoint/2010/main" val="39303597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81" r:id="rId8"/>
    <p:sldLayoutId id="2147483696" r:id="rId9"/>
  </p:sldLayoutIdLst>
  <p:hf hdr="0"/>
  <p:txStyles>
    <p:titleStyle>
      <a:lvl1pPr algn="l" defTabSz="457200" rtl="0" eaLnBrk="1" latinLnBrk="0" hangingPunct="1">
        <a:spcBef>
          <a:spcPct val="0"/>
        </a:spcBef>
        <a:buNone/>
        <a:defRPr sz="3600" b="0" i="0" kern="1200">
          <a:solidFill>
            <a:schemeClr val="bg1"/>
          </a:solidFill>
          <a:latin typeface="DIN-Bold"/>
          <a:ea typeface="+mj-ea"/>
          <a:cs typeface="DIN-Bold"/>
        </a:defRPr>
      </a:lvl1pPr>
    </p:titleStyle>
    <p:bodyStyle>
      <a:lvl1pPr marL="342900" indent="-342900" algn="l" defTabSz="457200" rtl="0" eaLnBrk="1" latinLnBrk="0" hangingPunct="1">
        <a:spcBef>
          <a:spcPct val="20000"/>
        </a:spcBef>
        <a:buFont typeface="Arial"/>
        <a:buChar char="•"/>
        <a:defRPr sz="3200" kern="1200">
          <a:solidFill>
            <a:srgbClr val="86786F"/>
          </a:solidFill>
          <a:latin typeface="DIN-Regular"/>
          <a:ea typeface="+mn-ea"/>
          <a:cs typeface="DIN-Regular"/>
        </a:defRPr>
      </a:lvl1pPr>
      <a:lvl2pPr marL="742950" indent="-285750" algn="l" defTabSz="457200" rtl="0" eaLnBrk="1" latinLnBrk="0" hangingPunct="1">
        <a:spcBef>
          <a:spcPct val="20000"/>
        </a:spcBef>
        <a:buFont typeface="Arial"/>
        <a:buChar char="–"/>
        <a:defRPr sz="2800" kern="1200">
          <a:solidFill>
            <a:srgbClr val="86786F"/>
          </a:solidFill>
          <a:latin typeface="DIN-Regular"/>
          <a:ea typeface="+mn-ea"/>
          <a:cs typeface="DIN-Regular"/>
        </a:defRPr>
      </a:lvl2pPr>
      <a:lvl3pPr marL="1143000" indent="-228600" algn="l" defTabSz="457200" rtl="0" eaLnBrk="1" latinLnBrk="0" hangingPunct="1">
        <a:spcBef>
          <a:spcPct val="20000"/>
        </a:spcBef>
        <a:buFont typeface="Arial"/>
        <a:buChar char="•"/>
        <a:defRPr sz="2400" kern="1200">
          <a:solidFill>
            <a:srgbClr val="86786F"/>
          </a:solidFill>
          <a:latin typeface="DIN-Regular"/>
          <a:ea typeface="+mn-ea"/>
          <a:cs typeface="DIN-Regular"/>
        </a:defRPr>
      </a:lvl3pPr>
      <a:lvl4pPr marL="1600200" indent="-228600" algn="l" defTabSz="457200" rtl="0" eaLnBrk="1" latinLnBrk="0" hangingPunct="1">
        <a:spcBef>
          <a:spcPct val="20000"/>
        </a:spcBef>
        <a:buFont typeface="Arial"/>
        <a:buChar char="–"/>
        <a:defRPr sz="2000" kern="1200">
          <a:solidFill>
            <a:srgbClr val="86786F"/>
          </a:solidFill>
          <a:latin typeface="DIN-Regular"/>
          <a:ea typeface="+mn-ea"/>
          <a:cs typeface="DIN-Regular"/>
        </a:defRPr>
      </a:lvl4pPr>
      <a:lvl5pPr marL="2057400" indent="-228600" algn="l" defTabSz="457200" rtl="0" eaLnBrk="1" latinLnBrk="0" hangingPunct="1">
        <a:spcBef>
          <a:spcPct val="20000"/>
        </a:spcBef>
        <a:buFont typeface="Arial"/>
        <a:buChar char="»"/>
        <a:defRPr sz="2000" kern="1200">
          <a:solidFill>
            <a:srgbClr val="86786F"/>
          </a:solidFill>
          <a:latin typeface="DIN-Regular"/>
          <a:ea typeface="+mn-ea"/>
          <a:cs typeface="DIN-Regular"/>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0C2F4E-FE61-BFAF-24DA-90BAFE63A8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28A076-6169-03B3-65F6-9D3D4DFFE9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6A2524-2570-60B2-7215-90B061C974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E4ED2D-D6C5-4A23-B8B3-294EB6847D09}" type="datetimeFigureOut">
              <a:rPr lang="en-US" smtClean="0"/>
              <a:t>9/1/2026</a:t>
            </a:fld>
            <a:endParaRPr lang="en-US"/>
          </a:p>
        </p:txBody>
      </p:sp>
      <p:sp>
        <p:nvSpPr>
          <p:cNvPr id="5" name="Footer Placeholder 4">
            <a:extLst>
              <a:ext uri="{FF2B5EF4-FFF2-40B4-BE49-F238E27FC236}">
                <a16:creationId xmlns:a16="http://schemas.microsoft.com/office/drawing/2014/main" id="{D1D1B823-896B-6387-5713-008146480B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5516068-F592-4EF8-C90F-6EF8A1F35D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E6033F-A590-4A26-AD1E-0C1C9F0EEA29}" type="slidenum">
              <a:rPr lang="en-US" smtClean="0"/>
              <a:t>‹#›</a:t>
            </a:fld>
            <a:endParaRPr lang="en-US"/>
          </a:p>
        </p:txBody>
      </p:sp>
    </p:spTree>
    <p:extLst>
      <p:ext uri="{BB962C8B-B14F-4D97-AF65-F5344CB8AC3E}">
        <p14:creationId xmlns:p14="http://schemas.microsoft.com/office/powerpoint/2010/main" val="116233640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72F3A2-E021-431C-8F4A-FDA52DE81ABC}"/>
              </a:ext>
            </a:extLst>
          </p:cNvPr>
          <p:cNvSpPr>
            <a:spLocks noGrp="1"/>
          </p:cNvSpPr>
          <p:nvPr>
            <p:ph type="title"/>
          </p:nvPr>
        </p:nvSpPr>
        <p:spPr>
          <a:xfrm>
            <a:off x="838201" y="863601"/>
            <a:ext cx="10515600" cy="848147"/>
          </a:xfrm>
          <a:prstGeom prst="rect">
            <a:avLst/>
          </a:prstGeom>
        </p:spPr>
        <p:txBody>
          <a:bodyPr vert="horz" lIns="0" tIns="0" rIns="0" bIns="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DA7EB066-CA6F-4540-8238-EEECD86F5CE5}"/>
              </a:ext>
            </a:extLst>
          </p:cNvPr>
          <p:cNvSpPr>
            <a:spLocks noGrp="1"/>
          </p:cNvSpPr>
          <p:nvPr>
            <p:ph type="body" idx="1"/>
          </p:nvPr>
        </p:nvSpPr>
        <p:spPr>
          <a:xfrm>
            <a:off x="838200" y="1825626"/>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4153C0D6-05CD-455A-9098-E1D605E6908E}"/>
              </a:ext>
            </a:extLst>
          </p:cNvPr>
          <p:cNvGrpSpPr/>
          <p:nvPr userDrawn="1"/>
        </p:nvGrpSpPr>
        <p:grpSpPr>
          <a:xfrm>
            <a:off x="489263" y="504094"/>
            <a:ext cx="11213476" cy="5873261"/>
            <a:chOff x="489263" y="504093"/>
            <a:chExt cx="11213476" cy="5873261"/>
          </a:xfrm>
        </p:grpSpPr>
        <p:cxnSp>
          <p:nvCxnSpPr>
            <p:cNvPr id="22" name="Straight Connector 21">
              <a:extLst>
                <a:ext uri="{FF2B5EF4-FFF2-40B4-BE49-F238E27FC236}">
                  <a16:creationId xmlns:a16="http://schemas.microsoft.com/office/drawing/2014/main" id="{2DF29578-6C05-4A31-8EB2-1D5456908B81}"/>
                </a:ext>
              </a:extLst>
            </p:cNvPr>
            <p:cNvCxnSpPr>
              <a:cxnSpLocks/>
            </p:cNvCxnSpPr>
            <p:nvPr userDrawn="1"/>
          </p:nvCxnSpPr>
          <p:spPr>
            <a:xfrm>
              <a:off x="489263" y="504093"/>
              <a:ext cx="1121347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3D5781-DD13-44B1-BB02-D5A2222B0CC3}"/>
                </a:ext>
              </a:extLst>
            </p:cNvPr>
            <p:cNvCxnSpPr>
              <a:cxnSpLocks/>
            </p:cNvCxnSpPr>
            <p:nvPr userDrawn="1"/>
          </p:nvCxnSpPr>
          <p:spPr>
            <a:xfrm>
              <a:off x="489263" y="6377354"/>
              <a:ext cx="11213476"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4" name="Slide Number Placeholder 5">
            <a:extLst>
              <a:ext uri="{FF2B5EF4-FFF2-40B4-BE49-F238E27FC236}">
                <a16:creationId xmlns:a16="http://schemas.microsoft.com/office/drawing/2014/main" id="{ECAFA645-7C71-4C13-A036-0C33CAD63E9A}"/>
              </a:ext>
            </a:extLst>
          </p:cNvPr>
          <p:cNvSpPr>
            <a:spLocks noGrp="1"/>
          </p:cNvSpPr>
          <p:nvPr>
            <p:ph type="sldNum" sz="quarter" idx="4"/>
          </p:nvPr>
        </p:nvSpPr>
        <p:spPr>
          <a:xfrm>
            <a:off x="495302" y="6394048"/>
            <a:ext cx="295274" cy="269942"/>
          </a:xfrm>
          <a:prstGeom prst="rect">
            <a:avLst/>
          </a:prstGeom>
        </p:spPr>
        <p:txBody>
          <a:bodyPr vert="horz" wrap="none" lIns="0" tIns="0" rIns="0" bIns="0" rtlCol="0" anchor="ctr" anchorCtr="0"/>
          <a:lstStyle>
            <a:lvl1pPr algn="l">
              <a:defRPr sz="800">
                <a:solidFill>
                  <a:schemeClr val="accent3"/>
                </a:solidFill>
                <a:latin typeface="DIN Pro" panose="02000503040000020003" pitchFamily="50" charset="0"/>
                <a:ea typeface="DIN Pro" panose="02000503040000020003" pitchFamily="50" charset="0"/>
              </a:defRPr>
            </a:lvl1pPr>
          </a:lstStyle>
          <a:p>
            <a:fld id="{7E80B146-301A-481F-8D59-328DC994CDDA}" type="slidenum">
              <a:rPr lang="en-US" smtClean="0"/>
              <a:pPr/>
              <a:t>‹#›</a:t>
            </a:fld>
            <a:endParaRPr lang="en-US"/>
          </a:p>
        </p:txBody>
      </p:sp>
      <p:sp>
        <p:nvSpPr>
          <p:cNvPr id="27" name="Footer Placeholder 26">
            <a:extLst>
              <a:ext uri="{FF2B5EF4-FFF2-40B4-BE49-F238E27FC236}">
                <a16:creationId xmlns:a16="http://schemas.microsoft.com/office/drawing/2014/main" id="{8913E649-D660-48EE-A10A-A3152E8B0718}"/>
              </a:ext>
            </a:extLst>
          </p:cNvPr>
          <p:cNvSpPr>
            <a:spLocks noGrp="1"/>
          </p:cNvSpPr>
          <p:nvPr>
            <p:ph type="ftr" sz="quarter" idx="3"/>
          </p:nvPr>
        </p:nvSpPr>
        <p:spPr>
          <a:xfrm>
            <a:off x="838200" y="6394048"/>
            <a:ext cx="4114800" cy="269942"/>
          </a:xfrm>
          <a:prstGeom prst="rect">
            <a:avLst/>
          </a:prstGeom>
        </p:spPr>
        <p:txBody>
          <a:bodyPr vert="horz" wrap="none" lIns="0" tIns="0" rIns="0" bIns="0" rtlCol="0" anchor="ctr" anchorCtr="0"/>
          <a:lstStyle>
            <a:lvl1pPr>
              <a:defRPr lang="en-US" sz="800" dirty="0">
                <a:solidFill>
                  <a:schemeClr val="accent3"/>
                </a:solidFill>
                <a:latin typeface="DIN Pro" panose="02000503040000020003" pitchFamily="50" charset="0"/>
                <a:ea typeface="DIN Pro" panose="02000503040000020003" pitchFamily="50" charset="0"/>
              </a:defRPr>
            </a:lvl1pPr>
          </a:lstStyle>
          <a:p>
            <a:r>
              <a:rPr lang="en-US"/>
              <a:t>Company Confidential  ©2022 Eli Lilly and Company </a:t>
            </a:r>
          </a:p>
        </p:txBody>
      </p:sp>
      <p:sp>
        <p:nvSpPr>
          <p:cNvPr id="16" name="TextBox 15">
            <a:extLst>
              <a:ext uri="{FF2B5EF4-FFF2-40B4-BE49-F238E27FC236}">
                <a16:creationId xmlns:a16="http://schemas.microsoft.com/office/drawing/2014/main" id="{B9F0DED6-4B4F-4598-B552-DAAB5F1B07C3}"/>
              </a:ext>
            </a:extLst>
          </p:cNvPr>
          <p:cNvSpPr txBox="1"/>
          <p:nvPr userDrawn="1"/>
        </p:nvSpPr>
        <p:spPr>
          <a:xfrm>
            <a:off x="9448038" y="6394048"/>
            <a:ext cx="3048762" cy="307777"/>
          </a:xfrm>
          <a:prstGeom prst="rect">
            <a:avLst/>
          </a:prstGeom>
          <a:noFill/>
        </p:spPr>
        <p:txBody>
          <a:bodyPr wrap="square">
            <a:spAutoFit/>
          </a:bodyPr>
          <a:lstStyle/>
          <a:p>
            <a:r>
              <a:rPr lang="en-US" sz="1400">
                <a:solidFill>
                  <a:srgbClr val="EE342A"/>
                </a:solidFill>
                <a:latin typeface="DIN Pro" panose="02000503040000020003" pitchFamily="50" charset="0"/>
              </a:rPr>
              <a:t>Lilly</a:t>
            </a:r>
            <a:r>
              <a:rPr lang="en-US" sz="1400">
                <a:solidFill>
                  <a:schemeClr val="tx1">
                    <a:lumMod val="50000"/>
                  </a:schemeClr>
                </a:solidFill>
                <a:latin typeface="DIN Pro" panose="02000503040000020003" pitchFamily="50" charset="0"/>
              </a:rPr>
              <a:t> | Next Generation R&amp;D</a:t>
            </a:r>
          </a:p>
        </p:txBody>
      </p:sp>
    </p:spTree>
    <p:extLst>
      <p:ext uri="{BB962C8B-B14F-4D97-AF65-F5344CB8AC3E}">
        <p14:creationId xmlns:p14="http://schemas.microsoft.com/office/powerpoint/2010/main" val="39416340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Lst>
  <p:hf hdr="0" dt="0"/>
  <p:txStyles>
    <p:titleStyle>
      <a:lvl1pPr algn="l" defTabSz="914538" rtl="0" eaLnBrk="1" latinLnBrk="0" hangingPunct="1">
        <a:lnSpc>
          <a:spcPct val="90000"/>
        </a:lnSpc>
        <a:spcBef>
          <a:spcPct val="0"/>
        </a:spcBef>
        <a:buNone/>
        <a:defRPr sz="3600" b="1" kern="1200">
          <a:solidFill>
            <a:srgbClr val="D52B1E"/>
          </a:solidFill>
          <a:latin typeface="DIN Pro" panose="02000503040000020003" pitchFamily="50" charset="0"/>
          <a:ea typeface="+mj-ea"/>
          <a:cs typeface="Arial" panose="020B0604020202020204" pitchFamily="34" charset="0"/>
        </a:defRPr>
      </a:lvl1pPr>
    </p:titleStyle>
    <p:bodyStyle>
      <a:lvl1pPr marL="0" indent="0" algn="l" defTabSz="914538" rtl="0" eaLnBrk="1" latinLnBrk="0" hangingPunct="1">
        <a:lnSpc>
          <a:spcPct val="114000"/>
        </a:lnSpc>
        <a:spcBef>
          <a:spcPts val="1000"/>
        </a:spcBef>
        <a:buFont typeface="Arial" panose="020B0604020202020204" pitchFamily="34" charset="0"/>
        <a:buNone/>
        <a:defRPr sz="1400" b="1" kern="1200" cap="all" baseline="0">
          <a:solidFill>
            <a:schemeClr val="tx2"/>
          </a:solidFill>
          <a:latin typeface="DIN Pro" panose="02000503040000020003" pitchFamily="50" charset="0"/>
          <a:ea typeface="+mn-ea"/>
          <a:cs typeface="Arial" panose="020B0604020202020204" pitchFamily="34" charset="0"/>
        </a:defRPr>
      </a:lvl1pPr>
      <a:lvl2pPr marL="228635" indent="-228635" algn="l" defTabSz="914538" rtl="0" eaLnBrk="1" latinLnBrk="0" hangingPunct="1">
        <a:lnSpc>
          <a:spcPct val="114000"/>
        </a:lnSpc>
        <a:spcBef>
          <a:spcPts val="500"/>
        </a:spcBef>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2pPr>
      <a:lvl3pPr marL="514428" indent="-228635" algn="l" defTabSz="914538" rtl="0" eaLnBrk="1" latinLnBrk="0" hangingPunct="1">
        <a:lnSpc>
          <a:spcPct val="114000"/>
        </a:lnSpc>
        <a:spcBef>
          <a:spcPts val="500"/>
        </a:spcBef>
        <a:buFont typeface="DIN Pro Light" panose="020B0504020101010102" pitchFamily="34" charset="0"/>
        <a:buChar char="–"/>
        <a:defRPr sz="1200" kern="1200">
          <a:solidFill>
            <a:schemeClr val="tx2"/>
          </a:solidFill>
          <a:latin typeface="DIN Pro" panose="02000503040000020003" pitchFamily="50" charset="0"/>
          <a:ea typeface="+mn-ea"/>
          <a:cs typeface="Arial" panose="020B0604020202020204" pitchFamily="34" charset="0"/>
        </a:defRPr>
      </a:lvl3pPr>
      <a:lvl4pPr marL="800220" indent="-228635" algn="l" defTabSz="914538" rtl="0" eaLnBrk="1" latinLnBrk="0" hangingPunct="1">
        <a:lnSpc>
          <a:spcPct val="114000"/>
        </a:lnSpc>
        <a:spcBef>
          <a:spcPts val="500"/>
        </a:spcBef>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4pPr>
      <a:lvl5pPr marL="1086012" indent="-228635" algn="l" defTabSz="914538" rtl="0" eaLnBrk="1" latinLnBrk="0" hangingPunct="1">
        <a:lnSpc>
          <a:spcPct val="114000"/>
        </a:lnSpc>
        <a:spcBef>
          <a:spcPts val="500"/>
        </a:spcBef>
        <a:buFont typeface="DIN Pro Light" panose="020B0504020101010102" pitchFamily="34" charset="0"/>
        <a:buChar char="–"/>
        <a:defRPr sz="1200" kern="1200">
          <a:solidFill>
            <a:schemeClr val="tx2"/>
          </a:solidFill>
          <a:latin typeface="DIN Pro" panose="02000503040000020003" pitchFamily="50" charset="0"/>
          <a:ea typeface="+mn-ea"/>
          <a:cs typeface="Arial" panose="020B0604020202020204" pitchFamily="34" charset="0"/>
        </a:defRPr>
      </a:lvl5pPr>
      <a:lvl6pPr marL="2514978"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247"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515"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782"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538" rtl="0" eaLnBrk="1" latinLnBrk="0" hangingPunct="1">
        <a:defRPr sz="1800" kern="1200">
          <a:solidFill>
            <a:schemeClr val="tx1"/>
          </a:solidFill>
          <a:latin typeface="+mn-lt"/>
          <a:ea typeface="+mn-ea"/>
          <a:cs typeface="+mn-cs"/>
        </a:defRPr>
      </a:lvl1pPr>
      <a:lvl2pPr marL="457269" algn="l" defTabSz="914538" rtl="0" eaLnBrk="1" latinLnBrk="0" hangingPunct="1">
        <a:defRPr sz="1800" kern="1200">
          <a:solidFill>
            <a:schemeClr val="tx1"/>
          </a:solidFill>
          <a:latin typeface="+mn-lt"/>
          <a:ea typeface="+mn-ea"/>
          <a:cs typeface="+mn-cs"/>
        </a:defRPr>
      </a:lvl2pPr>
      <a:lvl3pPr marL="914538" algn="l" defTabSz="914538" rtl="0" eaLnBrk="1" latinLnBrk="0" hangingPunct="1">
        <a:defRPr sz="1800" kern="1200">
          <a:solidFill>
            <a:schemeClr val="tx1"/>
          </a:solidFill>
          <a:latin typeface="+mn-lt"/>
          <a:ea typeface="+mn-ea"/>
          <a:cs typeface="+mn-cs"/>
        </a:defRPr>
      </a:lvl3pPr>
      <a:lvl4pPr marL="1371807" algn="l" defTabSz="914538" rtl="0" eaLnBrk="1" latinLnBrk="0" hangingPunct="1">
        <a:defRPr sz="1800" kern="1200">
          <a:solidFill>
            <a:schemeClr val="tx1"/>
          </a:solidFill>
          <a:latin typeface="+mn-lt"/>
          <a:ea typeface="+mn-ea"/>
          <a:cs typeface="+mn-cs"/>
        </a:defRPr>
      </a:lvl4pPr>
      <a:lvl5pPr marL="1829075" algn="l" defTabSz="914538" rtl="0" eaLnBrk="1" latinLnBrk="0" hangingPunct="1">
        <a:defRPr sz="1800" kern="1200">
          <a:solidFill>
            <a:schemeClr val="tx1"/>
          </a:solidFill>
          <a:latin typeface="+mn-lt"/>
          <a:ea typeface="+mn-ea"/>
          <a:cs typeface="+mn-cs"/>
        </a:defRPr>
      </a:lvl5pPr>
      <a:lvl6pPr marL="2286342" algn="l" defTabSz="914538" rtl="0" eaLnBrk="1" latinLnBrk="0" hangingPunct="1">
        <a:defRPr sz="1800" kern="1200">
          <a:solidFill>
            <a:schemeClr val="tx1"/>
          </a:solidFill>
          <a:latin typeface="+mn-lt"/>
          <a:ea typeface="+mn-ea"/>
          <a:cs typeface="+mn-cs"/>
        </a:defRPr>
      </a:lvl6pPr>
      <a:lvl7pPr marL="2743613" algn="l" defTabSz="914538" rtl="0" eaLnBrk="1" latinLnBrk="0" hangingPunct="1">
        <a:defRPr sz="1800" kern="1200">
          <a:solidFill>
            <a:schemeClr val="tx1"/>
          </a:solidFill>
          <a:latin typeface="+mn-lt"/>
          <a:ea typeface="+mn-ea"/>
          <a:cs typeface="+mn-cs"/>
        </a:defRPr>
      </a:lvl7pPr>
      <a:lvl8pPr marL="3200880" algn="l" defTabSz="914538" rtl="0" eaLnBrk="1" latinLnBrk="0" hangingPunct="1">
        <a:defRPr sz="1800" kern="1200">
          <a:solidFill>
            <a:schemeClr val="tx1"/>
          </a:solidFill>
          <a:latin typeface="+mn-lt"/>
          <a:ea typeface="+mn-ea"/>
          <a:cs typeface="+mn-cs"/>
        </a:defRPr>
      </a:lvl8pPr>
      <a:lvl9pPr marL="3658149" algn="l" defTabSz="91453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4" pos="10752">
          <p15:clr>
            <a:srgbClr val="F26B43"/>
          </p15:clr>
        </p15:guide>
        <p15:guide id="6" orient="horz" pos="816">
          <p15:clr>
            <a:srgbClr val="F26B43"/>
          </p15:clr>
        </p15:guide>
        <p15:guide id="7" pos="11064">
          <p15:clr>
            <a:srgbClr val="F26B43"/>
          </p15:clr>
        </p15:guide>
        <p15:guide id="8"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diagramLayout" Target="../diagrams/layout1.xml"/><Relationship Id="rId7" Type="http://schemas.openxmlformats.org/officeDocument/2006/relationships/image" Target="../media/image15.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18.svg"/><Relationship Id="rId4" Type="http://schemas.openxmlformats.org/officeDocument/2006/relationships/diagramQuickStyle" Target="../diagrams/quickStyle1.xml"/><Relationship Id="rId9" Type="http://schemas.openxmlformats.org/officeDocument/2006/relationships/image" Target="../media/image17.svg"/></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collab.lilly.com/:w:/r/sites/TA-PPM/Shared%20Documents/TA-PPM%20Onboarding%20Program/2024%20Onboarding%20Content%20for%20COO,%20PPM%20teams/WIP/Target%20to%20CI%20Checklist_FINAL.docx?d=wf91c4f2fc43a40deaa35adb0eef30d5b&amp;csf=1&amp;web=1&amp;e=FhjUhZ"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2.sv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hyperlink" Target="https://collab.lilly.com/:f:/r/sites/TA-PPM/Shared%20Documents/General/DSB/2023%20DSB%20and%20support%20documents/RD?csf=1&amp;web=1&amp;e=RkSH5v"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diagramLayout" Target="../diagrams/layout5.xml"/><Relationship Id="rId18" Type="http://schemas.openxmlformats.org/officeDocument/2006/relationships/diagramLayout" Target="../diagrams/layout6.xml"/><Relationship Id="rId3" Type="http://schemas.openxmlformats.org/officeDocument/2006/relationships/diagramLayout" Target="../diagrams/layout3.xml"/><Relationship Id="rId21" Type="http://schemas.microsoft.com/office/2007/relationships/diagramDrawing" Target="../diagrams/drawing6.xml"/><Relationship Id="rId7" Type="http://schemas.openxmlformats.org/officeDocument/2006/relationships/diagramData" Target="../diagrams/data4.xml"/><Relationship Id="rId12" Type="http://schemas.openxmlformats.org/officeDocument/2006/relationships/diagramData" Target="../diagrams/data5.xml"/><Relationship Id="rId17" Type="http://schemas.openxmlformats.org/officeDocument/2006/relationships/diagramData" Target="../diagrams/data6.xml"/><Relationship Id="rId2" Type="http://schemas.openxmlformats.org/officeDocument/2006/relationships/diagramData" Target="../diagrams/data3.xml"/><Relationship Id="rId16" Type="http://schemas.microsoft.com/office/2007/relationships/diagramDrawing" Target="../diagrams/drawing5.xml"/><Relationship Id="rId20" Type="http://schemas.openxmlformats.org/officeDocument/2006/relationships/diagramColors" Target="../diagrams/colors6.xml"/><Relationship Id="rId1" Type="http://schemas.openxmlformats.org/officeDocument/2006/relationships/slideLayout" Target="../slideLayouts/slideLayout7.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5" Type="http://schemas.openxmlformats.org/officeDocument/2006/relationships/diagramColors" Target="../diagrams/colors5.xml"/><Relationship Id="rId10" Type="http://schemas.openxmlformats.org/officeDocument/2006/relationships/diagramColors" Target="../diagrams/colors4.xml"/><Relationship Id="rId19" Type="http://schemas.openxmlformats.org/officeDocument/2006/relationships/diagramQuickStyle" Target="../diagrams/quickStyle6.xml"/><Relationship Id="rId4" Type="http://schemas.openxmlformats.org/officeDocument/2006/relationships/diagramQuickStyle" Target="../diagrams/quickStyle3.xml"/><Relationship Id="rId9" Type="http://schemas.openxmlformats.org/officeDocument/2006/relationships/diagramQuickStyle" Target="../diagrams/quickStyle4.xml"/><Relationship Id="rId14" Type="http://schemas.openxmlformats.org/officeDocument/2006/relationships/diagramQuickStyle" Target="../diagrams/quickStyle5.xml"/></Relationships>
</file>

<file path=ppt/slides/_rels/slide48.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00023-A3AA-9C51-802D-CB105D99657B}"/>
              </a:ext>
            </a:extLst>
          </p:cNvPr>
          <p:cNvSpPr>
            <a:spLocks noGrp="1"/>
          </p:cNvSpPr>
          <p:nvPr>
            <p:ph type="ctrTitle"/>
          </p:nvPr>
        </p:nvSpPr>
        <p:spPr/>
        <p:txBody>
          <a:bodyPr>
            <a:normAutofit/>
          </a:bodyPr>
          <a:lstStyle/>
          <a:p>
            <a:r>
              <a:rPr lang="en-US" sz="4400" b="1"/>
              <a:t>Discovery Project Management Overview</a:t>
            </a:r>
          </a:p>
        </p:txBody>
      </p:sp>
      <p:sp>
        <p:nvSpPr>
          <p:cNvPr id="3" name="Subtitle 2">
            <a:extLst>
              <a:ext uri="{FF2B5EF4-FFF2-40B4-BE49-F238E27FC236}">
                <a16:creationId xmlns:a16="http://schemas.microsoft.com/office/drawing/2014/main" id="{DADB9307-269D-05ED-00BA-C0CF5C977D58}"/>
              </a:ext>
            </a:extLst>
          </p:cNvPr>
          <p:cNvSpPr>
            <a:spLocks noGrp="1"/>
          </p:cNvSpPr>
          <p:nvPr>
            <p:ph type="subTitle" idx="1"/>
          </p:nvPr>
        </p:nvSpPr>
        <p:spPr/>
        <p:txBody>
          <a:bodyPr/>
          <a:lstStyle/>
          <a:p>
            <a:r>
              <a:rPr lang="en-US"/>
              <a:t>June 2024 Onboarding</a:t>
            </a:r>
          </a:p>
          <a:p>
            <a:endParaRPr lang="en-US" sz="2000"/>
          </a:p>
          <a:p>
            <a:endParaRPr lang="en-US" sz="2000"/>
          </a:p>
          <a:p>
            <a:r>
              <a:rPr lang="en-US" sz="2000"/>
              <a:t>May2024v2</a:t>
            </a:r>
          </a:p>
        </p:txBody>
      </p:sp>
      <p:sp>
        <p:nvSpPr>
          <p:cNvPr id="5" name="Footer Placeholder 4">
            <a:extLst>
              <a:ext uri="{FF2B5EF4-FFF2-40B4-BE49-F238E27FC236}">
                <a16:creationId xmlns:a16="http://schemas.microsoft.com/office/drawing/2014/main" id="{CE37D598-7B5F-3B2C-FB3C-BD2665D451F6}"/>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FEF35AF6-1FCC-D962-A4CA-CF016E65DF3E}"/>
              </a:ext>
            </a:extLst>
          </p:cNvPr>
          <p:cNvSpPr>
            <a:spLocks noGrp="1"/>
          </p:cNvSpPr>
          <p:nvPr>
            <p:ph type="sldNum" sz="quarter" idx="12"/>
          </p:nvPr>
        </p:nvSpPr>
        <p:spPr/>
        <p:txBody>
          <a:bodyPr/>
          <a:lstStyle/>
          <a:p>
            <a:fld id="{1DA079B0-34FF-9449-83ED-AEDF3F6C1CC6}" type="slidenum">
              <a:rPr lang="en-US" smtClean="0"/>
              <a:pPr/>
              <a:t>1</a:t>
            </a:fld>
            <a:endParaRPr lang="en-US"/>
          </a:p>
        </p:txBody>
      </p:sp>
    </p:spTree>
    <p:extLst>
      <p:ext uri="{BB962C8B-B14F-4D97-AF65-F5344CB8AC3E}">
        <p14:creationId xmlns:p14="http://schemas.microsoft.com/office/powerpoint/2010/main" val="3418943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2E74D-CE1D-5181-772C-3797F69C04B8}"/>
              </a:ext>
            </a:extLst>
          </p:cNvPr>
          <p:cNvSpPr>
            <a:spLocks noGrp="1"/>
          </p:cNvSpPr>
          <p:nvPr>
            <p:ph type="title"/>
          </p:nvPr>
        </p:nvSpPr>
        <p:spPr/>
        <p:txBody>
          <a:bodyPr/>
          <a:lstStyle/>
          <a:p>
            <a:r>
              <a:rPr lang="en-US" b="1"/>
              <a:t>Agenda topics</a:t>
            </a:r>
          </a:p>
        </p:txBody>
      </p:sp>
      <p:sp>
        <p:nvSpPr>
          <p:cNvPr id="3" name="Content Placeholder 2">
            <a:extLst>
              <a:ext uri="{FF2B5EF4-FFF2-40B4-BE49-F238E27FC236}">
                <a16:creationId xmlns:a16="http://schemas.microsoft.com/office/drawing/2014/main" id="{37FF3AA0-711B-3182-C50E-81EBD6E30141}"/>
              </a:ext>
            </a:extLst>
          </p:cNvPr>
          <p:cNvSpPr>
            <a:spLocks noGrp="1"/>
          </p:cNvSpPr>
          <p:nvPr>
            <p:ph sz="half" idx="1"/>
          </p:nvPr>
        </p:nvSpPr>
        <p:spPr>
          <a:xfrm>
            <a:off x="156118" y="1283403"/>
            <a:ext cx="6209990" cy="5106246"/>
          </a:xfrm>
        </p:spPr>
        <p:txBody>
          <a:bodyPr>
            <a:normAutofit fontScale="92500" lnSpcReduction="20000"/>
          </a:bodyPr>
          <a:lstStyle/>
          <a:p>
            <a:pPr marL="285750" indent="-285750">
              <a:buFont typeface="Arial" panose="020B0604020202020204" pitchFamily="34" charset="0"/>
              <a:buChar char="•"/>
            </a:pPr>
            <a:r>
              <a:rPr lang="en-US" sz="2400" b="1">
                <a:solidFill>
                  <a:schemeClr val="tx1"/>
                </a:solidFill>
              </a:rPr>
              <a:t>Intro to Discovery Project Management</a:t>
            </a:r>
          </a:p>
          <a:p>
            <a:pPr marL="742950" lvl="1" indent="-285750">
              <a:buFont typeface="Arial" panose="020B0604020202020204" pitchFamily="34" charset="0"/>
              <a:buChar char="•"/>
            </a:pPr>
            <a:r>
              <a:rPr lang="en-US" sz="1600" b="1">
                <a:solidFill>
                  <a:schemeClr val="tx1"/>
                </a:solidFill>
              </a:rPr>
              <a:t>How is it different?</a:t>
            </a:r>
          </a:p>
          <a:p>
            <a:pPr marL="285750" indent="-285750">
              <a:buFont typeface="Arial" panose="020B0604020202020204" pitchFamily="34" charset="0"/>
              <a:buChar char="•"/>
            </a:pPr>
            <a:r>
              <a:rPr lang="en-US" sz="2400" b="1">
                <a:solidFill>
                  <a:schemeClr val="tx1"/>
                </a:solidFill>
              </a:rPr>
              <a:t>Scope</a:t>
            </a:r>
          </a:p>
          <a:p>
            <a:pPr marL="742950" lvl="1" indent="-285750">
              <a:buFont typeface="Arial" panose="020B0604020202020204" pitchFamily="34" charset="0"/>
              <a:buChar char="•"/>
            </a:pPr>
            <a:r>
              <a:rPr lang="en-US" sz="1600" b="1">
                <a:solidFill>
                  <a:schemeClr val="tx1"/>
                </a:solidFill>
              </a:rPr>
              <a:t>Where does Discovery sit within the pipeline?</a:t>
            </a:r>
          </a:p>
          <a:p>
            <a:pPr marL="742950" lvl="1" indent="-285750">
              <a:buFont typeface="Arial" panose="020B0604020202020204" pitchFamily="34" charset="0"/>
              <a:buChar char="•"/>
            </a:pPr>
            <a:r>
              <a:rPr lang="en-US" sz="1600" b="1">
                <a:solidFill>
                  <a:schemeClr val="tx1"/>
                </a:solidFill>
              </a:rPr>
              <a:t>What do we do?</a:t>
            </a:r>
          </a:p>
          <a:p>
            <a:pPr marL="285750" indent="-285750">
              <a:buFont typeface="Arial" panose="020B0604020202020204" pitchFamily="34" charset="0"/>
              <a:buChar char="•"/>
            </a:pPr>
            <a:r>
              <a:rPr lang="en-US" sz="2400" b="1">
                <a:solidFill>
                  <a:schemeClr val="tx1"/>
                </a:solidFill>
              </a:rPr>
              <a:t>Pre-Portfolio</a:t>
            </a:r>
          </a:p>
          <a:p>
            <a:pPr marL="742950" lvl="1" indent="-285750">
              <a:buFont typeface="Arial" panose="020B0604020202020204" pitchFamily="34" charset="0"/>
              <a:buChar char="•"/>
            </a:pPr>
            <a:r>
              <a:rPr lang="en-US" sz="1600" b="1">
                <a:solidFill>
                  <a:schemeClr val="tx1"/>
                </a:solidFill>
              </a:rPr>
              <a:t>Pre-Portfolio module in Prism</a:t>
            </a:r>
          </a:p>
          <a:p>
            <a:pPr marL="1200150" lvl="2" indent="-285750">
              <a:buFont typeface="Arial" panose="020B0604020202020204" pitchFamily="34" charset="0"/>
              <a:buChar char="•"/>
            </a:pPr>
            <a:r>
              <a:rPr lang="en-US" sz="1600" b="1">
                <a:solidFill>
                  <a:schemeClr val="tx1"/>
                </a:solidFill>
              </a:rPr>
              <a:t>Adding new projects – when and how</a:t>
            </a:r>
          </a:p>
          <a:p>
            <a:pPr marL="742950" lvl="1" indent="-285750">
              <a:buFont typeface="Arial" panose="020B0604020202020204" pitchFamily="34" charset="0"/>
              <a:buChar char="•"/>
            </a:pPr>
            <a:r>
              <a:rPr lang="en-US" sz="1600" b="1">
                <a:solidFill>
                  <a:schemeClr val="tx1"/>
                </a:solidFill>
              </a:rPr>
              <a:t>TPC Dashboard</a:t>
            </a:r>
          </a:p>
          <a:p>
            <a:pPr marL="1200150" lvl="2" indent="-285750">
              <a:buFont typeface="Arial" panose="020B0604020202020204" pitchFamily="34" charset="0"/>
              <a:buChar char="•"/>
            </a:pPr>
            <a:r>
              <a:rPr lang="en-US" sz="1600" b="1">
                <a:solidFill>
                  <a:schemeClr val="tx1"/>
                </a:solidFill>
              </a:rPr>
              <a:t>Portfolio Entry timing</a:t>
            </a:r>
          </a:p>
          <a:p>
            <a:pPr marL="1200150" lvl="2" indent="-285750">
              <a:buFont typeface="Arial" panose="020B0604020202020204" pitchFamily="34" charset="0"/>
              <a:buChar char="•"/>
            </a:pPr>
            <a:r>
              <a:rPr lang="en-US" sz="1600" b="1">
                <a:solidFill>
                  <a:schemeClr val="tx1"/>
                </a:solidFill>
              </a:rPr>
              <a:t>Stakeholder management</a:t>
            </a:r>
          </a:p>
          <a:p>
            <a:pPr marL="285750" indent="-285750">
              <a:buFont typeface="Arial" panose="020B0604020202020204" pitchFamily="34" charset="0"/>
              <a:buChar char="•"/>
            </a:pPr>
            <a:r>
              <a:rPr lang="en-US" sz="2400" b="1">
                <a:solidFill>
                  <a:schemeClr val="tx1"/>
                </a:solidFill>
              </a:rPr>
              <a:t>Portfolio Entries</a:t>
            </a:r>
          </a:p>
          <a:p>
            <a:pPr marL="742950" lvl="1" indent="-285750">
              <a:buFont typeface="Arial" panose="020B0604020202020204" pitchFamily="34" charset="0"/>
              <a:buChar char="•"/>
            </a:pPr>
            <a:r>
              <a:rPr lang="en-US" sz="1600" b="1">
                <a:solidFill>
                  <a:schemeClr val="tx1"/>
                </a:solidFill>
              </a:rPr>
              <a:t>Timing</a:t>
            </a:r>
          </a:p>
          <a:p>
            <a:pPr marL="1200150" lvl="2" indent="-285750">
              <a:buFont typeface="Arial" panose="020B0604020202020204" pitchFamily="34" charset="0"/>
              <a:buChar char="•"/>
            </a:pPr>
            <a:r>
              <a:rPr lang="en-US" sz="1600" b="1">
                <a:solidFill>
                  <a:schemeClr val="tx1"/>
                </a:solidFill>
              </a:rPr>
              <a:t>Milestone management</a:t>
            </a:r>
          </a:p>
          <a:p>
            <a:pPr marL="742950" lvl="1" indent="-285750">
              <a:buFont typeface="Arial" panose="020B0604020202020204" pitchFamily="34" charset="0"/>
              <a:buChar char="•"/>
            </a:pPr>
            <a:r>
              <a:rPr lang="en-US" sz="1600" b="1">
                <a:solidFill>
                  <a:schemeClr val="tx1"/>
                </a:solidFill>
              </a:rPr>
              <a:t>Preparation activities (Checklist) – Process Overview</a:t>
            </a:r>
          </a:p>
          <a:p>
            <a:pPr marL="1200150" lvl="2" indent="-285750">
              <a:buFont typeface="Arial" panose="020B0604020202020204" pitchFamily="34" charset="0"/>
              <a:buChar char="•"/>
            </a:pPr>
            <a:r>
              <a:rPr lang="en-US" sz="1600" b="1">
                <a:solidFill>
                  <a:schemeClr val="tx1"/>
                </a:solidFill>
              </a:rPr>
              <a:t>Relationship Diagram creation</a:t>
            </a:r>
          </a:p>
          <a:p>
            <a:pPr marL="1657350" lvl="3" indent="-285750">
              <a:buFont typeface="Arial" panose="020B0604020202020204" pitchFamily="34" charset="0"/>
              <a:buChar char="•"/>
            </a:pPr>
            <a:r>
              <a:rPr lang="en-US" sz="1400" b="1">
                <a:solidFill>
                  <a:schemeClr val="tx1"/>
                </a:solidFill>
              </a:rPr>
              <a:t>DSBs</a:t>
            </a:r>
          </a:p>
          <a:p>
            <a:pPr marL="1657350" lvl="3" indent="-285750">
              <a:buFont typeface="Arial" panose="020B0604020202020204" pitchFamily="34" charset="0"/>
              <a:buChar char="•"/>
            </a:pPr>
            <a:r>
              <a:rPr lang="en-US" sz="1400" b="1">
                <a:solidFill>
                  <a:schemeClr val="tx1"/>
                </a:solidFill>
              </a:rPr>
              <a:t>New Modalities</a:t>
            </a:r>
          </a:p>
          <a:p>
            <a:pPr marL="1200150" lvl="2" indent="-285750">
              <a:buFont typeface="Arial" panose="020B0604020202020204" pitchFamily="34" charset="0"/>
              <a:buChar char="•"/>
            </a:pPr>
            <a:r>
              <a:rPr lang="en-US" sz="1600" b="1">
                <a:solidFill>
                  <a:schemeClr val="tx1"/>
                </a:solidFill>
              </a:rPr>
              <a:t>RUAT &amp; Budget creation</a:t>
            </a:r>
          </a:p>
          <a:p>
            <a:pPr marL="742950" lvl="1" indent="-285750">
              <a:buFont typeface="Arial" panose="020B0604020202020204" pitchFamily="34" charset="0"/>
              <a:buChar char="•"/>
            </a:pPr>
            <a:r>
              <a:rPr lang="en-US" sz="1600" b="1">
                <a:solidFill>
                  <a:schemeClr val="tx1"/>
                </a:solidFill>
              </a:rPr>
              <a:t>TPC meeting</a:t>
            </a:r>
          </a:p>
        </p:txBody>
      </p:sp>
      <p:sp>
        <p:nvSpPr>
          <p:cNvPr id="4" name="Content Placeholder 3">
            <a:extLst>
              <a:ext uri="{FF2B5EF4-FFF2-40B4-BE49-F238E27FC236}">
                <a16:creationId xmlns:a16="http://schemas.microsoft.com/office/drawing/2014/main" id="{283B4B43-7195-C9AE-A501-5B2C4A9C32C1}"/>
              </a:ext>
            </a:extLst>
          </p:cNvPr>
          <p:cNvSpPr>
            <a:spLocks noGrp="1"/>
          </p:cNvSpPr>
          <p:nvPr>
            <p:ph sz="half" idx="2"/>
          </p:nvPr>
        </p:nvSpPr>
        <p:spPr>
          <a:xfrm>
            <a:off x="6096000" y="1283403"/>
            <a:ext cx="5858108" cy="5106246"/>
          </a:xfrm>
        </p:spPr>
        <p:txBody>
          <a:bodyPr>
            <a:normAutofit fontScale="92500" lnSpcReduction="20000"/>
          </a:bodyPr>
          <a:lstStyle/>
          <a:p>
            <a:pPr marL="285750" indent="-285750">
              <a:buFont typeface="Arial" panose="020B0604020202020204" pitchFamily="34" charset="0"/>
              <a:buChar char="•"/>
            </a:pPr>
            <a:r>
              <a:rPr lang="en-US" sz="2400" b="1">
                <a:solidFill>
                  <a:schemeClr val="tx1"/>
                </a:solidFill>
              </a:rPr>
              <a:t>PE to CI:  Management of projects</a:t>
            </a:r>
          </a:p>
          <a:p>
            <a:pPr marL="742950" lvl="1" indent="-285750">
              <a:buFont typeface="Arial" panose="020B0604020202020204" pitchFamily="34" charset="0"/>
              <a:buChar char="•"/>
            </a:pPr>
            <a:r>
              <a:rPr lang="en-US" sz="1600" b="1">
                <a:solidFill>
                  <a:schemeClr val="tx1"/>
                </a:solidFill>
              </a:rPr>
              <a:t>Day-to-day  (Teams site, Core Team, Lead Team, Ops meetings; minutes)</a:t>
            </a:r>
          </a:p>
          <a:p>
            <a:pPr marL="742950" lvl="1" indent="-285750">
              <a:buFont typeface="Arial" panose="020B0604020202020204" pitchFamily="34" charset="0"/>
              <a:buChar char="•"/>
            </a:pPr>
            <a:r>
              <a:rPr lang="en-US" sz="1600" b="1">
                <a:solidFill>
                  <a:schemeClr val="tx1"/>
                </a:solidFill>
              </a:rPr>
              <a:t>Budget management in </a:t>
            </a:r>
            <a:r>
              <a:rPr lang="en-US" sz="1600" b="1" err="1">
                <a:solidFill>
                  <a:schemeClr val="tx1"/>
                </a:solidFill>
              </a:rPr>
              <a:t>Dicsovery</a:t>
            </a:r>
            <a:r>
              <a:rPr lang="en-US" sz="1600" b="1">
                <a:solidFill>
                  <a:schemeClr val="tx1"/>
                </a:solidFill>
              </a:rPr>
              <a:t>  – documentation and different use of tools</a:t>
            </a:r>
          </a:p>
          <a:p>
            <a:pPr marL="742950" lvl="1" indent="-285750">
              <a:buFont typeface="Arial" panose="020B0604020202020204" pitchFamily="34" charset="0"/>
              <a:buChar char="•"/>
            </a:pPr>
            <a:r>
              <a:rPr lang="en-US" sz="1600" b="1">
                <a:solidFill>
                  <a:schemeClr val="tx1"/>
                </a:solidFill>
              </a:rPr>
              <a:t>Timeline management</a:t>
            </a:r>
          </a:p>
          <a:p>
            <a:pPr marL="742950" lvl="1" indent="-285750">
              <a:buFont typeface="Arial" panose="020B0604020202020204" pitchFamily="34" charset="0"/>
              <a:buChar char="•"/>
            </a:pPr>
            <a:r>
              <a:rPr lang="en-US" sz="1600" b="1">
                <a:solidFill>
                  <a:schemeClr val="tx1"/>
                </a:solidFill>
              </a:rPr>
              <a:t>BOD meetings</a:t>
            </a:r>
          </a:p>
          <a:p>
            <a:endParaRPr lang="en-US" sz="2400" b="1">
              <a:solidFill>
                <a:schemeClr val="tx1"/>
              </a:solidFill>
            </a:endParaRPr>
          </a:p>
        </p:txBody>
      </p:sp>
      <p:sp>
        <p:nvSpPr>
          <p:cNvPr id="5" name="Star: 5 Points 4">
            <a:extLst>
              <a:ext uri="{FF2B5EF4-FFF2-40B4-BE49-F238E27FC236}">
                <a16:creationId xmlns:a16="http://schemas.microsoft.com/office/drawing/2014/main" id="{80F9F844-E43C-A47A-3415-3705A6C777AF}"/>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9059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D44B2-0CB7-FABA-7141-EE618AAB6AEF}"/>
              </a:ext>
            </a:extLst>
          </p:cNvPr>
          <p:cNvSpPr>
            <a:spLocks noGrp="1"/>
          </p:cNvSpPr>
          <p:nvPr>
            <p:ph type="title"/>
          </p:nvPr>
        </p:nvSpPr>
        <p:spPr/>
        <p:txBody>
          <a:bodyPr/>
          <a:lstStyle/>
          <a:p>
            <a:r>
              <a:rPr lang="en-US" b="1"/>
              <a:t>Discovery is Different</a:t>
            </a:r>
          </a:p>
        </p:txBody>
      </p:sp>
      <p:sp>
        <p:nvSpPr>
          <p:cNvPr id="3" name="Content Placeholder 2">
            <a:extLst>
              <a:ext uri="{FF2B5EF4-FFF2-40B4-BE49-F238E27FC236}">
                <a16:creationId xmlns:a16="http://schemas.microsoft.com/office/drawing/2014/main" id="{9BAD5AF2-310A-FB24-BC4D-D7D032C283AE}"/>
              </a:ext>
            </a:extLst>
          </p:cNvPr>
          <p:cNvSpPr>
            <a:spLocks noGrp="1"/>
          </p:cNvSpPr>
          <p:nvPr>
            <p:ph idx="1"/>
          </p:nvPr>
        </p:nvSpPr>
        <p:spPr>
          <a:xfrm>
            <a:off x="273319" y="970475"/>
            <a:ext cx="10286886" cy="5341115"/>
          </a:xfrm>
        </p:spPr>
        <p:txBody>
          <a:bodyPr vert="horz" lIns="91440" tIns="45720" rIns="91440" bIns="45720" rtlCol="0" anchor="t">
            <a:normAutofit lnSpcReduction="10000"/>
          </a:bodyPr>
          <a:lstStyle/>
          <a:p>
            <a:r>
              <a:rPr lang="en-US" sz="2400" dirty="0"/>
              <a:t>Different mindset:  Most dynamic and ambiguous space in the pipeline, due to the nature of science</a:t>
            </a:r>
          </a:p>
          <a:p>
            <a:pPr lvl="1"/>
            <a:r>
              <a:rPr lang="en-US" sz="2000" dirty="0"/>
              <a:t>Requires excellent leadership amidst ambiguity, application of good judgement, calm &amp; firm leadership style</a:t>
            </a:r>
          </a:p>
          <a:p>
            <a:pPr lvl="1"/>
            <a:r>
              <a:rPr lang="en-US" sz="2000" dirty="0"/>
              <a:t>Very dynamic, often ambiguous.  Discovery Project Managers partner closely with Discovery COOs to start adding some shape and structure to project teams, in preparation for Development</a:t>
            </a:r>
            <a:endParaRPr lang="en-US" sz="1600" dirty="0"/>
          </a:p>
          <a:p>
            <a:r>
              <a:rPr lang="en-US" sz="2400" dirty="0"/>
              <a:t>More Red CCI</a:t>
            </a:r>
          </a:p>
          <a:p>
            <a:pPr lvl="1"/>
            <a:r>
              <a:rPr lang="en-US" sz="2000" dirty="0"/>
              <a:t>Teams sites, slides, information; discernment required to assess “need to know”</a:t>
            </a:r>
          </a:p>
          <a:p>
            <a:pPr lvl="1"/>
            <a:r>
              <a:rPr lang="en-US" sz="2000" dirty="0"/>
              <a:t>Documentation – BOD minutes, partnered assets, </a:t>
            </a:r>
            <a:r>
              <a:rPr lang="en-US" sz="2000" dirty="0" err="1"/>
              <a:t>etc</a:t>
            </a:r>
            <a:r>
              <a:rPr lang="en-US" sz="2000" dirty="0"/>
              <a:t>  (pencils down!)</a:t>
            </a:r>
          </a:p>
          <a:p>
            <a:r>
              <a:rPr lang="en-US" sz="2400" dirty="0"/>
              <a:t>Prism “Superpowers”	</a:t>
            </a:r>
          </a:p>
          <a:p>
            <a:pPr lvl="1"/>
            <a:r>
              <a:rPr lang="en-US" sz="2000" dirty="0"/>
              <a:t>Discovery has Prism access similar to RM&amp;F/PMET</a:t>
            </a:r>
          </a:p>
          <a:p>
            <a:pPr lvl="2"/>
            <a:r>
              <a:rPr lang="en-US" sz="1800" dirty="0"/>
              <a:t>Best practice:  get PMET help with necessary Prism changes and record</a:t>
            </a:r>
          </a:p>
          <a:p>
            <a:pPr lvl="2"/>
            <a:r>
              <a:rPr lang="en-US" sz="1800" dirty="0"/>
              <a:t>Fail-safe when time is tight:  make changes and keep excellent records (RUATs, Change Management Info, etc. – improved process under discussion)</a:t>
            </a:r>
          </a:p>
          <a:p>
            <a:r>
              <a:rPr lang="en-US" sz="2400" dirty="0"/>
              <a:t>Tools and processes are different (see next slide)</a:t>
            </a:r>
          </a:p>
          <a:p>
            <a:pPr marL="457200" lvl="1" indent="0">
              <a:buNone/>
            </a:pPr>
            <a:endParaRPr lang="en-US" sz="2000" dirty="0"/>
          </a:p>
          <a:p>
            <a:pPr lvl="1"/>
            <a:endParaRPr lang="en-US" sz="2000" dirty="0"/>
          </a:p>
        </p:txBody>
      </p:sp>
      <p:sp>
        <p:nvSpPr>
          <p:cNvPr id="4" name="Date Placeholder 3">
            <a:extLst>
              <a:ext uri="{FF2B5EF4-FFF2-40B4-BE49-F238E27FC236}">
                <a16:creationId xmlns:a16="http://schemas.microsoft.com/office/drawing/2014/main" id="{627C8FA1-F867-9734-945F-7935171F0DBD}"/>
              </a:ext>
            </a:extLst>
          </p:cNvPr>
          <p:cNvSpPr>
            <a:spLocks noGrp="1"/>
          </p:cNvSpPr>
          <p:nvPr>
            <p:ph type="dt" sz="half" idx="10"/>
          </p:nvPr>
        </p:nvSpPr>
        <p:spPr/>
        <p:txBody>
          <a:bodyPr/>
          <a:lstStyle/>
          <a:p>
            <a:r>
              <a:rPr lang="en-US"/>
              <a:t>SAPR R&amp;D Strategy Review Template</a:t>
            </a:r>
          </a:p>
        </p:txBody>
      </p:sp>
      <p:sp>
        <p:nvSpPr>
          <p:cNvPr id="5" name="Footer Placeholder 4">
            <a:extLst>
              <a:ext uri="{FF2B5EF4-FFF2-40B4-BE49-F238E27FC236}">
                <a16:creationId xmlns:a16="http://schemas.microsoft.com/office/drawing/2014/main" id="{E43B5E60-33B2-0BD4-D1B3-08151AF5755C}"/>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267E0ED5-7596-CD20-2098-6D26ABF640EB}"/>
              </a:ext>
            </a:extLst>
          </p:cNvPr>
          <p:cNvSpPr>
            <a:spLocks noGrp="1"/>
          </p:cNvSpPr>
          <p:nvPr>
            <p:ph type="sldNum" sz="quarter" idx="12"/>
          </p:nvPr>
        </p:nvSpPr>
        <p:spPr/>
        <p:txBody>
          <a:bodyPr/>
          <a:lstStyle/>
          <a:p>
            <a:fld id="{1DA079B0-34FF-9449-83ED-AEDF3F6C1CC6}" type="slidenum">
              <a:rPr lang="en-US" smtClean="0"/>
              <a:pPr/>
              <a:t>3</a:t>
            </a:fld>
            <a:endParaRPr lang="en-US"/>
          </a:p>
        </p:txBody>
      </p:sp>
      <p:sp>
        <p:nvSpPr>
          <p:cNvPr id="8" name="Rectangle: Rounded Corners 7">
            <a:extLst>
              <a:ext uri="{FF2B5EF4-FFF2-40B4-BE49-F238E27FC236}">
                <a16:creationId xmlns:a16="http://schemas.microsoft.com/office/drawing/2014/main" id="{2FD6FAC1-7FDE-5B5E-9067-08C48ADE40EE}"/>
              </a:ext>
            </a:extLst>
          </p:cNvPr>
          <p:cNvSpPr/>
          <p:nvPr/>
        </p:nvSpPr>
        <p:spPr>
          <a:xfrm>
            <a:off x="10627113" y="1501344"/>
            <a:ext cx="1449658" cy="124893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b="1"/>
              <a:t>DON’T PANIC!</a:t>
            </a:r>
          </a:p>
        </p:txBody>
      </p:sp>
      <p:sp>
        <p:nvSpPr>
          <p:cNvPr id="18" name="Star: 5 Points 17">
            <a:extLst>
              <a:ext uri="{FF2B5EF4-FFF2-40B4-BE49-F238E27FC236}">
                <a16:creationId xmlns:a16="http://schemas.microsoft.com/office/drawing/2014/main" id="{AF2A0D71-82DD-3D64-386E-AA8AE1DF60FA}"/>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452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0FE06BA-1E2A-9D5D-B014-5F135DAFECC3}"/>
              </a:ext>
            </a:extLst>
          </p:cNvPr>
          <p:cNvSpPr>
            <a:spLocks noGrp="1"/>
          </p:cNvSpPr>
          <p:nvPr>
            <p:ph type="dt" sz="half" idx="10"/>
          </p:nvPr>
        </p:nvSpPr>
        <p:spPr/>
        <p:txBody>
          <a:bodyPr/>
          <a:lstStyle/>
          <a:p>
            <a:r>
              <a:rPr lang="en-US"/>
              <a:t>SAPR R&amp;D Strategy Review Template</a:t>
            </a:r>
          </a:p>
        </p:txBody>
      </p:sp>
      <p:sp>
        <p:nvSpPr>
          <p:cNvPr id="4" name="Footer Placeholder 3">
            <a:extLst>
              <a:ext uri="{FF2B5EF4-FFF2-40B4-BE49-F238E27FC236}">
                <a16:creationId xmlns:a16="http://schemas.microsoft.com/office/drawing/2014/main" id="{D9E96B0F-259F-FC82-A379-67501773767E}"/>
              </a:ext>
            </a:extLst>
          </p:cNvPr>
          <p:cNvSpPr>
            <a:spLocks noGrp="1"/>
          </p:cNvSpPr>
          <p:nvPr>
            <p:ph type="ftr" sz="quarter" idx="11"/>
          </p:nvPr>
        </p:nvSpPr>
        <p:spPr/>
        <p:txBody>
          <a:bodyPr/>
          <a:lstStyle/>
          <a:p>
            <a:r>
              <a:rPr lang="en-US"/>
              <a:t>Company Confidential  ©2014 Eli Lilly and Company </a:t>
            </a:r>
          </a:p>
        </p:txBody>
      </p:sp>
      <p:sp>
        <p:nvSpPr>
          <p:cNvPr id="5" name="Slide Number Placeholder 4">
            <a:extLst>
              <a:ext uri="{FF2B5EF4-FFF2-40B4-BE49-F238E27FC236}">
                <a16:creationId xmlns:a16="http://schemas.microsoft.com/office/drawing/2014/main" id="{B8E238A1-2163-486D-F8FA-909F7C14D1E5}"/>
              </a:ext>
            </a:extLst>
          </p:cNvPr>
          <p:cNvSpPr>
            <a:spLocks noGrp="1"/>
          </p:cNvSpPr>
          <p:nvPr>
            <p:ph type="sldNum" sz="quarter" idx="12"/>
          </p:nvPr>
        </p:nvSpPr>
        <p:spPr/>
        <p:txBody>
          <a:bodyPr/>
          <a:lstStyle/>
          <a:p>
            <a:fld id="{1DA079B0-34FF-9449-83ED-AEDF3F6C1CC6}" type="slidenum">
              <a:rPr lang="en-US" smtClean="0"/>
              <a:pPr/>
              <a:t>4</a:t>
            </a:fld>
            <a:endParaRPr lang="en-US"/>
          </a:p>
        </p:txBody>
      </p:sp>
      <p:graphicFrame>
        <p:nvGraphicFramePr>
          <p:cNvPr id="7" name="Table 6">
            <a:extLst>
              <a:ext uri="{FF2B5EF4-FFF2-40B4-BE49-F238E27FC236}">
                <a16:creationId xmlns:a16="http://schemas.microsoft.com/office/drawing/2014/main" id="{E60B447C-746A-A899-F785-FB9EF7C4087D}"/>
              </a:ext>
            </a:extLst>
          </p:cNvPr>
          <p:cNvGraphicFramePr>
            <a:graphicFrameLocks noGrp="1"/>
          </p:cNvGraphicFramePr>
          <p:nvPr>
            <p:extLst>
              <p:ext uri="{D42A27DB-BD31-4B8C-83A1-F6EECF244321}">
                <p14:modId xmlns:p14="http://schemas.microsoft.com/office/powerpoint/2010/main" val="2795416691"/>
              </p:ext>
            </p:extLst>
          </p:nvPr>
        </p:nvGraphicFramePr>
        <p:xfrm>
          <a:off x="0" y="929747"/>
          <a:ext cx="12191999" cy="6142640"/>
        </p:xfrm>
        <a:graphic>
          <a:graphicData uri="http://schemas.openxmlformats.org/drawingml/2006/table">
            <a:tbl>
              <a:tblPr firstRow="1" bandRow="1">
                <a:tableStyleId>{5C22544A-7EE6-4342-B048-85BDC9FD1C3A}</a:tableStyleId>
              </a:tblPr>
              <a:tblGrid>
                <a:gridCol w="2321119">
                  <a:extLst>
                    <a:ext uri="{9D8B030D-6E8A-4147-A177-3AD203B41FA5}">
                      <a16:colId xmlns:a16="http://schemas.microsoft.com/office/drawing/2014/main" val="212637950"/>
                    </a:ext>
                  </a:extLst>
                </a:gridCol>
                <a:gridCol w="2459330">
                  <a:extLst>
                    <a:ext uri="{9D8B030D-6E8A-4147-A177-3AD203B41FA5}">
                      <a16:colId xmlns:a16="http://schemas.microsoft.com/office/drawing/2014/main" val="3530003509"/>
                    </a:ext>
                  </a:extLst>
                </a:gridCol>
                <a:gridCol w="2634922">
                  <a:extLst>
                    <a:ext uri="{9D8B030D-6E8A-4147-A177-3AD203B41FA5}">
                      <a16:colId xmlns:a16="http://schemas.microsoft.com/office/drawing/2014/main" val="3843762119"/>
                    </a:ext>
                  </a:extLst>
                </a:gridCol>
                <a:gridCol w="4776628">
                  <a:extLst>
                    <a:ext uri="{9D8B030D-6E8A-4147-A177-3AD203B41FA5}">
                      <a16:colId xmlns:a16="http://schemas.microsoft.com/office/drawing/2014/main" val="1586391460"/>
                    </a:ext>
                  </a:extLst>
                </a:gridCol>
              </a:tblGrid>
              <a:tr h="369105">
                <a:tc>
                  <a:txBody>
                    <a:bodyPr/>
                    <a:lstStyle/>
                    <a:p>
                      <a:r>
                        <a:rPr lang="en-US" sz="1400"/>
                        <a:t>Tool/process</a:t>
                      </a:r>
                    </a:p>
                  </a:txBody>
                  <a:tcPr/>
                </a:tc>
                <a:tc>
                  <a:txBody>
                    <a:bodyPr/>
                    <a:lstStyle/>
                    <a:p>
                      <a:r>
                        <a:rPr lang="en-US" sz="1400"/>
                        <a:t>Discovery</a:t>
                      </a: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a:t>Early/Late Phase </a:t>
                      </a:r>
                    </a:p>
                  </a:txBody>
                  <a:tcPr/>
                </a:tc>
                <a:tc>
                  <a:txBody>
                    <a:bodyPr/>
                    <a:lstStyle/>
                    <a:p>
                      <a:r>
                        <a:rPr lang="en-US" sz="1400"/>
                        <a:t>Rationale</a:t>
                      </a:r>
                    </a:p>
                  </a:txBody>
                  <a:tcPr/>
                </a:tc>
                <a:extLst>
                  <a:ext uri="{0D108BD9-81ED-4DB2-BD59-A6C34878D82A}">
                    <a16:rowId xmlns:a16="http://schemas.microsoft.com/office/drawing/2014/main" val="1730119873"/>
                  </a:ext>
                </a:extLst>
              </a:tr>
              <a:tr h="502196">
                <a:tc>
                  <a:txBody>
                    <a:bodyPr/>
                    <a:lstStyle/>
                    <a:p>
                      <a:r>
                        <a:rPr lang="en-US" sz="1400"/>
                        <a:t>Stakeholder management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u="none" strike="noStrike" dirty="0">
                          <a:solidFill>
                            <a:schemeClr val="tx1"/>
                          </a:solidFill>
                        </a:rPr>
                        <a:t>Updates to Functions on Portfolio</a:t>
                      </a:r>
                    </a:p>
                  </a:txBody>
                  <a:tcPr/>
                </a:tc>
                <a:tc>
                  <a:txBody>
                    <a:bodyPr/>
                    <a:lstStyle/>
                    <a:p>
                      <a:endParaRPr lang="en-US" sz="1400" dirty="0"/>
                    </a:p>
                  </a:txBody>
                  <a:tcPr/>
                </a:tc>
                <a:tc>
                  <a:txBody>
                    <a:bodyPr/>
                    <a:lstStyle/>
                    <a:p>
                      <a:r>
                        <a:rPr lang="en-US" sz="1400"/>
                        <a:t>Project milestones and activities move frequently.  Functions need timely updates in order to resource our projects</a:t>
                      </a:r>
                    </a:p>
                  </a:txBody>
                  <a:tcPr/>
                </a:tc>
                <a:extLst>
                  <a:ext uri="{0D108BD9-81ED-4DB2-BD59-A6C34878D82A}">
                    <a16:rowId xmlns:a16="http://schemas.microsoft.com/office/drawing/2014/main" val="2910928278"/>
                  </a:ext>
                </a:extLst>
              </a:tr>
              <a:tr h="474690">
                <a:tc>
                  <a:txBody>
                    <a:bodyPr/>
                    <a:lstStyle/>
                    <a:p>
                      <a:r>
                        <a:rPr lang="en-US" sz="1400"/>
                        <a:t>Pre-Portfolio management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t>TPC Dashboard, Pre-Portfolio module in Prism</a:t>
                      </a:r>
                    </a:p>
                  </a:txBody>
                  <a:tcPr/>
                </a:tc>
                <a:tc>
                  <a:txBody>
                    <a:bodyPr/>
                    <a:lstStyle/>
                    <a:p>
                      <a:r>
                        <a:rPr lang="en-US" sz="1400"/>
                        <a:t>n/a</a:t>
                      </a:r>
                    </a:p>
                  </a:txBody>
                  <a:tcPr/>
                </a:tc>
                <a:tc>
                  <a:txBody>
                    <a:bodyPr/>
                    <a:lstStyle/>
                    <a:p>
                      <a:r>
                        <a:rPr lang="en-US" sz="1400"/>
                        <a:t>Pre-Portfolio information is Red CCI with restricted access.  Not visible in Polaris.</a:t>
                      </a:r>
                    </a:p>
                  </a:txBody>
                  <a:tcPr/>
                </a:tc>
                <a:extLst>
                  <a:ext uri="{0D108BD9-81ED-4DB2-BD59-A6C34878D82A}">
                    <a16:rowId xmlns:a16="http://schemas.microsoft.com/office/drawing/2014/main" val="3889383142"/>
                  </a:ext>
                </a:extLst>
              </a:tr>
              <a:tr h="502939">
                <a:tc>
                  <a:txBody>
                    <a:bodyPr/>
                    <a:lstStyle/>
                    <a:p>
                      <a:r>
                        <a:rPr lang="en-US" sz="1400"/>
                        <a:t>Governance</a:t>
                      </a:r>
                    </a:p>
                  </a:txBody>
                  <a:tcPr/>
                </a:tc>
                <a:tc>
                  <a:txBody>
                    <a:bodyPr/>
                    <a:lstStyle/>
                    <a:p>
                      <a:r>
                        <a:rPr lang="en-US" sz="1400"/>
                        <a:t>TPC, BODs</a:t>
                      </a:r>
                    </a:p>
                  </a:txBody>
                  <a:tcPr/>
                </a:tc>
                <a:tc>
                  <a:txBody>
                    <a:bodyPr/>
                    <a:lstStyle/>
                    <a:p>
                      <a:r>
                        <a:rPr lang="en-US" sz="1400"/>
                        <a:t>BODs, PIC, </a:t>
                      </a:r>
                      <a:r>
                        <a:rPr lang="en-US" sz="1400">
                          <a:solidFill>
                            <a:schemeClr val="tx1"/>
                          </a:solidFill>
                        </a:rPr>
                        <a:t>PSC</a:t>
                      </a:r>
                    </a:p>
                  </a:txBody>
                  <a:tcPr/>
                </a:tc>
                <a:tc>
                  <a:txBody>
                    <a:bodyPr/>
                    <a:lstStyle/>
                    <a:p>
                      <a:r>
                        <a:rPr lang="en-US" sz="1400"/>
                        <a:t>Target Portfolio Committee reviews/approves Target and Portfolio Entry milestones</a:t>
                      </a:r>
                    </a:p>
                  </a:txBody>
                  <a:tcPr/>
                </a:tc>
                <a:extLst>
                  <a:ext uri="{0D108BD9-81ED-4DB2-BD59-A6C34878D82A}">
                    <a16:rowId xmlns:a16="http://schemas.microsoft.com/office/drawing/2014/main" val="2125007938"/>
                  </a:ext>
                </a:extLst>
              </a:tr>
              <a:tr h="330467">
                <a:tc>
                  <a:txBody>
                    <a:bodyPr/>
                    <a:lstStyle/>
                    <a:p>
                      <a:r>
                        <a:rPr lang="en-US" sz="1400"/>
                        <a:t>RD, timeline management</a:t>
                      </a:r>
                    </a:p>
                  </a:txBody>
                  <a:tcPr/>
                </a:tc>
                <a:tc>
                  <a:txBody>
                    <a:bodyPr/>
                    <a:lstStyle/>
                    <a:p>
                      <a:r>
                        <a:rPr lang="en-US" sz="1400"/>
                        <a:t>RD = Visio software</a:t>
                      </a:r>
                    </a:p>
                  </a:txBody>
                  <a:tcPr/>
                </a:tc>
                <a:tc>
                  <a:txBody>
                    <a:bodyPr/>
                    <a:lstStyle/>
                    <a:p>
                      <a:r>
                        <a:rPr lang="en-US" sz="1400"/>
                        <a:t>RD = OnePager, Detailed Plan</a:t>
                      </a:r>
                    </a:p>
                  </a:txBody>
                  <a:tcPr/>
                </a:tc>
                <a:tc>
                  <a:txBody>
                    <a:bodyPr/>
                    <a:lstStyle/>
                    <a:p>
                      <a:r>
                        <a:rPr lang="en-US" sz="1400"/>
                        <a:t>Discovery tasks and timing change frequently, dramatically</a:t>
                      </a:r>
                    </a:p>
                  </a:txBody>
                  <a:tcPr/>
                </a:tc>
                <a:extLst>
                  <a:ext uri="{0D108BD9-81ED-4DB2-BD59-A6C34878D82A}">
                    <a16:rowId xmlns:a16="http://schemas.microsoft.com/office/drawing/2014/main" val="2783036108"/>
                  </a:ext>
                </a:extLst>
              </a:tr>
              <a:tr h="535259">
                <a:tc>
                  <a:txBody>
                    <a:bodyPr/>
                    <a:lstStyle/>
                    <a:p>
                      <a:r>
                        <a:rPr lang="en-US" sz="1400"/>
                        <a:t>Monthly status reports</a:t>
                      </a:r>
                    </a:p>
                  </a:txBody>
                  <a:tcPr/>
                </a:tc>
                <a:tc>
                  <a:txBody>
                    <a:bodyPr/>
                    <a:lstStyle/>
                    <a:p>
                      <a:r>
                        <a:rPr lang="en-US" sz="1400"/>
                        <a:t>n/a</a:t>
                      </a:r>
                    </a:p>
                  </a:txBody>
                  <a:tcPr/>
                </a:tc>
                <a:tc>
                  <a:txBody>
                    <a:bodyPr/>
                    <a:lstStyle/>
                    <a:p>
                      <a:r>
                        <a:rPr lang="en-US" sz="1400"/>
                        <a:t>In Prism</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t>Manage entire portfolio of projects in Discovery </a:t>
                      </a:r>
                      <a:r>
                        <a:rPr lang="en-US" sz="1400">
                          <a:sym typeface="Wingdings" panose="05000000000000000000" pitchFamily="2" charset="2"/>
                        </a:rPr>
                        <a:t> Quarterly BOD updates (roughly) substitute for monitoring</a:t>
                      </a:r>
                      <a:endParaRPr lang="en-US" sz="1400"/>
                    </a:p>
                  </a:txBody>
                  <a:tcPr/>
                </a:tc>
                <a:extLst>
                  <a:ext uri="{0D108BD9-81ED-4DB2-BD59-A6C34878D82A}">
                    <a16:rowId xmlns:a16="http://schemas.microsoft.com/office/drawing/2014/main" val="2748069955"/>
                  </a:ext>
                </a:extLst>
              </a:tr>
              <a:tr h="524107">
                <a:tc>
                  <a:txBody>
                    <a:bodyPr/>
                    <a:lstStyle/>
                    <a:p>
                      <a:r>
                        <a:rPr lang="en-US" sz="1400"/>
                        <a:t>Risk Management</a:t>
                      </a:r>
                    </a:p>
                  </a:txBody>
                  <a:tcPr/>
                </a:tc>
                <a:tc>
                  <a:txBody>
                    <a:bodyPr/>
                    <a:lstStyle/>
                    <a:p>
                      <a:r>
                        <a:rPr lang="en-US" sz="1400"/>
                        <a:t>n/a</a:t>
                      </a:r>
                    </a:p>
                  </a:txBody>
                  <a:tcPr/>
                </a:tc>
                <a:tc>
                  <a:txBody>
                    <a:bodyPr/>
                    <a:lstStyle/>
                    <a:p>
                      <a:r>
                        <a:rPr lang="en-US" sz="1400"/>
                        <a:t>Risk Management Tool</a:t>
                      </a:r>
                    </a:p>
                  </a:txBody>
                  <a:tcPr/>
                </a:tc>
                <a:tc>
                  <a:txBody>
                    <a:bodyPr/>
                    <a:lstStyle/>
                    <a:p>
                      <a:r>
                        <a:rPr lang="en-US" sz="1400"/>
                        <a:t>Discovery is inherently High Risk; risks called out and updated at governance meetings and communications</a:t>
                      </a:r>
                    </a:p>
                  </a:txBody>
                  <a:tcPr/>
                </a:tc>
                <a:extLst>
                  <a:ext uri="{0D108BD9-81ED-4DB2-BD59-A6C34878D82A}">
                    <a16:rowId xmlns:a16="http://schemas.microsoft.com/office/drawing/2014/main" val="1140188473"/>
                  </a:ext>
                </a:extLst>
              </a:tr>
              <a:tr h="936702">
                <a:tc>
                  <a:txBody>
                    <a:bodyPr/>
                    <a:lstStyle/>
                    <a:p>
                      <a:r>
                        <a:rPr lang="en-US" sz="1400"/>
                        <a:t>Change Management </a:t>
                      </a:r>
                    </a:p>
                  </a:txBody>
                  <a:tcPr/>
                </a:tc>
                <a:tc>
                  <a:txBody>
                    <a:bodyPr/>
                    <a:lstStyle/>
                    <a:p>
                      <a:r>
                        <a:rPr lang="en-US" sz="1400"/>
                        <a:t>Occasional use of change management to document major changes in status or budget (not formal PFAs)</a:t>
                      </a:r>
                    </a:p>
                  </a:txBody>
                  <a:tcPr/>
                </a:tc>
                <a:tc>
                  <a:txBody>
                    <a:bodyPr/>
                    <a:lstStyle/>
                    <a:p>
                      <a:r>
                        <a:rPr lang="en-US" sz="1400"/>
                        <a:t>PFA, PSE</a:t>
                      </a:r>
                    </a:p>
                  </a:txBody>
                  <a:tcPr/>
                </a:tc>
                <a:tc>
                  <a:txBody>
                    <a:bodyPr/>
                    <a:lstStyle/>
                    <a:p>
                      <a:r>
                        <a:rPr lang="en-US" sz="1400"/>
                        <a:t>Significant budget, scope and timeline changes are communicated to/approved by BOD. Leverage Finance. Work with RM&amp;F to update in Prism or update yourself, with documentation in Change Management</a:t>
                      </a:r>
                    </a:p>
                  </a:txBody>
                  <a:tcPr/>
                </a:tc>
                <a:extLst>
                  <a:ext uri="{0D108BD9-81ED-4DB2-BD59-A6C34878D82A}">
                    <a16:rowId xmlns:a16="http://schemas.microsoft.com/office/drawing/2014/main" val="1260572846"/>
                  </a:ext>
                </a:extLst>
              </a:tr>
              <a:tr h="727803">
                <a:tc>
                  <a:txBody>
                    <a:bodyPr/>
                    <a:lstStyle/>
                    <a:p>
                      <a:r>
                        <a:rPr lang="en-US" sz="1400"/>
                        <a:t>Business Plan</a:t>
                      </a:r>
                    </a:p>
                  </a:txBody>
                  <a:tcPr/>
                </a:tc>
                <a:tc>
                  <a:txBody>
                    <a:bodyPr/>
                    <a:lstStyle/>
                    <a:p>
                      <a:r>
                        <a:rPr lang="en-US" sz="1400"/>
                        <a:t>Light lift, High level involvement</a:t>
                      </a:r>
                    </a:p>
                  </a:txBody>
                  <a:tcPr/>
                </a:tc>
                <a:tc>
                  <a:txBody>
                    <a:bodyPr/>
                    <a:lstStyle/>
                    <a:p>
                      <a:r>
                        <a:rPr lang="en-US" sz="1400"/>
                        <a:t>Defined process involving PFAs</a:t>
                      </a:r>
                    </a:p>
                  </a:txBody>
                  <a:tcPr/>
                </a:tc>
                <a:tc>
                  <a:txBody>
                    <a:bodyPr/>
                    <a:lstStyle/>
                    <a:p>
                      <a:r>
                        <a:rPr lang="en-US" sz="1400"/>
                        <a:t>Close collaboration with Finance. Ensure milestones through Launch are directionally correct and CMC, Tox spend is in the correct timing</a:t>
                      </a:r>
                    </a:p>
                  </a:txBody>
                  <a:tcPr/>
                </a:tc>
                <a:extLst>
                  <a:ext uri="{0D108BD9-81ED-4DB2-BD59-A6C34878D82A}">
                    <a16:rowId xmlns:a16="http://schemas.microsoft.com/office/drawing/2014/main" val="1580520178"/>
                  </a:ext>
                </a:extLst>
              </a:tr>
              <a:tr h="576411">
                <a:tc>
                  <a:txBody>
                    <a:bodyPr/>
                    <a:lstStyle/>
                    <a:p>
                      <a:r>
                        <a:rPr lang="en-US" sz="1400"/>
                        <a:t>Strat Plan</a:t>
                      </a:r>
                    </a:p>
                  </a:txBody>
                  <a:tcPr/>
                </a:tc>
                <a:tc>
                  <a:txBody>
                    <a:bodyPr/>
                    <a:lstStyle/>
                    <a:p>
                      <a:r>
                        <a:rPr lang="en-US" sz="1400"/>
                        <a:t>n/a</a:t>
                      </a:r>
                    </a:p>
                  </a:txBody>
                  <a:tcPr/>
                </a:tc>
                <a:tc>
                  <a:txBody>
                    <a:bodyPr/>
                    <a:lstStyle/>
                    <a:p>
                      <a:r>
                        <a:rPr lang="en-US" sz="1400"/>
                        <a:t>Defined process</a:t>
                      </a:r>
                    </a:p>
                  </a:txBody>
                  <a:tcPr/>
                </a:tc>
                <a:tc>
                  <a:txBody>
                    <a:bodyPr/>
                    <a:lstStyle/>
                    <a:p>
                      <a:r>
                        <a:rPr lang="en-US" sz="1400"/>
                        <a:t>Very early in pipeline; frequent changes, projects Parked, Terminated, etc</a:t>
                      </a:r>
                      <a:endParaRPr lang="en-US" sz="1400" err="1"/>
                    </a:p>
                  </a:txBody>
                  <a:tcPr/>
                </a:tc>
                <a:extLst>
                  <a:ext uri="{0D108BD9-81ED-4DB2-BD59-A6C34878D82A}">
                    <a16:rowId xmlns:a16="http://schemas.microsoft.com/office/drawing/2014/main" val="1240672636"/>
                  </a:ext>
                </a:extLst>
              </a:tr>
              <a:tr h="576411">
                <a:tc>
                  <a:txBody>
                    <a:bodyPr/>
                    <a:lstStyle/>
                    <a:p>
                      <a:r>
                        <a:rPr lang="en-US" sz="1400"/>
                        <a:t>TimeCard</a:t>
                      </a:r>
                      <a:endParaRPr lang="en-US" sz="1400" err="1"/>
                    </a:p>
                  </a:txBody>
                  <a:tcPr/>
                </a:tc>
                <a:tc>
                  <a:txBody>
                    <a:bodyPr/>
                    <a:lstStyle/>
                    <a:p>
                      <a:r>
                        <a:rPr lang="en-US" sz="1400"/>
                        <a:t>All project hours go into Multi-Molecule</a:t>
                      </a:r>
                    </a:p>
                  </a:txBody>
                  <a:tcPr/>
                </a:tc>
                <a:tc>
                  <a:txBody>
                    <a:bodyPr/>
                    <a:lstStyle/>
                    <a:p>
                      <a:r>
                        <a:rPr lang="en-US" sz="1400"/>
                        <a:t>Hours are applied to individual projects</a:t>
                      </a:r>
                    </a:p>
                  </a:txBody>
                  <a:tcPr/>
                </a:tc>
                <a:tc>
                  <a:txBody>
                    <a:bodyPr/>
                    <a:lstStyle/>
                    <a:p>
                      <a:r>
                        <a:rPr lang="en-US" sz="1400" dirty="0"/>
                        <a:t>Discovery has many projects per COO/PPM team, making it time consuming to tease apart into individual projects</a:t>
                      </a:r>
                    </a:p>
                  </a:txBody>
                  <a:tcPr/>
                </a:tc>
                <a:extLst>
                  <a:ext uri="{0D108BD9-81ED-4DB2-BD59-A6C34878D82A}">
                    <a16:rowId xmlns:a16="http://schemas.microsoft.com/office/drawing/2014/main" val="3715054988"/>
                  </a:ext>
                </a:extLst>
              </a:tr>
            </a:tbl>
          </a:graphicData>
        </a:graphic>
      </p:graphicFrame>
      <p:sp>
        <p:nvSpPr>
          <p:cNvPr id="9" name="Title 1">
            <a:extLst>
              <a:ext uri="{FF2B5EF4-FFF2-40B4-BE49-F238E27FC236}">
                <a16:creationId xmlns:a16="http://schemas.microsoft.com/office/drawing/2014/main" id="{1C5F2DD7-2151-2201-94F3-41815D0CDE8A}"/>
              </a:ext>
            </a:extLst>
          </p:cNvPr>
          <p:cNvSpPr>
            <a:spLocks noGrp="1"/>
          </p:cNvSpPr>
          <p:nvPr>
            <p:ph type="title"/>
          </p:nvPr>
        </p:nvSpPr>
        <p:spPr>
          <a:xfrm>
            <a:off x="308517" y="15347"/>
            <a:ext cx="11097208" cy="822960"/>
          </a:xfrm>
        </p:spPr>
        <p:txBody>
          <a:bodyPr/>
          <a:lstStyle/>
          <a:p>
            <a:r>
              <a:rPr lang="en-US" b="1"/>
              <a:t>How is Discovery different?  Tools and Processes</a:t>
            </a:r>
          </a:p>
        </p:txBody>
      </p:sp>
      <p:sp>
        <p:nvSpPr>
          <p:cNvPr id="10" name="Star: 5 Points 9">
            <a:extLst>
              <a:ext uri="{FF2B5EF4-FFF2-40B4-BE49-F238E27FC236}">
                <a16:creationId xmlns:a16="http://schemas.microsoft.com/office/drawing/2014/main" id="{45BC0DE6-8EBF-24D3-EF7E-E73E4C8A4586}"/>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6990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7CDE7F6-433E-1EA2-F4F4-9E5D169B615D}"/>
              </a:ext>
            </a:extLst>
          </p:cNvPr>
          <p:cNvSpPr>
            <a:spLocks noGrp="1"/>
          </p:cNvSpPr>
          <p:nvPr>
            <p:ph type="title"/>
          </p:nvPr>
        </p:nvSpPr>
        <p:spPr/>
        <p:txBody>
          <a:bodyPr>
            <a:normAutofit/>
          </a:bodyPr>
          <a:lstStyle/>
          <a:p>
            <a:r>
              <a:rPr lang="en-US" sz="4000" b="1"/>
              <a:t>Scope</a:t>
            </a:r>
          </a:p>
        </p:txBody>
      </p:sp>
      <p:sp>
        <p:nvSpPr>
          <p:cNvPr id="3" name="Date Placeholder 2">
            <a:extLst>
              <a:ext uri="{FF2B5EF4-FFF2-40B4-BE49-F238E27FC236}">
                <a16:creationId xmlns:a16="http://schemas.microsoft.com/office/drawing/2014/main" id="{6CA15F40-3589-D546-6254-87FE32362979}"/>
              </a:ext>
            </a:extLst>
          </p:cNvPr>
          <p:cNvSpPr>
            <a:spLocks noGrp="1"/>
          </p:cNvSpPr>
          <p:nvPr>
            <p:ph type="dt" sz="half" idx="4294967295"/>
          </p:nvPr>
        </p:nvSpPr>
        <p:spPr>
          <a:xfrm>
            <a:off x="1524000" y="6356351"/>
            <a:ext cx="2133600" cy="365125"/>
          </a:xfrm>
        </p:spPr>
        <p:txBody>
          <a:bodyPr/>
          <a:lstStyle/>
          <a:p>
            <a:fld id="{63E5B9EF-4CB0-44EC-8E33-599E52A6232F}" type="datetime1">
              <a:rPr lang="en-US" smtClean="0"/>
              <a:pPr/>
              <a:t>9/1/2026</a:t>
            </a:fld>
            <a:endParaRPr lang="en-US"/>
          </a:p>
        </p:txBody>
      </p:sp>
      <p:sp>
        <p:nvSpPr>
          <p:cNvPr id="4" name="Footer Placeholder 3">
            <a:extLst>
              <a:ext uri="{FF2B5EF4-FFF2-40B4-BE49-F238E27FC236}">
                <a16:creationId xmlns:a16="http://schemas.microsoft.com/office/drawing/2014/main" id="{FEA93A57-960E-1502-42C2-52B26496A3CF}"/>
              </a:ext>
            </a:extLst>
          </p:cNvPr>
          <p:cNvSpPr>
            <a:spLocks noGrp="1"/>
          </p:cNvSpPr>
          <p:nvPr>
            <p:ph type="ftr" sz="quarter" idx="4294967295"/>
          </p:nvPr>
        </p:nvSpPr>
        <p:spPr>
          <a:xfrm>
            <a:off x="1524000" y="6356351"/>
            <a:ext cx="2895600" cy="365125"/>
          </a:xfrm>
        </p:spPr>
        <p:txBody>
          <a:bodyPr/>
          <a:lstStyle/>
          <a:p>
            <a:r>
              <a:rPr lang="en-US"/>
              <a:t>Company Confidential  ©2021 Eli Lilly and Company </a:t>
            </a:r>
          </a:p>
        </p:txBody>
      </p:sp>
    </p:spTree>
    <p:extLst>
      <p:ext uri="{BB962C8B-B14F-4D97-AF65-F5344CB8AC3E}">
        <p14:creationId xmlns:p14="http://schemas.microsoft.com/office/powerpoint/2010/main" val="3270806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Left Brace 61">
            <a:extLst>
              <a:ext uri="{FF2B5EF4-FFF2-40B4-BE49-F238E27FC236}">
                <a16:creationId xmlns:a16="http://schemas.microsoft.com/office/drawing/2014/main" id="{E4F9F948-51CF-4523-8572-451F4DCDD681}"/>
              </a:ext>
            </a:extLst>
          </p:cNvPr>
          <p:cNvSpPr/>
          <p:nvPr/>
        </p:nvSpPr>
        <p:spPr>
          <a:xfrm>
            <a:off x="764729" y="1705744"/>
            <a:ext cx="424576" cy="3001490"/>
          </a:xfrm>
          <a:prstGeom prst="leftBrace">
            <a:avLst>
              <a:gd name="adj1" fmla="val 8333"/>
              <a:gd name="adj2" fmla="val 75876"/>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914363">
              <a:defRPr/>
            </a:pPr>
            <a:endParaRPr lang="en-US">
              <a:solidFill>
                <a:srgbClr val="A59C95"/>
              </a:solidFill>
              <a:latin typeface="Arial"/>
            </a:endParaRPr>
          </a:p>
        </p:txBody>
      </p:sp>
      <p:sp>
        <p:nvSpPr>
          <p:cNvPr id="2" name="Rectangle 1">
            <a:extLst>
              <a:ext uri="{FF2B5EF4-FFF2-40B4-BE49-F238E27FC236}">
                <a16:creationId xmlns:a16="http://schemas.microsoft.com/office/drawing/2014/main" id="{A33CE2CE-F897-B7AD-E201-E53E4A105B04}"/>
              </a:ext>
            </a:extLst>
          </p:cNvPr>
          <p:cNvSpPr/>
          <p:nvPr/>
        </p:nvSpPr>
        <p:spPr>
          <a:xfrm>
            <a:off x="7055440" y="1350065"/>
            <a:ext cx="2865198" cy="5098668"/>
          </a:xfrm>
          <a:prstGeom prst="rect">
            <a:avLst/>
          </a:prstGeom>
          <a:gradFill>
            <a:gsLst>
              <a:gs pos="0">
                <a:srgbClr val="DBD7D5"/>
              </a:gs>
              <a:gs pos="44000">
                <a:schemeClr val="bg1"/>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solidFill>
              <a:latin typeface="Arial"/>
            </a:endParaRPr>
          </a:p>
        </p:txBody>
      </p:sp>
      <p:grpSp>
        <p:nvGrpSpPr>
          <p:cNvPr id="70" name="Group 69">
            <a:extLst>
              <a:ext uri="{FF2B5EF4-FFF2-40B4-BE49-F238E27FC236}">
                <a16:creationId xmlns:a16="http://schemas.microsoft.com/office/drawing/2014/main" id="{4EE7735F-0E3F-4E16-AC33-06B8DE1BED0A}"/>
              </a:ext>
            </a:extLst>
          </p:cNvPr>
          <p:cNvGrpSpPr/>
          <p:nvPr/>
        </p:nvGrpSpPr>
        <p:grpSpPr>
          <a:xfrm>
            <a:off x="745200" y="1705745"/>
            <a:ext cx="11475438" cy="1749206"/>
            <a:chOff x="7317294" y="4108698"/>
            <a:chExt cx="9905245" cy="620127"/>
          </a:xfrm>
        </p:grpSpPr>
        <p:sp>
          <p:nvSpPr>
            <p:cNvPr id="71" name="Parallelogram 70">
              <a:extLst>
                <a:ext uri="{FF2B5EF4-FFF2-40B4-BE49-F238E27FC236}">
                  <a16:creationId xmlns:a16="http://schemas.microsoft.com/office/drawing/2014/main" id="{633A17C3-5402-4B75-BF9E-DB0A541826BF}"/>
                </a:ext>
              </a:extLst>
            </p:cNvPr>
            <p:cNvSpPr/>
            <p:nvPr/>
          </p:nvSpPr>
          <p:spPr>
            <a:xfrm>
              <a:off x="7317294" y="4108698"/>
              <a:ext cx="9493027" cy="616728"/>
            </a:xfrm>
            <a:prstGeom prst="parallelogram">
              <a:avLst>
                <a:gd name="adj" fmla="val 66259"/>
              </a:avLst>
            </a:prstGeom>
            <a:solidFill>
              <a:srgbClr val="D6D1D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alpha val="77633"/>
                  </a:srgbClr>
                </a:solidFill>
                <a:latin typeface="Arial"/>
              </a:endParaRPr>
            </a:p>
          </p:txBody>
        </p:sp>
        <p:sp>
          <p:nvSpPr>
            <p:cNvPr id="79" name="Pentagon 45">
              <a:extLst>
                <a:ext uri="{FF2B5EF4-FFF2-40B4-BE49-F238E27FC236}">
                  <a16:creationId xmlns:a16="http://schemas.microsoft.com/office/drawing/2014/main" id="{F58F58C1-2467-4E7C-BE51-FB3050C6AD99}"/>
                </a:ext>
              </a:extLst>
            </p:cNvPr>
            <p:cNvSpPr/>
            <p:nvPr/>
          </p:nvSpPr>
          <p:spPr>
            <a:xfrm>
              <a:off x="15834599" y="4122553"/>
              <a:ext cx="1387940" cy="606272"/>
            </a:xfrm>
            <a:prstGeom prst="homePlate">
              <a:avLst>
                <a:gd name="adj" fmla="val 28059"/>
              </a:avLst>
            </a:prstGeom>
            <a:solidFill>
              <a:srgbClr val="D6D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solidFill>
                <a:latin typeface="Arial"/>
              </a:endParaRPr>
            </a:p>
          </p:txBody>
        </p:sp>
      </p:grpSp>
      <p:sp>
        <p:nvSpPr>
          <p:cNvPr id="57" name="Pentagon 56">
            <a:extLst>
              <a:ext uri="{FF2B5EF4-FFF2-40B4-BE49-F238E27FC236}">
                <a16:creationId xmlns:a16="http://schemas.microsoft.com/office/drawing/2014/main" id="{320E259B-FD05-C129-2CD5-60FF6F647F2E}"/>
              </a:ext>
            </a:extLst>
          </p:cNvPr>
          <p:cNvSpPr/>
          <p:nvPr/>
        </p:nvSpPr>
        <p:spPr>
          <a:xfrm>
            <a:off x="4780511" y="2187439"/>
            <a:ext cx="7381751" cy="742445"/>
          </a:xfrm>
          <a:prstGeom prst="homePlate">
            <a:avLst>
              <a:gd name="adj" fmla="val 241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solidFill>
              <a:latin typeface="Arial"/>
            </a:endParaRPr>
          </a:p>
        </p:txBody>
      </p:sp>
      <p:sp>
        <p:nvSpPr>
          <p:cNvPr id="7" name="Title 4">
            <a:extLst>
              <a:ext uri="{FF2B5EF4-FFF2-40B4-BE49-F238E27FC236}">
                <a16:creationId xmlns:a16="http://schemas.microsoft.com/office/drawing/2014/main" id="{D4392800-BC36-ED9B-E202-4FA097333375}"/>
              </a:ext>
            </a:extLst>
          </p:cNvPr>
          <p:cNvSpPr>
            <a:spLocks noGrp="1"/>
          </p:cNvSpPr>
          <p:nvPr>
            <p:ph type="title"/>
          </p:nvPr>
        </p:nvSpPr>
        <p:spPr>
          <a:xfrm>
            <a:off x="304043" y="48043"/>
            <a:ext cx="10515600" cy="724391"/>
          </a:xfrm>
        </p:spPr>
        <p:txBody>
          <a:bodyPr>
            <a:noAutofit/>
          </a:bodyPr>
          <a:lstStyle/>
          <a:p>
            <a:pPr>
              <a:lnSpc>
                <a:spcPct val="85000"/>
              </a:lnSpc>
            </a:pPr>
            <a:r>
              <a:rPr lang="en-US" b="1"/>
              <a:t>Drug Development Phases</a:t>
            </a:r>
          </a:p>
        </p:txBody>
      </p:sp>
      <p:sp>
        <p:nvSpPr>
          <p:cNvPr id="3" name="Footer Placeholder 2">
            <a:extLst>
              <a:ext uri="{FF2B5EF4-FFF2-40B4-BE49-F238E27FC236}">
                <a16:creationId xmlns:a16="http://schemas.microsoft.com/office/drawing/2014/main" id="{BD1388AE-B60B-7974-3AE3-DE15176238A2}"/>
              </a:ext>
            </a:extLst>
          </p:cNvPr>
          <p:cNvSpPr>
            <a:spLocks noGrp="1"/>
          </p:cNvSpPr>
          <p:nvPr>
            <p:ph type="ftr" sz="quarter" idx="11"/>
          </p:nvPr>
        </p:nvSpPr>
        <p:spPr/>
        <p:txBody>
          <a:bodyPr/>
          <a:lstStyle/>
          <a:p>
            <a:pPr algn="l" defTabSz="914363">
              <a:defRPr/>
            </a:pPr>
            <a:r>
              <a:rPr lang="en-US" sz="800">
                <a:solidFill>
                  <a:srgbClr val="81776E"/>
                </a:solidFill>
                <a:latin typeface="DIN Pro" panose="02000503040000020003" pitchFamily="50" charset="0"/>
              </a:rPr>
              <a:t>Company Confidential  ©2022 Eli Lilly and Company </a:t>
            </a:r>
          </a:p>
        </p:txBody>
      </p:sp>
      <p:sp>
        <p:nvSpPr>
          <p:cNvPr id="4" name="Slide Number Placeholder 3">
            <a:extLst>
              <a:ext uri="{FF2B5EF4-FFF2-40B4-BE49-F238E27FC236}">
                <a16:creationId xmlns:a16="http://schemas.microsoft.com/office/drawing/2014/main" id="{92B56D1B-B45B-8B24-4B07-8234979F09E9}"/>
              </a:ext>
            </a:extLst>
          </p:cNvPr>
          <p:cNvSpPr>
            <a:spLocks noGrp="1"/>
          </p:cNvSpPr>
          <p:nvPr>
            <p:ph type="sldNum" sz="quarter" idx="12"/>
          </p:nvPr>
        </p:nvSpPr>
        <p:spPr/>
        <p:txBody>
          <a:bodyPr/>
          <a:lstStyle/>
          <a:p>
            <a:pPr algn="l" defTabSz="914363">
              <a:defRPr/>
            </a:pPr>
            <a:fld id="{7E80B146-301A-481F-8D59-328DC994CDDA}" type="slidenum">
              <a:rPr lang="en-US" sz="800">
                <a:solidFill>
                  <a:srgbClr val="81776E"/>
                </a:solidFill>
                <a:latin typeface="DIN Pro" panose="02000503040000020003" pitchFamily="50" charset="0"/>
              </a:rPr>
              <a:pPr algn="l" defTabSz="914363">
                <a:defRPr/>
              </a:pPr>
              <a:t>6</a:t>
            </a:fld>
            <a:endParaRPr lang="en-US" sz="800">
              <a:solidFill>
                <a:srgbClr val="81776E"/>
              </a:solidFill>
              <a:latin typeface="DIN Pro" panose="02000503040000020003" pitchFamily="50" charset="0"/>
            </a:endParaRPr>
          </a:p>
        </p:txBody>
      </p:sp>
      <p:sp>
        <p:nvSpPr>
          <p:cNvPr id="15" name="TextBox 14">
            <a:extLst>
              <a:ext uri="{FF2B5EF4-FFF2-40B4-BE49-F238E27FC236}">
                <a16:creationId xmlns:a16="http://schemas.microsoft.com/office/drawing/2014/main" id="{7A308431-CEF4-DD93-61F6-B52828B3985E}"/>
              </a:ext>
            </a:extLst>
          </p:cNvPr>
          <p:cNvSpPr txBox="1"/>
          <p:nvPr/>
        </p:nvSpPr>
        <p:spPr>
          <a:xfrm>
            <a:off x="2475219" y="3146009"/>
            <a:ext cx="2059865" cy="339383"/>
          </a:xfrm>
          <a:prstGeom prst="rect">
            <a:avLst/>
          </a:prstGeom>
          <a:noFill/>
        </p:spPr>
        <p:txBody>
          <a:bodyPr wrap="square" lIns="0" tIns="0" rIns="0" bIns="0" rtlCol="0" anchor="ctr" anchorCtr="0">
            <a:noAutofit/>
          </a:bodyPr>
          <a:lstStyle/>
          <a:p>
            <a:pPr defTabSz="544183">
              <a:defRPr/>
            </a:pPr>
            <a:r>
              <a:rPr lang="en-US" sz="1400" b="1">
                <a:solidFill>
                  <a:srgbClr val="D42B1E"/>
                </a:solidFill>
                <a:latin typeface="Arial"/>
              </a:rPr>
              <a:t>CORE INNOVATION</a:t>
            </a:r>
          </a:p>
        </p:txBody>
      </p:sp>
      <p:sp>
        <p:nvSpPr>
          <p:cNvPr id="5" name="Pentagon 4">
            <a:extLst>
              <a:ext uri="{FF2B5EF4-FFF2-40B4-BE49-F238E27FC236}">
                <a16:creationId xmlns:a16="http://schemas.microsoft.com/office/drawing/2014/main" id="{D5D95145-71AA-3049-36B1-4BD5AFA659A2}"/>
              </a:ext>
            </a:extLst>
          </p:cNvPr>
          <p:cNvSpPr/>
          <p:nvPr/>
        </p:nvSpPr>
        <p:spPr>
          <a:xfrm>
            <a:off x="5281336" y="2187439"/>
            <a:ext cx="4642300" cy="742445"/>
          </a:xfrm>
          <a:prstGeom prst="homePlate">
            <a:avLst>
              <a:gd name="adj" fmla="val 0"/>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solidFill>
              <a:latin typeface="Arial"/>
            </a:endParaRPr>
          </a:p>
        </p:txBody>
      </p:sp>
      <p:sp>
        <p:nvSpPr>
          <p:cNvPr id="61" name="Freeform 60">
            <a:extLst>
              <a:ext uri="{FF2B5EF4-FFF2-40B4-BE49-F238E27FC236}">
                <a16:creationId xmlns:a16="http://schemas.microsoft.com/office/drawing/2014/main" id="{ECEEA4F0-D6B7-BF55-1D4B-51DC9BAF5ACE}"/>
              </a:ext>
            </a:extLst>
          </p:cNvPr>
          <p:cNvSpPr/>
          <p:nvPr/>
        </p:nvSpPr>
        <p:spPr>
          <a:xfrm>
            <a:off x="2883119" y="1966944"/>
            <a:ext cx="2398219" cy="1182580"/>
          </a:xfrm>
          <a:custGeom>
            <a:avLst/>
            <a:gdLst>
              <a:gd name="connsiteX0" fmla="*/ 0 w 3597329"/>
              <a:gd name="connsiteY0" fmla="*/ 0 h 1773870"/>
              <a:gd name="connsiteX1" fmla="*/ 3597329 w 3597329"/>
              <a:gd name="connsiteY1" fmla="*/ 333127 h 1773870"/>
              <a:gd name="connsiteX2" fmla="*/ 3597329 w 3597329"/>
              <a:gd name="connsiteY2" fmla="*/ 1440742 h 1773870"/>
              <a:gd name="connsiteX3" fmla="*/ 0 w 3597329"/>
              <a:gd name="connsiteY3" fmla="*/ 1773870 h 1773870"/>
              <a:gd name="connsiteX4" fmla="*/ 0 w 3597329"/>
              <a:gd name="connsiteY4" fmla="*/ 0 h 1773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7329" h="1773870">
                <a:moveTo>
                  <a:pt x="0" y="0"/>
                </a:moveTo>
                <a:lnTo>
                  <a:pt x="3597329" y="333127"/>
                </a:lnTo>
                <a:lnTo>
                  <a:pt x="3597329" y="1440742"/>
                </a:lnTo>
                <a:lnTo>
                  <a:pt x="0" y="1773870"/>
                </a:lnTo>
                <a:lnTo>
                  <a:pt x="0" y="0"/>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363">
              <a:defRPr/>
            </a:pPr>
            <a:endParaRPr lang="en-US" sz="1200">
              <a:solidFill>
                <a:srgbClr val="FFFFFF"/>
              </a:solidFill>
              <a:latin typeface="Arial"/>
            </a:endParaRPr>
          </a:p>
        </p:txBody>
      </p:sp>
      <p:sp>
        <p:nvSpPr>
          <p:cNvPr id="59" name="Freeform 58">
            <a:extLst>
              <a:ext uri="{FF2B5EF4-FFF2-40B4-BE49-F238E27FC236}">
                <a16:creationId xmlns:a16="http://schemas.microsoft.com/office/drawing/2014/main" id="{889F8D9D-C7E4-9E2F-C4DC-25076CA2BB02}"/>
              </a:ext>
            </a:extLst>
          </p:cNvPr>
          <p:cNvSpPr/>
          <p:nvPr/>
        </p:nvSpPr>
        <p:spPr>
          <a:xfrm>
            <a:off x="747673" y="1776087"/>
            <a:ext cx="2135445" cy="1564297"/>
          </a:xfrm>
          <a:custGeom>
            <a:avLst/>
            <a:gdLst>
              <a:gd name="connsiteX0" fmla="*/ 0 w 3091520"/>
              <a:gd name="connsiteY0" fmla="*/ 0 h 2346445"/>
              <a:gd name="connsiteX1" fmla="*/ 3091520 w 3091520"/>
              <a:gd name="connsiteY1" fmla="*/ 286288 h 2346445"/>
              <a:gd name="connsiteX2" fmla="*/ 3091520 w 3091520"/>
              <a:gd name="connsiteY2" fmla="*/ 2060158 h 2346445"/>
              <a:gd name="connsiteX3" fmla="*/ 0 w 3091520"/>
              <a:gd name="connsiteY3" fmla="*/ 2346445 h 2346445"/>
              <a:gd name="connsiteX4" fmla="*/ 0 w 3091520"/>
              <a:gd name="connsiteY4" fmla="*/ 0 h 2346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520" h="2346445">
                <a:moveTo>
                  <a:pt x="0" y="0"/>
                </a:moveTo>
                <a:lnTo>
                  <a:pt x="3091520" y="286288"/>
                </a:lnTo>
                <a:lnTo>
                  <a:pt x="3091520" y="2060158"/>
                </a:lnTo>
                <a:lnTo>
                  <a:pt x="0" y="2346445"/>
                </a:lnTo>
                <a:lnTo>
                  <a:pt x="0" y="0"/>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363">
              <a:defRPr/>
            </a:pPr>
            <a:endParaRPr lang="en-US" sz="1200">
              <a:solidFill>
                <a:srgbClr val="FFFFFF"/>
              </a:solidFill>
              <a:latin typeface="Arial"/>
            </a:endParaRPr>
          </a:p>
        </p:txBody>
      </p:sp>
      <p:cxnSp>
        <p:nvCxnSpPr>
          <p:cNvPr id="25" name="Straight Connector 24">
            <a:extLst>
              <a:ext uri="{FF2B5EF4-FFF2-40B4-BE49-F238E27FC236}">
                <a16:creationId xmlns:a16="http://schemas.microsoft.com/office/drawing/2014/main" id="{19E93E58-6E26-AED8-086E-BD74B5F0E338}"/>
              </a:ext>
            </a:extLst>
          </p:cNvPr>
          <p:cNvCxnSpPr>
            <a:cxnSpLocks/>
          </p:cNvCxnSpPr>
          <p:nvPr/>
        </p:nvCxnSpPr>
        <p:spPr>
          <a:xfrm flipV="1">
            <a:off x="1927566" y="1874704"/>
            <a:ext cx="0" cy="138890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DA87388D-4725-1178-AB6A-8E43A5B61D5A}"/>
              </a:ext>
            </a:extLst>
          </p:cNvPr>
          <p:cNvSpPr txBox="1"/>
          <p:nvPr/>
        </p:nvSpPr>
        <p:spPr>
          <a:xfrm>
            <a:off x="803614" y="1951846"/>
            <a:ext cx="1060983" cy="461665"/>
          </a:xfrm>
          <a:prstGeom prst="rect">
            <a:avLst/>
          </a:prstGeom>
          <a:noFill/>
        </p:spPr>
        <p:txBody>
          <a:bodyPr wrap="square" rtlCol="0" anchor="ctr">
            <a:spAutoFit/>
          </a:bodyPr>
          <a:lstStyle/>
          <a:p>
            <a:pPr algn="ctr" defTabSz="914363">
              <a:defRPr/>
            </a:pPr>
            <a:r>
              <a:rPr lang="en-US" sz="800" b="1">
                <a:solidFill>
                  <a:srgbClr val="FFFFFF"/>
                </a:solidFill>
                <a:latin typeface="Arial"/>
              </a:rPr>
              <a:t>Target Identification </a:t>
            </a:r>
            <a:br>
              <a:rPr lang="en-US" sz="800" b="1">
                <a:solidFill>
                  <a:srgbClr val="FFFFFF"/>
                </a:solidFill>
                <a:latin typeface="Arial"/>
              </a:rPr>
            </a:br>
            <a:r>
              <a:rPr lang="en-US" sz="800" b="1">
                <a:solidFill>
                  <a:srgbClr val="FFFFFF"/>
                </a:solidFill>
                <a:latin typeface="Arial"/>
              </a:rPr>
              <a:t>and Validation</a:t>
            </a:r>
          </a:p>
        </p:txBody>
      </p:sp>
      <p:sp>
        <p:nvSpPr>
          <p:cNvPr id="109" name="TextBox 108">
            <a:extLst>
              <a:ext uri="{FF2B5EF4-FFF2-40B4-BE49-F238E27FC236}">
                <a16:creationId xmlns:a16="http://schemas.microsoft.com/office/drawing/2014/main" id="{2D3CC0CD-FE91-4A14-D889-8B966E32187B}"/>
              </a:ext>
            </a:extLst>
          </p:cNvPr>
          <p:cNvSpPr txBox="1"/>
          <p:nvPr/>
        </p:nvSpPr>
        <p:spPr>
          <a:xfrm>
            <a:off x="803616" y="2467110"/>
            <a:ext cx="1060981" cy="338554"/>
          </a:xfrm>
          <a:prstGeom prst="rect">
            <a:avLst/>
          </a:prstGeom>
          <a:noFill/>
        </p:spPr>
        <p:txBody>
          <a:bodyPr wrap="square" rtlCol="0" anchor="ctr">
            <a:spAutoFit/>
          </a:bodyPr>
          <a:lstStyle/>
          <a:p>
            <a:pPr algn="ctr" defTabSz="914363">
              <a:defRPr/>
            </a:pPr>
            <a:r>
              <a:rPr lang="en-US" sz="800" b="1">
                <a:solidFill>
                  <a:srgbClr val="FFFFFF"/>
                </a:solidFill>
                <a:latin typeface="Arial"/>
              </a:rPr>
              <a:t>Assay Development</a:t>
            </a:r>
          </a:p>
        </p:txBody>
      </p:sp>
      <p:sp>
        <p:nvSpPr>
          <p:cNvPr id="110" name="TextBox 109">
            <a:extLst>
              <a:ext uri="{FF2B5EF4-FFF2-40B4-BE49-F238E27FC236}">
                <a16:creationId xmlns:a16="http://schemas.microsoft.com/office/drawing/2014/main" id="{CA0FDEA3-A2C1-7F29-D515-954D4E8C6FAB}"/>
              </a:ext>
            </a:extLst>
          </p:cNvPr>
          <p:cNvSpPr txBox="1"/>
          <p:nvPr/>
        </p:nvSpPr>
        <p:spPr>
          <a:xfrm>
            <a:off x="805617" y="2886659"/>
            <a:ext cx="1056979" cy="215444"/>
          </a:xfrm>
          <a:prstGeom prst="rect">
            <a:avLst/>
          </a:prstGeom>
          <a:noFill/>
        </p:spPr>
        <p:txBody>
          <a:bodyPr wrap="square" rtlCol="0" anchor="ctr">
            <a:spAutoFit/>
          </a:bodyPr>
          <a:lstStyle/>
          <a:p>
            <a:pPr algn="ctr" defTabSz="914363">
              <a:defRPr/>
            </a:pPr>
            <a:r>
              <a:rPr lang="en-US" sz="800" b="1">
                <a:solidFill>
                  <a:srgbClr val="FFFFFF"/>
                </a:solidFill>
                <a:latin typeface="Arial"/>
              </a:rPr>
              <a:t>Lead Generation</a:t>
            </a:r>
          </a:p>
        </p:txBody>
      </p:sp>
      <p:sp>
        <p:nvSpPr>
          <p:cNvPr id="65" name="TextBox 64">
            <a:extLst>
              <a:ext uri="{FF2B5EF4-FFF2-40B4-BE49-F238E27FC236}">
                <a16:creationId xmlns:a16="http://schemas.microsoft.com/office/drawing/2014/main" id="{A4FBD51F-62A0-1B2F-EE1E-351DF21F857F}"/>
              </a:ext>
            </a:extLst>
          </p:cNvPr>
          <p:cNvSpPr txBox="1"/>
          <p:nvPr/>
        </p:nvSpPr>
        <p:spPr>
          <a:xfrm>
            <a:off x="1936456" y="2376602"/>
            <a:ext cx="929081" cy="338554"/>
          </a:xfrm>
          <a:prstGeom prst="rect">
            <a:avLst/>
          </a:prstGeom>
          <a:noFill/>
        </p:spPr>
        <p:txBody>
          <a:bodyPr wrap="square" rtlCol="0" anchor="ctr">
            <a:spAutoFit/>
          </a:bodyPr>
          <a:lstStyle/>
          <a:p>
            <a:pPr algn="ctr" defTabSz="914363">
              <a:defRPr/>
            </a:pPr>
            <a:r>
              <a:rPr lang="en-US" sz="800" b="1">
                <a:solidFill>
                  <a:srgbClr val="FFFFFF"/>
                </a:solidFill>
                <a:latin typeface="Arial"/>
              </a:rPr>
              <a:t>Lead </a:t>
            </a:r>
            <a:br>
              <a:rPr lang="en-US" sz="800" b="1">
                <a:solidFill>
                  <a:srgbClr val="FFFFFF"/>
                </a:solidFill>
                <a:latin typeface="Arial"/>
              </a:rPr>
            </a:br>
            <a:r>
              <a:rPr lang="en-US" sz="800" b="1">
                <a:solidFill>
                  <a:srgbClr val="FFFFFF"/>
                </a:solidFill>
                <a:latin typeface="Arial"/>
              </a:rPr>
              <a:t>Optimization</a:t>
            </a:r>
          </a:p>
        </p:txBody>
      </p:sp>
      <p:cxnSp>
        <p:nvCxnSpPr>
          <p:cNvPr id="67" name="Straight Connector 66">
            <a:extLst>
              <a:ext uri="{FF2B5EF4-FFF2-40B4-BE49-F238E27FC236}">
                <a16:creationId xmlns:a16="http://schemas.microsoft.com/office/drawing/2014/main" id="{22373FEF-152A-BBBB-F947-14C587B7BAF0}"/>
              </a:ext>
            </a:extLst>
          </p:cNvPr>
          <p:cNvCxnSpPr>
            <a:cxnSpLocks/>
          </p:cNvCxnSpPr>
          <p:nvPr/>
        </p:nvCxnSpPr>
        <p:spPr>
          <a:xfrm flipV="1">
            <a:off x="3677060" y="2036094"/>
            <a:ext cx="0" cy="10506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1973B8F-1646-5853-CB16-CB55670B6997}"/>
              </a:ext>
            </a:extLst>
          </p:cNvPr>
          <p:cNvCxnSpPr>
            <a:cxnSpLocks/>
          </p:cNvCxnSpPr>
          <p:nvPr/>
        </p:nvCxnSpPr>
        <p:spPr>
          <a:xfrm flipV="1">
            <a:off x="4465336" y="2105763"/>
            <a:ext cx="0" cy="9015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B01B4BBE-B2FA-97FA-A3B7-73FEFD3D448B}"/>
              </a:ext>
            </a:extLst>
          </p:cNvPr>
          <p:cNvCxnSpPr>
            <a:cxnSpLocks/>
            <a:endCxn id="61" idx="1"/>
          </p:cNvCxnSpPr>
          <p:nvPr/>
        </p:nvCxnSpPr>
        <p:spPr>
          <a:xfrm flipV="1">
            <a:off x="5281337" y="2189029"/>
            <a:ext cx="0" cy="76679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F857AE17-7805-0CEA-9F23-81D3D00245DE}"/>
              </a:ext>
            </a:extLst>
          </p:cNvPr>
          <p:cNvSpPr txBox="1"/>
          <p:nvPr/>
        </p:nvSpPr>
        <p:spPr>
          <a:xfrm>
            <a:off x="2893414" y="2315046"/>
            <a:ext cx="794539" cy="461665"/>
          </a:xfrm>
          <a:prstGeom prst="rect">
            <a:avLst/>
          </a:prstGeom>
          <a:noFill/>
        </p:spPr>
        <p:txBody>
          <a:bodyPr wrap="square" rtlCol="0" anchor="ctr">
            <a:spAutoFit/>
          </a:bodyPr>
          <a:lstStyle/>
          <a:p>
            <a:pPr algn="ctr" defTabSz="914363">
              <a:defRPr/>
            </a:pPr>
            <a:r>
              <a:rPr lang="en-US" sz="800" b="1">
                <a:solidFill>
                  <a:srgbClr val="FFFFFF"/>
                </a:solidFill>
                <a:latin typeface="Arial"/>
              </a:rPr>
              <a:t>Prepare First Human Dose</a:t>
            </a:r>
          </a:p>
        </p:txBody>
      </p:sp>
      <p:sp>
        <p:nvSpPr>
          <p:cNvPr id="73" name="TextBox 72">
            <a:extLst>
              <a:ext uri="{FF2B5EF4-FFF2-40B4-BE49-F238E27FC236}">
                <a16:creationId xmlns:a16="http://schemas.microsoft.com/office/drawing/2014/main" id="{2A4CE4BF-FD7B-9B03-8EF9-108009FF65AC}"/>
              </a:ext>
            </a:extLst>
          </p:cNvPr>
          <p:cNvSpPr txBox="1"/>
          <p:nvPr/>
        </p:nvSpPr>
        <p:spPr>
          <a:xfrm>
            <a:off x="3806233" y="2376603"/>
            <a:ext cx="540822" cy="338554"/>
          </a:xfrm>
          <a:prstGeom prst="rect">
            <a:avLst/>
          </a:prstGeom>
          <a:noFill/>
        </p:spPr>
        <p:txBody>
          <a:bodyPr wrap="square" rtlCol="0" anchor="ctr">
            <a:spAutoFit/>
          </a:bodyPr>
          <a:lstStyle/>
          <a:p>
            <a:pPr algn="ctr" defTabSz="914363">
              <a:defRPr/>
            </a:pPr>
            <a:r>
              <a:rPr lang="en-US" sz="800" b="1">
                <a:solidFill>
                  <a:srgbClr val="FFFFFF"/>
                </a:solidFill>
                <a:latin typeface="Arial"/>
              </a:rPr>
              <a:t>Phase 1</a:t>
            </a:r>
          </a:p>
        </p:txBody>
      </p:sp>
      <p:sp>
        <p:nvSpPr>
          <p:cNvPr id="74" name="TextBox 73">
            <a:extLst>
              <a:ext uri="{FF2B5EF4-FFF2-40B4-BE49-F238E27FC236}">
                <a16:creationId xmlns:a16="http://schemas.microsoft.com/office/drawing/2014/main" id="{23BC26DB-B443-AAA5-A092-0CAC44A4AC76}"/>
              </a:ext>
            </a:extLst>
          </p:cNvPr>
          <p:cNvSpPr txBox="1"/>
          <p:nvPr/>
        </p:nvSpPr>
        <p:spPr>
          <a:xfrm>
            <a:off x="4478114" y="2438158"/>
            <a:ext cx="807037" cy="215444"/>
          </a:xfrm>
          <a:prstGeom prst="rect">
            <a:avLst/>
          </a:prstGeom>
          <a:noFill/>
        </p:spPr>
        <p:txBody>
          <a:bodyPr wrap="square" rtlCol="0" anchor="ctr">
            <a:spAutoFit/>
          </a:bodyPr>
          <a:lstStyle/>
          <a:p>
            <a:pPr algn="ctr" defTabSz="914363">
              <a:defRPr/>
            </a:pPr>
            <a:r>
              <a:rPr lang="en-US" sz="800" b="1">
                <a:solidFill>
                  <a:srgbClr val="FFFFFF"/>
                </a:solidFill>
                <a:latin typeface="Arial"/>
              </a:rPr>
              <a:t>Phase 2</a:t>
            </a:r>
          </a:p>
        </p:txBody>
      </p:sp>
      <p:sp>
        <p:nvSpPr>
          <p:cNvPr id="75" name="TextBox 74">
            <a:extLst>
              <a:ext uri="{FF2B5EF4-FFF2-40B4-BE49-F238E27FC236}">
                <a16:creationId xmlns:a16="http://schemas.microsoft.com/office/drawing/2014/main" id="{D26D4C4D-C6FE-13D7-98D8-114E12212D1A}"/>
              </a:ext>
            </a:extLst>
          </p:cNvPr>
          <p:cNvSpPr txBox="1"/>
          <p:nvPr/>
        </p:nvSpPr>
        <p:spPr>
          <a:xfrm>
            <a:off x="5755538" y="2361214"/>
            <a:ext cx="879288" cy="369332"/>
          </a:xfrm>
          <a:prstGeom prst="rect">
            <a:avLst/>
          </a:prstGeom>
          <a:noFill/>
        </p:spPr>
        <p:txBody>
          <a:bodyPr wrap="square" lIns="0" tIns="0" rIns="0" bIns="0" rtlCol="0" anchor="ctr">
            <a:spAutoFit/>
          </a:bodyPr>
          <a:lstStyle/>
          <a:p>
            <a:pPr algn="ctr" defTabSz="914363">
              <a:defRPr/>
            </a:pPr>
            <a:r>
              <a:rPr lang="en-US" sz="1200" b="1">
                <a:solidFill>
                  <a:srgbClr val="FFFFFF"/>
                </a:solidFill>
                <a:latin typeface="Arial"/>
              </a:rPr>
              <a:t>Phase </a:t>
            </a:r>
            <a:br>
              <a:rPr lang="en-US" sz="1200" b="1">
                <a:solidFill>
                  <a:srgbClr val="FFFFFF"/>
                </a:solidFill>
                <a:latin typeface="Arial"/>
              </a:rPr>
            </a:br>
            <a:r>
              <a:rPr lang="en-US" sz="1200" b="1">
                <a:solidFill>
                  <a:srgbClr val="FFFFFF"/>
                </a:solidFill>
                <a:latin typeface="Arial"/>
              </a:rPr>
              <a:t>3 trials</a:t>
            </a:r>
          </a:p>
        </p:txBody>
      </p:sp>
      <p:sp>
        <p:nvSpPr>
          <p:cNvPr id="76" name="TextBox 75">
            <a:extLst>
              <a:ext uri="{FF2B5EF4-FFF2-40B4-BE49-F238E27FC236}">
                <a16:creationId xmlns:a16="http://schemas.microsoft.com/office/drawing/2014/main" id="{CAE691F8-90AC-4FE3-4CDB-C139655072F4}"/>
              </a:ext>
            </a:extLst>
          </p:cNvPr>
          <p:cNvSpPr txBox="1"/>
          <p:nvPr/>
        </p:nvSpPr>
        <p:spPr>
          <a:xfrm>
            <a:off x="7042090" y="2453547"/>
            <a:ext cx="1204048" cy="184666"/>
          </a:xfrm>
          <a:prstGeom prst="rect">
            <a:avLst/>
          </a:prstGeom>
          <a:noFill/>
        </p:spPr>
        <p:txBody>
          <a:bodyPr wrap="square" lIns="0" tIns="0" rIns="0" bIns="0" rtlCol="0" anchor="ctr">
            <a:spAutoFit/>
          </a:bodyPr>
          <a:lstStyle/>
          <a:p>
            <a:pPr algn="ctr" defTabSz="914363">
              <a:defRPr/>
            </a:pPr>
            <a:r>
              <a:rPr lang="en-US" sz="1200" b="1">
                <a:solidFill>
                  <a:srgbClr val="FFFFFF"/>
                </a:solidFill>
                <a:latin typeface="Arial"/>
              </a:rPr>
              <a:t>Registration</a:t>
            </a:r>
          </a:p>
        </p:txBody>
      </p:sp>
      <p:sp>
        <p:nvSpPr>
          <p:cNvPr id="78" name="TextBox 77">
            <a:extLst>
              <a:ext uri="{FF2B5EF4-FFF2-40B4-BE49-F238E27FC236}">
                <a16:creationId xmlns:a16="http://schemas.microsoft.com/office/drawing/2014/main" id="{8C615B25-7254-D4F0-9ED1-795F3A3F22FF}"/>
              </a:ext>
            </a:extLst>
          </p:cNvPr>
          <p:cNvSpPr txBox="1"/>
          <p:nvPr/>
        </p:nvSpPr>
        <p:spPr>
          <a:xfrm>
            <a:off x="8507745" y="2453547"/>
            <a:ext cx="1097679" cy="184666"/>
          </a:xfrm>
          <a:prstGeom prst="rect">
            <a:avLst/>
          </a:prstGeom>
          <a:noFill/>
        </p:spPr>
        <p:txBody>
          <a:bodyPr wrap="square" lIns="0" tIns="0" rIns="0" bIns="0" rtlCol="0" anchor="ctr">
            <a:spAutoFit/>
          </a:bodyPr>
          <a:lstStyle/>
          <a:p>
            <a:pPr algn="ctr" defTabSz="914363">
              <a:defRPr/>
            </a:pPr>
            <a:r>
              <a:rPr lang="en-US" sz="1200" b="1">
                <a:solidFill>
                  <a:srgbClr val="FFFFFF"/>
                </a:solidFill>
                <a:latin typeface="Arial"/>
              </a:rPr>
              <a:t>Launch</a:t>
            </a:r>
          </a:p>
        </p:txBody>
      </p:sp>
      <p:sp>
        <p:nvSpPr>
          <p:cNvPr id="81" name="TextBox 80">
            <a:extLst>
              <a:ext uri="{FF2B5EF4-FFF2-40B4-BE49-F238E27FC236}">
                <a16:creationId xmlns:a16="http://schemas.microsoft.com/office/drawing/2014/main" id="{8F48926E-933F-1284-1989-A148547C50A1}"/>
              </a:ext>
            </a:extLst>
          </p:cNvPr>
          <p:cNvSpPr txBox="1"/>
          <p:nvPr/>
        </p:nvSpPr>
        <p:spPr>
          <a:xfrm>
            <a:off x="10415732" y="2453547"/>
            <a:ext cx="1204048" cy="184666"/>
          </a:xfrm>
          <a:prstGeom prst="rect">
            <a:avLst/>
          </a:prstGeom>
          <a:noFill/>
        </p:spPr>
        <p:txBody>
          <a:bodyPr wrap="square" lIns="0" tIns="0" rIns="0" bIns="0" rtlCol="0" anchor="ctr">
            <a:spAutoFit/>
          </a:bodyPr>
          <a:lstStyle/>
          <a:p>
            <a:pPr algn="ctr" defTabSz="914363">
              <a:defRPr/>
            </a:pPr>
            <a:r>
              <a:rPr lang="en-US" sz="1200" b="1">
                <a:solidFill>
                  <a:srgbClr val="FFFFFF"/>
                </a:solidFill>
                <a:latin typeface="Arial"/>
              </a:rPr>
              <a:t>Post Launch</a:t>
            </a:r>
          </a:p>
        </p:txBody>
      </p:sp>
      <p:cxnSp>
        <p:nvCxnSpPr>
          <p:cNvPr id="82" name="Straight Connector 81">
            <a:extLst>
              <a:ext uri="{FF2B5EF4-FFF2-40B4-BE49-F238E27FC236}">
                <a16:creationId xmlns:a16="http://schemas.microsoft.com/office/drawing/2014/main" id="{301BA281-A5E9-ABEA-9CC6-327306367004}"/>
              </a:ext>
            </a:extLst>
          </p:cNvPr>
          <p:cNvCxnSpPr>
            <a:cxnSpLocks/>
          </p:cNvCxnSpPr>
          <p:nvPr/>
        </p:nvCxnSpPr>
        <p:spPr>
          <a:xfrm flipV="1">
            <a:off x="2878487" y="1951432"/>
            <a:ext cx="0" cy="119809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6C51F70-7B03-1A73-6270-13A7A4EC4876}"/>
              </a:ext>
            </a:extLst>
          </p:cNvPr>
          <p:cNvSpPr txBox="1"/>
          <p:nvPr/>
        </p:nvSpPr>
        <p:spPr>
          <a:xfrm>
            <a:off x="2720442" y="1576621"/>
            <a:ext cx="1257328" cy="424732"/>
          </a:xfrm>
          <a:prstGeom prst="rect">
            <a:avLst/>
          </a:prstGeom>
          <a:noFill/>
        </p:spPr>
        <p:txBody>
          <a:bodyPr wrap="square" lIns="91440" tIns="45720" rIns="91440" bIns="45720" rtlCol="0" anchor="t">
            <a:spAutoFit/>
          </a:bodyPr>
          <a:lstStyle/>
          <a:p>
            <a:pPr algn="ctr">
              <a:lnSpc>
                <a:spcPct val="90000"/>
              </a:lnSpc>
              <a:defRPr/>
            </a:pPr>
            <a:r>
              <a:rPr lang="en-US" sz="1200" b="1">
                <a:solidFill>
                  <a:srgbClr val="000000"/>
                </a:solidFill>
                <a:latin typeface="Arial"/>
              </a:rPr>
              <a:t>Candidate </a:t>
            </a:r>
          </a:p>
          <a:p>
            <a:pPr algn="ctr" defTabSz="914363">
              <a:lnSpc>
                <a:spcPct val="90000"/>
              </a:lnSpc>
              <a:defRPr/>
            </a:pPr>
            <a:r>
              <a:rPr lang="en-US" sz="1200" b="1">
                <a:solidFill>
                  <a:srgbClr val="000000"/>
                </a:solidFill>
                <a:latin typeface="Arial"/>
              </a:rPr>
              <a:t>Selection</a:t>
            </a:r>
          </a:p>
        </p:txBody>
      </p:sp>
      <p:pic>
        <p:nvPicPr>
          <p:cNvPr id="77" name="Graphic 76" descr="Star with solid fill">
            <a:extLst>
              <a:ext uri="{FF2B5EF4-FFF2-40B4-BE49-F238E27FC236}">
                <a16:creationId xmlns:a16="http://schemas.microsoft.com/office/drawing/2014/main" id="{A4A66721-247F-C2C6-DE65-923112ED9E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2735281" y="1848899"/>
            <a:ext cx="300621" cy="300621"/>
          </a:xfrm>
          <a:prstGeom prst="rect">
            <a:avLst/>
          </a:prstGeom>
        </p:spPr>
      </p:pic>
      <p:sp>
        <p:nvSpPr>
          <p:cNvPr id="37" name="TextBox 36">
            <a:extLst>
              <a:ext uri="{FF2B5EF4-FFF2-40B4-BE49-F238E27FC236}">
                <a16:creationId xmlns:a16="http://schemas.microsoft.com/office/drawing/2014/main" id="{8114AE55-BF3E-ECF2-4525-AB1AC1041916}"/>
              </a:ext>
            </a:extLst>
          </p:cNvPr>
          <p:cNvSpPr txBox="1"/>
          <p:nvPr/>
        </p:nvSpPr>
        <p:spPr>
          <a:xfrm>
            <a:off x="689985" y="4722512"/>
            <a:ext cx="6296890" cy="276999"/>
          </a:xfrm>
          <a:prstGeom prst="rect">
            <a:avLst/>
          </a:prstGeom>
          <a:noFill/>
        </p:spPr>
        <p:txBody>
          <a:bodyPr wrap="square" rtlCol="0">
            <a:spAutoFit/>
          </a:bodyPr>
          <a:lstStyle/>
          <a:p>
            <a:pPr defTabSz="914363">
              <a:defRPr/>
            </a:pPr>
            <a:r>
              <a:rPr lang="en-US" sz="1200" b="1">
                <a:latin typeface="Arial"/>
              </a:rPr>
              <a:t>PPM Roles &amp; Responsibilities</a:t>
            </a:r>
          </a:p>
        </p:txBody>
      </p:sp>
      <p:sp>
        <p:nvSpPr>
          <p:cNvPr id="101" name="TextBox 100">
            <a:extLst>
              <a:ext uri="{FF2B5EF4-FFF2-40B4-BE49-F238E27FC236}">
                <a16:creationId xmlns:a16="http://schemas.microsoft.com/office/drawing/2014/main" id="{B54F0538-9801-4FC9-8C8D-D2911A67E397}"/>
              </a:ext>
            </a:extLst>
          </p:cNvPr>
          <p:cNvSpPr txBox="1"/>
          <p:nvPr/>
        </p:nvSpPr>
        <p:spPr>
          <a:xfrm>
            <a:off x="728005" y="4968754"/>
            <a:ext cx="6525526" cy="1292662"/>
          </a:xfrm>
          <a:prstGeom prst="rect">
            <a:avLst/>
          </a:prstGeom>
          <a:noFill/>
        </p:spPr>
        <p:txBody>
          <a:bodyPr wrap="square" lIns="0" tIns="0" rIns="0" bIns="0" rtlCol="0">
            <a:spAutoFit/>
          </a:bodyPr>
          <a:lstStyle/>
          <a:p>
            <a:pPr marL="171443" indent="-171443" defTabSz="914363">
              <a:buFont typeface="Arial" panose="020B0604020202020204" pitchFamily="34" charset="0"/>
              <a:buChar char="•"/>
              <a:defRPr/>
            </a:pPr>
            <a:r>
              <a:rPr lang="en-US" sz="1200" b="1">
                <a:latin typeface="Arial"/>
              </a:rPr>
              <a:t>Scope Planning</a:t>
            </a:r>
          </a:p>
          <a:p>
            <a:pPr marL="171443" indent="-171443" defTabSz="914363">
              <a:buFont typeface="Arial" panose="020B0604020202020204" pitchFamily="34" charset="0"/>
              <a:buChar char="•"/>
              <a:defRPr/>
            </a:pPr>
            <a:r>
              <a:rPr lang="en-US" sz="1200" b="1">
                <a:latin typeface="Arial"/>
              </a:rPr>
              <a:t>Schedule Planning </a:t>
            </a:r>
          </a:p>
          <a:p>
            <a:pPr marL="171443" indent="-171443" defTabSz="914363">
              <a:buFont typeface="Arial" panose="020B0604020202020204" pitchFamily="34" charset="0"/>
              <a:buChar char="•"/>
              <a:defRPr/>
            </a:pPr>
            <a:r>
              <a:rPr lang="en-US" sz="1200" b="1">
                <a:latin typeface="Arial"/>
              </a:rPr>
              <a:t>Milestone Management</a:t>
            </a:r>
          </a:p>
          <a:p>
            <a:pPr marL="171443" indent="-171443" defTabSz="914363">
              <a:buFont typeface="Arial" panose="020B0604020202020204" pitchFamily="34" charset="0"/>
              <a:buChar char="•"/>
              <a:defRPr/>
            </a:pPr>
            <a:r>
              <a:rPr lang="en-US" sz="1200" b="1">
                <a:latin typeface="Arial"/>
              </a:rPr>
              <a:t>Trial Initiation and Management</a:t>
            </a:r>
          </a:p>
          <a:p>
            <a:pPr marL="171443" indent="-171443" defTabSz="914363">
              <a:buFont typeface="Arial" panose="020B0604020202020204" pitchFamily="34" charset="0"/>
              <a:buChar char="•"/>
              <a:defRPr/>
            </a:pPr>
            <a:r>
              <a:rPr lang="en-US" sz="1200" b="1">
                <a:latin typeface="Arial"/>
              </a:rPr>
              <a:t>Budget Management</a:t>
            </a:r>
          </a:p>
          <a:p>
            <a:pPr marL="171443" indent="-171443" defTabSz="914363">
              <a:buFont typeface="Arial" panose="020B0604020202020204" pitchFamily="34" charset="0"/>
              <a:buChar char="•"/>
              <a:defRPr/>
            </a:pPr>
            <a:r>
              <a:rPr lang="en-US" sz="1200" b="1">
                <a:latin typeface="Arial"/>
              </a:rPr>
              <a:t>Risk Evaluation</a:t>
            </a:r>
          </a:p>
          <a:p>
            <a:pPr marL="171443" indent="-171443" defTabSz="914363">
              <a:buFont typeface="Arial" panose="020B0604020202020204" pitchFamily="34" charset="0"/>
              <a:buChar char="•"/>
              <a:defRPr/>
            </a:pPr>
            <a:endParaRPr lang="en-US" sz="1200" b="1">
              <a:latin typeface="Arial"/>
            </a:endParaRPr>
          </a:p>
        </p:txBody>
      </p:sp>
      <p:sp>
        <p:nvSpPr>
          <p:cNvPr id="105" name="TextBox 104">
            <a:extLst>
              <a:ext uri="{FF2B5EF4-FFF2-40B4-BE49-F238E27FC236}">
                <a16:creationId xmlns:a16="http://schemas.microsoft.com/office/drawing/2014/main" id="{9A9CF46B-0EE5-4E80-8A44-A53E9378D51E}"/>
              </a:ext>
            </a:extLst>
          </p:cNvPr>
          <p:cNvSpPr txBox="1"/>
          <p:nvPr/>
        </p:nvSpPr>
        <p:spPr>
          <a:xfrm>
            <a:off x="5074714" y="1766981"/>
            <a:ext cx="1257329" cy="424732"/>
          </a:xfrm>
          <a:prstGeom prst="rect">
            <a:avLst/>
          </a:prstGeom>
          <a:noFill/>
        </p:spPr>
        <p:txBody>
          <a:bodyPr wrap="square" lIns="91440" tIns="45720" rIns="91440" bIns="45720" rtlCol="0" anchor="t">
            <a:spAutoFit/>
          </a:bodyPr>
          <a:lstStyle/>
          <a:p>
            <a:pPr algn="ctr" defTabSz="914363">
              <a:lnSpc>
                <a:spcPct val="90000"/>
              </a:lnSpc>
              <a:defRPr/>
            </a:pPr>
            <a:r>
              <a:rPr lang="en-US" sz="1200" b="1">
                <a:solidFill>
                  <a:srgbClr val="000000"/>
                </a:solidFill>
                <a:latin typeface="Arial"/>
              </a:rPr>
              <a:t>Commercial Decision</a:t>
            </a:r>
          </a:p>
        </p:txBody>
      </p:sp>
      <p:pic>
        <p:nvPicPr>
          <p:cNvPr id="106" name="Graphic 105" descr="Star with solid fill">
            <a:extLst>
              <a:ext uri="{FF2B5EF4-FFF2-40B4-BE49-F238E27FC236}">
                <a16:creationId xmlns:a16="http://schemas.microsoft.com/office/drawing/2014/main" id="{8345F404-80F5-4073-A172-B18E6D5442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5123653" y="2085414"/>
            <a:ext cx="300621" cy="300621"/>
          </a:xfrm>
          <a:prstGeom prst="rect">
            <a:avLst/>
          </a:prstGeom>
        </p:spPr>
      </p:pic>
      <p:sp>
        <p:nvSpPr>
          <p:cNvPr id="6" name="Left Brace 5">
            <a:extLst>
              <a:ext uri="{FF2B5EF4-FFF2-40B4-BE49-F238E27FC236}">
                <a16:creationId xmlns:a16="http://schemas.microsoft.com/office/drawing/2014/main" id="{5843ED40-44E1-4FAE-A0FC-014AB74BEB52}"/>
              </a:ext>
            </a:extLst>
          </p:cNvPr>
          <p:cNvSpPr/>
          <p:nvPr/>
        </p:nvSpPr>
        <p:spPr>
          <a:xfrm rot="5400000">
            <a:off x="1688852" y="485158"/>
            <a:ext cx="182108" cy="22167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914363">
              <a:defRPr/>
            </a:pPr>
            <a:endParaRPr lang="en-US">
              <a:solidFill>
                <a:srgbClr val="A59C95"/>
              </a:solidFill>
              <a:latin typeface="Arial"/>
            </a:endParaRPr>
          </a:p>
        </p:txBody>
      </p:sp>
      <p:sp>
        <p:nvSpPr>
          <p:cNvPr id="10" name="TextBox 9">
            <a:extLst>
              <a:ext uri="{FF2B5EF4-FFF2-40B4-BE49-F238E27FC236}">
                <a16:creationId xmlns:a16="http://schemas.microsoft.com/office/drawing/2014/main" id="{2FAF5F8E-E593-48EB-8F5A-82CFBA928E14}"/>
              </a:ext>
            </a:extLst>
          </p:cNvPr>
          <p:cNvSpPr txBox="1"/>
          <p:nvPr/>
        </p:nvSpPr>
        <p:spPr>
          <a:xfrm>
            <a:off x="664484" y="1293205"/>
            <a:ext cx="2228959" cy="276999"/>
          </a:xfrm>
          <a:prstGeom prst="rect">
            <a:avLst/>
          </a:prstGeom>
          <a:noFill/>
        </p:spPr>
        <p:txBody>
          <a:bodyPr wrap="square" rtlCol="0">
            <a:spAutoFit/>
          </a:bodyPr>
          <a:lstStyle/>
          <a:p>
            <a:pPr algn="ctr" defTabSz="914363">
              <a:defRPr/>
            </a:pPr>
            <a:r>
              <a:rPr lang="en-US" sz="1200">
                <a:latin typeface="DIN Pro" panose="02000503040000020003"/>
              </a:rPr>
              <a:t>Sustainable flow of innovation</a:t>
            </a:r>
          </a:p>
        </p:txBody>
      </p:sp>
      <p:sp>
        <p:nvSpPr>
          <p:cNvPr id="58" name="TextBox 57">
            <a:extLst>
              <a:ext uri="{FF2B5EF4-FFF2-40B4-BE49-F238E27FC236}">
                <a16:creationId xmlns:a16="http://schemas.microsoft.com/office/drawing/2014/main" id="{2E432CC4-547A-4C42-9B0D-63B34F210596}"/>
              </a:ext>
            </a:extLst>
          </p:cNvPr>
          <p:cNvSpPr txBox="1"/>
          <p:nvPr/>
        </p:nvSpPr>
        <p:spPr>
          <a:xfrm>
            <a:off x="79538" y="3732921"/>
            <a:ext cx="897288" cy="646331"/>
          </a:xfrm>
          <a:prstGeom prst="rect">
            <a:avLst/>
          </a:prstGeom>
          <a:noFill/>
        </p:spPr>
        <p:txBody>
          <a:bodyPr wrap="square" rtlCol="0">
            <a:spAutoFit/>
          </a:bodyPr>
          <a:lstStyle/>
          <a:p>
            <a:pPr algn="ctr" defTabSz="914363">
              <a:defRPr/>
            </a:pPr>
            <a:r>
              <a:rPr lang="en-US" sz="1200">
                <a:latin typeface="DIN Pro" panose="02000503040000020003"/>
              </a:rPr>
              <a:t>Optimize Portfolio Delivery</a:t>
            </a:r>
          </a:p>
        </p:txBody>
      </p:sp>
      <p:sp>
        <p:nvSpPr>
          <p:cNvPr id="16" name="Rectangle 15">
            <a:extLst>
              <a:ext uri="{FF2B5EF4-FFF2-40B4-BE49-F238E27FC236}">
                <a16:creationId xmlns:a16="http://schemas.microsoft.com/office/drawing/2014/main" id="{49519BFE-4A58-49D9-83A6-0A17B29F0046}"/>
              </a:ext>
            </a:extLst>
          </p:cNvPr>
          <p:cNvSpPr/>
          <p:nvPr/>
        </p:nvSpPr>
        <p:spPr>
          <a:xfrm>
            <a:off x="1153651" y="3974983"/>
            <a:ext cx="2177778" cy="198896"/>
          </a:xfrm>
          <a:prstGeom prst="rect">
            <a:avLst/>
          </a:prstGeom>
          <a:solidFill>
            <a:schemeClr val="accent2">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914363">
              <a:defRPr/>
            </a:pPr>
            <a:r>
              <a:rPr lang="en-US" sz="1200" b="1">
                <a:solidFill>
                  <a:schemeClr val="bg1"/>
                </a:solidFill>
                <a:latin typeface="DIN Pro" panose="02000503040000020003" pitchFamily="50" charset="0"/>
              </a:rPr>
              <a:t>Target Portfolio Committee</a:t>
            </a:r>
          </a:p>
        </p:txBody>
      </p:sp>
      <p:sp>
        <p:nvSpPr>
          <p:cNvPr id="115" name="Rectangle 114">
            <a:extLst>
              <a:ext uri="{FF2B5EF4-FFF2-40B4-BE49-F238E27FC236}">
                <a16:creationId xmlns:a16="http://schemas.microsoft.com/office/drawing/2014/main" id="{C898BA00-3439-4C97-921F-C815C9EA7BB2}"/>
              </a:ext>
            </a:extLst>
          </p:cNvPr>
          <p:cNvSpPr/>
          <p:nvPr/>
        </p:nvSpPr>
        <p:spPr>
          <a:xfrm>
            <a:off x="2583918" y="4199357"/>
            <a:ext cx="9608083" cy="196382"/>
          </a:xfrm>
          <a:prstGeom prst="rect">
            <a:avLst/>
          </a:prstGeom>
          <a:solidFill>
            <a:schemeClr val="accent2">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914363">
              <a:defRPr/>
            </a:pPr>
            <a:endParaRPr lang="en-US" sz="1200" b="1">
              <a:solidFill>
                <a:srgbClr val="000000"/>
              </a:solidFill>
              <a:latin typeface="DIN Pro" panose="02000503040000020003" pitchFamily="50" charset="0"/>
            </a:endParaRPr>
          </a:p>
        </p:txBody>
      </p:sp>
      <p:sp>
        <p:nvSpPr>
          <p:cNvPr id="123" name="Rectangle 122">
            <a:extLst>
              <a:ext uri="{FF2B5EF4-FFF2-40B4-BE49-F238E27FC236}">
                <a16:creationId xmlns:a16="http://schemas.microsoft.com/office/drawing/2014/main" id="{2DCB5444-9769-4C77-A0B0-6623BFBBF0BE}"/>
              </a:ext>
            </a:extLst>
          </p:cNvPr>
          <p:cNvSpPr/>
          <p:nvPr/>
        </p:nvSpPr>
        <p:spPr>
          <a:xfrm>
            <a:off x="2963407" y="4423293"/>
            <a:ext cx="9228592" cy="244861"/>
          </a:xfrm>
          <a:prstGeom prst="rect">
            <a:avLst/>
          </a:prstGeom>
          <a:solidFill>
            <a:schemeClr val="accent2">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914363">
              <a:defRPr/>
            </a:pPr>
            <a:r>
              <a:rPr lang="en-US" sz="1200" b="1">
                <a:solidFill>
                  <a:schemeClr val="bg1"/>
                </a:solidFill>
                <a:latin typeface="DIN Pro" panose="02000503040000020003" pitchFamily="50" charset="0"/>
              </a:rPr>
              <a:t>Drug Development Forum</a:t>
            </a:r>
          </a:p>
        </p:txBody>
      </p:sp>
      <p:sp>
        <p:nvSpPr>
          <p:cNvPr id="17" name="TextBox 16">
            <a:extLst>
              <a:ext uri="{FF2B5EF4-FFF2-40B4-BE49-F238E27FC236}">
                <a16:creationId xmlns:a16="http://schemas.microsoft.com/office/drawing/2014/main" id="{7C32CE80-BBEF-4420-A28A-F7BDB55CFB42}"/>
              </a:ext>
            </a:extLst>
          </p:cNvPr>
          <p:cNvSpPr txBox="1"/>
          <p:nvPr/>
        </p:nvSpPr>
        <p:spPr>
          <a:xfrm>
            <a:off x="3447098" y="3962259"/>
            <a:ext cx="1744401" cy="215444"/>
          </a:xfrm>
          <a:prstGeom prst="rect">
            <a:avLst/>
          </a:prstGeom>
          <a:noFill/>
        </p:spPr>
        <p:txBody>
          <a:bodyPr wrap="square" rtlCol="0">
            <a:spAutoFit/>
          </a:bodyPr>
          <a:lstStyle/>
          <a:p>
            <a:pPr defTabSz="914363">
              <a:defRPr/>
            </a:pPr>
            <a:r>
              <a:rPr lang="en-US" sz="800">
                <a:solidFill>
                  <a:srgbClr val="000000"/>
                </a:solidFill>
                <a:latin typeface="DIN Pro" panose="02000503040000020003" pitchFamily="50" charset="0"/>
              </a:rPr>
              <a:t>Determine Portfolio Entry</a:t>
            </a:r>
          </a:p>
        </p:txBody>
      </p:sp>
      <p:sp>
        <p:nvSpPr>
          <p:cNvPr id="127" name="TextBox 126">
            <a:extLst>
              <a:ext uri="{FF2B5EF4-FFF2-40B4-BE49-F238E27FC236}">
                <a16:creationId xmlns:a16="http://schemas.microsoft.com/office/drawing/2014/main" id="{082136EB-0C0B-486F-9A66-FC850270E64B}"/>
              </a:ext>
            </a:extLst>
          </p:cNvPr>
          <p:cNvSpPr txBox="1"/>
          <p:nvPr/>
        </p:nvSpPr>
        <p:spPr>
          <a:xfrm>
            <a:off x="5824791" y="4167842"/>
            <a:ext cx="2284874" cy="276999"/>
          </a:xfrm>
          <a:prstGeom prst="rect">
            <a:avLst/>
          </a:prstGeom>
          <a:noFill/>
        </p:spPr>
        <p:txBody>
          <a:bodyPr wrap="square">
            <a:spAutoFit/>
          </a:bodyPr>
          <a:lstStyle/>
          <a:p>
            <a:pPr algn="ctr" defTabSz="914363">
              <a:defRPr/>
            </a:pPr>
            <a:r>
              <a:rPr lang="en-US" sz="1200" b="1">
                <a:solidFill>
                  <a:schemeClr val="bg1"/>
                </a:solidFill>
                <a:latin typeface="DIN Pro" panose="02000503040000020003" pitchFamily="50" charset="0"/>
              </a:rPr>
              <a:t>Portfolio Investment Council</a:t>
            </a:r>
          </a:p>
        </p:txBody>
      </p:sp>
      <p:sp>
        <p:nvSpPr>
          <p:cNvPr id="124" name="TextBox 123">
            <a:extLst>
              <a:ext uri="{FF2B5EF4-FFF2-40B4-BE49-F238E27FC236}">
                <a16:creationId xmlns:a16="http://schemas.microsoft.com/office/drawing/2014/main" id="{224AC588-F11D-484B-B442-8BB812AF7B23}"/>
              </a:ext>
            </a:extLst>
          </p:cNvPr>
          <p:cNvSpPr txBox="1"/>
          <p:nvPr/>
        </p:nvSpPr>
        <p:spPr>
          <a:xfrm>
            <a:off x="8162829" y="4189826"/>
            <a:ext cx="1744401" cy="215444"/>
          </a:xfrm>
          <a:prstGeom prst="rect">
            <a:avLst/>
          </a:prstGeom>
          <a:solidFill>
            <a:schemeClr val="bg1"/>
          </a:solidFill>
          <a:effectLst>
            <a:softEdge rad="635000"/>
          </a:effectLst>
        </p:spPr>
        <p:txBody>
          <a:bodyPr wrap="square" rtlCol="0">
            <a:spAutoFit/>
          </a:bodyPr>
          <a:lstStyle/>
          <a:p>
            <a:pPr defTabSz="914363">
              <a:defRPr/>
            </a:pPr>
            <a:r>
              <a:rPr lang="en-US" sz="800">
                <a:solidFill>
                  <a:schemeClr val="bg1"/>
                </a:solidFill>
                <a:latin typeface="DIN Pro" panose="02000503040000020003" pitchFamily="50" charset="0"/>
              </a:rPr>
              <a:t>Determine Investment Strategy</a:t>
            </a:r>
          </a:p>
        </p:txBody>
      </p:sp>
      <p:sp>
        <p:nvSpPr>
          <p:cNvPr id="84" name="TextBox 83">
            <a:extLst>
              <a:ext uri="{FF2B5EF4-FFF2-40B4-BE49-F238E27FC236}">
                <a16:creationId xmlns:a16="http://schemas.microsoft.com/office/drawing/2014/main" id="{2791B6C2-DE36-47E8-86B9-1AA24456EE2C}"/>
              </a:ext>
            </a:extLst>
          </p:cNvPr>
          <p:cNvSpPr txBox="1"/>
          <p:nvPr/>
        </p:nvSpPr>
        <p:spPr>
          <a:xfrm>
            <a:off x="3939153" y="3236889"/>
            <a:ext cx="2627646" cy="145424"/>
          </a:xfrm>
          <a:prstGeom prst="rect">
            <a:avLst/>
          </a:prstGeom>
          <a:noFill/>
        </p:spPr>
        <p:txBody>
          <a:bodyPr wrap="square" lIns="0" tIns="0" rIns="0" bIns="0" rtlCol="0" anchor="ctr">
            <a:spAutoFit/>
          </a:bodyPr>
          <a:lstStyle/>
          <a:p>
            <a:pPr algn="ctr" defTabSz="914363">
              <a:lnSpc>
                <a:spcPct val="90000"/>
              </a:lnSpc>
              <a:defRPr/>
            </a:pPr>
            <a:r>
              <a:rPr lang="en-US" sz="1050" b="1">
                <a:solidFill>
                  <a:srgbClr val="000000"/>
                </a:solidFill>
                <a:latin typeface="DIN Pro" panose="02000503040000020003"/>
              </a:rPr>
              <a:t>Prudent, data-driven investment</a:t>
            </a:r>
          </a:p>
        </p:txBody>
      </p:sp>
      <p:sp>
        <p:nvSpPr>
          <p:cNvPr id="9" name="Right Triangle 8">
            <a:extLst>
              <a:ext uri="{FF2B5EF4-FFF2-40B4-BE49-F238E27FC236}">
                <a16:creationId xmlns:a16="http://schemas.microsoft.com/office/drawing/2014/main" id="{90CF3432-36FE-C579-3B86-8C6D1CD80222}"/>
              </a:ext>
            </a:extLst>
          </p:cNvPr>
          <p:cNvSpPr/>
          <p:nvPr/>
        </p:nvSpPr>
        <p:spPr>
          <a:xfrm>
            <a:off x="3331430" y="3972654"/>
            <a:ext cx="231336" cy="201278"/>
          </a:xfrm>
          <a:prstGeom prst="r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85" name="Right Triangle 84">
            <a:extLst>
              <a:ext uri="{FF2B5EF4-FFF2-40B4-BE49-F238E27FC236}">
                <a16:creationId xmlns:a16="http://schemas.microsoft.com/office/drawing/2014/main" id="{69F3EF27-89EA-9AF0-6929-3F32131E9D47}"/>
              </a:ext>
            </a:extLst>
          </p:cNvPr>
          <p:cNvSpPr/>
          <p:nvPr/>
        </p:nvSpPr>
        <p:spPr>
          <a:xfrm flipH="1">
            <a:off x="2361533" y="4196844"/>
            <a:ext cx="231336" cy="198896"/>
          </a:xfrm>
          <a:prstGeom prst="rtTriangl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grpSp>
        <p:nvGrpSpPr>
          <p:cNvPr id="91" name="Group 90">
            <a:extLst>
              <a:ext uri="{FF2B5EF4-FFF2-40B4-BE49-F238E27FC236}">
                <a16:creationId xmlns:a16="http://schemas.microsoft.com/office/drawing/2014/main" id="{9128807B-42AE-22B5-647E-DC4F880CA59C}"/>
              </a:ext>
            </a:extLst>
          </p:cNvPr>
          <p:cNvGrpSpPr/>
          <p:nvPr/>
        </p:nvGrpSpPr>
        <p:grpSpPr>
          <a:xfrm>
            <a:off x="5417519" y="3721201"/>
            <a:ext cx="6393195" cy="293542"/>
            <a:chOff x="7317294" y="4108698"/>
            <a:chExt cx="9905244" cy="620127"/>
          </a:xfrm>
          <a:solidFill>
            <a:schemeClr val="tx1">
              <a:lumMod val="40000"/>
              <a:lumOff val="60000"/>
            </a:schemeClr>
          </a:solidFill>
        </p:grpSpPr>
        <p:sp>
          <p:nvSpPr>
            <p:cNvPr id="100" name="Parallelogram 99">
              <a:extLst>
                <a:ext uri="{FF2B5EF4-FFF2-40B4-BE49-F238E27FC236}">
                  <a16:creationId xmlns:a16="http://schemas.microsoft.com/office/drawing/2014/main" id="{317CC1F7-8331-2E08-B239-4DB69D3D9DB9}"/>
                </a:ext>
              </a:extLst>
            </p:cNvPr>
            <p:cNvSpPr/>
            <p:nvPr/>
          </p:nvSpPr>
          <p:spPr>
            <a:xfrm>
              <a:off x="7317294" y="4108698"/>
              <a:ext cx="9704632" cy="616728"/>
            </a:xfrm>
            <a:prstGeom prst="parallelogram">
              <a:avLst>
                <a:gd name="adj" fmla="val 100311"/>
              </a:avLst>
            </a:prstGeom>
            <a:grp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alpha val="77633"/>
                  </a:srgbClr>
                </a:solidFill>
                <a:latin typeface="Arial"/>
              </a:endParaRPr>
            </a:p>
          </p:txBody>
        </p:sp>
        <p:sp>
          <p:nvSpPr>
            <p:cNvPr id="102" name="Pentagon 45">
              <a:extLst>
                <a:ext uri="{FF2B5EF4-FFF2-40B4-BE49-F238E27FC236}">
                  <a16:creationId xmlns:a16="http://schemas.microsoft.com/office/drawing/2014/main" id="{AE91BE42-F038-193B-6E82-9534E3A4F593}"/>
                </a:ext>
              </a:extLst>
            </p:cNvPr>
            <p:cNvSpPr/>
            <p:nvPr/>
          </p:nvSpPr>
          <p:spPr>
            <a:xfrm>
              <a:off x="16334985" y="4122553"/>
              <a:ext cx="887553" cy="606272"/>
            </a:xfrm>
            <a:prstGeom prst="homePlate">
              <a:avLst>
                <a:gd name="adj" fmla="val 2805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solidFill>
                <a:latin typeface="Arial"/>
              </a:endParaRPr>
            </a:p>
          </p:txBody>
        </p:sp>
      </p:grpSp>
      <p:grpSp>
        <p:nvGrpSpPr>
          <p:cNvPr id="103" name="Group 102">
            <a:extLst>
              <a:ext uri="{FF2B5EF4-FFF2-40B4-BE49-F238E27FC236}">
                <a16:creationId xmlns:a16="http://schemas.microsoft.com/office/drawing/2014/main" id="{62A115BA-859E-5D8C-9868-FEAED0727626}"/>
              </a:ext>
            </a:extLst>
          </p:cNvPr>
          <p:cNvGrpSpPr/>
          <p:nvPr/>
        </p:nvGrpSpPr>
        <p:grpSpPr>
          <a:xfrm>
            <a:off x="2583918" y="3490630"/>
            <a:ext cx="2977925" cy="417042"/>
            <a:chOff x="3806889" y="5209159"/>
            <a:chExt cx="13762593" cy="616363"/>
          </a:xfrm>
          <a:solidFill>
            <a:schemeClr val="tx1">
              <a:lumMod val="40000"/>
              <a:lumOff val="60000"/>
            </a:schemeClr>
          </a:solidFill>
        </p:grpSpPr>
        <p:sp>
          <p:nvSpPr>
            <p:cNvPr id="104" name="Parallelogram 103">
              <a:extLst>
                <a:ext uri="{FF2B5EF4-FFF2-40B4-BE49-F238E27FC236}">
                  <a16:creationId xmlns:a16="http://schemas.microsoft.com/office/drawing/2014/main" id="{41251C4B-2919-317B-F0F1-B18FCBA0EB24}"/>
                </a:ext>
              </a:extLst>
            </p:cNvPr>
            <p:cNvSpPr/>
            <p:nvPr/>
          </p:nvSpPr>
          <p:spPr>
            <a:xfrm>
              <a:off x="3806889" y="5209159"/>
              <a:ext cx="13260240" cy="612648"/>
            </a:xfrm>
            <a:prstGeom prst="parallelogram">
              <a:avLst>
                <a:gd name="adj" fmla="val 111034"/>
              </a:avLst>
            </a:prstGeom>
            <a:grp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alpha val="77633"/>
                  </a:srgbClr>
                </a:solidFill>
                <a:latin typeface="Arial"/>
              </a:endParaRPr>
            </a:p>
          </p:txBody>
        </p:sp>
        <p:sp>
          <p:nvSpPr>
            <p:cNvPr id="107" name="Pentagon 125">
              <a:extLst>
                <a:ext uri="{FF2B5EF4-FFF2-40B4-BE49-F238E27FC236}">
                  <a16:creationId xmlns:a16="http://schemas.microsoft.com/office/drawing/2014/main" id="{300096AB-F5C5-083C-9346-E41636D6B23A}"/>
                </a:ext>
              </a:extLst>
            </p:cNvPr>
            <p:cNvSpPr/>
            <p:nvPr/>
          </p:nvSpPr>
          <p:spPr>
            <a:xfrm>
              <a:off x="14628150" y="5213773"/>
              <a:ext cx="2941332" cy="611749"/>
            </a:xfrm>
            <a:prstGeom prst="homePlate">
              <a:avLst>
                <a:gd name="adj" fmla="val 2805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3">
                <a:defRPr/>
              </a:pPr>
              <a:endParaRPr lang="en-US" sz="1200">
                <a:solidFill>
                  <a:srgbClr val="FFFFFF"/>
                </a:solidFill>
                <a:latin typeface="Arial"/>
              </a:endParaRPr>
            </a:p>
          </p:txBody>
        </p:sp>
      </p:grpSp>
      <p:sp>
        <p:nvSpPr>
          <p:cNvPr id="111" name="Rectangle 110">
            <a:extLst>
              <a:ext uri="{FF2B5EF4-FFF2-40B4-BE49-F238E27FC236}">
                <a16:creationId xmlns:a16="http://schemas.microsoft.com/office/drawing/2014/main" id="{65E944C6-8A88-D984-F369-8D41E1EA8FB0}"/>
              </a:ext>
            </a:extLst>
          </p:cNvPr>
          <p:cNvSpPr/>
          <p:nvPr/>
        </p:nvSpPr>
        <p:spPr>
          <a:xfrm>
            <a:off x="3157243" y="3478784"/>
            <a:ext cx="1337621" cy="460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defTabSz="544155">
              <a:lnSpc>
                <a:spcPct val="90000"/>
              </a:lnSpc>
              <a:defRPr/>
            </a:pPr>
            <a:r>
              <a:rPr lang="en-US" sz="933" b="1">
                <a:solidFill>
                  <a:srgbClr val="D42B1E"/>
                </a:solidFill>
                <a:latin typeface="DIN Pro" panose="02000503040000020003"/>
              </a:rPr>
              <a:t>POTENTIAL </a:t>
            </a:r>
          </a:p>
          <a:p>
            <a:pPr algn="ctr" defTabSz="544155">
              <a:lnSpc>
                <a:spcPct val="90000"/>
              </a:lnSpc>
              <a:defRPr/>
            </a:pPr>
            <a:r>
              <a:rPr lang="en-US" sz="933" b="1">
                <a:solidFill>
                  <a:srgbClr val="D42B1E"/>
                </a:solidFill>
                <a:latin typeface="DIN Pro" panose="02000503040000020003"/>
              </a:rPr>
              <a:t>GAME CHANGERS</a:t>
            </a:r>
          </a:p>
        </p:txBody>
      </p:sp>
      <p:sp>
        <p:nvSpPr>
          <p:cNvPr id="112" name="Rectangle 111">
            <a:extLst>
              <a:ext uri="{FF2B5EF4-FFF2-40B4-BE49-F238E27FC236}">
                <a16:creationId xmlns:a16="http://schemas.microsoft.com/office/drawing/2014/main" id="{6CBCE052-F46F-570E-E542-D28F85E46654}"/>
              </a:ext>
            </a:extLst>
          </p:cNvPr>
          <p:cNvSpPr/>
          <p:nvPr/>
        </p:nvSpPr>
        <p:spPr>
          <a:xfrm>
            <a:off x="6118315" y="3705838"/>
            <a:ext cx="1721648" cy="3180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defTabSz="544155">
              <a:lnSpc>
                <a:spcPct val="90000"/>
              </a:lnSpc>
              <a:defRPr/>
            </a:pPr>
            <a:r>
              <a:rPr lang="en-US" sz="933" b="1">
                <a:solidFill>
                  <a:srgbClr val="D42B1E"/>
                </a:solidFill>
                <a:latin typeface="DIN Pro" panose="02000503040000020003"/>
              </a:rPr>
              <a:t>GAME CHANGERS</a:t>
            </a:r>
          </a:p>
        </p:txBody>
      </p:sp>
      <p:sp>
        <p:nvSpPr>
          <p:cNvPr id="113" name="TextBox 112">
            <a:extLst>
              <a:ext uri="{FF2B5EF4-FFF2-40B4-BE49-F238E27FC236}">
                <a16:creationId xmlns:a16="http://schemas.microsoft.com/office/drawing/2014/main" id="{D92F2B9E-6DD0-B4A1-CD97-42A8B92023BE}"/>
              </a:ext>
            </a:extLst>
          </p:cNvPr>
          <p:cNvSpPr txBox="1"/>
          <p:nvPr/>
        </p:nvSpPr>
        <p:spPr>
          <a:xfrm>
            <a:off x="8313058" y="3743277"/>
            <a:ext cx="1437352" cy="237757"/>
          </a:xfrm>
          <a:prstGeom prst="rect">
            <a:avLst/>
          </a:prstGeom>
          <a:noFill/>
          <a:ln>
            <a:noFill/>
          </a:ln>
        </p:spPr>
        <p:txBody>
          <a:bodyPr wrap="square" rtlCol="0" anchor="ctr">
            <a:spAutoFit/>
          </a:bodyPr>
          <a:lstStyle/>
          <a:p>
            <a:pPr algn="ctr" defTabSz="914363">
              <a:lnSpc>
                <a:spcPct val="90000"/>
              </a:lnSpc>
              <a:defRPr/>
            </a:pPr>
            <a:r>
              <a:rPr lang="en-US" sz="1050" b="1">
                <a:solidFill>
                  <a:srgbClr val="000000"/>
                </a:solidFill>
                <a:latin typeface="DIN Pro" panose="02000503040000020003"/>
              </a:rPr>
              <a:t>All-in investment</a:t>
            </a:r>
          </a:p>
        </p:txBody>
      </p:sp>
      <p:sp>
        <p:nvSpPr>
          <p:cNvPr id="114" name="TextBox 113">
            <a:extLst>
              <a:ext uri="{FF2B5EF4-FFF2-40B4-BE49-F238E27FC236}">
                <a16:creationId xmlns:a16="http://schemas.microsoft.com/office/drawing/2014/main" id="{65147010-182E-8F9C-18C0-5FECDC2EB070}"/>
              </a:ext>
            </a:extLst>
          </p:cNvPr>
          <p:cNvSpPr txBox="1"/>
          <p:nvPr/>
        </p:nvSpPr>
        <p:spPr>
          <a:xfrm>
            <a:off x="4129755" y="3551676"/>
            <a:ext cx="1435901" cy="290849"/>
          </a:xfrm>
          <a:prstGeom prst="rect">
            <a:avLst/>
          </a:prstGeom>
          <a:noFill/>
        </p:spPr>
        <p:txBody>
          <a:bodyPr wrap="square" lIns="0" tIns="0" rIns="0" bIns="0" rtlCol="0" anchor="ctr">
            <a:spAutoFit/>
          </a:bodyPr>
          <a:lstStyle/>
          <a:p>
            <a:pPr algn="ctr" defTabSz="914363">
              <a:lnSpc>
                <a:spcPct val="90000"/>
              </a:lnSpc>
              <a:defRPr/>
            </a:pPr>
            <a:r>
              <a:rPr lang="en-US" sz="1050" b="1">
                <a:solidFill>
                  <a:srgbClr val="000000"/>
                </a:solidFill>
                <a:latin typeface="DIN Pro" panose="02000503040000020003"/>
              </a:rPr>
              <a:t>Increased </a:t>
            </a:r>
            <a:br>
              <a:rPr lang="en-US" sz="1050" b="1">
                <a:solidFill>
                  <a:srgbClr val="000000"/>
                </a:solidFill>
                <a:latin typeface="DIN Pro" panose="02000503040000020003"/>
              </a:rPr>
            </a:br>
            <a:r>
              <a:rPr lang="en-US" sz="1050" b="1">
                <a:solidFill>
                  <a:srgbClr val="000000"/>
                </a:solidFill>
                <a:latin typeface="DIN Pro" panose="02000503040000020003"/>
              </a:rPr>
              <a:t>investment</a:t>
            </a:r>
          </a:p>
        </p:txBody>
      </p:sp>
      <p:sp>
        <p:nvSpPr>
          <p:cNvPr id="14" name="TextBox 13">
            <a:extLst>
              <a:ext uri="{FF2B5EF4-FFF2-40B4-BE49-F238E27FC236}">
                <a16:creationId xmlns:a16="http://schemas.microsoft.com/office/drawing/2014/main" id="{12AB027E-677C-A40C-BAFB-57D9510E8C69}"/>
              </a:ext>
            </a:extLst>
          </p:cNvPr>
          <p:cNvSpPr txBox="1"/>
          <p:nvPr/>
        </p:nvSpPr>
        <p:spPr>
          <a:xfrm>
            <a:off x="7056966" y="4720330"/>
            <a:ext cx="2901556" cy="276999"/>
          </a:xfrm>
          <a:prstGeom prst="rect">
            <a:avLst/>
          </a:prstGeom>
          <a:noFill/>
        </p:spPr>
        <p:txBody>
          <a:bodyPr wrap="square" rtlCol="0">
            <a:spAutoFit/>
          </a:bodyPr>
          <a:lstStyle/>
          <a:p>
            <a:pPr algn="ctr" defTabSz="914363">
              <a:defRPr/>
            </a:pPr>
            <a:r>
              <a:rPr lang="en-US" sz="1200" b="1">
                <a:latin typeface="Arial"/>
              </a:rPr>
              <a:t>PPM Roles &amp; Responsibilities</a:t>
            </a:r>
          </a:p>
        </p:txBody>
      </p:sp>
      <p:sp>
        <p:nvSpPr>
          <p:cNvPr id="18" name="TextBox 17">
            <a:extLst>
              <a:ext uri="{FF2B5EF4-FFF2-40B4-BE49-F238E27FC236}">
                <a16:creationId xmlns:a16="http://schemas.microsoft.com/office/drawing/2014/main" id="{912A6F6C-CDE6-BF5A-4E83-BAF91B5A78A5}"/>
              </a:ext>
            </a:extLst>
          </p:cNvPr>
          <p:cNvSpPr txBox="1"/>
          <p:nvPr/>
        </p:nvSpPr>
        <p:spPr>
          <a:xfrm>
            <a:off x="9620325" y="4721889"/>
            <a:ext cx="2901556" cy="276999"/>
          </a:xfrm>
          <a:prstGeom prst="rect">
            <a:avLst/>
          </a:prstGeom>
          <a:noFill/>
        </p:spPr>
        <p:txBody>
          <a:bodyPr wrap="square" rtlCol="0">
            <a:spAutoFit/>
          </a:bodyPr>
          <a:lstStyle/>
          <a:p>
            <a:pPr algn="ctr" defTabSz="914363">
              <a:defRPr/>
            </a:pPr>
            <a:r>
              <a:rPr lang="en-US" sz="1200" b="1">
                <a:latin typeface="Arial"/>
              </a:rPr>
              <a:t>PPM Roles &amp; Responsibilities</a:t>
            </a:r>
          </a:p>
        </p:txBody>
      </p:sp>
      <p:sp>
        <p:nvSpPr>
          <p:cNvPr id="19" name="TextBox 18">
            <a:extLst>
              <a:ext uri="{FF2B5EF4-FFF2-40B4-BE49-F238E27FC236}">
                <a16:creationId xmlns:a16="http://schemas.microsoft.com/office/drawing/2014/main" id="{2D01CDFC-BA93-7CF8-3E14-E5F99C87B5EB}"/>
              </a:ext>
            </a:extLst>
          </p:cNvPr>
          <p:cNvSpPr txBox="1"/>
          <p:nvPr/>
        </p:nvSpPr>
        <p:spPr>
          <a:xfrm>
            <a:off x="7386727" y="5019152"/>
            <a:ext cx="2411118" cy="1477328"/>
          </a:xfrm>
          <a:prstGeom prst="rect">
            <a:avLst/>
          </a:prstGeom>
          <a:noFill/>
        </p:spPr>
        <p:txBody>
          <a:bodyPr wrap="square" lIns="0" tIns="0" rIns="0" bIns="0" rtlCol="0">
            <a:spAutoFit/>
          </a:bodyPr>
          <a:lstStyle/>
          <a:p>
            <a:pPr marL="171443" indent="-171443" defTabSz="914363">
              <a:buFont typeface="Arial" panose="020B0604020202020204" pitchFamily="34" charset="0"/>
              <a:buChar char="•"/>
              <a:defRPr/>
            </a:pPr>
            <a:r>
              <a:rPr lang="en-US" sz="1200" b="1">
                <a:latin typeface="Arial"/>
              </a:rPr>
              <a:t>Registration submission planning</a:t>
            </a:r>
          </a:p>
          <a:p>
            <a:pPr marL="171443" indent="-171443" defTabSz="914363">
              <a:buFont typeface="Arial" panose="020B0604020202020204" pitchFamily="34" charset="0"/>
              <a:buChar char="•"/>
              <a:defRPr/>
            </a:pPr>
            <a:r>
              <a:rPr lang="en-US" sz="1200" b="1">
                <a:latin typeface="Arial"/>
              </a:rPr>
              <a:t>Launch activities</a:t>
            </a:r>
          </a:p>
          <a:p>
            <a:pPr marL="171443" indent="-171443" defTabSz="914363">
              <a:buFont typeface="Arial" panose="020B0604020202020204" pitchFamily="34" charset="0"/>
              <a:buChar char="•"/>
              <a:defRPr/>
            </a:pPr>
            <a:r>
              <a:rPr lang="en-US" sz="1200" b="1">
                <a:latin typeface="Arial"/>
              </a:rPr>
              <a:t>Milestone Management</a:t>
            </a:r>
          </a:p>
          <a:p>
            <a:pPr marL="171443" indent="-171443" defTabSz="914363">
              <a:buFont typeface="Arial" panose="020B0604020202020204" pitchFamily="34" charset="0"/>
              <a:buChar char="•"/>
              <a:defRPr/>
            </a:pPr>
            <a:r>
              <a:rPr lang="en-US" sz="1200" b="1">
                <a:latin typeface="Arial"/>
              </a:rPr>
              <a:t>Budget Management</a:t>
            </a:r>
          </a:p>
          <a:p>
            <a:pPr marL="171443" indent="-171443" defTabSz="914363">
              <a:buFont typeface="Arial" panose="020B0604020202020204" pitchFamily="34" charset="0"/>
              <a:buChar char="•"/>
              <a:defRPr/>
            </a:pPr>
            <a:r>
              <a:rPr lang="en-US" sz="1200" b="1">
                <a:latin typeface="Arial"/>
              </a:rPr>
              <a:t>Risk Evaluation</a:t>
            </a:r>
          </a:p>
          <a:p>
            <a:pPr marL="171443" indent="-171443" defTabSz="914363">
              <a:buFont typeface="Arial" panose="020B0604020202020204" pitchFamily="34" charset="0"/>
              <a:buChar char="•"/>
              <a:defRPr/>
            </a:pPr>
            <a:r>
              <a:rPr lang="en-US" sz="1200" b="1">
                <a:latin typeface="Arial"/>
              </a:rPr>
              <a:t>Alliance Management</a:t>
            </a:r>
          </a:p>
          <a:p>
            <a:pPr marL="171443" indent="-171443" defTabSz="914363">
              <a:buFont typeface="Arial" panose="020B0604020202020204" pitchFamily="34" charset="0"/>
              <a:buChar char="•"/>
              <a:defRPr/>
            </a:pPr>
            <a:endParaRPr lang="en-US" sz="1200" b="1">
              <a:latin typeface="Arial"/>
            </a:endParaRPr>
          </a:p>
        </p:txBody>
      </p:sp>
      <p:sp>
        <p:nvSpPr>
          <p:cNvPr id="21" name="TextBox 20">
            <a:extLst>
              <a:ext uri="{FF2B5EF4-FFF2-40B4-BE49-F238E27FC236}">
                <a16:creationId xmlns:a16="http://schemas.microsoft.com/office/drawing/2014/main" id="{9F64A94B-FFA9-08B5-4427-339490D5361A}"/>
              </a:ext>
            </a:extLst>
          </p:cNvPr>
          <p:cNvSpPr txBox="1"/>
          <p:nvPr/>
        </p:nvSpPr>
        <p:spPr>
          <a:xfrm>
            <a:off x="9977720" y="4984248"/>
            <a:ext cx="2145637" cy="1661993"/>
          </a:xfrm>
          <a:prstGeom prst="rect">
            <a:avLst/>
          </a:prstGeom>
          <a:noFill/>
        </p:spPr>
        <p:txBody>
          <a:bodyPr wrap="square" lIns="0" tIns="0" rIns="0" bIns="0" rtlCol="0">
            <a:spAutoFit/>
          </a:bodyPr>
          <a:lstStyle/>
          <a:p>
            <a:pPr marL="171443" indent="-171443" defTabSz="914363">
              <a:buFont typeface="Arial" panose="020B0604020202020204" pitchFamily="34" charset="0"/>
              <a:buChar char="•"/>
              <a:defRPr/>
            </a:pPr>
            <a:r>
              <a:rPr lang="en-US" sz="1200" b="1">
                <a:latin typeface="Arial"/>
              </a:rPr>
              <a:t>Right to Operate activities (RTO)</a:t>
            </a:r>
          </a:p>
          <a:p>
            <a:pPr marL="171443" indent="-171443" defTabSz="914363">
              <a:buFont typeface="Arial" panose="020B0604020202020204" pitchFamily="34" charset="0"/>
              <a:buChar char="•"/>
              <a:defRPr/>
            </a:pPr>
            <a:r>
              <a:rPr lang="en-US" sz="1200" b="1">
                <a:latin typeface="Arial"/>
              </a:rPr>
              <a:t>Risk Management</a:t>
            </a:r>
          </a:p>
          <a:p>
            <a:pPr marL="171443" indent="-171443" defTabSz="914363">
              <a:buFont typeface="Arial" panose="020B0604020202020204" pitchFamily="34" charset="0"/>
              <a:buChar char="•"/>
              <a:defRPr/>
            </a:pPr>
            <a:r>
              <a:rPr lang="en-US" sz="1200" b="1">
                <a:latin typeface="Arial"/>
              </a:rPr>
              <a:t>Budget Management</a:t>
            </a:r>
          </a:p>
          <a:p>
            <a:pPr marL="171443" indent="-171443" defTabSz="914363">
              <a:buFont typeface="Arial" panose="020B0604020202020204" pitchFamily="34" charset="0"/>
              <a:buChar char="•"/>
              <a:defRPr/>
            </a:pPr>
            <a:r>
              <a:rPr lang="en-US" sz="1200" b="1">
                <a:latin typeface="Arial"/>
              </a:rPr>
              <a:t>Line extensions/divestments</a:t>
            </a:r>
          </a:p>
          <a:p>
            <a:pPr marL="171443" indent="-171443" defTabSz="914363">
              <a:buFont typeface="Arial" panose="020B0604020202020204" pitchFamily="34" charset="0"/>
              <a:buChar char="•"/>
              <a:defRPr/>
            </a:pPr>
            <a:r>
              <a:rPr lang="en-US" sz="1200" b="1">
                <a:latin typeface="Arial"/>
              </a:rPr>
              <a:t>Alliance Management</a:t>
            </a:r>
          </a:p>
          <a:p>
            <a:pPr marL="171443" indent="-171443" defTabSz="914363">
              <a:buFont typeface="Arial" panose="020B0604020202020204" pitchFamily="34" charset="0"/>
              <a:buChar char="•"/>
              <a:defRPr/>
            </a:pPr>
            <a:r>
              <a:rPr lang="en-US" sz="1200" b="1">
                <a:latin typeface="Arial"/>
              </a:rPr>
              <a:t>Milestone Management</a:t>
            </a:r>
          </a:p>
          <a:p>
            <a:pPr marL="171443" indent="-171443" defTabSz="914363">
              <a:buFont typeface="Arial" panose="020B0604020202020204" pitchFamily="34" charset="0"/>
              <a:buChar char="•"/>
              <a:defRPr/>
            </a:pPr>
            <a:endParaRPr lang="en-US" sz="1200" b="1">
              <a:latin typeface="Arial"/>
            </a:endParaRPr>
          </a:p>
        </p:txBody>
      </p:sp>
      <p:cxnSp>
        <p:nvCxnSpPr>
          <p:cNvPr id="23" name="Straight Connector 22">
            <a:extLst>
              <a:ext uri="{FF2B5EF4-FFF2-40B4-BE49-F238E27FC236}">
                <a16:creationId xmlns:a16="http://schemas.microsoft.com/office/drawing/2014/main" id="{CC9C06C4-F3B1-AC41-FF22-FE960261A2A1}"/>
              </a:ext>
            </a:extLst>
          </p:cNvPr>
          <p:cNvCxnSpPr>
            <a:cxnSpLocks/>
          </p:cNvCxnSpPr>
          <p:nvPr/>
        </p:nvCxnSpPr>
        <p:spPr>
          <a:xfrm>
            <a:off x="7042090" y="2955828"/>
            <a:ext cx="14876" cy="3552923"/>
          </a:xfrm>
          <a:prstGeom prst="line">
            <a:avLst/>
          </a:prstGeom>
          <a:ln w="2857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4CEC9B94-BE46-F021-4B96-B11F63A919B9}"/>
              </a:ext>
            </a:extLst>
          </p:cNvPr>
          <p:cNvCxnSpPr>
            <a:cxnSpLocks/>
          </p:cNvCxnSpPr>
          <p:nvPr/>
        </p:nvCxnSpPr>
        <p:spPr>
          <a:xfrm flipH="1">
            <a:off x="9907229" y="2929884"/>
            <a:ext cx="31008" cy="3593988"/>
          </a:xfrm>
          <a:prstGeom prst="line">
            <a:avLst/>
          </a:prstGeom>
          <a:ln w="2857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3CB27846-8D0C-196A-67B2-BB3BD1B44085}"/>
              </a:ext>
            </a:extLst>
          </p:cNvPr>
          <p:cNvCxnSpPr>
            <a:cxnSpLocks/>
          </p:cNvCxnSpPr>
          <p:nvPr/>
        </p:nvCxnSpPr>
        <p:spPr>
          <a:xfrm flipV="1">
            <a:off x="7042090" y="2181878"/>
            <a:ext cx="0" cy="73914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A5EB7CE-ED0D-8820-1F7C-268314F55874}"/>
              </a:ext>
            </a:extLst>
          </p:cNvPr>
          <p:cNvCxnSpPr>
            <a:cxnSpLocks/>
          </p:cNvCxnSpPr>
          <p:nvPr/>
        </p:nvCxnSpPr>
        <p:spPr>
          <a:xfrm flipV="1">
            <a:off x="8481628" y="2184394"/>
            <a:ext cx="0" cy="73914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50519D6-60E8-A26D-7297-A87F4FEF2351}"/>
              </a:ext>
            </a:extLst>
          </p:cNvPr>
          <p:cNvSpPr txBox="1"/>
          <p:nvPr/>
        </p:nvSpPr>
        <p:spPr>
          <a:xfrm>
            <a:off x="636578" y="858817"/>
            <a:ext cx="2228959" cy="369332"/>
          </a:xfrm>
          <a:prstGeom prst="rect">
            <a:avLst/>
          </a:prstGeom>
          <a:noFill/>
        </p:spPr>
        <p:txBody>
          <a:bodyPr wrap="square" rtlCol="0">
            <a:spAutoFit/>
          </a:bodyPr>
          <a:lstStyle/>
          <a:p>
            <a:pPr algn="ctr"/>
            <a:r>
              <a:rPr lang="en-US" b="1" dirty="0">
                <a:solidFill>
                  <a:srgbClr val="C00000"/>
                </a:solidFill>
              </a:rPr>
              <a:t>Discovery</a:t>
            </a:r>
          </a:p>
        </p:txBody>
      </p:sp>
      <p:sp>
        <p:nvSpPr>
          <p:cNvPr id="13" name="Left Bracket 12">
            <a:extLst>
              <a:ext uri="{FF2B5EF4-FFF2-40B4-BE49-F238E27FC236}">
                <a16:creationId xmlns:a16="http://schemas.microsoft.com/office/drawing/2014/main" id="{13915BC3-A8DE-047B-123E-388449388117}"/>
              </a:ext>
            </a:extLst>
          </p:cNvPr>
          <p:cNvSpPr/>
          <p:nvPr/>
        </p:nvSpPr>
        <p:spPr>
          <a:xfrm rot="5400000">
            <a:off x="1611605" y="254004"/>
            <a:ext cx="334717" cy="2279963"/>
          </a:xfrm>
          <a:prstGeom prst="leftBracket">
            <a:avLst/>
          </a:prstGeom>
          <a:ln w="76200"/>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39802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1789-3509-86AA-2C60-1D17A4961087}"/>
              </a:ext>
            </a:extLst>
          </p:cNvPr>
          <p:cNvSpPr>
            <a:spLocks noGrp="1"/>
          </p:cNvSpPr>
          <p:nvPr>
            <p:ph type="title"/>
          </p:nvPr>
        </p:nvSpPr>
        <p:spPr>
          <a:xfrm>
            <a:off x="228957" y="87732"/>
            <a:ext cx="10515600" cy="685696"/>
          </a:xfrm>
        </p:spPr>
        <p:txBody>
          <a:bodyPr/>
          <a:lstStyle/>
          <a:p>
            <a:r>
              <a:rPr lang="en-US" dirty="0"/>
              <a:t>Definition of Discovery Phase</a:t>
            </a:r>
          </a:p>
        </p:txBody>
      </p:sp>
      <p:sp>
        <p:nvSpPr>
          <p:cNvPr id="4" name="Date Placeholder 3">
            <a:extLst>
              <a:ext uri="{FF2B5EF4-FFF2-40B4-BE49-F238E27FC236}">
                <a16:creationId xmlns:a16="http://schemas.microsoft.com/office/drawing/2014/main" id="{C351DEE6-D2F0-421F-215D-5A294183C92A}"/>
              </a:ext>
            </a:extLst>
          </p:cNvPr>
          <p:cNvSpPr>
            <a:spLocks noGrp="1"/>
          </p:cNvSpPr>
          <p:nvPr>
            <p:ph type="dt" sz="half" idx="10"/>
          </p:nvPr>
        </p:nvSpPr>
        <p:spPr/>
        <p:txBody>
          <a:bodyPr/>
          <a:lstStyle/>
          <a:p>
            <a:pPr>
              <a:defRPr/>
            </a:pPr>
            <a:fld id="{C05910C0-F0E4-3B4A-8D46-358441509B60}" type="datetime1">
              <a:rPr lang="en-US" smtClean="0"/>
              <a:pPr>
                <a:defRPr/>
              </a:pPr>
              <a:t>9/1/2026</a:t>
            </a:fld>
            <a:endParaRPr lang="en-US" dirty="0"/>
          </a:p>
        </p:txBody>
      </p:sp>
      <p:sp>
        <p:nvSpPr>
          <p:cNvPr id="6" name="Slide Number Placeholder 5">
            <a:extLst>
              <a:ext uri="{FF2B5EF4-FFF2-40B4-BE49-F238E27FC236}">
                <a16:creationId xmlns:a16="http://schemas.microsoft.com/office/drawing/2014/main" id="{12C9327D-0810-BFE4-A67C-7F8C6BA2090C}"/>
              </a:ext>
            </a:extLst>
          </p:cNvPr>
          <p:cNvSpPr>
            <a:spLocks noGrp="1"/>
          </p:cNvSpPr>
          <p:nvPr>
            <p:ph type="sldNum" sz="quarter" idx="12"/>
          </p:nvPr>
        </p:nvSpPr>
        <p:spPr/>
        <p:txBody>
          <a:bodyPr/>
          <a:lstStyle/>
          <a:p>
            <a:pPr>
              <a:defRPr/>
            </a:pPr>
            <a:fld id="{D6E4A9EC-2F93-AA4A-8BF5-70DF04282848}" type="slidenum">
              <a:rPr lang="en-US" smtClean="0"/>
              <a:pPr>
                <a:defRPr/>
              </a:pPr>
              <a:t>7</a:t>
            </a:fld>
            <a:endParaRPr lang="en-US"/>
          </a:p>
        </p:txBody>
      </p:sp>
      <p:pic>
        <p:nvPicPr>
          <p:cNvPr id="10" name="Content Placeholder 9">
            <a:extLst>
              <a:ext uri="{FF2B5EF4-FFF2-40B4-BE49-F238E27FC236}">
                <a16:creationId xmlns:a16="http://schemas.microsoft.com/office/drawing/2014/main" id="{7391598D-5250-757E-E037-DC5DB8313DBD}"/>
              </a:ext>
            </a:extLst>
          </p:cNvPr>
          <p:cNvPicPr>
            <a:picLocks noGrp="1" noChangeAspect="1"/>
          </p:cNvPicPr>
          <p:nvPr>
            <p:ph idx="1"/>
          </p:nvPr>
        </p:nvPicPr>
        <p:blipFill>
          <a:blip r:embed="rId2"/>
          <a:stretch>
            <a:fillRect/>
          </a:stretch>
        </p:blipFill>
        <p:spPr>
          <a:xfrm>
            <a:off x="5486757" y="1965903"/>
            <a:ext cx="6501686" cy="3175057"/>
          </a:xfrm>
        </p:spPr>
      </p:pic>
      <p:sp>
        <p:nvSpPr>
          <p:cNvPr id="12" name="Rectangle 11">
            <a:extLst>
              <a:ext uri="{FF2B5EF4-FFF2-40B4-BE49-F238E27FC236}">
                <a16:creationId xmlns:a16="http://schemas.microsoft.com/office/drawing/2014/main" id="{37C267AA-BA87-48EF-885F-4CB5F0ED1E5C}"/>
              </a:ext>
            </a:extLst>
          </p:cNvPr>
          <p:cNvSpPr/>
          <p:nvPr/>
        </p:nvSpPr>
        <p:spPr>
          <a:xfrm>
            <a:off x="5364480" y="1965903"/>
            <a:ext cx="1078298" cy="3291897"/>
          </a:xfrm>
          <a:prstGeom prst="rect">
            <a:avLst/>
          </a:prstGeom>
          <a:noFill/>
          <a:ln w="381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13" name="TextBox 12">
            <a:extLst>
              <a:ext uri="{FF2B5EF4-FFF2-40B4-BE49-F238E27FC236}">
                <a16:creationId xmlns:a16="http://schemas.microsoft.com/office/drawing/2014/main" id="{B0BC701B-BC31-0EFC-9715-1676190F2C44}"/>
              </a:ext>
            </a:extLst>
          </p:cNvPr>
          <p:cNvSpPr txBox="1"/>
          <p:nvPr/>
        </p:nvSpPr>
        <p:spPr>
          <a:xfrm>
            <a:off x="162777" y="1413294"/>
            <a:ext cx="4904207" cy="4893263"/>
          </a:xfrm>
          <a:prstGeom prst="rect">
            <a:avLst/>
          </a:prstGeom>
          <a:noFill/>
        </p:spPr>
        <p:txBody>
          <a:bodyPr wrap="square" rtlCol="0">
            <a:spAutoFit/>
          </a:bodyPr>
          <a:lstStyle/>
          <a:p>
            <a:pPr marL="342900" indent="-342900">
              <a:buClr>
                <a:srgbClr val="B95151"/>
              </a:buClr>
              <a:buFont typeface="Wingdings" panose="05000000000000000000" pitchFamily="2" charset="2"/>
              <a:buChar char="§"/>
            </a:pPr>
            <a:r>
              <a:rPr lang="en-US" sz="2333" dirty="0"/>
              <a:t>Discovery Phase is made up of two “sub-phases”</a:t>
            </a:r>
          </a:p>
          <a:p>
            <a:pPr marL="972844" lvl="1" indent="-428608">
              <a:buClr>
                <a:srgbClr val="B95151"/>
              </a:buClr>
              <a:buFont typeface="Wingdings" panose="05000000000000000000" pitchFamily="2" charset="2"/>
              <a:buChar char="§"/>
            </a:pPr>
            <a:r>
              <a:rPr lang="en-US" sz="2333" b="1" dirty="0"/>
              <a:t>Pre-Portfolio  (Pre-Target to PE)</a:t>
            </a:r>
          </a:p>
          <a:p>
            <a:pPr marL="1430044" lvl="2" indent="-428608">
              <a:buClr>
                <a:srgbClr val="B95151"/>
              </a:buClr>
              <a:buFont typeface="Wingdings" panose="05000000000000000000" pitchFamily="2" charset="2"/>
              <a:buChar char="§"/>
            </a:pPr>
            <a:r>
              <a:rPr lang="en-US" sz="2000" dirty="0"/>
              <a:t>Identifying/Validating the Target and Evaluation/Execution of molecules to enter the Portfolio</a:t>
            </a:r>
          </a:p>
          <a:p>
            <a:pPr marL="1974281" lvl="3" indent="-428608">
              <a:buClr>
                <a:srgbClr val="B95151"/>
              </a:buClr>
              <a:buFont typeface="Wingdings" panose="05000000000000000000" pitchFamily="2" charset="2"/>
              <a:buChar char="§"/>
            </a:pPr>
            <a:r>
              <a:rPr lang="en-US" sz="1600" dirty="0"/>
              <a:t>NGR timing:  ~6 months from Target declaration to PE</a:t>
            </a:r>
          </a:p>
          <a:p>
            <a:pPr marL="1059881" lvl="1" indent="-428608">
              <a:buClr>
                <a:srgbClr val="B95151"/>
              </a:buClr>
              <a:buFont typeface="Wingdings" panose="05000000000000000000" pitchFamily="2" charset="2"/>
              <a:buChar char="§"/>
            </a:pPr>
            <a:r>
              <a:rPr lang="en-US" sz="2333" b="1" dirty="0"/>
              <a:t>Portfolio Entry (PE) to Candidate Identification (CI)</a:t>
            </a:r>
          </a:p>
          <a:p>
            <a:pPr marL="1517081" lvl="2" indent="-428608">
              <a:buClr>
                <a:srgbClr val="B95151"/>
              </a:buClr>
              <a:buFont typeface="Wingdings" panose="05000000000000000000" pitchFamily="2" charset="2"/>
              <a:buChar char="§"/>
            </a:pPr>
            <a:r>
              <a:rPr lang="en-US" sz="2000" dirty="0"/>
              <a:t>Timeline is dependent on the modality and degree of technical difficulty </a:t>
            </a:r>
          </a:p>
        </p:txBody>
      </p:sp>
      <p:cxnSp>
        <p:nvCxnSpPr>
          <p:cNvPr id="15" name="Straight Connector 14">
            <a:extLst>
              <a:ext uri="{FF2B5EF4-FFF2-40B4-BE49-F238E27FC236}">
                <a16:creationId xmlns:a16="http://schemas.microsoft.com/office/drawing/2014/main" id="{06A311BC-8980-1B4B-0BD9-3E38B0FC7F06}"/>
              </a:ext>
            </a:extLst>
          </p:cNvPr>
          <p:cNvCxnSpPr/>
          <p:nvPr/>
        </p:nvCxnSpPr>
        <p:spPr>
          <a:xfrm flipV="1">
            <a:off x="6093319" y="1965903"/>
            <a:ext cx="0" cy="3291897"/>
          </a:xfrm>
          <a:prstGeom prst="line">
            <a:avLst/>
          </a:prstGeom>
          <a:ln w="38100">
            <a:solidFill>
              <a:srgbClr val="00B050"/>
            </a:solidFill>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5AF799B-1116-B99A-6869-78118CB3920A}"/>
              </a:ext>
            </a:extLst>
          </p:cNvPr>
          <p:cNvSpPr/>
          <p:nvPr/>
        </p:nvSpPr>
        <p:spPr>
          <a:xfrm>
            <a:off x="5444424" y="5120730"/>
            <a:ext cx="304800" cy="3048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a:t>1</a:t>
            </a:r>
          </a:p>
        </p:txBody>
      </p:sp>
      <p:sp>
        <p:nvSpPr>
          <p:cNvPr id="17" name="Oval 16">
            <a:extLst>
              <a:ext uri="{FF2B5EF4-FFF2-40B4-BE49-F238E27FC236}">
                <a16:creationId xmlns:a16="http://schemas.microsoft.com/office/drawing/2014/main" id="{D3E9CD43-D586-CF24-C339-FA2761FD96A0}"/>
              </a:ext>
            </a:extLst>
          </p:cNvPr>
          <p:cNvSpPr/>
          <p:nvPr/>
        </p:nvSpPr>
        <p:spPr>
          <a:xfrm>
            <a:off x="6132615" y="5120730"/>
            <a:ext cx="304800" cy="3048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a:t>2</a:t>
            </a:r>
          </a:p>
        </p:txBody>
      </p:sp>
    </p:spTree>
    <p:extLst>
      <p:ext uri="{BB962C8B-B14F-4D97-AF65-F5344CB8AC3E}">
        <p14:creationId xmlns:p14="http://schemas.microsoft.com/office/powerpoint/2010/main" val="151974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77731" y="847408"/>
            <a:ext cx="2357063" cy="715350"/>
          </a:xfrm>
          <a:prstGeom prst="rect">
            <a:avLst/>
          </a:prstGeom>
          <a:solidFill>
            <a:srgbClr val="00B05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b="1">
              <a:solidFill>
                <a:prstClr val="white"/>
              </a:solidFill>
              <a:latin typeface="Calibri" panose="020F0502020204030204"/>
            </a:endParaRPr>
          </a:p>
          <a:p>
            <a:pPr algn="ctr" defTabSz="685800">
              <a:defRPr/>
            </a:pPr>
            <a:r>
              <a:rPr lang="en-US" sz="1350" b="1" err="1">
                <a:solidFill>
                  <a:prstClr val="white"/>
                </a:solidFill>
                <a:latin typeface="Calibri" panose="020F0502020204030204"/>
              </a:rPr>
              <a:t>Druggability</a:t>
            </a:r>
            <a:r>
              <a:rPr lang="en-US" sz="1350" b="1">
                <a:solidFill>
                  <a:prstClr val="white"/>
                </a:solidFill>
                <a:latin typeface="Calibri" panose="020F0502020204030204"/>
              </a:rPr>
              <a:t> Assessment</a:t>
            </a:r>
          </a:p>
          <a:p>
            <a:pPr algn="ctr" defTabSz="685800">
              <a:defRPr/>
            </a:pPr>
            <a:r>
              <a:rPr lang="en-US" sz="1350" b="1">
                <a:solidFill>
                  <a:prstClr val="white"/>
                </a:solidFill>
                <a:latin typeface="Calibri" panose="020F0502020204030204"/>
              </a:rPr>
              <a:t>(Target Entry to PE)</a:t>
            </a:r>
          </a:p>
          <a:p>
            <a:pPr algn="ctr" defTabSz="685800">
              <a:defRPr/>
            </a:pPr>
            <a:endParaRPr lang="en-US" sz="1350" b="1">
              <a:solidFill>
                <a:prstClr val="white"/>
              </a:solidFill>
              <a:latin typeface="Calibri" panose="020F0502020204030204"/>
            </a:endParaRPr>
          </a:p>
        </p:txBody>
      </p:sp>
      <p:sp>
        <p:nvSpPr>
          <p:cNvPr id="4" name="Rectangle 3"/>
          <p:cNvSpPr/>
          <p:nvPr/>
        </p:nvSpPr>
        <p:spPr>
          <a:xfrm>
            <a:off x="5917809" y="840264"/>
            <a:ext cx="2068645" cy="715350"/>
          </a:xfrm>
          <a:prstGeom prst="rect">
            <a:avLst/>
          </a:prstGeom>
          <a:solidFill>
            <a:schemeClr val="tx2">
              <a:lumMod val="7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b="1">
                <a:solidFill>
                  <a:prstClr val="white"/>
                </a:solidFill>
                <a:latin typeface="Calibri" panose="020F0502020204030204"/>
              </a:rPr>
              <a:t>Optimization/Engineering</a:t>
            </a:r>
          </a:p>
          <a:p>
            <a:pPr algn="ctr" defTabSz="685800">
              <a:defRPr/>
            </a:pPr>
            <a:r>
              <a:rPr lang="en-US" sz="1350" b="1">
                <a:solidFill>
                  <a:prstClr val="white"/>
                </a:solidFill>
                <a:latin typeface="Calibri" panose="020F0502020204030204"/>
              </a:rPr>
              <a:t>(PE to CI)</a:t>
            </a:r>
          </a:p>
        </p:txBody>
      </p:sp>
      <p:sp>
        <p:nvSpPr>
          <p:cNvPr id="5" name="Rectangle 4"/>
          <p:cNvSpPr/>
          <p:nvPr/>
        </p:nvSpPr>
        <p:spPr>
          <a:xfrm>
            <a:off x="8045238" y="840264"/>
            <a:ext cx="2586698" cy="715350"/>
          </a:xfrm>
          <a:prstGeom prst="rect">
            <a:avLst/>
          </a:prstGeom>
          <a:solidFill>
            <a:schemeClr val="tx2">
              <a:lumMod val="7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b="1">
                <a:solidFill>
                  <a:prstClr val="white"/>
                </a:solidFill>
                <a:latin typeface="Calibri" panose="020F0502020204030204"/>
              </a:rPr>
              <a:t>Candidate Development</a:t>
            </a:r>
          </a:p>
          <a:p>
            <a:pPr algn="ctr" defTabSz="685800">
              <a:defRPr/>
            </a:pPr>
            <a:r>
              <a:rPr lang="en-US" sz="1350" b="1">
                <a:solidFill>
                  <a:prstClr val="white"/>
                </a:solidFill>
                <a:latin typeface="Calibri" panose="020F0502020204030204"/>
              </a:rPr>
              <a:t>(CI to POC)</a:t>
            </a:r>
          </a:p>
        </p:txBody>
      </p:sp>
      <p:sp>
        <p:nvSpPr>
          <p:cNvPr id="36" name="Title 1"/>
          <p:cNvSpPr txBox="1">
            <a:spLocks/>
          </p:cNvSpPr>
          <p:nvPr/>
        </p:nvSpPr>
        <p:spPr>
          <a:xfrm>
            <a:off x="364191" y="164111"/>
            <a:ext cx="8192588" cy="64183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defRPr/>
            </a:pPr>
            <a:r>
              <a:rPr lang="en-US" sz="3200" b="1" dirty="0">
                <a:solidFill>
                  <a:schemeClr val="bg1"/>
                </a:solidFill>
                <a:latin typeface="Calibri"/>
              </a:rPr>
              <a:t>Discovery Project Management Responsibilities</a:t>
            </a:r>
          </a:p>
        </p:txBody>
      </p:sp>
      <p:sp>
        <p:nvSpPr>
          <p:cNvPr id="17" name="TextBox 16">
            <a:extLst>
              <a:ext uri="{FF2B5EF4-FFF2-40B4-BE49-F238E27FC236}">
                <a16:creationId xmlns:a16="http://schemas.microsoft.com/office/drawing/2014/main" id="{44EA0DDE-AC46-2E41-A119-BBBC5C323F9E}"/>
              </a:ext>
            </a:extLst>
          </p:cNvPr>
          <p:cNvSpPr txBox="1"/>
          <p:nvPr/>
        </p:nvSpPr>
        <p:spPr>
          <a:xfrm>
            <a:off x="1790028" y="1392007"/>
            <a:ext cx="1388393" cy="461665"/>
          </a:xfrm>
          <a:prstGeom prst="rect">
            <a:avLst/>
          </a:prstGeom>
          <a:noFill/>
        </p:spPr>
        <p:txBody>
          <a:bodyPr wrap="none" rtlCol="0">
            <a:spAutoFit/>
          </a:bodyPr>
          <a:lstStyle/>
          <a:p>
            <a:pPr defTabSz="685800">
              <a:defRPr/>
            </a:pPr>
            <a:r>
              <a:rPr lang="en-US" sz="1200">
                <a:solidFill>
                  <a:prstClr val="white"/>
                </a:solidFill>
                <a:latin typeface="Calibri"/>
              </a:rPr>
              <a:t>TA VP proposal and</a:t>
            </a:r>
          </a:p>
          <a:p>
            <a:pPr defTabSz="685800">
              <a:defRPr/>
            </a:pPr>
            <a:r>
              <a:rPr lang="en-US" sz="1200">
                <a:solidFill>
                  <a:prstClr val="white"/>
                </a:solidFill>
                <a:latin typeface="Calibri"/>
              </a:rPr>
              <a:t>sponsorship</a:t>
            </a:r>
          </a:p>
        </p:txBody>
      </p:sp>
      <p:sp>
        <p:nvSpPr>
          <p:cNvPr id="43" name="Rectangle 42"/>
          <p:cNvSpPr/>
          <p:nvPr/>
        </p:nvSpPr>
        <p:spPr>
          <a:xfrm>
            <a:off x="1719582" y="847408"/>
            <a:ext cx="1858148" cy="715350"/>
          </a:xfrm>
          <a:prstGeom prst="rect">
            <a:avLst/>
          </a:prstGeom>
          <a:solidFill>
            <a:srgbClr val="00B05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b="1">
              <a:solidFill>
                <a:prstClr val="white"/>
              </a:solidFill>
              <a:latin typeface="Calibri" panose="020F0502020204030204"/>
            </a:endParaRPr>
          </a:p>
          <a:p>
            <a:pPr algn="ctr" defTabSz="685800">
              <a:defRPr/>
            </a:pPr>
            <a:r>
              <a:rPr lang="en-US" sz="1350" b="1">
                <a:solidFill>
                  <a:prstClr val="white"/>
                </a:solidFill>
                <a:latin typeface="Calibri" panose="020F0502020204030204"/>
              </a:rPr>
              <a:t>Idea Generation</a:t>
            </a:r>
          </a:p>
          <a:p>
            <a:pPr algn="ctr" defTabSz="685800">
              <a:defRPr/>
            </a:pPr>
            <a:r>
              <a:rPr lang="en-US" sz="1200" b="1">
                <a:solidFill>
                  <a:prstClr val="white"/>
                </a:solidFill>
                <a:latin typeface="Calibri"/>
              </a:rPr>
              <a:t>(Pre-Target: Target ID to Validation)</a:t>
            </a:r>
          </a:p>
          <a:p>
            <a:pPr algn="ctr" defTabSz="685800">
              <a:defRPr/>
            </a:pPr>
            <a:endParaRPr lang="en-US" sz="1350" b="1">
              <a:solidFill>
                <a:prstClr val="white"/>
              </a:solidFill>
              <a:latin typeface="Calibri" panose="020F0502020204030204"/>
            </a:endParaRPr>
          </a:p>
        </p:txBody>
      </p:sp>
      <p:sp>
        <p:nvSpPr>
          <p:cNvPr id="8" name="Rectangle 7"/>
          <p:cNvSpPr/>
          <p:nvPr/>
        </p:nvSpPr>
        <p:spPr>
          <a:xfrm>
            <a:off x="2715325" y="2278873"/>
            <a:ext cx="5271129" cy="297560"/>
          </a:xfrm>
          <a:prstGeom prst="rect">
            <a:avLst/>
          </a:prstGeom>
          <a:solidFill>
            <a:schemeClr val="bg1">
              <a:lumMod val="85000"/>
            </a:schemeClr>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b="1">
                <a:solidFill>
                  <a:srgbClr val="4F81BD">
                    <a:lumMod val="75000"/>
                  </a:srgbClr>
                </a:solidFill>
                <a:latin typeface="Calibri"/>
              </a:rPr>
              <a:t>Discovery - PPM</a:t>
            </a:r>
          </a:p>
        </p:txBody>
      </p:sp>
      <p:sp>
        <p:nvSpPr>
          <p:cNvPr id="49" name="Rectangle 48"/>
          <p:cNvSpPr/>
          <p:nvPr/>
        </p:nvSpPr>
        <p:spPr>
          <a:xfrm>
            <a:off x="8069276" y="2302336"/>
            <a:ext cx="2476798" cy="269745"/>
          </a:xfrm>
          <a:prstGeom prst="rect">
            <a:avLst/>
          </a:prstGeom>
          <a:solidFill>
            <a:schemeClr val="bg1">
              <a:lumMod val="85000"/>
            </a:schemeClr>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b="1">
                <a:solidFill>
                  <a:srgbClr val="476C99"/>
                </a:solidFill>
                <a:latin typeface="Calibri"/>
              </a:rPr>
              <a:t>Early Phase PPM</a:t>
            </a:r>
          </a:p>
        </p:txBody>
      </p:sp>
      <p:sp>
        <p:nvSpPr>
          <p:cNvPr id="50" name="Rectangle 49"/>
          <p:cNvSpPr/>
          <p:nvPr/>
        </p:nvSpPr>
        <p:spPr>
          <a:xfrm>
            <a:off x="8069278" y="1985746"/>
            <a:ext cx="2476798" cy="316590"/>
          </a:xfrm>
          <a:prstGeom prst="rect">
            <a:avLst/>
          </a:prstGeom>
          <a:solidFill>
            <a:schemeClr val="bg1">
              <a:lumMod val="85000"/>
            </a:schemeClr>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b="1">
                <a:solidFill>
                  <a:srgbClr val="4F81BD">
                    <a:lumMod val="75000"/>
                  </a:srgbClr>
                </a:solidFill>
                <a:latin typeface="Calibri"/>
              </a:rPr>
              <a:t>Early Phase COO</a:t>
            </a:r>
          </a:p>
        </p:txBody>
      </p:sp>
      <p:cxnSp>
        <p:nvCxnSpPr>
          <p:cNvPr id="34" name="Straight Connector 33">
            <a:extLst>
              <a:ext uri="{FF2B5EF4-FFF2-40B4-BE49-F238E27FC236}">
                <a16:creationId xmlns:a16="http://schemas.microsoft.com/office/drawing/2014/main" id="{C3315755-C6F9-B899-1919-7B55D90E93E1}"/>
              </a:ext>
            </a:extLst>
          </p:cNvPr>
          <p:cNvCxnSpPr/>
          <p:nvPr/>
        </p:nvCxnSpPr>
        <p:spPr>
          <a:xfrm>
            <a:off x="4231883" y="2552572"/>
            <a:ext cx="0" cy="4121487"/>
          </a:xfrm>
          <a:prstGeom prst="line">
            <a:avLst/>
          </a:prstGeom>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B684B570-FAF0-578B-8783-172B1BFFE13B}"/>
              </a:ext>
            </a:extLst>
          </p:cNvPr>
          <p:cNvCxnSpPr/>
          <p:nvPr/>
        </p:nvCxnSpPr>
        <p:spPr>
          <a:xfrm>
            <a:off x="8104113" y="2552572"/>
            <a:ext cx="0" cy="4121487"/>
          </a:xfrm>
          <a:prstGeom prst="line">
            <a:avLst/>
          </a:prstGeom>
        </p:spPr>
        <p:style>
          <a:lnRef idx="3">
            <a:schemeClr val="dk1"/>
          </a:lnRef>
          <a:fillRef idx="0">
            <a:schemeClr val="dk1"/>
          </a:fillRef>
          <a:effectRef idx="2">
            <a:schemeClr val="dk1"/>
          </a:effectRef>
          <a:fontRef idx="minor">
            <a:schemeClr val="tx1"/>
          </a:fontRef>
        </p:style>
      </p:cxnSp>
      <p:sp>
        <p:nvSpPr>
          <p:cNvPr id="38" name="TextBox 37">
            <a:extLst>
              <a:ext uri="{FF2B5EF4-FFF2-40B4-BE49-F238E27FC236}">
                <a16:creationId xmlns:a16="http://schemas.microsoft.com/office/drawing/2014/main" id="{2E19A990-522C-6063-28AB-9EB56B3F7CCA}"/>
              </a:ext>
            </a:extLst>
          </p:cNvPr>
          <p:cNvSpPr txBox="1"/>
          <p:nvPr/>
        </p:nvSpPr>
        <p:spPr>
          <a:xfrm>
            <a:off x="1711761" y="2657003"/>
            <a:ext cx="2351349" cy="369332"/>
          </a:xfrm>
          <a:prstGeom prst="rect">
            <a:avLst/>
          </a:prstGeom>
          <a:noFill/>
        </p:spPr>
        <p:txBody>
          <a:bodyPr wrap="none" rtlCol="0">
            <a:spAutoFit/>
          </a:bodyPr>
          <a:lstStyle/>
          <a:p>
            <a:pPr defTabSz="685800">
              <a:defRPr/>
            </a:pPr>
            <a:r>
              <a:rPr lang="en-US" b="1" dirty="0">
                <a:solidFill>
                  <a:srgbClr val="4F81BD">
                    <a:lumMod val="75000"/>
                  </a:srgbClr>
                </a:solidFill>
                <a:latin typeface="Calibri"/>
              </a:rPr>
              <a:t>Portfolio Management</a:t>
            </a:r>
          </a:p>
        </p:txBody>
      </p:sp>
      <p:sp>
        <p:nvSpPr>
          <p:cNvPr id="39" name="TextBox 38">
            <a:extLst>
              <a:ext uri="{FF2B5EF4-FFF2-40B4-BE49-F238E27FC236}">
                <a16:creationId xmlns:a16="http://schemas.microsoft.com/office/drawing/2014/main" id="{A4CE9F59-1883-3C49-5E7C-63FC8439BD2B}"/>
              </a:ext>
            </a:extLst>
          </p:cNvPr>
          <p:cNvSpPr txBox="1"/>
          <p:nvPr/>
        </p:nvSpPr>
        <p:spPr>
          <a:xfrm>
            <a:off x="4801183" y="2657003"/>
            <a:ext cx="2193806" cy="369332"/>
          </a:xfrm>
          <a:prstGeom prst="rect">
            <a:avLst/>
          </a:prstGeom>
          <a:noFill/>
        </p:spPr>
        <p:txBody>
          <a:bodyPr wrap="none" rtlCol="0">
            <a:spAutoFit/>
          </a:bodyPr>
          <a:lstStyle/>
          <a:p>
            <a:pPr defTabSz="685800">
              <a:defRPr/>
            </a:pPr>
            <a:r>
              <a:rPr lang="en-US" b="1">
                <a:solidFill>
                  <a:srgbClr val="4F81BD">
                    <a:lumMod val="75000"/>
                  </a:srgbClr>
                </a:solidFill>
                <a:latin typeface="Calibri"/>
              </a:rPr>
              <a:t>Project Management</a:t>
            </a:r>
          </a:p>
        </p:txBody>
      </p:sp>
      <p:sp>
        <p:nvSpPr>
          <p:cNvPr id="40" name="TextBox 39">
            <a:extLst>
              <a:ext uri="{FF2B5EF4-FFF2-40B4-BE49-F238E27FC236}">
                <a16:creationId xmlns:a16="http://schemas.microsoft.com/office/drawing/2014/main" id="{EE17D12F-BB76-D186-7719-E126CB054EFF}"/>
              </a:ext>
            </a:extLst>
          </p:cNvPr>
          <p:cNvSpPr txBox="1"/>
          <p:nvPr/>
        </p:nvSpPr>
        <p:spPr>
          <a:xfrm>
            <a:off x="8347981" y="2657003"/>
            <a:ext cx="2279598" cy="369332"/>
          </a:xfrm>
          <a:prstGeom prst="rect">
            <a:avLst/>
          </a:prstGeom>
          <a:noFill/>
        </p:spPr>
        <p:txBody>
          <a:bodyPr wrap="none" rtlCol="0">
            <a:spAutoFit/>
          </a:bodyPr>
          <a:lstStyle/>
          <a:p>
            <a:pPr defTabSz="685800">
              <a:defRPr/>
            </a:pPr>
            <a:r>
              <a:rPr lang="en-US" b="1">
                <a:solidFill>
                  <a:srgbClr val="4F81BD">
                    <a:lumMod val="75000"/>
                  </a:srgbClr>
                </a:solidFill>
                <a:latin typeface="Calibri"/>
              </a:rPr>
              <a:t>Other Responsibilities</a:t>
            </a:r>
          </a:p>
        </p:txBody>
      </p:sp>
      <p:sp>
        <p:nvSpPr>
          <p:cNvPr id="41" name="TextBox 40">
            <a:extLst>
              <a:ext uri="{FF2B5EF4-FFF2-40B4-BE49-F238E27FC236}">
                <a16:creationId xmlns:a16="http://schemas.microsoft.com/office/drawing/2014/main" id="{DC9C8478-407F-0C61-BCD8-5358A0FD4CC0}"/>
              </a:ext>
            </a:extLst>
          </p:cNvPr>
          <p:cNvSpPr txBox="1"/>
          <p:nvPr/>
        </p:nvSpPr>
        <p:spPr>
          <a:xfrm>
            <a:off x="4615110" y="3073073"/>
            <a:ext cx="3196460" cy="3231654"/>
          </a:xfrm>
          <a:prstGeom prst="rect">
            <a:avLst/>
          </a:prstGeom>
          <a:noFill/>
        </p:spPr>
        <p:txBody>
          <a:bodyPr wrap="square" rtlCol="0">
            <a:spAutoFit/>
          </a:bodyPr>
          <a:lstStyle/>
          <a:p>
            <a:pPr defTabSz="685800">
              <a:defRPr/>
            </a:pPr>
            <a:r>
              <a:rPr lang="en-US" sz="1200" b="1" u="sng" dirty="0">
                <a:solidFill>
                  <a:prstClr val="black"/>
                </a:solidFill>
                <a:latin typeface="Calibri"/>
              </a:rPr>
              <a:t>Main Deliverables/Responsibilities</a:t>
            </a:r>
          </a:p>
          <a:p>
            <a:pPr marL="214313" indent="-214313" defTabSz="685800">
              <a:buFont typeface="Arial" panose="020B0604020202020204" pitchFamily="34" charset="0"/>
              <a:buChar char="•"/>
              <a:defRPr/>
            </a:pPr>
            <a:r>
              <a:rPr lang="en-US" sz="1200" dirty="0">
                <a:solidFill>
                  <a:prstClr val="black"/>
                </a:solidFill>
                <a:latin typeface="Calibri"/>
              </a:rPr>
              <a:t>Lead the team to prepare for target and portfolio entry including coordination of asset profile (NPP) and confidence assessment (Decision Sciences)</a:t>
            </a:r>
          </a:p>
          <a:p>
            <a:pPr marL="214313" indent="-214313" defTabSz="685800">
              <a:buFont typeface="Arial" panose="020B0604020202020204" pitchFamily="34" charset="0"/>
              <a:buChar char="•"/>
              <a:defRPr/>
            </a:pPr>
            <a:r>
              <a:rPr lang="en-US" sz="1200" dirty="0">
                <a:solidFill>
                  <a:prstClr val="black"/>
                </a:solidFill>
                <a:latin typeface="Calibri"/>
              </a:rPr>
              <a:t>Create program file, budget, and RD with input from the team and RM&amp;F</a:t>
            </a:r>
          </a:p>
          <a:p>
            <a:pPr marL="214313" indent="-214313" defTabSz="685800">
              <a:buFont typeface="Arial" panose="020B0604020202020204" pitchFamily="34" charset="0"/>
              <a:buChar char="•"/>
              <a:defRPr/>
            </a:pPr>
            <a:r>
              <a:rPr lang="en-US" sz="1200" dirty="0">
                <a:solidFill>
                  <a:prstClr val="black"/>
                </a:solidFill>
                <a:latin typeface="Calibri"/>
              </a:rPr>
              <a:t>Provide PM leadership to deliver asset milestones on time, on budget, and in scope</a:t>
            </a:r>
          </a:p>
          <a:p>
            <a:pPr marL="214313" indent="-214313" defTabSz="685800">
              <a:buFont typeface="Arial" panose="020B0604020202020204" pitchFamily="34" charset="0"/>
              <a:buChar char="•"/>
              <a:defRPr/>
            </a:pPr>
            <a:r>
              <a:rPr lang="en-US" sz="1200" dirty="0">
                <a:solidFill>
                  <a:prstClr val="black"/>
                </a:solidFill>
                <a:latin typeface="Calibri"/>
              </a:rPr>
              <a:t>Operationalize the team</a:t>
            </a:r>
          </a:p>
          <a:p>
            <a:pPr defTabSz="685800">
              <a:defRPr/>
            </a:pPr>
            <a:endParaRPr lang="en-US" sz="1200" u="sng" dirty="0">
              <a:solidFill>
                <a:prstClr val="black"/>
              </a:solidFill>
              <a:latin typeface="Calibri"/>
            </a:endParaRPr>
          </a:p>
          <a:p>
            <a:pPr defTabSz="685800">
              <a:defRPr/>
            </a:pPr>
            <a:r>
              <a:rPr lang="en-US" sz="1200" b="1" u="sng" dirty="0">
                <a:solidFill>
                  <a:prstClr val="black"/>
                </a:solidFill>
                <a:latin typeface="Calibri"/>
              </a:rPr>
              <a:t>Other Activities</a:t>
            </a:r>
            <a:endParaRPr lang="en-US" sz="1200" b="1" dirty="0">
              <a:solidFill>
                <a:prstClr val="black"/>
              </a:solidFill>
              <a:latin typeface="Calibri"/>
            </a:endParaRPr>
          </a:p>
          <a:p>
            <a:pPr marL="214313" indent="-214313" defTabSz="685800">
              <a:buFont typeface="Arial" panose="020B0604020202020204" pitchFamily="34" charset="0"/>
              <a:buChar char="•"/>
              <a:defRPr/>
            </a:pPr>
            <a:r>
              <a:rPr lang="en-US" sz="1200" dirty="0">
                <a:solidFill>
                  <a:prstClr val="black"/>
                </a:solidFill>
                <a:latin typeface="Calibri"/>
              </a:rPr>
              <a:t>BOD Meeting leadership in partnership with team leads</a:t>
            </a:r>
          </a:p>
          <a:p>
            <a:pPr marL="214313" indent="-214313" defTabSz="685800">
              <a:buFont typeface="Arial" panose="020B0604020202020204" pitchFamily="34" charset="0"/>
              <a:buChar char="•"/>
              <a:defRPr/>
            </a:pPr>
            <a:r>
              <a:rPr lang="en-US" sz="1200" dirty="0">
                <a:solidFill>
                  <a:prstClr val="black"/>
                </a:solidFill>
                <a:latin typeface="Calibri"/>
              </a:rPr>
              <a:t>Support Alliance </a:t>
            </a:r>
            <a:r>
              <a:rPr lang="en-US" sz="1200" dirty="0" err="1">
                <a:solidFill>
                  <a:prstClr val="black"/>
                </a:solidFill>
                <a:latin typeface="Calibri"/>
              </a:rPr>
              <a:t>Mgmt</a:t>
            </a:r>
            <a:r>
              <a:rPr lang="en-US" sz="1200" dirty="0">
                <a:solidFill>
                  <a:prstClr val="black"/>
                </a:solidFill>
                <a:latin typeface="Calibri"/>
              </a:rPr>
              <a:t> on external collaboration projects with implementation and execution of work plan </a:t>
            </a:r>
          </a:p>
        </p:txBody>
      </p:sp>
      <p:sp>
        <p:nvSpPr>
          <p:cNvPr id="45" name="TextBox 44">
            <a:extLst>
              <a:ext uri="{FF2B5EF4-FFF2-40B4-BE49-F238E27FC236}">
                <a16:creationId xmlns:a16="http://schemas.microsoft.com/office/drawing/2014/main" id="{61F8DD42-61D7-2D9C-9303-A584B64DF322}"/>
              </a:ext>
            </a:extLst>
          </p:cNvPr>
          <p:cNvSpPr txBox="1"/>
          <p:nvPr/>
        </p:nvSpPr>
        <p:spPr>
          <a:xfrm>
            <a:off x="1481097" y="3073073"/>
            <a:ext cx="2636486" cy="3600986"/>
          </a:xfrm>
          <a:prstGeom prst="rect">
            <a:avLst/>
          </a:prstGeom>
          <a:noFill/>
        </p:spPr>
        <p:txBody>
          <a:bodyPr wrap="square" rtlCol="0">
            <a:spAutoFit/>
          </a:bodyPr>
          <a:lstStyle/>
          <a:p>
            <a:pPr marL="214313" indent="-214313" defTabSz="685800">
              <a:buFont typeface="Arial" panose="020B0604020202020204" pitchFamily="34" charset="0"/>
              <a:buChar char="•"/>
              <a:defRPr/>
            </a:pPr>
            <a:r>
              <a:rPr lang="en-US" sz="1200" dirty="0">
                <a:solidFill>
                  <a:prstClr val="black"/>
                </a:solidFill>
              </a:rPr>
              <a:t>Partner with TA leadership to actively manage pre-CS portfolio to reflect TA and LRL strategies</a:t>
            </a:r>
          </a:p>
          <a:p>
            <a:pPr marL="214313" indent="-214313" defTabSz="685800">
              <a:buFont typeface="Arial" panose="020B0604020202020204" pitchFamily="34" charset="0"/>
              <a:buChar char="•"/>
              <a:defRPr/>
            </a:pPr>
            <a:r>
              <a:rPr lang="en-US" sz="1200" dirty="0">
                <a:solidFill>
                  <a:prstClr val="black"/>
                </a:solidFill>
              </a:rPr>
              <a:t>Communicate updates to functional leads to enable timely resource assignments</a:t>
            </a:r>
            <a:endParaRPr lang="en-US" sz="1200" dirty="0">
              <a:solidFill>
                <a:prstClr val="black"/>
              </a:solidFill>
              <a:latin typeface="Calibri"/>
            </a:endParaRPr>
          </a:p>
          <a:p>
            <a:pPr marL="214313" indent="-214313" defTabSz="685800">
              <a:buFont typeface="Arial" panose="020B0604020202020204" pitchFamily="34" charset="0"/>
              <a:buChar char="•"/>
              <a:defRPr/>
            </a:pPr>
            <a:r>
              <a:rPr lang="en-US" sz="1200" dirty="0">
                <a:solidFill>
                  <a:prstClr val="black"/>
                </a:solidFill>
                <a:latin typeface="Calibri"/>
              </a:rPr>
              <a:t>Working with Senior Leadership and Project Leads to plan timing and execution of Target and Portfolio Entries</a:t>
            </a:r>
          </a:p>
          <a:p>
            <a:pPr marL="214313" indent="-214313" defTabSz="685800">
              <a:buFont typeface="Arial" panose="020B0604020202020204" pitchFamily="34" charset="0"/>
              <a:buChar char="•"/>
              <a:defRPr/>
            </a:pPr>
            <a:r>
              <a:rPr lang="en-US" sz="1200" dirty="0">
                <a:solidFill>
                  <a:prstClr val="black"/>
                </a:solidFill>
                <a:latin typeface="Calibri"/>
              </a:rPr>
              <a:t>Coordination and curation of TPC Dashboard data and summaries</a:t>
            </a:r>
          </a:p>
          <a:p>
            <a:pPr marL="214313" indent="-214313" defTabSz="685800">
              <a:buFont typeface="Arial" panose="020B0604020202020204" pitchFamily="34" charset="0"/>
              <a:buChar char="•"/>
              <a:defRPr/>
            </a:pPr>
            <a:r>
              <a:rPr lang="en-US" sz="1200" dirty="0">
                <a:solidFill>
                  <a:prstClr val="black"/>
                </a:solidFill>
              </a:rPr>
              <a:t>Partnership with External Innovation/Alliance Management to bring forward new modality/platform projects to TA portfolio </a:t>
            </a:r>
          </a:p>
          <a:p>
            <a:pPr marL="214313" indent="-214313" defTabSz="685800">
              <a:buFont typeface="Arial" panose="020B0604020202020204" pitchFamily="34" charset="0"/>
              <a:buChar char="•"/>
              <a:defRPr/>
            </a:pPr>
            <a:endParaRPr lang="en-US" sz="1200" dirty="0">
              <a:solidFill>
                <a:prstClr val="black"/>
              </a:solidFill>
              <a:latin typeface="Calibri"/>
            </a:endParaRPr>
          </a:p>
          <a:p>
            <a:pPr defTabSz="685800">
              <a:defRPr/>
            </a:pPr>
            <a:endParaRPr lang="en-US" sz="1200" dirty="0">
              <a:solidFill>
                <a:prstClr val="black"/>
              </a:solidFill>
              <a:latin typeface="Calibri"/>
            </a:endParaRPr>
          </a:p>
        </p:txBody>
      </p:sp>
      <p:sp>
        <p:nvSpPr>
          <p:cNvPr id="46" name="TextBox 45">
            <a:extLst>
              <a:ext uri="{FF2B5EF4-FFF2-40B4-BE49-F238E27FC236}">
                <a16:creationId xmlns:a16="http://schemas.microsoft.com/office/drawing/2014/main" id="{1F62DB4A-C7C0-F304-B910-C85417B0B37F}"/>
              </a:ext>
            </a:extLst>
          </p:cNvPr>
          <p:cNvSpPr txBox="1"/>
          <p:nvPr/>
        </p:nvSpPr>
        <p:spPr>
          <a:xfrm>
            <a:off x="8212983" y="3073073"/>
            <a:ext cx="2571748" cy="1569660"/>
          </a:xfrm>
          <a:prstGeom prst="rect">
            <a:avLst/>
          </a:prstGeom>
          <a:noFill/>
        </p:spPr>
        <p:txBody>
          <a:bodyPr wrap="square" rtlCol="0">
            <a:spAutoFit/>
          </a:bodyPr>
          <a:lstStyle/>
          <a:p>
            <a:pPr marL="171450" indent="-171450" defTabSz="685800">
              <a:buFont typeface="Arial" panose="020B0604020202020204" pitchFamily="34" charset="0"/>
              <a:buChar char="•"/>
              <a:defRPr/>
            </a:pPr>
            <a:r>
              <a:rPr lang="en-US" sz="1200" dirty="0">
                <a:solidFill>
                  <a:prstClr val="black"/>
                </a:solidFill>
                <a:latin typeface="Calibri"/>
              </a:rPr>
              <a:t>Functional Area partnership (</a:t>
            </a:r>
            <a:r>
              <a:rPr lang="en-US" sz="1200" dirty="0" err="1">
                <a:solidFill>
                  <a:prstClr val="black"/>
                </a:solidFill>
                <a:latin typeface="Calibri"/>
              </a:rPr>
              <a:t>BioTDR</a:t>
            </a:r>
            <a:r>
              <a:rPr lang="en-US" sz="1200" dirty="0">
                <a:solidFill>
                  <a:prstClr val="black"/>
                </a:solidFill>
                <a:latin typeface="Calibri"/>
              </a:rPr>
              <a:t>/ATP, </a:t>
            </a:r>
            <a:r>
              <a:rPr lang="en-US" sz="1200" dirty="0" err="1">
                <a:solidFill>
                  <a:prstClr val="black"/>
                </a:solidFill>
                <a:latin typeface="Calibri"/>
              </a:rPr>
              <a:t>etc</a:t>
            </a:r>
            <a:r>
              <a:rPr lang="en-US" sz="1200" dirty="0">
                <a:solidFill>
                  <a:prstClr val="black"/>
                </a:solidFill>
                <a:latin typeface="Calibri"/>
              </a:rPr>
              <a:t>)</a:t>
            </a:r>
          </a:p>
          <a:p>
            <a:pPr marL="214313" indent="-214313" defTabSz="685800">
              <a:buFont typeface="Arial" panose="020B0604020202020204" pitchFamily="34" charset="0"/>
              <a:buChar char="•"/>
              <a:defRPr/>
            </a:pPr>
            <a:r>
              <a:rPr lang="en-US" sz="1200" dirty="0">
                <a:solidFill>
                  <a:prstClr val="black"/>
                </a:solidFill>
                <a:latin typeface="Calibri"/>
              </a:rPr>
              <a:t>Due Diligence Teams</a:t>
            </a:r>
          </a:p>
          <a:p>
            <a:pPr marL="214313" indent="-214313" defTabSz="685800">
              <a:buFont typeface="Arial" panose="020B0604020202020204" pitchFamily="34" charset="0"/>
              <a:buChar char="•"/>
              <a:defRPr/>
            </a:pPr>
            <a:r>
              <a:rPr lang="en-US" sz="1200" dirty="0">
                <a:solidFill>
                  <a:prstClr val="black"/>
                </a:solidFill>
                <a:latin typeface="Calibri"/>
              </a:rPr>
              <a:t>Participate in TA working group and Steering Group to maintain awareness of TA portfolio</a:t>
            </a:r>
          </a:p>
          <a:p>
            <a:pPr defTabSz="685800">
              <a:defRPr/>
            </a:pPr>
            <a:endParaRPr lang="en-US" sz="1200" dirty="0">
              <a:solidFill>
                <a:prstClr val="black"/>
              </a:solidFill>
              <a:latin typeface="Calibri"/>
            </a:endParaRPr>
          </a:p>
          <a:p>
            <a:pPr marL="214313" indent="-214313" defTabSz="685800">
              <a:buFont typeface="Arial" panose="020B0604020202020204" pitchFamily="34" charset="0"/>
              <a:buChar char="•"/>
              <a:defRPr/>
            </a:pPr>
            <a:endParaRPr lang="en-US" sz="1200" dirty="0">
              <a:solidFill>
                <a:prstClr val="black"/>
              </a:solidFill>
              <a:latin typeface="Calibri"/>
            </a:endParaRPr>
          </a:p>
        </p:txBody>
      </p:sp>
      <p:sp>
        <p:nvSpPr>
          <p:cNvPr id="7" name="Isosceles Triangle 6">
            <a:extLst>
              <a:ext uri="{FF2B5EF4-FFF2-40B4-BE49-F238E27FC236}">
                <a16:creationId xmlns:a16="http://schemas.microsoft.com/office/drawing/2014/main" id="{415E132D-11AD-C455-7364-3FA272FE20D8}"/>
              </a:ext>
            </a:extLst>
          </p:cNvPr>
          <p:cNvSpPr/>
          <p:nvPr/>
        </p:nvSpPr>
        <p:spPr>
          <a:xfrm>
            <a:off x="2920074" y="1564606"/>
            <a:ext cx="1260878" cy="410571"/>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defTabSz="685800"/>
            <a:r>
              <a:rPr lang="en-US" sz="1350">
                <a:solidFill>
                  <a:prstClr val="white"/>
                </a:solidFill>
                <a:latin typeface="Calibri"/>
              </a:rPr>
              <a:t>Target</a:t>
            </a:r>
          </a:p>
        </p:txBody>
      </p:sp>
      <p:sp>
        <p:nvSpPr>
          <p:cNvPr id="51" name="Isosceles Triangle 50">
            <a:extLst>
              <a:ext uri="{FF2B5EF4-FFF2-40B4-BE49-F238E27FC236}">
                <a16:creationId xmlns:a16="http://schemas.microsoft.com/office/drawing/2014/main" id="{04BD4D62-1499-A188-928C-B7784AF12239}"/>
              </a:ext>
            </a:extLst>
          </p:cNvPr>
          <p:cNvSpPr/>
          <p:nvPr/>
        </p:nvSpPr>
        <p:spPr>
          <a:xfrm>
            <a:off x="5259990" y="1583077"/>
            <a:ext cx="1260878" cy="410571"/>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defTabSz="685800"/>
            <a:r>
              <a:rPr lang="en-US" sz="1350">
                <a:solidFill>
                  <a:prstClr val="white"/>
                </a:solidFill>
                <a:latin typeface="Calibri"/>
              </a:rPr>
              <a:t>PE</a:t>
            </a:r>
          </a:p>
        </p:txBody>
      </p:sp>
      <p:sp>
        <p:nvSpPr>
          <p:cNvPr id="52" name="Isosceles Triangle 51">
            <a:extLst>
              <a:ext uri="{FF2B5EF4-FFF2-40B4-BE49-F238E27FC236}">
                <a16:creationId xmlns:a16="http://schemas.microsoft.com/office/drawing/2014/main" id="{7996C154-358A-2DAF-492E-0B7478FC45C2}"/>
              </a:ext>
            </a:extLst>
          </p:cNvPr>
          <p:cNvSpPr/>
          <p:nvPr/>
        </p:nvSpPr>
        <p:spPr>
          <a:xfrm>
            <a:off x="8589676" y="1533713"/>
            <a:ext cx="1260878" cy="4105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defTabSz="685800"/>
            <a:r>
              <a:rPr lang="en-US" sz="1350">
                <a:solidFill>
                  <a:prstClr val="white"/>
                </a:solidFill>
                <a:latin typeface="Calibri"/>
              </a:rPr>
              <a:t>FHD</a:t>
            </a:r>
          </a:p>
        </p:txBody>
      </p:sp>
      <p:sp>
        <p:nvSpPr>
          <p:cNvPr id="2" name="Rectangle 1">
            <a:extLst>
              <a:ext uri="{FF2B5EF4-FFF2-40B4-BE49-F238E27FC236}">
                <a16:creationId xmlns:a16="http://schemas.microsoft.com/office/drawing/2014/main" id="{E7143448-66BD-B6C8-9B3B-3C188164934D}"/>
              </a:ext>
            </a:extLst>
          </p:cNvPr>
          <p:cNvSpPr/>
          <p:nvPr/>
        </p:nvSpPr>
        <p:spPr>
          <a:xfrm>
            <a:off x="2715325" y="1980815"/>
            <a:ext cx="5271129" cy="345627"/>
          </a:xfrm>
          <a:prstGeom prst="rect">
            <a:avLst/>
          </a:prstGeom>
          <a:solidFill>
            <a:schemeClr val="bg1">
              <a:lumMod val="85000"/>
            </a:schemeClr>
          </a:solidFill>
          <a:ln w="381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r>
              <a:rPr lang="en-US" b="1">
                <a:solidFill>
                  <a:srgbClr val="4F81BD">
                    <a:lumMod val="75000"/>
                  </a:srgbClr>
                </a:solidFill>
                <a:latin typeface="Calibri"/>
              </a:rPr>
              <a:t>Discovery - COO</a:t>
            </a:r>
          </a:p>
        </p:txBody>
      </p:sp>
      <p:sp>
        <p:nvSpPr>
          <p:cNvPr id="6" name="Isosceles Triangle 5">
            <a:extLst>
              <a:ext uri="{FF2B5EF4-FFF2-40B4-BE49-F238E27FC236}">
                <a16:creationId xmlns:a16="http://schemas.microsoft.com/office/drawing/2014/main" id="{CA8112E2-1CD2-9B7C-0E44-D51817BAF9B7}"/>
              </a:ext>
            </a:extLst>
          </p:cNvPr>
          <p:cNvSpPr/>
          <p:nvPr/>
        </p:nvSpPr>
        <p:spPr>
          <a:xfrm>
            <a:off x="7488878" y="1593238"/>
            <a:ext cx="877160" cy="297981"/>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defTabSz="685800"/>
            <a:r>
              <a:rPr lang="en-US" sz="1350">
                <a:solidFill>
                  <a:prstClr val="white"/>
                </a:solidFill>
                <a:latin typeface="Calibri"/>
              </a:rPr>
              <a:t>CI</a:t>
            </a:r>
          </a:p>
        </p:txBody>
      </p:sp>
      <p:sp>
        <p:nvSpPr>
          <p:cNvPr id="9" name="Rectangle: Rounded Corners 8">
            <a:extLst>
              <a:ext uri="{FF2B5EF4-FFF2-40B4-BE49-F238E27FC236}">
                <a16:creationId xmlns:a16="http://schemas.microsoft.com/office/drawing/2014/main" id="{92CB0C13-1ABB-EBB7-1F4D-084A849E7977}"/>
              </a:ext>
            </a:extLst>
          </p:cNvPr>
          <p:cNvSpPr/>
          <p:nvPr/>
        </p:nvSpPr>
        <p:spPr>
          <a:xfrm>
            <a:off x="2715325" y="1993649"/>
            <a:ext cx="5279919" cy="618684"/>
          </a:xfrm>
          <a:prstGeom prst="roundRect">
            <a:avLst/>
          </a:prstGeom>
          <a:noFill/>
          <a:ln w="762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3212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4F9D1A-D881-4C4B-8FED-6BE8A7FDE012}"/>
              </a:ext>
            </a:extLst>
          </p:cNvPr>
          <p:cNvSpPr>
            <a:spLocks noGrp="1"/>
          </p:cNvSpPr>
          <p:nvPr>
            <p:ph type="title"/>
          </p:nvPr>
        </p:nvSpPr>
        <p:spPr>
          <a:xfrm>
            <a:off x="603069" y="199663"/>
            <a:ext cx="10515600" cy="584109"/>
          </a:xfrm>
        </p:spPr>
        <p:txBody>
          <a:bodyPr>
            <a:normAutofit fontScale="90000"/>
          </a:bodyPr>
          <a:lstStyle/>
          <a:p>
            <a:r>
              <a:rPr lang="en-US" b="1"/>
              <a:t>Major Milestones: Discovery Phase</a:t>
            </a:r>
          </a:p>
        </p:txBody>
      </p:sp>
      <p:sp>
        <p:nvSpPr>
          <p:cNvPr id="10" name="Content Placeholder 9">
            <a:extLst>
              <a:ext uri="{FF2B5EF4-FFF2-40B4-BE49-F238E27FC236}">
                <a16:creationId xmlns:a16="http://schemas.microsoft.com/office/drawing/2014/main" id="{DF515138-4DF0-8868-784A-94903F74F944}"/>
              </a:ext>
            </a:extLst>
          </p:cNvPr>
          <p:cNvSpPr>
            <a:spLocks noGrp="1"/>
          </p:cNvSpPr>
          <p:nvPr>
            <p:ph idx="1"/>
          </p:nvPr>
        </p:nvSpPr>
        <p:spPr>
          <a:xfrm>
            <a:off x="836065" y="1444483"/>
            <a:ext cx="10515600" cy="1660169"/>
          </a:xfrm>
        </p:spPr>
        <p:txBody>
          <a:bodyPr vert="horz" lIns="91440" tIns="45720" rIns="91440" bIns="45720" rtlCol="0" anchor="t">
            <a:normAutofit fontScale="92500" lnSpcReduction="10000"/>
          </a:bodyPr>
          <a:lstStyle/>
          <a:p>
            <a:r>
              <a:rPr lang="en-US" sz="2400"/>
              <a:t>In the Discovery phase of development, the major milestones the PPM supports and documents (actualizes) are related to identifying active molecules and optimizing their properties to narrow down to a single Candidate Selection molecule for Development.</a:t>
            </a:r>
          </a:p>
          <a:p>
            <a:pPr lvl="1"/>
            <a:r>
              <a:rPr lang="en-US" sz="2000"/>
              <a:t>Portfolio Entry typically occurs at the Hit milestone.  </a:t>
            </a:r>
          </a:p>
          <a:p>
            <a:pPr lvl="2"/>
            <a:r>
              <a:rPr lang="en-US" sz="1600"/>
              <a:t>Some exceptions occur, where projects enter at Lead, Candidate Selection, and later milestones.  </a:t>
            </a:r>
          </a:p>
        </p:txBody>
      </p:sp>
      <p:graphicFrame>
        <p:nvGraphicFramePr>
          <p:cNvPr id="13" name="Diagram 12">
            <a:extLst>
              <a:ext uri="{FF2B5EF4-FFF2-40B4-BE49-F238E27FC236}">
                <a16:creationId xmlns:a16="http://schemas.microsoft.com/office/drawing/2014/main" id="{4E800955-23CC-8717-14B3-9FDF7E0284EA}"/>
              </a:ext>
            </a:extLst>
          </p:cNvPr>
          <p:cNvGraphicFramePr/>
          <p:nvPr/>
        </p:nvGraphicFramePr>
        <p:xfrm>
          <a:off x="237686" y="3297398"/>
          <a:ext cx="11712359" cy="656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Rectangle 14">
            <a:extLst>
              <a:ext uri="{FF2B5EF4-FFF2-40B4-BE49-F238E27FC236}">
                <a16:creationId xmlns:a16="http://schemas.microsoft.com/office/drawing/2014/main" id="{96DD230B-9E92-0471-2030-003B528FA417}"/>
              </a:ext>
            </a:extLst>
          </p:cNvPr>
          <p:cNvSpPr/>
          <p:nvPr/>
        </p:nvSpPr>
        <p:spPr>
          <a:xfrm>
            <a:off x="249201" y="4052048"/>
            <a:ext cx="2812890" cy="2440827"/>
          </a:xfrm>
          <a:prstGeom prst="rect">
            <a:avLst/>
          </a:prstGeom>
          <a:solidFill>
            <a:srgbClr val="B95151"/>
          </a:solidFill>
          <a:ln>
            <a:solidFill>
              <a:srgbClr val="B9515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i="0" u="none" strike="noStrike" baseline="0">
                <a:solidFill>
                  <a:schemeClr val="bg1"/>
                </a:solidFill>
                <a:latin typeface="Calibri" panose="020F0502020204030204" pitchFamily="34" charset="0"/>
              </a:rPr>
              <a:t>Target:</a:t>
            </a:r>
          </a:p>
          <a:p>
            <a:pPr algn="ctr"/>
            <a:r>
              <a:rPr lang="en-US" sz="1400">
                <a:solidFill>
                  <a:schemeClr val="bg1"/>
                </a:solidFill>
                <a:latin typeface="Calibri" panose="020F0502020204030204" pitchFamily="34" charset="0"/>
              </a:rPr>
              <a:t>Sufficient evidence demonstrates that modulating the Target will impact a disease phenotype, and the Target fits into TA’s Strategy.</a:t>
            </a:r>
            <a:endParaRPr lang="en-US" sz="1400" b="0" i="0" u="none" strike="noStrike" baseline="0">
              <a:solidFill>
                <a:schemeClr val="bg1"/>
              </a:solidFill>
              <a:latin typeface="Calibri" panose="020F0502020204030204" pitchFamily="34" charset="0"/>
            </a:endParaRPr>
          </a:p>
        </p:txBody>
      </p:sp>
      <p:sp>
        <p:nvSpPr>
          <p:cNvPr id="16" name="Rectangle 15">
            <a:extLst>
              <a:ext uri="{FF2B5EF4-FFF2-40B4-BE49-F238E27FC236}">
                <a16:creationId xmlns:a16="http://schemas.microsoft.com/office/drawing/2014/main" id="{E5C22107-FC22-E301-A957-C3870F681B26}"/>
              </a:ext>
            </a:extLst>
          </p:cNvPr>
          <p:cNvSpPr/>
          <p:nvPr/>
        </p:nvSpPr>
        <p:spPr>
          <a:xfrm>
            <a:off x="3176392" y="4052048"/>
            <a:ext cx="2812890" cy="2440827"/>
          </a:xfrm>
          <a:prstGeom prst="rect">
            <a:avLst/>
          </a:prstGeom>
          <a:solidFill>
            <a:srgbClr val="B95151"/>
          </a:solidFill>
          <a:ln>
            <a:solidFill>
              <a:srgbClr val="B9515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sz="1400" b="1" i="0" u="none" strike="noStrike" baseline="0">
              <a:solidFill>
                <a:schemeClr val="bg1"/>
              </a:solidFill>
              <a:latin typeface="Calibri" panose="020F0502020204030204" pitchFamily="34" charset="0"/>
            </a:endParaRPr>
          </a:p>
          <a:p>
            <a:pPr algn="ctr"/>
            <a:endParaRPr lang="en-US" sz="1400" b="1">
              <a:solidFill>
                <a:schemeClr val="bg1"/>
              </a:solidFill>
              <a:latin typeface="Calibri" panose="020F0502020204030204" pitchFamily="34" charset="0"/>
            </a:endParaRPr>
          </a:p>
          <a:p>
            <a:pPr algn="ctr"/>
            <a:endParaRPr lang="en-US" sz="1400" b="1" i="0" u="none" strike="noStrike" baseline="0">
              <a:solidFill>
                <a:schemeClr val="bg1"/>
              </a:solidFill>
              <a:latin typeface="Calibri" panose="020F0502020204030204" pitchFamily="34" charset="0"/>
            </a:endParaRPr>
          </a:p>
          <a:p>
            <a:pPr algn="ctr"/>
            <a:r>
              <a:rPr lang="en-US" sz="1400" b="1" i="0" u="none" strike="noStrike" baseline="0">
                <a:solidFill>
                  <a:schemeClr val="bg1"/>
                </a:solidFill>
                <a:latin typeface="Calibri" panose="020F0502020204030204" pitchFamily="34" charset="0"/>
              </a:rPr>
              <a:t>Hit:</a:t>
            </a:r>
          </a:p>
          <a:p>
            <a:pPr algn="ctr"/>
            <a:r>
              <a:rPr lang="en-US" sz="1400" b="0" i="0" u="none" strike="noStrike" baseline="0">
                <a:solidFill>
                  <a:schemeClr val="bg1"/>
                </a:solidFill>
                <a:latin typeface="Calibri" panose="020F0502020204030204" pitchFamily="34" charset="0"/>
              </a:rPr>
              <a:t>Molecules with desired </a:t>
            </a:r>
            <a:r>
              <a:rPr lang="en-US" sz="1400">
                <a:solidFill>
                  <a:schemeClr val="bg1"/>
                </a:solidFill>
                <a:latin typeface="Calibri" panose="020F0502020204030204" pitchFamily="34" charset="0"/>
              </a:rPr>
              <a:t>Target modulation properties have been identified. A</a:t>
            </a:r>
            <a:r>
              <a:rPr lang="en-US" sz="1400" b="0" i="0" u="none" strike="noStrike" baseline="0">
                <a:solidFill>
                  <a:schemeClr val="bg1"/>
                </a:solidFill>
                <a:latin typeface="Calibri" panose="020F0502020204030204" pitchFamily="34" charset="0"/>
              </a:rPr>
              <a:t>sset Profile and differentiation strategy are defined with sufficient detail to prosecute the flow scheme. </a:t>
            </a:r>
          </a:p>
        </p:txBody>
      </p:sp>
      <p:sp>
        <p:nvSpPr>
          <p:cNvPr id="17" name="Rectangle 16">
            <a:extLst>
              <a:ext uri="{FF2B5EF4-FFF2-40B4-BE49-F238E27FC236}">
                <a16:creationId xmlns:a16="http://schemas.microsoft.com/office/drawing/2014/main" id="{0CAD692D-FF46-4CEC-5158-9920D7A798E1}"/>
              </a:ext>
            </a:extLst>
          </p:cNvPr>
          <p:cNvSpPr/>
          <p:nvPr/>
        </p:nvSpPr>
        <p:spPr>
          <a:xfrm>
            <a:off x="6103583" y="4052048"/>
            <a:ext cx="2907067" cy="2440827"/>
          </a:xfrm>
          <a:prstGeom prst="rect">
            <a:avLst/>
          </a:prstGeom>
          <a:solidFill>
            <a:srgbClr val="B95151"/>
          </a:solidFill>
          <a:ln>
            <a:solidFill>
              <a:srgbClr val="B9515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spcBef>
                <a:spcPts val="0"/>
              </a:spcBef>
            </a:pPr>
            <a:r>
              <a:rPr lang="en-US" sz="1400" b="1" i="0" u="none" strike="noStrike" baseline="0">
                <a:solidFill>
                  <a:schemeClr val="bg1"/>
                </a:solidFill>
                <a:latin typeface="Calibri" panose="020F0502020204030204" pitchFamily="34" charset="0"/>
              </a:rPr>
              <a:t>Portfolio Entry (PE):  </a:t>
            </a:r>
          </a:p>
          <a:p>
            <a:pPr algn="ctr">
              <a:spcBef>
                <a:spcPts val="0"/>
              </a:spcBef>
            </a:pPr>
            <a:r>
              <a:rPr lang="en-US" sz="1400" i="0" u="none" strike="noStrike" baseline="0">
                <a:solidFill>
                  <a:schemeClr val="bg1"/>
                </a:solidFill>
                <a:latin typeface="Calibri" panose="020F0502020204030204" pitchFamily="34" charset="0"/>
              </a:rPr>
              <a:t>A </a:t>
            </a:r>
            <a:r>
              <a:rPr lang="en-US" sz="1400" b="0" i="0" u="none" strike="noStrike" baseline="0">
                <a:solidFill>
                  <a:schemeClr val="bg1"/>
                </a:solidFill>
                <a:latin typeface="Calibri" panose="020F0502020204030204" pitchFamily="34" charset="0"/>
              </a:rPr>
              <a:t>project officially enters the Portfolio &amp; team receives approved scope and budget for execution to FHD. This marks a broadening of the project team and increase in the use of functional area resources. </a:t>
            </a:r>
          </a:p>
        </p:txBody>
      </p:sp>
      <p:sp>
        <p:nvSpPr>
          <p:cNvPr id="18" name="Rectangle 17">
            <a:extLst>
              <a:ext uri="{FF2B5EF4-FFF2-40B4-BE49-F238E27FC236}">
                <a16:creationId xmlns:a16="http://schemas.microsoft.com/office/drawing/2014/main" id="{3E15C18C-4D12-E608-A8B3-AE2DF6B71813}"/>
              </a:ext>
            </a:extLst>
          </p:cNvPr>
          <p:cNvSpPr/>
          <p:nvPr/>
        </p:nvSpPr>
        <p:spPr>
          <a:xfrm>
            <a:off x="9106214" y="4045272"/>
            <a:ext cx="2812890" cy="2440828"/>
          </a:xfrm>
          <a:prstGeom prst="rect">
            <a:avLst/>
          </a:prstGeom>
          <a:solidFill>
            <a:srgbClr val="B95151"/>
          </a:solidFill>
          <a:ln>
            <a:solidFill>
              <a:srgbClr val="B9515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spcBef>
                <a:spcPts val="0"/>
              </a:spcBef>
            </a:pPr>
            <a:r>
              <a:rPr lang="en-US" sz="1400" b="1" i="0" u="none" strike="noStrike" baseline="0">
                <a:latin typeface="Calibri" panose="020F0502020204030204" pitchFamily="34" charset="0"/>
              </a:rPr>
              <a:t>Lead: </a:t>
            </a:r>
            <a:br>
              <a:rPr lang="en-US" sz="1400" b="1" i="0" u="none" strike="noStrike" baseline="0">
                <a:latin typeface="Calibri" panose="020F0502020204030204" pitchFamily="34" charset="0"/>
              </a:rPr>
            </a:br>
            <a:r>
              <a:rPr lang="en-US" sz="1400" i="0" u="none" strike="noStrike" baseline="0">
                <a:latin typeface="Calibri" panose="020F0502020204030204" pitchFamily="34" charset="0"/>
              </a:rPr>
              <a:t>1</a:t>
            </a:r>
            <a:r>
              <a:rPr lang="en-US" sz="1400">
                <a:latin typeface="Calibri" panose="020F0502020204030204" pitchFamily="34" charset="0"/>
              </a:rPr>
              <a:t> or more molecules or a chemical scaffold has been identified that has the potential to produce a CS molecule. Milestone approved by governance.</a:t>
            </a:r>
            <a:endParaRPr lang="en-US" sz="1400" b="0" i="0" u="none" strike="noStrike" baseline="0">
              <a:latin typeface="Calibri" panose="020F0502020204030204" pitchFamily="34" charset="0"/>
            </a:endParaRPr>
          </a:p>
        </p:txBody>
      </p:sp>
      <p:pic>
        <p:nvPicPr>
          <p:cNvPr id="19" name="Graphic 18" descr="Bullseye with solid fill">
            <a:extLst>
              <a:ext uri="{FF2B5EF4-FFF2-40B4-BE49-F238E27FC236}">
                <a16:creationId xmlns:a16="http://schemas.microsoft.com/office/drawing/2014/main" id="{7397B783-CD23-3396-5E10-8C02C8E919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98446" y="4231967"/>
            <a:ext cx="914400" cy="914400"/>
          </a:xfrm>
          <a:prstGeom prst="rect">
            <a:avLst/>
          </a:prstGeom>
        </p:spPr>
      </p:pic>
      <p:pic>
        <p:nvPicPr>
          <p:cNvPr id="20" name="Content Placeholder 7" descr="Door Open with solid fill">
            <a:extLst>
              <a:ext uri="{FF2B5EF4-FFF2-40B4-BE49-F238E27FC236}">
                <a16:creationId xmlns:a16="http://schemas.microsoft.com/office/drawing/2014/main" id="{7D7A9A58-F8CD-5219-FBE0-78B851DA96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099916" y="4053224"/>
            <a:ext cx="914400" cy="914400"/>
          </a:xfrm>
          <a:prstGeom prst="rect">
            <a:avLst/>
          </a:prstGeom>
        </p:spPr>
      </p:pic>
      <p:pic>
        <p:nvPicPr>
          <p:cNvPr id="21" name="Graphic 20" descr="Steering Wheel with solid fill">
            <a:extLst>
              <a:ext uri="{FF2B5EF4-FFF2-40B4-BE49-F238E27FC236}">
                <a16:creationId xmlns:a16="http://schemas.microsoft.com/office/drawing/2014/main" id="{7BBAD9FF-5AE0-F18C-2DFA-AF1829D1AE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37452" y="4220086"/>
            <a:ext cx="750413" cy="750413"/>
          </a:xfrm>
          <a:prstGeom prst="rect">
            <a:avLst/>
          </a:prstGeom>
        </p:spPr>
      </p:pic>
      <p:pic>
        <p:nvPicPr>
          <p:cNvPr id="22" name="Content Placeholder 13" descr="Baseball bat and ball with solid fill">
            <a:extLst>
              <a:ext uri="{FF2B5EF4-FFF2-40B4-BE49-F238E27FC236}">
                <a16:creationId xmlns:a16="http://schemas.microsoft.com/office/drawing/2014/main" id="{3790DD94-A012-55BF-43EF-B2A9B3B170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244746" y="4231967"/>
            <a:ext cx="676183" cy="676183"/>
          </a:xfrm>
          <a:prstGeom prst="rect">
            <a:avLst/>
          </a:prstGeom>
        </p:spPr>
      </p:pic>
    </p:spTree>
    <p:extLst>
      <p:ext uri="{BB962C8B-B14F-4D97-AF65-F5344CB8AC3E}">
        <p14:creationId xmlns:p14="http://schemas.microsoft.com/office/powerpoint/2010/main" val="3201006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FE24-DB32-422C-3B74-11B5659EB4C9}"/>
              </a:ext>
            </a:extLst>
          </p:cNvPr>
          <p:cNvSpPr>
            <a:spLocks noGrp="1"/>
          </p:cNvSpPr>
          <p:nvPr>
            <p:ph type="title"/>
          </p:nvPr>
        </p:nvSpPr>
        <p:spPr>
          <a:xfrm>
            <a:off x="339253" y="180845"/>
            <a:ext cx="11495177" cy="647219"/>
          </a:xfrm>
        </p:spPr>
        <p:txBody>
          <a:bodyPr>
            <a:normAutofit fontScale="90000"/>
          </a:bodyPr>
          <a:lstStyle/>
          <a:p>
            <a:r>
              <a:rPr lang="en-US"/>
              <a:t>Timeline to Early Phase COO/PPM handoff     </a:t>
            </a:r>
            <a:r>
              <a:rPr lang="en-US" sz="2400"/>
              <a:t>(*changes pending) </a:t>
            </a:r>
            <a:br>
              <a:rPr lang="en-US" sz="2400"/>
            </a:br>
            <a:r>
              <a:rPr lang="en-US" sz="2400"/>
              <a:t>	</a:t>
            </a:r>
            <a:r>
              <a:rPr lang="en-US" sz="2200" i="1"/>
              <a:t>(milestone timing different across modalities</a:t>
            </a:r>
            <a:r>
              <a:rPr lang="en-US" sz="2400"/>
              <a:t>)</a:t>
            </a:r>
            <a:endParaRPr lang="en-US"/>
          </a:p>
        </p:txBody>
      </p:sp>
      <p:sp>
        <p:nvSpPr>
          <p:cNvPr id="3" name="TextBox 2">
            <a:extLst>
              <a:ext uri="{FF2B5EF4-FFF2-40B4-BE49-F238E27FC236}">
                <a16:creationId xmlns:a16="http://schemas.microsoft.com/office/drawing/2014/main" id="{55E31899-BA7F-0354-18C1-11FF2ED6B47F}"/>
              </a:ext>
            </a:extLst>
          </p:cNvPr>
          <p:cNvSpPr txBox="1"/>
          <p:nvPr/>
        </p:nvSpPr>
        <p:spPr>
          <a:xfrm>
            <a:off x="1534026" y="4809866"/>
            <a:ext cx="2481943" cy="15696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Onboarding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Initial Timeline/RD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Initial budget estimation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Confidence Assessment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Asset Profile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Initial Clinical Plan</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4" name="Left Brace 3">
            <a:extLst>
              <a:ext uri="{FF2B5EF4-FFF2-40B4-BE49-F238E27FC236}">
                <a16:creationId xmlns:a16="http://schemas.microsoft.com/office/drawing/2014/main" id="{6A009A45-6E8D-DE26-8727-536245DBA741}"/>
              </a:ext>
            </a:extLst>
          </p:cNvPr>
          <p:cNvSpPr/>
          <p:nvPr/>
        </p:nvSpPr>
        <p:spPr>
          <a:xfrm rot="16200000">
            <a:off x="4215695" y="2762127"/>
            <a:ext cx="389881" cy="3596128"/>
          </a:xfrm>
          <a:prstGeom prst="leftBrace">
            <a:avLst>
              <a:gd name="adj1" fmla="val 8333"/>
              <a:gd name="adj2" fmla="val 57681"/>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13AF6E5F-C32E-DF28-C8C6-E859B1D35C5A}"/>
              </a:ext>
            </a:extLst>
          </p:cNvPr>
          <p:cNvSpPr txBox="1"/>
          <p:nvPr/>
        </p:nvSpPr>
        <p:spPr>
          <a:xfrm>
            <a:off x="3951628" y="4829444"/>
            <a:ext cx="3070320" cy="15696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NTL onboarding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Delivery to flow scheme while navigating science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1</a:t>
            </a:r>
            <a:r>
              <a:rPr kumimoji="0" lang="en-US" sz="1600" b="0" i="0" u="none" strike="noStrike" kern="1200" cap="none" spc="0" normalizeH="0" baseline="30000" noProof="0">
                <a:ln>
                  <a:noFill/>
                </a:ln>
                <a:solidFill>
                  <a:srgbClr val="3D64AC"/>
                </a:solidFill>
                <a:effectLst/>
                <a:uLnTx/>
                <a:uFillTx/>
                <a:latin typeface="Calibri" panose="020F0502020204030204" pitchFamily="34" charset="0"/>
                <a:ea typeface="+mn-ea"/>
                <a:cs typeface="+mn-cs"/>
              </a:rPr>
              <a:t>st</a:t>
            </a: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 </a:t>
            </a:r>
            <a:r>
              <a:rPr kumimoji="0" lang="en-US" sz="1600" b="0" i="0" u="none" strike="noStrike" kern="1200" cap="none" spc="0" normalizeH="0" baseline="0" noProof="0" err="1">
                <a:ln>
                  <a:noFill/>
                </a:ln>
                <a:solidFill>
                  <a:srgbClr val="3D64AC"/>
                </a:solidFill>
                <a:effectLst/>
                <a:uLnTx/>
                <a:uFillTx/>
                <a:latin typeface="Calibri" panose="020F0502020204030204" pitchFamily="34" charset="0"/>
                <a:ea typeface="+mn-ea"/>
                <a:cs typeface="+mn-cs"/>
              </a:rPr>
              <a:t>BoD</a:t>
            </a: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 Engagement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Optimize timeline &amp; budget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Tolerability/Pilot tox planning</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Left Brace 6">
            <a:extLst>
              <a:ext uri="{FF2B5EF4-FFF2-40B4-BE49-F238E27FC236}">
                <a16:creationId xmlns:a16="http://schemas.microsoft.com/office/drawing/2014/main" id="{881914C2-406B-9401-CF0D-FA5C425F9232}"/>
              </a:ext>
            </a:extLst>
          </p:cNvPr>
          <p:cNvSpPr/>
          <p:nvPr/>
        </p:nvSpPr>
        <p:spPr>
          <a:xfrm rot="16200000">
            <a:off x="7435306" y="3204185"/>
            <a:ext cx="389881" cy="2720150"/>
          </a:xfrm>
          <a:prstGeom prst="leftBrace">
            <a:avLst>
              <a:gd name="adj1" fmla="val 8333"/>
              <a:gd name="adj2" fmla="val 63656"/>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7826964C-2B99-BF90-EE8D-CD950F0B1F0C}"/>
              </a:ext>
            </a:extLst>
          </p:cNvPr>
          <p:cNvSpPr txBox="1"/>
          <p:nvPr/>
        </p:nvSpPr>
        <p:spPr>
          <a:xfrm>
            <a:off x="339253" y="933053"/>
            <a:ext cx="102197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79646">
                    <a:lumMod val="75000"/>
                  </a:srgbClr>
                </a:solidFill>
                <a:effectLst/>
                <a:uLnTx/>
                <a:uFillTx/>
                <a:latin typeface="Calibri"/>
                <a:ea typeface="+mn-ea"/>
                <a:cs typeface="+mn-cs"/>
              </a:rPr>
              <a:t>*as needed</a:t>
            </a:r>
          </a:p>
        </p:txBody>
      </p:sp>
      <p:sp>
        <p:nvSpPr>
          <p:cNvPr id="9" name="TextBox 8">
            <a:extLst>
              <a:ext uri="{FF2B5EF4-FFF2-40B4-BE49-F238E27FC236}">
                <a16:creationId xmlns:a16="http://schemas.microsoft.com/office/drawing/2014/main" id="{F70FC774-839A-DC2E-B175-6D5A4EA0A80B}"/>
              </a:ext>
            </a:extLst>
          </p:cNvPr>
          <p:cNvSpPr txBox="1"/>
          <p:nvPr/>
        </p:nvSpPr>
        <p:spPr>
          <a:xfrm>
            <a:off x="1403010" y="933052"/>
            <a:ext cx="1106502" cy="307777"/>
          </a:xfrm>
          <a:prstGeom prst="rect">
            <a:avLst/>
          </a:prstGeom>
          <a:noFill/>
          <a:ln w="12700">
            <a:solidFill>
              <a:srgbClr val="0070C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70C0"/>
                </a:solidFill>
                <a:effectLst/>
                <a:uLnTx/>
                <a:uFillTx/>
                <a:latin typeface="Calibri"/>
                <a:ea typeface="+mn-ea"/>
                <a:cs typeface="+mn-cs"/>
              </a:rPr>
              <a:t>* siRNA only</a:t>
            </a:r>
          </a:p>
        </p:txBody>
      </p:sp>
      <p:sp>
        <p:nvSpPr>
          <p:cNvPr id="34" name="TextBox 33">
            <a:extLst>
              <a:ext uri="{FF2B5EF4-FFF2-40B4-BE49-F238E27FC236}">
                <a16:creationId xmlns:a16="http://schemas.microsoft.com/office/drawing/2014/main" id="{781F19C2-C032-721F-1CFA-D43483FA6A72}"/>
              </a:ext>
            </a:extLst>
          </p:cNvPr>
          <p:cNvSpPr txBox="1"/>
          <p:nvPr/>
        </p:nvSpPr>
        <p:spPr>
          <a:xfrm>
            <a:off x="7231182" y="4809819"/>
            <a:ext cx="4285128" cy="181588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Timeline optimization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Budget management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Pre-IND &amp;/or INTERACT planning (as needed)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Clinical planning kick off</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Continued Asset Profile development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CMC strategy and funding triggers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GLP tox planning</a:t>
            </a:r>
          </a:p>
        </p:txBody>
      </p:sp>
      <p:sp>
        <p:nvSpPr>
          <p:cNvPr id="11" name="Left Brace 10">
            <a:extLst>
              <a:ext uri="{FF2B5EF4-FFF2-40B4-BE49-F238E27FC236}">
                <a16:creationId xmlns:a16="http://schemas.microsoft.com/office/drawing/2014/main" id="{8CEA1E27-6F80-0BAD-7730-F7CA597812C1}"/>
              </a:ext>
            </a:extLst>
          </p:cNvPr>
          <p:cNvSpPr/>
          <p:nvPr/>
        </p:nvSpPr>
        <p:spPr>
          <a:xfrm rot="16200000">
            <a:off x="863009" y="4041967"/>
            <a:ext cx="389881" cy="1093214"/>
          </a:xfrm>
          <a:prstGeom prst="leftBrace">
            <a:avLst>
              <a:gd name="adj1" fmla="val 8333"/>
              <a:gd name="adj2" fmla="val 26074"/>
            </a:avLst>
          </a:prstGeom>
          <a:ln>
            <a:prstDash val="sysDot"/>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AADB7835-5535-5354-5DEB-18C6347E60F9}"/>
              </a:ext>
            </a:extLst>
          </p:cNvPr>
          <p:cNvSpPr txBox="1"/>
          <p:nvPr/>
        </p:nvSpPr>
        <p:spPr>
          <a:xfrm>
            <a:off x="63142" y="4891850"/>
            <a:ext cx="1470884" cy="15696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rPr>
              <a:t>Target conviction/opportunity evaluation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3D64AC"/>
              </a:solidFill>
              <a:effectLst/>
              <a:uLnTx/>
              <a:uFillTx/>
              <a:latin typeface="Calibri" panose="020F0502020204030204"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10" name="Left Brace 9">
            <a:extLst>
              <a:ext uri="{FF2B5EF4-FFF2-40B4-BE49-F238E27FC236}">
                <a16:creationId xmlns:a16="http://schemas.microsoft.com/office/drawing/2014/main" id="{77660791-51A6-1779-22F9-3237A3853136}"/>
              </a:ext>
            </a:extLst>
          </p:cNvPr>
          <p:cNvSpPr/>
          <p:nvPr/>
        </p:nvSpPr>
        <p:spPr>
          <a:xfrm rot="16200000">
            <a:off x="1917600" y="4113679"/>
            <a:ext cx="389881" cy="89302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4" name="Picture 13">
            <a:extLst>
              <a:ext uri="{FF2B5EF4-FFF2-40B4-BE49-F238E27FC236}">
                <a16:creationId xmlns:a16="http://schemas.microsoft.com/office/drawing/2014/main" id="{ADD0F844-BB63-56B2-80AB-F83901A3F9D7}"/>
              </a:ext>
            </a:extLst>
          </p:cNvPr>
          <p:cNvPicPr>
            <a:picLocks noChangeAspect="1"/>
          </p:cNvPicPr>
          <p:nvPr/>
        </p:nvPicPr>
        <p:blipFill>
          <a:blip r:embed="rId2"/>
          <a:stretch>
            <a:fillRect/>
          </a:stretch>
        </p:blipFill>
        <p:spPr>
          <a:xfrm>
            <a:off x="182046" y="1253046"/>
            <a:ext cx="11922731" cy="3016291"/>
          </a:xfrm>
          <a:prstGeom prst="rect">
            <a:avLst/>
          </a:prstGeom>
        </p:spPr>
      </p:pic>
    </p:spTree>
    <p:extLst>
      <p:ext uri="{BB962C8B-B14F-4D97-AF65-F5344CB8AC3E}">
        <p14:creationId xmlns:p14="http://schemas.microsoft.com/office/powerpoint/2010/main" val="346256689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p:bldP spid="7" grpId="0" animBg="1"/>
      <p:bldP spid="34" grpId="0"/>
      <p:bldP spid="11" grpId="0" animBg="1"/>
      <p:bldP spid="13" grpId="0"/>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EF59A-1EAB-DE1B-2ED6-55395B815379}"/>
              </a:ext>
            </a:extLst>
          </p:cNvPr>
          <p:cNvSpPr>
            <a:spLocks noGrp="1"/>
          </p:cNvSpPr>
          <p:nvPr>
            <p:ph type="title"/>
          </p:nvPr>
        </p:nvSpPr>
        <p:spPr>
          <a:xfrm>
            <a:off x="151552" y="373403"/>
            <a:ext cx="10515600" cy="742776"/>
          </a:xfrm>
        </p:spPr>
        <p:txBody>
          <a:bodyPr>
            <a:normAutofit fontScale="90000"/>
          </a:bodyPr>
          <a:lstStyle/>
          <a:p>
            <a:r>
              <a:rPr lang="en-US"/>
              <a:t>Discovery Portfolio Management  </a:t>
            </a:r>
            <a:r>
              <a:rPr lang="en-US" sz="1800" b="1"/>
              <a:t>(updated paradigm under development) </a:t>
            </a:r>
            <a:endParaRPr lang="en-US" b="1"/>
          </a:p>
        </p:txBody>
      </p:sp>
      <p:sp>
        <p:nvSpPr>
          <p:cNvPr id="3" name="Content Placeholder 2">
            <a:extLst>
              <a:ext uri="{FF2B5EF4-FFF2-40B4-BE49-F238E27FC236}">
                <a16:creationId xmlns:a16="http://schemas.microsoft.com/office/drawing/2014/main" id="{73531F08-DD89-FE31-E1F9-01EE80113E87}"/>
              </a:ext>
            </a:extLst>
          </p:cNvPr>
          <p:cNvSpPr>
            <a:spLocks noGrp="1"/>
          </p:cNvSpPr>
          <p:nvPr>
            <p:ph idx="1"/>
          </p:nvPr>
        </p:nvSpPr>
        <p:spPr>
          <a:xfrm>
            <a:off x="2401471" y="2832171"/>
            <a:ext cx="6098793" cy="473692"/>
          </a:xfrm>
          <a:solidFill>
            <a:srgbClr val="FFC000"/>
          </a:solidFill>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a:normAutofit lnSpcReduction="10000"/>
          </a:bodyPr>
          <a:lstStyle/>
          <a:p>
            <a:pPr marL="0" indent="0" algn="ctr">
              <a:buNone/>
            </a:pPr>
            <a:r>
              <a:rPr lang="en-US"/>
              <a:t>Monitor </a:t>
            </a:r>
          </a:p>
        </p:txBody>
      </p:sp>
      <p:sp>
        <p:nvSpPr>
          <p:cNvPr id="5" name="TextBox 4">
            <a:extLst>
              <a:ext uri="{FF2B5EF4-FFF2-40B4-BE49-F238E27FC236}">
                <a16:creationId xmlns:a16="http://schemas.microsoft.com/office/drawing/2014/main" id="{1338B56F-E1A7-3C99-FD98-06E3473DE80A}"/>
              </a:ext>
            </a:extLst>
          </p:cNvPr>
          <p:cNvSpPr txBox="1"/>
          <p:nvPr/>
        </p:nvSpPr>
        <p:spPr>
          <a:xfrm>
            <a:off x="10905617" y="1613500"/>
            <a:ext cx="1213282" cy="958691"/>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PE</a:t>
            </a:r>
          </a:p>
        </p:txBody>
      </p:sp>
      <p:cxnSp>
        <p:nvCxnSpPr>
          <p:cNvPr id="12" name="Straight Arrow Connector 11">
            <a:extLst>
              <a:ext uri="{FF2B5EF4-FFF2-40B4-BE49-F238E27FC236}">
                <a16:creationId xmlns:a16="http://schemas.microsoft.com/office/drawing/2014/main" id="{5D7A68DD-9013-81D8-BA93-FB63FDC37CB1}"/>
              </a:ext>
            </a:extLst>
          </p:cNvPr>
          <p:cNvCxnSpPr>
            <a:cxnSpLocks/>
          </p:cNvCxnSpPr>
          <p:nvPr/>
        </p:nvCxnSpPr>
        <p:spPr>
          <a:xfrm>
            <a:off x="270914" y="2170655"/>
            <a:ext cx="10881360" cy="43590"/>
          </a:xfrm>
          <a:prstGeom prst="straightConnector1">
            <a:avLst/>
          </a:prstGeom>
          <a:ln w="76200">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4" name="Content Placeholder 2">
            <a:extLst>
              <a:ext uri="{FF2B5EF4-FFF2-40B4-BE49-F238E27FC236}">
                <a16:creationId xmlns:a16="http://schemas.microsoft.com/office/drawing/2014/main" id="{A3F8112A-D1E0-6D09-07F6-BFEE014B8B0E}"/>
              </a:ext>
            </a:extLst>
          </p:cNvPr>
          <p:cNvSpPr txBox="1">
            <a:spLocks/>
          </p:cNvSpPr>
          <p:nvPr/>
        </p:nvSpPr>
        <p:spPr>
          <a:xfrm>
            <a:off x="151552" y="2832171"/>
            <a:ext cx="2128721" cy="473692"/>
          </a:xfrm>
          <a:prstGeom prst="rect">
            <a:avLst/>
          </a:prstGeom>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rPr>
              <a:t>Aware</a:t>
            </a:r>
          </a:p>
        </p:txBody>
      </p:sp>
      <p:sp>
        <p:nvSpPr>
          <p:cNvPr id="6" name="Content Placeholder 2">
            <a:extLst>
              <a:ext uri="{FF2B5EF4-FFF2-40B4-BE49-F238E27FC236}">
                <a16:creationId xmlns:a16="http://schemas.microsoft.com/office/drawing/2014/main" id="{BA7E7C09-9B49-68BB-40C0-74C20CC11E61}"/>
              </a:ext>
            </a:extLst>
          </p:cNvPr>
          <p:cNvSpPr txBox="1">
            <a:spLocks/>
          </p:cNvSpPr>
          <p:nvPr/>
        </p:nvSpPr>
        <p:spPr>
          <a:xfrm>
            <a:off x="8630969" y="2832171"/>
            <a:ext cx="3117855" cy="473692"/>
          </a:xfrm>
          <a:prstGeom prst="rect">
            <a:avLst/>
          </a:prstGeom>
          <a:solidFill>
            <a:srgbClr val="92D050"/>
          </a:solidFill>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l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l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l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rPr>
              <a:t>Engage</a:t>
            </a:r>
          </a:p>
        </p:txBody>
      </p:sp>
      <p:sp>
        <p:nvSpPr>
          <p:cNvPr id="11" name="TextBox 10">
            <a:extLst>
              <a:ext uri="{FF2B5EF4-FFF2-40B4-BE49-F238E27FC236}">
                <a16:creationId xmlns:a16="http://schemas.microsoft.com/office/drawing/2014/main" id="{09638D1B-1FC1-F113-5AC8-54EB1EDD42F8}"/>
              </a:ext>
            </a:extLst>
          </p:cNvPr>
          <p:cNvSpPr txBox="1"/>
          <p:nvPr/>
        </p:nvSpPr>
        <p:spPr>
          <a:xfrm>
            <a:off x="349187" y="6060626"/>
            <a:ext cx="11223458" cy="340519"/>
          </a:xfrm>
          <a:prstGeom prst="round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Segoe UI" panose="020B0502040204020203" pitchFamily="34" charset="0"/>
                <a:ea typeface="+mn-ea"/>
                <a:cs typeface="+mn-cs"/>
              </a:rPr>
              <a:t>PPM Leadership monitors progress of discovery portfolio to assign resources when appropriate and ensure portfolio progress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BB0D9F43-297D-B78F-20A7-202C0BCDAA61}"/>
              </a:ext>
            </a:extLst>
          </p:cNvPr>
          <p:cNvSpPr txBox="1"/>
          <p:nvPr/>
        </p:nvSpPr>
        <p:spPr>
          <a:xfrm>
            <a:off x="153619" y="3314681"/>
            <a:ext cx="2247851" cy="3046988"/>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COO &amp; PPM aware of targets within TA portfolio </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1" i="0" u="sng"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sng"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sng"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sng"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69E87BBC-210C-DB92-3385-DB93977F1CB3}"/>
              </a:ext>
            </a:extLst>
          </p:cNvPr>
          <p:cNvSpPr txBox="1"/>
          <p:nvPr/>
        </p:nvSpPr>
        <p:spPr>
          <a:xfrm>
            <a:off x="2401471" y="3314681"/>
            <a:ext cx="6098792" cy="83099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COO &amp; PPM monitoring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 assets nearing PE</a:t>
            </a:r>
            <a:endParaRPr kumimoji="0" lang="en-US" sz="2400" b="1" i="0" u="sng"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C1CEEB60-EB3E-10FE-6043-9D9D406A39E6}"/>
              </a:ext>
            </a:extLst>
          </p:cNvPr>
          <p:cNvSpPr txBox="1"/>
          <p:nvPr/>
        </p:nvSpPr>
        <p:spPr>
          <a:xfrm>
            <a:off x="8630970" y="3314681"/>
            <a:ext cx="3294330" cy="1200329"/>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COO &amp; PPM engaged with asset teams; COO leading team towards PE</a:t>
            </a:r>
          </a:p>
        </p:txBody>
      </p:sp>
      <p:cxnSp>
        <p:nvCxnSpPr>
          <p:cNvPr id="18" name="Straight Connector 17">
            <a:extLst>
              <a:ext uri="{FF2B5EF4-FFF2-40B4-BE49-F238E27FC236}">
                <a16:creationId xmlns:a16="http://schemas.microsoft.com/office/drawing/2014/main" id="{1A1A2F32-EB17-DD73-C0E3-DF909719143E}"/>
              </a:ext>
            </a:extLst>
          </p:cNvPr>
          <p:cNvCxnSpPr>
            <a:cxnSpLocks/>
          </p:cNvCxnSpPr>
          <p:nvPr/>
        </p:nvCxnSpPr>
        <p:spPr>
          <a:xfrm>
            <a:off x="4461412" y="1919019"/>
            <a:ext cx="0" cy="56327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3A2E67-B4B9-38AD-556A-43564F126DB6}"/>
              </a:ext>
            </a:extLst>
          </p:cNvPr>
          <p:cNvCxnSpPr>
            <a:cxnSpLocks/>
          </p:cNvCxnSpPr>
          <p:nvPr/>
        </p:nvCxnSpPr>
        <p:spPr>
          <a:xfrm>
            <a:off x="6556661" y="1919019"/>
            <a:ext cx="0" cy="56327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39FB6A1-9E01-8330-BAA2-5E88CC6296D1}"/>
              </a:ext>
            </a:extLst>
          </p:cNvPr>
          <p:cNvCxnSpPr>
            <a:cxnSpLocks/>
          </p:cNvCxnSpPr>
          <p:nvPr/>
        </p:nvCxnSpPr>
        <p:spPr>
          <a:xfrm>
            <a:off x="8651910" y="1919019"/>
            <a:ext cx="0" cy="56327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C37174A-A347-44A8-B269-3D4BD15E9531}"/>
              </a:ext>
            </a:extLst>
          </p:cNvPr>
          <p:cNvCxnSpPr>
            <a:cxnSpLocks/>
          </p:cNvCxnSpPr>
          <p:nvPr/>
        </p:nvCxnSpPr>
        <p:spPr>
          <a:xfrm>
            <a:off x="2366163" y="1919019"/>
            <a:ext cx="0" cy="56327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E1678EF-4A14-8748-505B-33EA55BF14BB}"/>
              </a:ext>
            </a:extLst>
          </p:cNvPr>
          <p:cNvCxnSpPr>
            <a:cxnSpLocks/>
          </p:cNvCxnSpPr>
          <p:nvPr/>
        </p:nvCxnSpPr>
        <p:spPr>
          <a:xfrm>
            <a:off x="270914" y="1919019"/>
            <a:ext cx="0" cy="56327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711FA7C-DE05-9D97-88C6-7D99DC5B6753}"/>
              </a:ext>
            </a:extLst>
          </p:cNvPr>
          <p:cNvSpPr txBox="1"/>
          <p:nvPr/>
        </p:nvSpPr>
        <p:spPr>
          <a:xfrm>
            <a:off x="507879" y="2495002"/>
            <a:ext cx="1633887"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PE &gt; 3 Quarters Out</a:t>
            </a:r>
          </a:p>
        </p:txBody>
      </p:sp>
      <p:sp>
        <p:nvSpPr>
          <p:cNvPr id="24" name="TextBox 23">
            <a:extLst>
              <a:ext uri="{FF2B5EF4-FFF2-40B4-BE49-F238E27FC236}">
                <a16:creationId xmlns:a16="http://schemas.microsoft.com/office/drawing/2014/main" id="{01CA6385-06F4-FE6B-D7BD-DB8C39BEBD99}"/>
              </a:ext>
            </a:extLst>
          </p:cNvPr>
          <p:cNvSpPr txBox="1"/>
          <p:nvPr/>
        </p:nvSpPr>
        <p:spPr>
          <a:xfrm>
            <a:off x="4710437" y="2495002"/>
            <a:ext cx="1633887" cy="261610"/>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PE within 3 Quarters</a:t>
            </a:r>
          </a:p>
        </p:txBody>
      </p:sp>
      <p:sp>
        <p:nvSpPr>
          <p:cNvPr id="25" name="TextBox 24">
            <a:extLst>
              <a:ext uri="{FF2B5EF4-FFF2-40B4-BE49-F238E27FC236}">
                <a16:creationId xmlns:a16="http://schemas.microsoft.com/office/drawing/2014/main" id="{A25BAD83-E212-1DD5-A77A-10A4971022B4}"/>
              </a:ext>
            </a:extLst>
          </p:cNvPr>
          <p:cNvSpPr txBox="1"/>
          <p:nvPr/>
        </p:nvSpPr>
        <p:spPr>
          <a:xfrm>
            <a:off x="9229403" y="2495002"/>
            <a:ext cx="1633887" cy="261610"/>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PE in 1 Quarter</a:t>
            </a:r>
          </a:p>
        </p:txBody>
      </p:sp>
      <p:cxnSp>
        <p:nvCxnSpPr>
          <p:cNvPr id="26" name="Straight Connector 25">
            <a:extLst>
              <a:ext uri="{FF2B5EF4-FFF2-40B4-BE49-F238E27FC236}">
                <a16:creationId xmlns:a16="http://schemas.microsoft.com/office/drawing/2014/main" id="{709AAC58-441D-B2DF-F378-F1E0D316652A}"/>
              </a:ext>
            </a:extLst>
          </p:cNvPr>
          <p:cNvCxnSpPr>
            <a:cxnSpLocks/>
          </p:cNvCxnSpPr>
          <p:nvPr/>
        </p:nvCxnSpPr>
        <p:spPr>
          <a:xfrm>
            <a:off x="10747159" y="1919019"/>
            <a:ext cx="0" cy="56327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725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A7AF-B6A0-EBB5-F5D2-AD906CF3C3B0}"/>
              </a:ext>
            </a:extLst>
          </p:cNvPr>
          <p:cNvSpPr>
            <a:spLocks noGrp="1"/>
          </p:cNvSpPr>
          <p:nvPr>
            <p:ph type="title"/>
          </p:nvPr>
        </p:nvSpPr>
        <p:spPr/>
        <p:txBody>
          <a:bodyPr/>
          <a:lstStyle/>
          <a:p>
            <a:r>
              <a:rPr lang="en-US"/>
              <a:t>Transition Timing and Key Deliverables</a:t>
            </a:r>
          </a:p>
        </p:txBody>
      </p:sp>
      <p:graphicFrame>
        <p:nvGraphicFramePr>
          <p:cNvPr id="3" name="Table 2">
            <a:extLst>
              <a:ext uri="{FF2B5EF4-FFF2-40B4-BE49-F238E27FC236}">
                <a16:creationId xmlns:a16="http://schemas.microsoft.com/office/drawing/2014/main" id="{F4AD7E85-1641-9272-D799-1FE4286F1915}"/>
              </a:ext>
            </a:extLst>
          </p:cNvPr>
          <p:cNvGraphicFramePr>
            <a:graphicFrameLocks noGrp="1"/>
          </p:cNvGraphicFramePr>
          <p:nvPr/>
        </p:nvGraphicFramePr>
        <p:xfrm>
          <a:off x="400461" y="3159990"/>
          <a:ext cx="11116882" cy="1854200"/>
        </p:xfrm>
        <a:graphic>
          <a:graphicData uri="http://schemas.openxmlformats.org/drawingml/2006/table">
            <a:tbl>
              <a:tblPr firstRow="1" bandRow="1">
                <a:tableStyleId>{5C22544A-7EE6-4342-B048-85BDC9FD1C3A}</a:tableStyleId>
              </a:tblPr>
              <a:tblGrid>
                <a:gridCol w="1972882">
                  <a:extLst>
                    <a:ext uri="{9D8B030D-6E8A-4147-A177-3AD203B41FA5}">
                      <a16:colId xmlns:a16="http://schemas.microsoft.com/office/drawing/2014/main" val="2479039164"/>
                    </a:ext>
                  </a:extLst>
                </a:gridCol>
                <a:gridCol w="1828800">
                  <a:extLst>
                    <a:ext uri="{9D8B030D-6E8A-4147-A177-3AD203B41FA5}">
                      <a16:colId xmlns:a16="http://schemas.microsoft.com/office/drawing/2014/main" val="4224873234"/>
                    </a:ext>
                  </a:extLst>
                </a:gridCol>
                <a:gridCol w="1828800">
                  <a:extLst>
                    <a:ext uri="{9D8B030D-6E8A-4147-A177-3AD203B41FA5}">
                      <a16:colId xmlns:a16="http://schemas.microsoft.com/office/drawing/2014/main" val="2697809186"/>
                    </a:ext>
                  </a:extLst>
                </a:gridCol>
                <a:gridCol w="1828800">
                  <a:extLst>
                    <a:ext uri="{9D8B030D-6E8A-4147-A177-3AD203B41FA5}">
                      <a16:colId xmlns:a16="http://schemas.microsoft.com/office/drawing/2014/main" val="4264471630"/>
                    </a:ext>
                  </a:extLst>
                </a:gridCol>
                <a:gridCol w="1828800">
                  <a:extLst>
                    <a:ext uri="{9D8B030D-6E8A-4147-A177-3AD203B41FA5}">
                      <a16:colId xmlns:a16="http://schemas.microsoft.com/office/drawing/2014/main" val="3114577011"/>
                    </a:ext>
                  </a:extLst>
                </a:gridCol>
                <a:gridCol w="1828800">
                  <a:extLst>
                    <a:ext uri="{9D8B030D-6E8A-4147-A177-3AD203B41FA5}">
                      <a16:colId xmlns:a16="http://schemas.microsoft.com/office/drawing/2014/main" val="4135165491"/>
                    </a:ext>
                  </a:extLst>
                </a:gridCol>
              </a:tblGrid>
              <a:tr h="370840">
                <a:tc>
                  <a:txBody>
                    <a:bodyPr/>
                    <a:lstStyle/>
                    <a:p>
                      <a:endParaRPr lang="en-US"/>
                    </a:p>
                  </a:txBody>
                  <a:tcPr/>
                </a:tc>
                <a:tc>
                  <a:txBody>
                    <a:bodyPr/>
                    <a:lstStyle/>
                    <a:p>
                      <a:pPr algn="ctr"/>
                      <a:r>
                        <a:rPr lang="en-US"/>
                        <a:t>Target Validation</a:t>
                      </a:r>
                    </a:p>
                  </a:txBody>
                  <a:tcPr/>
                </a:tc>
                <a:tc>
                  <a:txBody>
                    <a:bodyPr/>
                    <a:lstStyle/>
                    <a:p>
                      <a:pPr algn="ctr"/>
                      <a:r>
                        <a:rPr lang="en-US"/>
                        <a:t>Target Evaluation</a:t>
                      </a:r>
                    </a:p>
                  </a:txBody>
                  <a:tcPr/>
                </a:tc>
                <a:tc>
                  <a:txBody>
                    <a:bodyPr/>
                    <a:lstStyle/>
                    <a:p>
                      <a:pPr algn="ctr"/>
                      <a:r>
                        <a:rPr lang="en-US"/>
                        <a:t>Target Execution</a:t>
                      </a:r>
                    </a:p>
                  </a:txBody>
                  <a:tcPr/>
                </a:tc>
                <a:tc>
                  <a:txBody>
                    <a:bodyPr/>
                    <a:lstStyle/>
                    <a:p>
                      <a:pPr algn="ctr"/>
                      <a:r>
                        <a:rPr lang="en-US"/>
                        <a:t>PE to CI</a:t>
                      </a:r>
                    </a:p>
                  </a:txBody>
                  <a:tcPr/>
                </a:tc>
                <a:tc>
                  <a:txBody>
                    <a:bodyPr/>
                    <a:lstStyle/>
                    <a:p>
                      <a:pPr algn="ctr"/>
                      <a:r>
                        <a:rPr lang="en-US"/>
                        <a:t>CI to CS</a:t>
                      </a:r>
                    </a:p>
                  </a:txBody>
                  <a:tcPr/>
                </a:tc>
                <a:extLst>
                  <a:ext uri="{0D108BD9-81ED-4DB2-BD59-A6C34878D82A}">
                    <a16:rowId xmlns:a16="http://schemas.microsoft.com/office/drawing/2014/main" val="295086494"/>
                  </a:ext>
                </a:extLst>
              </a:tr>
              <a:tr h="370840">
                <a:tc>
                  <a:txBody>
                    <a:bodyPr/>
                    <a:lstStyle/>
                    <a:p>
                      <a:r>
                        <a:rPr lang="en-US"/>
                        <a:t>Discovery PPM</a:t>
                      </a:r>
                    </a:p>
                  </a:txBody>
                  <a:tcPr/>
                </a:tc>
                <a:tc>
                  <a:txBody>
                    <a:bodyPr/>
                    <a:lstStyle/>
                    <a:p>
                      <a:endParaRPr lang="en-US"/>
                    </a:p>
                  </a:txBody>
                  <a:tcPr>
                    <a:gradFill>
                      <a:gsLst>
                        <a:gs pos="44000">
                          <a:schemeClr val="accent1">
                            <a:tint val="20000"/>
                            <a:shade val="30000"/>
                            <a:satMod val="115000"/>
                          </a:schemeClr>
                        </a:gs>
                        <a:gs pos="68000">
                          <a:schemeClr val="accent1">
                            <a:tint val="20000"/>
                            <a:shade val="67500"/>
                            <a:satMod val="115000"/>
                          </a:schemeClr>
                        </a:gs>
                        <a:gs pos="100000">
                          <a:srgbClr val="E9EBF5"/>
                        </a:gs>
                      </a:gsLst>
                      <a:lin ang="13500000" scaled="1"/>
                    </a:gradFill>
                  </a:tcPr>
                </a:tc>
                <a:tc>
                  <a:txBody>
                    <a:bodyPr/>
                    <a:lstStyle/>
                    <a:p>
                      <a:endParaRPr lang="en-US" sz="1800" kern="1200">
                        <a:solidFill>
                          <a:schemeClr val="dk1"/>
                        </a:solidFill>
                        <a:latin typeface="+mn-lt"/>
                        <a:ea typeface="+mn-ea"/>
                        <a:cs typeface="+mn-cs"/>
                      </a:endParaRPr>
                    </a:p>
                  </a:txBody>
                  <a:tcPr>
                    <a:solidFill>
                      <a:srgbClr val="89878F"/>
                    </a:solidFill>
                  </a:tcPr>
                </a:tc>
                <a:tc>
                  <a:txBody>
                    <a:bodyPr/>
                    <a:lstStyle/>
                    <a:p>
                      <a:endParaRPr lang="en-US"/>
                    </a:p>
                  </a:txBody>
                  <a:tcPr>
                    <a:solidFill>
                      <a:srgbClr val="89878F"/>
                    </a:solidFill>
                  </a:tcPr>
                </a:tc>
                <a:tc>
                  <a:txBody>
                    <a:bodyPr/>
                    <a:lstStyle/>
                    <a:p>
                      <a:endParaRPr lang="en-US"/>
                    </a:p>
                  </a:txBody>
                  <a:tcPr>
                    <a:gradFill flip="none" rotWithShape="1">
                      <a:gsLst>
                        <a:gs pos="44000">
                          <a:schemeClr val="accent1">
                            <a:tint val="20000"/>
                            <a:shade val="30000"/>
                            <a:satMod val="115000"/>
                          </a:schemeClr>
                        </a:gs>
                        <a:gs pos="68000">
                          <a:schemeClr val="accent1">
                            <a:tint val="20000"/>
                            <a:shade val="67500"/>
                            <a:satMod val="115000"/>
                          </a:schemeClr>
                        </a:gs>
                        <a:gs pos="100000">
                          <a:schemeClr val="accent1">
                            <a:tint val="20000"/>
                            <a:shade val="100000"/>
                            <a:satMod val="115000"/>
                          </a:schemeClr>
                        </a:gs>
                      </a:gsLst>
                      <a:lin ang="18900000" scaled="1"/>
                      <a:tileRect/>
                    </a:gradFill>
                  </a:tcPr>
                </a:tc>
                <a:tc>
                  <a:txBody>
                    <a:bodyPr/>
                    <a:lstStyle/>
                    <a:p>
                      <a:endParaRPr lang="en-US"/>
                    </a:p>
                  </a:txBody>
                  <a:tcPr>
                    <a:solidFill>
                      <a:srgbClr val="E9EBF5"/>
                    </a:solidFill>
                  </a:tcPr>
                </a:tc>
                <a:extLst>
                  <a:ext uri="{0D108BD9-81ED-4DB2-BD59-A6C34878D82A}">
                    <a16:rowId xmlns:a16="http://schemas.microsoft.com/office/drawing/2014/main" val="3759841239"/>
                  </a:ext>
                </a:extLst>
              </a:tr>
              <a:tr h="370840">
                <a:tc>
                  <a:txBody>
                    <a:bodyPr/>
                    <a:lstStyle/>
                    <a:p>
                      <a:r>
                        <a:rPr lang="en-US"/>
                        <a:t>Discovery COO</a:t>
                      </a:r>
                    </a:p>
                  </a:txBody>
                  <a:tcPr/>
                </a:tc>
                <a:tc>
                  <a:txBody>
                    <a:bodyPr/>
                    <a:lstStyle/>
                    <a:p>
                      <a:endParaRPr lang="en-US"/>
                    </a:p>
                  </a:txBody>
                  <a:tcPr/>
                </a:tc>
                <a:tc>
                  <a:txBody>
                    <a:bodyPr/>
                    <a:lstStyle/>
                    <a:p>
                      <a:endParaRPr lang="en-US"/>
                    </a:p>
                  </a:txBody>
                  <a:tcPr/>
                </a:tc>
                <a:tc>
                  <a:txBody>
                    <a:bodyPr/>
                    <a:lstStyle/>
                    <a:p>
                      <a:endParaRPr lang="en-US"/>
                    </a:p>
                  </a:txBody>
                  <a:tcPr>
                    <a:gradFill flip="none" rotWithShape="1">
                      <a:gsLst>
                        <a:gs pos="44000">
                          <a:schemeClr val="accent1">
                            <a:tint val="20000"/>
                            <a:shade val="30000"/>
                            <a:satMod val="115000"/>
                          </a:schemeClr>
                        </a:gs>
                        <a:gs pos="68000">
                          <a:schemeClr val="accent1">
                            <a:tint val="20000"/>
                            <a:shade val="67500"/>
                            <a:satMod val="115000"/>
                          </a:schemeClr>
                        </a:gs>
                        <a:gs pos="100000">
                          <a:srgbClr val="CFD5EA"/>
                        </a:gs>
                      </a:gsLst>
                      <a:lin ang="13500000" scaled="1"/>
                      <a:tileRect/>
                    </a:gradFill>
                  </a:tcPr>
                </a:tc>
                <a:tc>
                  <a:txBody>
                    <a:bodyPr/>
                    <a:lstStyle/>
                    <a:p>
                      <a:endParaRPr lang="en-US"/>
                    </a:p>
                  </a:txBody>
                  <a:tcPr>
                    <a:solidFill>
                      <a:srgbClr val="8E8C94"/>
                    </a:solidFill>
                  </a:tcPr>
                </a:tc>
                <a:tc>
                  <a:txBody>
                    <a:bodyPr/>
                    <a:lstStyle/>
                    <a:p>
                      <a:endParaRPr lang="en-US"/>
                    </a:p>
                  </a:txBody>
                  <a:tcPr>
                    <a:gradFill>
                      <a:gsLst>
                        <a:gs pos="44000">
                          <a:schemeClr val="accent1">
                            <a:tint val="20000"/>
                            <a:shade val="30000"/>
                            <a:satMod val="115000"/>
                          </a:schemeClr>
                        </a:gs>
                        <a:gs pos="68000">
                          <a:schemeClr val="accent1">
                            <a:tint val="20000"/>
                            <a:shade val="67500"/>
                            <a:satMod val="115000"/>
                          </a:schemeClr>
                        </a:gs>
                        <a:gs pos="100000">
                          <a:schemeClr val="accent1">
                            <a:tint val="20000"/>
                            <a:shade val="100000"/>
                            <a:satMod val="115000"/>
                          </a:schemeClr>
                        </a:gs>
                      </a:gsLst>
                      <a:lin ang="18900000" scaled="1"/>
                    </a:gradFill>
                  </a:tcPr>
                </a:tc>
                <a:extLst>
                  <a:ext uri="{0D108BD9-81ED-4DB2-BD59-A6C34878D82A}">
                    <a16:rowId xmlns:a16="http://schemas.microsoft.com/office/drawing/2014/main" val="2143393146"/>
                  </a:ext>
                </a:extLst>
              </a:tr>
              <a:tr h="370840">
                <a:tc>
                  <a:txBody>
                    <a:bodyPr/>
                    <a:lstStyle/>
                    <a:p>
                      <a:r>
                        <a:rPr lang="en-US"/>
                        <a:t>Early Phase PPM</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sz="1800" kern="1200">
                        <a:solidFill>
                          <a:schemeClr val="dk1"/>
                        </a:solidFill>
                        <a:latin typeface="+mn-lt"/>
                        <a:ea typeface="+mn-ea"/>
                        <a:cs typeface="+mn-cs"/>
                      </a:endParaRPr>
                    </a:p>
                  </a:txBody>
                  <a:tcPr>
                    <a:solidFill>
                      <a:srgbClr val="E9EBF5"/>
                    </a:solidFill>
                  </a:tcPr>
                </a:tc>
                <a:tc>
                  <a:txBody>
                    <a:bodyPr/>
                    <a:lstStyle/>
                    <a:p>
                      <a:endParaRPr lang="en-US"/>
                    </a:p>
                  </a:txBody>
                  <a:tcPr>
                    <a:gradFill flip="none" rotWithShape="1">
                      <a:gsLst>
                        <a:gs pos="97000">
                          <a:srgbClr val="E6E6E6"/>
                        </a:gs>
                        <a:gs pos="74000">
                          <a:srgbClr val="E9EBF5"/>
                        </a:gs>
                        <a:gs pos="32000">
                          <a:srgbClr val="939393"/>
                        </a:gs>
                        <a:gs pos="7000">
                          <a:schemeClr val="accent3">
                            <a:lumMod val="89000"/>
                          </a:schemeClr>
                        </a:gs>
                      </a:gsLst>
                      <a:lin ang="13500000" scaled="0"/>
                      <a:tileRect/>
                    </a:gradFill>
                  </a:tcPr>
                </a:tc>
                <a:extLst>
                  <a:ext uri="{0D108BD9-81ED-4DB2-BD59-A6C34878D82A}">
                    <a16:rowId xmlns:a16="http://schemas.microsoft.com/office/drawing/2014/main" val="627862622"/>
                  </a:ext>
                </a:extLst>
              </a:tr>
              <a:tr h="370840">
                <a:tc>
                  <a:txBody>
                    <a:bodyPr/>
                    <a:lstStyle/>
                    <a:p>
                      <a:r>
                        <a:rPr lang="en-US"/>
                        <a:t>Early Phase COO</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gradFill>
                      <a:gsLst>
                        <a:gs pos="44000">
                          <a:schemeClr val="accent1">
                            <a:tint val="20000"/>
                            <a:shade val="30000"/>
                            <a:satMod val="115000"/>
                          </a:schemeClr>
                        </a:gs>
                        <a:gs pos="68000">
                          <a:schemeClr val="accent1">
                            <a:tint val="20000"/>
                            <a:shade val="67500"/>
                            <a:satMod val="115000"/>
                          </a:schemeClr>
                        </a:gs>
                        <a:gs pos="100000">
                          <a:srgbClr val="CFD5EA"/>
                        </a:gs>
                      </a:gsLst>
                      <a:lin ang="13500000" scaled="1"/>
                    </a:gradFill>
                  </a:tcPr>
                </a:tc>
                <a:extLst>
                  <a:ext uri="{0D108BD9-81ED-4DB2-BD59-A6C34878D82A}">
                    <a16:rowId xmlns:a16="http://schemas.microsoft.com/office/drawing/2014/main" val="3340414573"/>
                  </a:ext>
                </a:extLst>
              </a:tr>
            </a:tbl>
          </a:graphicData>
        </a:graphic>
      </p:graphicFrame>
      <p:sp>
        <p:nvSpPr>
          <p:cNvPr id="4" name="Isosceles Triangle 3">
            <a:extLst>
              <a:ext uri="{FF2B5EF4-FFF2-40B4-BE49-F238E27FC236}">
                <a16:creationId xmlns:a16="http://schemas.microsoft.com/office/drawing/2014/main" id="{79129C6F-CB53-FC18-912E-B0DD8889363E}"/>
              </a:ext>
            </a:extLst>
          </p:cNvPr>
          <p:cNvSpPr/>
          <p:nvPr/>
        </p:nvSpPr>
        <p:spPr>
          <a:xfrm rot="10800000">
            <a:off x="3969385" y="2790658"/>
            <a:ext cx="428425" cy="3693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B60DE821-B2BE-71B1-21BB-EBCB7E68B104}"/>
              </a:ext>
            </a:extLst>
          </p:cNvPr>
          <p:cNvSpPr txBox="1"/>
          <p:nvPr/>
        </p:nvSpPr>
        <p:spPr>
          <a:xfrm>
            <a:off x="3527616" y="2449033"/>
            <a:ext cx="1311962"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Target Entry</a:t>
            </a:r>
          </a:p>
        </p:txBody>
      </p:sp>
      <p:sp>
        <p:nvSpPr>
          <p:cNvPr id="6" name="Isosceles Triangle 5">
            <a:extLst>
              <a:ext uri="{FF2B5EF4-FFF2-40B4-BE49-F238E27FC236}">
                <a16:creationId xmlns:a16="http://schemas.microsoft.com/office/drawing/2014/main" id="{73E24CB6-0BD3-0EA0-E73F-C5A1B47B18C6}"/>
              </a:ext>
            </a:extLst>
          </p:cNvPr>
          <p:cNvSpPr/>
          <p:nvPr/>
        </p:nvSpPr>
        <p:spPr>
          <a:xfrm rot="10800000">
            <a:off x="2150110" y="2790658"/>
            <a:ext cx="428425" cy="3693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57AFFF49-BC3E-A4FA-9063-54512AE2293A}"/>
              </a:ext>
            </a:extLst>
          </p:cNvPr>
          <p:cNvSpPr txBox="1"/>
          <p:nvPr/>
        </p:nvSpPr>
        <p:spPr>
          <a:xfrm>
            <a:off x="1470907" y="2449033"/>
            <a:ext cx="178683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Target of Interest</a:t>
            </a:r>
          </a:p>
        </p:txBody>
      </p:sp>
      <p:sp>
        <p:nvSpPr>
          <p:cNvPr id="8" name="Isosceles Triangle 7">
            <a:extLst>
              <a:ext uri="{FF2B5EF4-FFF2-40B4-BE49-F238E27FC236}">
                <a16:creationId xmlns:a16="http://schemas.microsoft.com/office/drawing/2014/main" id="{F5C337C3-41BF-7F52-490C-DC684617AA00}"/>
              </a:ext>
            </a:extLst>
          </p:cNvPr>
          <p:cNvSpPr/>
          <p:nvPr/>
        </p:nvSpPr>
        <p:spPr>
          <a:xfrm rot="10800000">
            <a:off x="7636510" y="2790658"/>
            <a:ext cx="428425" cy="3693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49159C1B-D4E8-172D-D2F8-5D7270BC3957}"/>
              </a:ext>
            </a:extLst>
          </p:cNvPr>
          <p:cNvSpPr txBox="1"/>
          <p:nvPr/>
        </p:nvSpPr>
        <p:spPr>
          <a:xfrm>
            <a:off x="7080739" y="2449033"/>
            <a:ext cx="153997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Portfolio Entry</a:t>
            </a:r>
          </a:p>
        </p:txBody>
      </p:sp>
      <p:sp>
        <p:nvSpPr>
          <p:cNvPr id="10" name="Isosceles Triangle 9">
            <a:extLst>
              <a:ext uri="{FF2B5EF4-FFF2-40B4-BE49-F238E27FC236}">
                <a16:creationId xmlns:a16="http://schemas.microsoft.com/office/drawing/2014/main" id="{433F410D-2DD3-CDA3-A745-FB0D917020B0}"/>
              </a:ext>
            </a:extLst>
          </p:cNvPr>
          <p:cNvSpPr/>
          <p:nvPr/>
        </p:nvSpPr>
        <p:spPr>
          <a:xfrm rot="10800000">
            <a:off x="9457988" y="2790658"/>
            <a:ext cx="428425" cy="3693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ECDD7A61-81B8-6CE0-C14B-38310F666031}"/>
              </a:ext>
            </a:extLst>
          </p:cNvPr>
          <p:cNvSpPr txBox="1"/>
          <p:nvPr/>
        </p:nvSpPr>
        <p:spPr>
          <a:xfrm>
            <a:off x="8956979" y="2172034"/>
            <a:ext cx="143045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Candidate</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Identification</a:t>
            </a:r>
          </a:p>
        </p:txBody>
      </p:sp>
      <p:sp>
        <p:nvSpPr>
          <p:cNvPr id="12" name="Isosceles Triangle 11">
            <a:extLst>
              <a:ext uri="{FF2B5EF4-FFF2-40B4-BE49-F238E27FC236}">
                <a16:creationId xmlns:a16="http://schemas.microsoft.com/office/drawing/2014/main" id="{1D1EDF99-D8D9-E623-C39B-07FF69E5F597}"/>
              </a:ext>
            </a:extLst>
          </p:cNvPr>
          <p:cNvSpPr/>
          <p:nvPr/>
        </p:nvSpPr>
        <p:spPr>
          <a:xfrm rot="10800000">
            <a:off x="11275260" y="2790658"/>
            <a:ext cx="428425" cy="3693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808F1B5E-0563-7656-66ED-EA6200A70705}"/>
              </a:ext>
            </a:extLst>
          </p:cNvPr>
          <p:cNvSpPr txBox="1"/>
          <p:nvPr/>
        </p:nvSpPr>
        <p:spPr>
          <a:xfrm>
            <a:off x="10921759" y="2172034"/>
            <a:ext cx="113543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Candidate</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Selection</a:t>
            </a:r>
          </a:p>
        </p:txBody>
      </p:sp>
      <p:sp>
        <p:nvSpPr>
          <p:cNvPr id="17" name="TextBox 16">
            <a:extLst>
              <a:ext uri="{FF2B5EF4-FFF2-40B4-BE49-F238E27FC236}">
                <a16:creationId xmlns:a16="http://schemas.microsoft.com/office/drawing/2014/main" id="{54EE7B26-CBF7-E1AC-29CE-EC1607977384}"/>
              </a:ext>
            </a:extLst>
          </p:cNvPr>
          <p:cNvSpPr txBox="1"/>
          <p:nvPr/>
        </p:nvSpPr>
        <p:spPr>
          <a:xfrm>
            <a:off x="1243584" y="5355815"/>
            <a:ext cx="9678175" cy="71508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sng" strike="noStrike" kern="1200" cap="none" spc="0" normalizeH="0" baseline="0" noProof="0">
                <a:ln>
                  <a:noFill/>
                </a:ln>
                <a:solidFill>
                  <a:prstClr val="white"/>
                </a:solidFill>
                <a:effectLst/>
                <a:uLnTx/>
                <a:uFillTx/>
                <a:latin typeface="Calibri" panose="020F0502020204030204"/>
                <a:ea typeface="+mn-ea"/>
                <a:cs typeface="+mn-cs"/>
              </a:rPr>
              <a:t>Around CI</a:t>
            </a: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   </a:t>
            </a: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Project transfers from Discovery PPM to Early Phase PPM and begins transition from Discovery COO to Early Phase COO</a:t>
            </a:r>
          </a:p>
        </p:txBody>
      </p:sp>
    </p:spTree>
    <p:extLst>
      <p:ext uri="{BB962C8B-B14F-4D97-AF65-F5344CB8AC3E}">
        <p14:creationId xmlns:p14="http://schemas.microsoft.com/office/powerpoint/2010/main" val="4252563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7CDE7F6-433E-1EA2-F4F4-9E5D169B615D}"/>
              </a:ext>
            </a:extLst>
          </p:cNvPr>
          <p:cNvSpPr>
            <a:spLocks noGrp="1"/>
          </p:cNvSpPr>
          <p:nvPr>
            <p:ph type="title"/>
          </p:nvPr>
        </p:nvSpPr>
        <p:spPr/>
        <p:txBody>
          <a:bodyPr>
            <a:normAutofit/>
          </a:bodyPr>
          <a:lstStyle/>
          <a:p>
            <a:r>
              <a:rPr lang="en-US" sz="4000" b="1"/>
              <a:t>Pre-Portfolio to Portfolio Entry (PE)</a:t>
            </a:r>
          </a:p>
        </p:txBody>
      </p:sp>
      <p:sp>
        <p:nvSpPr>
          <p:cNvPr id="3" name="Date Placeholder 2">
            <a:extLst>
              <a:ext uri="{FF2B5EF4-FFF2-40B4-BE49-F238E27FC236}">
                <a16:creationId xmlns:a16="http://schemas.microsoft.com/office/drawing/2014/main" id="{6CA15F40-3589-D546-6254-87FE32362979}"/>
              </a:ext>
            </a:extLst>
          </p:cNvPr>
          <p:cNvSpPr>
            <a:spLocks noGrp="1"/>
          </p:cNvSpPr>
          <p:nvPr>
            <p:ph type="dt" sz="half" idx="4294967295"/>
          </p:nvPr>
        </p:nvSpPr>
        <p:spPr>
          <a:xfrm>
            <a:off x="1524000" y="6356351"/>
            <a:ext cx="2133600" cy="365125"/>
          </a:xfrm>
        </p:spPr>
        <p:txBody>
          <a:bodyPr/>
          <a:lstStyle/>
          <a:p>
            <a:fld id="{63E5B9EF-4CB0-44EC-8E33-599E52A6232F}" type="datetime1">
              <a:rPr lang="en-US" smtClean="0"/>
              <a:pPr/>
              <a:t>9/1/2026</a:t>
            </a:fld>
            <a:endParaRPr lang="en-US"/>
          </a:p>
        </p:txBody>
      </p:sp>
      <p:sp>
        <p:nvSpPr>
          <p:cNvPr id="4" name="Footer Placeholder 3">
            <a:extLst>
              <a:ext uri="{FF2B5EF4-FFF2-40B4-BE49-F238E27FC236}">
                <a16:creationId xmlns:a16="http://schemas.microsoft.com/office/drawing/2014/main" id="{FEA93A57-960E-1502-42C2-52B26496A3CF}"/>
              </a:ext>
            </a:extLst>
          </p:cNvPr>
          <p:cNvSpPr>
            <a:spLocks noGrp="1"/>
          </p:cNvSpPr>
          <p:nvPr>
            <p:ph type="ftr" sz="quarter" idx="4294967295"/>
          </p:nvPr>
        </p:nvSpPr>
        <p:spPr>
          <a:xfrm>
            <a:off x="1524000" y="6356351"/>
            <a:ext cx="2895600" cy="365125"/>
          </a:xfrm>
        </p:spPr>
        <p:txBody>
          <a:bodyPr/>
          <a:lstStyle/>
          <a:p>
            <a:r>
              <a:rPr lang="en-US"/>
              <a:t>Company Confidential  ©2021 Eli Lilly and Company </a:t>
            </a:r>
          </a:p>
        </p:txBody>
      </p:sp>
      <p:sp>
        <p:nvSpPr>
          <p:cNvPr id="2" name="TextBox 1">
            <a:extLst>
              <a:ext uri="{FF2B5EF4-FFF2-40B4-BE49-F238E27FC236}">
                <a16:creationId xmlns:a16="http://schemas.microsoft.com/office/drawing/2014/main" id="{F2B8B55B-F9CB-80E8-D21C-E7A77A3BFCA5}"/>
              </a:ext>
            </a:extLst>
          </p:cNvPr>
          <p:cNvSpPr txBox="1"/>
          <p:nvPr/>
        </p:nvSpPr>
        <p:spPr>
          <a:xfrm>
            <a:off x="1363579" y="4475747"/>
            <a:ext cx="6481010" cy="584775"/>
          </a:xfrm>
          <a:prstGeom prst="rect">
            <a:avLst/>
          </a:prstGeom>
          <a:noFill/>
        </p:spPr>
        <p:txBody>
          <a:bodyPr wrap="square" rtlCol="0">
            <a:spAutoFit/>
          </a:bodyPr>
          <a:lstStyle/>
          <a:p>
            <a:r>
              <a:rPr lang="en-US" sz="3200">
                <a:solidFill>
                  <a:schemeClr val="bg1"/>
                </a:solidFill>
              </a:rPr>
              <a:t>PE preparation, Budgets, Timelines</a:t>
            </a:r>
          </a:p>
        </p:txBody>
      </p:sp>
    </p:spTree>
    <p:extLst>
      <p:ext uri="{BB962C8B-B14F-4D97-AF65-F5344CB8AC3E}">
        <p14:creationId xmlns:p14="http://schemas.microsoft.com/office/powerpoint/2010/main" val="3729384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extBox 59">
            <a:extLst>
              <a:ext uri="{FF2B5EF4-FFF2-40B4-BE49-F238E27FC236}">
                <a16:creationId xmlns:a16="http://schemas.microsoft.com/office/drawing/2014/main" id="{5ADF3BB8-5D90-4054-B729-87349476F2D8}"/>
              </a:ext>
            </a:extLst>
          </p:cNvPr>
          <p:cNvSpPr txBox="1"/>
          <p:nvPr/>
        </p:nvSpPr>
        <p:spPr>
          <a:xfrm>
            <a:off x="227484" y="83698"/>
            <a:ext cx="11584983" cy="605230"/>
          </a:xfrm>
          <a:prstGeom prst="rect">
            <a:avLst/>
          </a:prstGeom>
          <a:noFill/>
        </p:spPr>
        <p:txBody>
          <a:bodyPr wrap="square" rtlCol="0">
            <a:spAutoFit/>
          </a:bodyPr>
          <a:lstStyle/>
          <a:p>
            <a:pPr marL="0" marR="0" lvl="0" indent="0" algn="l" defTabSz="544237" rtl="0" eaLnBrk="1" fontAlgn="base" latinLnBrk="0" hangingPunct="1">
              <a:lnSpc>
                <a:spcPct val="100000"/>
              </a:lnSpc>
              <a:spcBef>
                <a:spcPct val="0"/>
              </a:spcBef>
              <a:spcAft>
                <a:spcPct val="0"/>
              </a:spcAft>
              <a:buClrTx/>
              <a:buSzTx/>
              <a:buFontTx/>
              <a:buNone/>
              <a:tabLst/>
              <a:defRPr/>
            </a:pPr>
            <a:r>
              <a:rPr kumimoji="0" lang="en-US" sz="3333" b="0" i="0" u="none" strike="noStrike" kern="1200" cap="none" spc="0" normalizeH="0" baseline="0" noProof="0">
                <a:ln>
                  <a:noFill/>
                </a:ln>
                <a:solidFill>
                  <a:prstClr val="white"/>
                </a:solidFill>
                <a:effectLst/>
                <a:uLnTx/>
                <a:uFillTx/>
                <a:latin typeface="Arial" charset="0"/>
                <a:ea typeface="ＭＳ Ｐゴシック" charset="0"/>
                <a:cs typeface="+mn-cs"/>
              </a:rPr>
              <a:t>Drug Development Teams – Discovery is Different</a:t>
            </a:r>
          </a:p>
        </p:txBody>
      </p:sp>
      <p:sp>
        <p:nvSpPr>
          <p:cNvPr id="9" name="Line 39">
            <a:extLst>
              <a:ext uri="{FF2B5EF4-FFF2-40B4-BE49-F238E27FC236}">
                <a16:creationId xmlns:a16="http://schemas.microsoft.com/office/drawing/2014/main" id="{BC81CDEF-09B0-F4CA-0F0E-23E5E76FB725}"/>
              </a:ext>
            </a:extLst>
          </p:cNvPr>
          <p:cNvSpPr>
            <a:spLocks noChangeShapeType="1"/>
          </p:cNvSpPr>
          <p:nvPr/>
        </p:nvSpPr>
        <p:spPr bwMode="auto">
          <a:xfrm>
            <a:off x="8447708" y="4275582"/>
            <a:ext cx="821705" cy="599626"/>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grpSp>
        <p:nvGrpSpPr>
          <p:cNvPr id="4" name="Group 3">
            <a:extLst>
              <a:ext uri="{FF2B5EF4-FFF2-40B4-BE49-F238E27FC236}">
                <a16:creationId xmlns:a16="http://schemas.microsoft.com/office/drawing/2014/main" id="{29B0890F-1006-94CC-90F5-A23DF9E80CD0}"/>
              </a:ext>
            </a:extLst>
          </p:cNvPr>
          <p:cNvGrpSpPr/>
          <p:nvPr/>
        </p:nvGrpSpPr>
        <p:grpSpPr>
          <a:xfrm>
            <a:off x="688153" y="3299508"/>
            <a:ext cx="4538077" cy="2921647"/>
            <a:chOff x="334754" y="4869809"/>
            <a:chExt cx="3056598" cy="1944825"/>
          </a:xfrm>
        </p:grpSpPr>
        <p:sp>
          <p:nvSpPr>
            <p:cNvPr id="6" name="Oval 5">
              <a:extLst>
                <a:ext uri="{FF2B5EF4-FFF2-40B4-BE49-F238E27FC236}">
                  <a16:creationId xmlns:a16="http://schemas.microsoft.com/office/drawing/2014/main" id="{59843AB6-2F5E-4FF5-7804-556D5C0451E8}"/>
                </a:ext>
              </a:extLst>
            </p:cNvPr>
            <p:cNvSpPr/>
            <p:nvPr/>
          </p:nvSpPr>
          <p:spPr>
            <a:xfrm>
              <a:off x="334754" y="4871014"/>
              <a:ext cx="2873417" cy="1943620"/>
            </a:xfrm>
            <a:prstGeom prst="ellipse">
              <a:avLst/>
            </a:prstGeom>
            <a:solidFill>
              <a:schemeClr val="bg1">
                <a:lumMod val="65000"/>
              </a:schemeClr>
            </a:solidFill>
            <a:ln w="190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 name="Oval 8">
              <a:extLst>
                <a:ext uri="{FF2B5EF4-FFF2-40B4-BE49-F238E27FC236}">
                  <a16:creationId xmlns:a16="http://schemas.microsoft.com/office/drawing/2014/main" id="{5CBE8D38-D924-313C-C877-2DD9C6CF5C4B}"/>
                </a:ext>
              </a:extLst>
            </p:cNvPr>
            <p:cNvSpPr>
              <a:spLocks noChangeArrowheads="1"/>
            </p:cNvSpPr>
            <p:nvPr/>
          </p:nvSpPr>
          <p:spPr bwMode="auto">
            <a:xfrm>
              <a:off x="1082083" y="5477443"/>
              <a:ext cx="1384424" cy="756170"/>
            </a:xfrm>
            <a:prstGeom prst="ellipse">
              <a:avLst/>
            </a:prstGeom>
            <a:solidFill>
              <a:srgbClr val="FF9900"/>
            </a:solidFill>
            <a:ln w="25400">
              <a:solidFill>
                <a:schemeClr val="bg1"/>
              </a:solidFill>
              <a:round/>
              <a:headEnd/>
              <a:tailEnd/>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23" name="Rectangle 9">
              <a:extLst>
                <a:ext uri="{FF2B5EF4-FFF2-40B4-BE49-F238E27FC236}">
                  <a16:creationId xmlns:a16="http://schemas.microsoft.com/office/drawing/2014/main" id="{FE32F439-B4A3-DCD8-4C69-8DDD24AE8BDD}"/>
                </a:ext>
              </a:extLst>
            </p:cNvPr>
            <p:cNvSpPr>
              <a:spLocks noChangeArrowheads="1"/>
            </p:cNvSpPr>
            <p:nvPr/>
          </p:nvSpPr>
          <p:spPr bwMode="auto">
            <a:xfrm>
              <a:off x="1041149" y="5690825"/>
              <a:ext cx="1431925" cy="566737"/>
            </a:xfrm>
            <a:prstGeom prst="rect">
              <a:avLst/>
            </a:prstGeom>
            <a:noFill/>
            <a:ln w="9525">
              <a:noFill/>
              <a:miter lim="800000"/>
              <a:headEnd/>
              <a:tailEnd/>
            </a:ln>
            <a:effectLst/>
          </p:spPr>
          <p:txBody>
            <a:bodyPr wrap="square" lIns="92075" tIns="46038" rIns="92075" bIns="46038">
              <a:spAutoFit/>
            </a:bodyPr>
            <a:lstStyle/>
            <a:p>
              <a:pPr marL="0" marR="0" lvl="0" indent="0" algn="ctr" defTabSz="914400" rtl="0" eaLnBrk="0" fontAlgn="auto" latinLnBrk="0" hangingPunct="0">
                <a:lnSpc>
                  <a:spcPct val="85000"/>
                </a:lnSpc>
                <a:spcBef>
                  <a:spcPct val="50000"/>
                </a:spcBef>
                <a:spcAft>
                  <a:spcPts val="0"/>
                </a:spcAft>
                <a:buClrTx/>
                <a:buSzTx/>
                <a:buFontTx/>
                <a:buNone/>
                <a:tabLst/>
                <a:defRPr/>
              </a:pPr>
              <a:r>
                <a:rPr lang="en-US" sz="1400" b="1">
                  <a:solidFill>
                    <a:srgbClr val="000000"/>
                  </a:solidFill>
                  <a:latin typeface="Arial"/>
                </a:rPr>
                <a:t>COO    PPM</a:t>
              </a:r>
            </a:p>
            <a:p>
              <a:pPr marL="0" marR="0" lvl="0" indent="0" algn="ctr" defTabSz="914400" rtl="0" eaLnBrk="0" fontAlgn="auto" latinLnBrk="0" hangingPunct="0">
                <a:lnSpc>
                  <a:spcPct val="85000"/>
                </a:lnSpc>
                <a:spcBef>
                  <a:spcPct val="5000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MIH     </a:t>
              </a:r>
              <a:r>
                <a:rPr lang="en-US" sz="1400" b="1">
                  <a:solidFill>
                    <a:srgbClr val="000000"/>
                  </a:solidFill>
                  <a:latin typeface="Arial"/>
                </a:rPr>
                <a:t>STL</a:t>
              </a:r>
            </a:p>
          </p:txBody>
        </p:sp>
        <p:sp>
          <p:nvSpPr>
            <p:cNvPr id="124" name="Line 40">
              <a:extLst>
                <a:ext uri="{FF2B5EF4-FFF2-40B4-BE49-F238E27FC236}">
                  <a16:creationId xmlns:a16="http://schemas.microsoft.com/office/drawing/2014/main" id="{CAA05273-C5D1-E2DA-7DE1-7A605A49FAB9}"/>
                </a:ext>
              </a:extLst>
            </p:cNvPr>
            <p:cNvSpPr>
              <a:spLocks noChangeShapeType="1"/>
            </p:cNvSpPr>
            <p:nvPr/>
          </p:nvSpPr>
          <p:spPr bwMode="auto">
            <a:xfrm flipH="1">
              <a:off x="1491417" y="6249346"/>
              <a:ext cx="172462" cy="524956"/>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25" name="Line 40">
              <a:extLst>
                <a:ext uri="{FF2B5EF4-FFF2-40B4-BE49-F238E27FC236}">
                  <a16:creationId xmlns:a16="http://schemas.microsoft.com/office/drawing/2014/main" id="{6BD3DA3D-3B4E-59B2-DC4A-EBCC09C524A7}"/>
                </a:ext>
              </a:extLst>
            </p:cNvPr>
            <p:cNvSpPr>
              <a:spLocks noChangeShapeType="1"/>
            </p:cNvSpPr>
            <p:nvPr/>
          </p:nvSpPr>
          <p:spPr bwMode="auto">
            <a:xfrm>
              <a:off x="414074" y="5557643"/>
              <a:ext cx="666862" cy="237402"/>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26" name="Line 40">
              <a:extLst>
                <a:ext uri="{FF2B5EF4-FFF2-40B4-BE49-F238E27FC236}">
                  <a16:creationId xmlns:a16="http://schemas.microsoft.com/office/drawing/2014/main" id="{5231B1AB-1F3E-9B65-0B3E-15813713F35E}"/>
                </a:ext>
              </a:extLst>
            </p:cNvPr>
            <p:cNvSpPr>
              <a:spLocks noChangeShapeType="1"/>
            </p:cNvSpPr>
            <p:nvPr/>
          </p:nvSpPr>
          <p:spPr bwMode="auto">
            <a:xfrm>
              <a:off x="775795" y="5155559"/>
              <a:ext cx="458008" cy="442606"/>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27" name="TextBox 126">
              <a:extLst>
                <a:ext uri="{FF2B5EF4-FFF2-40B4-BE49-F238E27FC236}">
                  <a16:creationId xmlns:a16="http://schemas.microsoft.com/office/drawing/2014/main" id="{527748EF-6E77-686E-A526-2C84C003FB6F}"/>
                </a:ext>
              </a:extLst>
            </p:cNvPr>
            <p:cNvSpPr txBox="1"/>
            <p:nvPr/>
          </p:nvSpPr>
          <p:spPr>
            <a:xfrm>
              <a:off x="609824" y="5352439"/>
              <a:ext cx="698413" cy="184387"/>
            </a:xfrm>
            <a:prstGeom prst="rect">
              <a:avLst/>
            </a:prstGeom>
            <a:noFill/>
          </p:spPr>
          <p:txBody>
            <a:bodyPr wrap="square" rtlCol="0">
              <a:spAutoFit/>
            </a:bodyPr>
            <a:lstStyle/>
            <a:p>
              <a:r>
                <a:rPr lang="en-US" sz="1200"/>
                <a:t>NPP</a:t>
              </a:r>
            </a:p>
          </p:txBody>
        </p:sp>
        <p:sp>
          <p:nvSpPr>
            <p:cNvPr id="128" name="Line 40">
              <a:extLst>
                <a:ext uri="{FF2B5EF4-FFF2-40B4-BE49-F238E27FC236}">
                  <a16:creationId xmlns:a16="http://schemas.microsoft.com/office/drawing/2014/main" id="{9C9926E6-DE75-B763-BB87-4A267738B3C0}"/>
                </a:ext>
              </a:extLst>
            </p:cNvPr>
            <p:cNvSpPr>
              <a:spLocks noChangeShapeType="1"/>
            </p:cNvSpPr>
            <p:nvPr/>
          </p:nvSpPr>
          <p:spPr bwMode="auto">
            <a:xfrm>
              <a:off x="1957212" y="6233612"/>
              <a:ext cx="142901" cy="540689"/>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29" name="Line 40">
              <a:extLst>
                <a:ext uri="{FF2B5EF4-FFF2-40B4-BE49-F238E27FC236}">
                  <a16:creationId xmlns:a16="http://schemas.microsoft.com/office/drawing/2014/main" id="{7778715E-021E-BAEF-6F36-406843E20126}"/>
                </a:ext>
              </a:extLst>
            </p:cNvPr>
            <p:cNvSpPr>
              <a:spLocks noChangeShapeType="1"/>
            </p:cNvSpPr>
            <p:nvPr/>
          </p:nvSpPr>
          <p:spPr bwMode="auto">
            <a:xfrm flipH="1">
              <a:off x="440805" y="5951419"/>
              <a:ext cx="622193" cy="214933"/>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30" name="Line 40">
              <a:extLst>
                <a:ext uri="{FF2B5EF4-FFF2-40B4-BE49-F238E27FC236}">
                  <a16:creationId xmlns:a16="http://schemas.microsoft.com/office/drawing/2014/main" id="{BA6DCB22-2E0F-744D-BD24-9B6D2665E07F}"/>
                </a:ext>
              </a:extLst>
            </p:cNvPr>
            <p:cNvSpPr>
              <a:spLocks noChangeShapeType="1"/>
            </p:cNvSpPr>
            <p:nvPr/>
          </p:nvSpPr>
          <p:spPr bwMode="auto">
            <a:xfrm flipV="1">
              <a:off x="2070620" y="4956007"/>
              <a:ext cx="370709" cy="566737"/>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31" name="TextBox 130">
              <a:extLst>
                <a:ext uri="{FF2B5EF4-FFF2-40B4-BE49-F238E27FC236}">
                  <a16:creationId xmlns:a16="http://schemas.microsoft.com/office/drawing/2014/main" id="{264A3489-CE5D-4CDB-9116-307329115B0F}"/>
                </a:ext>
              </a:extLst>
            </p:cNvPr>
            <p:cNvSpPr txBox="1"/>
            <p:nvPr/>
          </p:nvSpPr>
          <p:spPr>
            <a:xfrm>
              <a:off x="1687754" y="4962161"/>
              <a:ext cx="648003" cy="307312"/>
            </a:xfrm>
            <a:prstGeom prst="rect">
              <a:avLst/>
            </a:prstGeom>
            <a:noFill/>
          </p:spPr>
          <p:txBody>
            <a:bodyPr wrap="square" rtlCol="0">
              <a:spAutoFit/>
            </a:bodyPr>
            <a:lstStyle/>
            <a:p>
              <a:r>
                <a:rPr lang="en-US" sz="1200"/>
                <a:t>Competitive Intel</a:t>
              </a:r>
            </a:p>
          </p:txBody>
        </p:sp>
        <p:sp>
          <p:nvSpPr>
            <p:cNvPr id="132" name="TextBox 131">
              <a:extLst>
                <a:ext uri="{FF2B5EF4-FFF2-40B4-BE49-F238E27FC236}">
                  <a16:creationId xmlns:a16="http://schemas.microsoft.com/office/drawing/2014/main" id="{DADBB96F-0B3C-DBE3-7256-D573BC5D9601}"/>
                </a:ext>
              </a:extLst>
            </p:cNvPr>
            <p:cNvSpPr txBox="1"/>
            <p:nvPr/>
          </p:nvSpPr>
          <p:spPr>
            <a:xfrm>
              <a:off x="351478" y="5691263"/>
              <a:ext cx="882325" cy="307312"/>
            </a:xfrm>
            <a:prstGeom prst="rect">
              <a:avLst/>
            </a:prstGeom>
            <a:noFill/>
          </p:spPr>
          <p:txBody>
            <a:bodyPr wrap="square" rtlCol="0">
              <a:spAutoFit/>
            </a:bodyPr>
            <a:lstStyle/>
            <a:p>
              <a:r>
                <a:rPr lang="en-US" sz="1200"/>
                <a:t>Decision</a:t>
              </a:r>
            </a:p>
            <a:p>
              <a:r>
                <a:rPr lang="en-US" sz="1200"/>
                <a:t> Sciences</a:t>
              </a:r>
            </a:p>
          </p:txBody>
        </p:sp>
        <p:sp>
          <p:nvSpPr>
            <p:cNvPr id="133" name="TextBox 132">
              <a:extLst>
                <a:ext uri="{FF2B5EF4-FFF2-40B4-BE49-F238E27FC236}">
                  <a16:creationId xmlns:a16="http://schemas.microsoft.com/office/drawing/2014/main" id="{9B9A1AE0-1A3E-B3DF-826B-46F9F3C38D21}"/>
                </a:ext>
              </a:extLst>
            </p:cNvPr>
            <p:cNvSpPr txBox="1"/>
            <p:nvPr/>
          </p:nvSpPr>
          <p:spPr>
            <a:xfrm>
              <a:off x="598015" y="6151170"/>
              <a:ext cx="422667" cy="184387"/>
            </a:xfrm>
            <a:prstGeom prst="rect">
              <a:avLst/>
            </a:prstGeom>
            <a:noFill/>
          </p:spPr>
          <p:txBody>
            <a:bodyPr wrap="square" rtlCol="0">
              <a:spAutoFit/>
            </a:bodyPr>
            <a:lstStyle/>
            <a:p>
              <a:r>
                <a:rPr lang="en-US" sz="1200"/>
                <a:t>Legal</a:t>
              </a:r>
            </a:p>
          </p:txBody>
        </p:sp>
        <p:sp>
          <p:nvSpPr>
            <p:cNvPr id="134" name="TextBox 133">
              <a:extLst>
                <a:ext uri="{FF2B5EF4-FFF2-40B4-BE49-F238E27FC236}">
                  <a16:creationId xmlns:a16="http://schemas.microsoft.com/office/drawing/2014/main" id="{E8B14560-1639-0E9E-2F34-43573CF1D478}"/>
                </a:ext>
              </a:extLst>
            </p:cNvPr>
            <p:cNvSpPr txBox="1"/>
            <p:nvPr/>
          </p:nvSpPr>
          <p:spPr>
            <a:xfrm>
              <a:off x="1614289" y="6407597"/>
              <a:ext cx="501987" cy="307312"/>
            </a:xfrm>
            <a:prstGeom prst="rect">
              <a:avLst/>
            </a:prstGeom>
            <a:noFill/>
          </p:spPr>
          <p:txBody>
            <a:bodyPr wrap="square" rtlCol="0">
              <a:spAutoFit/>
            </a:bodyPr>
            <a:lstStyle/>
            <a:p>
              <a:r>
                <a:rPr lang="en-US" sz="1200" dirty="0"/>
                <a:t>Alliance</a:t>
              </a:r>
            </a:p>
            <a:p>
              <a:r>
                <a:rPr lang="en-US" sz="1200" dirty="0"/>
                <a:t> </a:t>
              </a:r>
              <a:r>
                <a:rPr lang="en-US" sz="1200" dirty="0" err="1"/>
                <a:t>Mgmt</a:t>
              </a:r>
              <a:endParaRPr lang="en-US" sz="1200" dirty="0"/>
            </a:p>
          </p:txBody>
        </p:sp>
        <p:sp>
          <p:nvSpPr>
            <p:cNvPr id="135" name="TextBox 134">
              <a:extLst>
                <a:ext uri="{FF2B5EF4-FFF2-40B4-BE49-F238E27FC236}">
                  <a16:creationId xmlns:a16="http://schemas.microsoft.com/office/drawing/2014/main" id="{D3EEA4EE-36FE-9096-358E-4F2F0C4825A9}"/>
                </a:ext>
              </a:extLst>
            </p:cNvPr>
            <p:cNvSpPr txBox="1"/>
            <p:nvPr/>
          </p:nvSpPr>
          <p:spPr>
            <a:xfrm>
              <a:off x="2345095" y="5173463"/>
              <a:ext cx="646981" cy="276999"/>
            </a:xfrm>
            <a:prstGeom prst="rect">
              <a:avLst/>
            </a:prstGeom>
            <a:noFill/>
          </p:spPr>
          <p:txBody>
            <a:bodyPr wrap="square" rtlCol="0">
              <a:spAutoFit/>
            </a:bodyPr>
            <a:lstStyle/>
            <a:p>
              <a:r>
                <a:rPr lang="en-US" sz="1200"/>
                <a:t>ADME</a:t>
              </a:r>
            </a:p>
          </p:txBody>
        </p:sp>
        <p:sp>
          <p:nvSpPr>
            <p:cNvPr id="136" name="TextBox 135">
              <a:extLst>
                <a:ext uri="{FF2B5EF4-FFF2-40B4-BE49-F238E27FC236}">
                  <a16:creationId xmlns:a16="http://schemas.microsoft.com/office/drawing/2014/main" id="{7738C1F9-0E6A-0878-75C5-451B2579B405}"/>
                </a:ext>
              </a:extLst>
            </p:cNvPr>
            <p:cNvSpPr txBox="1"/>
            <p:nvPr/>
          </p:nvSpPr>
          <p:spPr>
            <a:xfrm>
              <a:off x="2744371" y="5508629"/>
              <a:ext cx="646981" cy="276999"/>
            </a:xfrm>
            <a:prstGeom prst="rect">
              <a:avLst/>
            </a:prstGeom>
            <a:noFill/>
          </p:spPr>
          <p:txBody>
            <a:bodyPr wrap="square" rtlCol="0">
              <a:spAutoFit/>
            </a:bodyPr>
            <a:lstStyle/>
            <a:p>
              <a:r>
                <a:rPr lang="en-US" sz="1200"/>
                <a:t>Tox</a:t>
              </a:r>
            </a:p>
          </p:txBody>
        </p:sp>
        <p:sp>
          <p:nvSpPr>
            <p:cNvPr id="137" name="Line 40">
              <a:extLst>
                <a:ext uri="{FF2B5EF4-FFF2-40B4-BE49-F238E27FC236}">
                  <a16:creationId xmlns:a16="http://schemas.microsoft.com/office/drawing/2014/main" id="{C3DC361E-C48D-59DD-1C52-BD2B2B8CCE20}"/>
                </a:ext>
              </a:extLst>
            </p:cNvPr>
            <p:cNvSpPr>
              <a:spLocks noChangeShapeType="1"/>
            </p:cNvSpPr>
            <p:nvPr/>
          </p:nvSpPr>
          <p:spPr bwMode="auto">
            <a:xfrm flipV="1">
              <a:off x="2343420" y="5289073"/>
              <a:ext cx="595346" cy="309092"/>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38" name="Line 40">
              <a:extLst>
                <a:ext uri="{FF2B5EF4-FFF2-40B4-BE49-F238E27FC236}">
                  <a16:creationId xmlns:a16="http://schemas.microsoft.com/office/drawing/2014/main" id="{0A3F59E5-7A9E-6F93-6639-6F7393DABF6A}"/>
                </a:ext>
              </a:extLst>
            </p:cNvPr>
            <p:cNvSpPr>
              <a:spLocks noChangeShapeType="1"/>
            </p:cNvSpPr>
            <p:nvPr/>
          </p:nvSpPr>
          <p:spPr bwMode="auto">
            <a:xfrm>
              <a:off x="2485592" y="5821538"/>
              <a:ext cx="739303" cy="16683"/>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39" name="TextBox 138">
              <a:extLst>
                <a:ext uri="{FF2B5EF4-FFF2-40B4-BE49-F238E27FC236}">
                  <a16:creationId xmlns:a16="http://schemas.microsoft.com/office/drawing/2014/main" id="{8F06F301-9AA2-AFBD-C7A5-8894FF32CEF9}"/>
                </a:ext>
              </a:extLst>
            </p:cNvPr>
            <p:cNvSpPr txBox="1"/>
            <p:nvPr/>
          </p:nvSpPr>
          <p:spPr>
            <a:xfrm>
              <a:off x="2047219" y="6432059"/>
              <a:ext cx="819328" cy="276999"/>
            </a:xfrm>
            <a:prstGeom prst="rect">
              <a:avLst/>
            </a:prstGeom>
            <a:noFill/>
          </p:spPr>
          <p:txBody>
            <a:bodyPr wrap="square" rtlCol="0">
              <a:spAutoFit/>
            </a:bodyPr>
            <a:lstStyle/>
            <a:p>
              <a:r>
                <a:rPr lang="en-US" sz="1200"/>
                <a:t>Clinical</a:t>
              </a:r>
            </a:p>
          </p:txBody>
        </p:sp>
        <p:sp>
          <p:nvSpPr>
            <p:cNvPr id="140" name="TextBox 139">
              <a:extLst>
                <a:ext uri="{FF2B5EF4-FFF2-40B4-BE49-F238E27FC236}">
                  <a16:creationId xmlns:a16="http://schemas.microsoft.com/office/drawing/2014/main" id="{03C13465-8C4C-80C8-DB7E-D03D290C096A}"/>
                </a:ext>
              </a:extLst>
            </p:cNvPr>
            <p:cNvSpPr txBox="1"/>
            <p:nvPr/>
          </p:nvSpPr>
          <p:spPr>
            <a:xfrm>
              <a:off x="2315688" y="6277996"/>
              <a:ext cx="819328" cy="276999"/>
            </a:xfrm>
            <a:prstGeom prst="rect">
              <a:avLst/>
            </a:prstGeom>
            <a:noFill/>
          </p:spPr>
          <p:txBody>
            <a:bodyPr wrap="square" rtlCol="0">
              <a:spAutoFit/>
            </a:bodyPr>
            <a:lstStyle/>
            <a:p>
              <a:r>
                <a:rPr lang="en-US" sz="1200"/>
                <a:t>Finance</a:t>
              </a:r>
            </a:p>
          </p:txBody>
        </p:sp>
        <p:sp>
          <p:nvSpPr>
            <p:cNvPr id="141" name="Line 40">
              <a:extLst>
                <a:ext uri="{FF2B5EF4-FFF2-40B4-BE49-F238E27FC236}">
                  <a16:creationId xmlns:a16="http://schemas.microsoft.com/office/drawing/2014/main" id="{AD9A0AD8-C92D-61B2-960E-13ACC54810FE}"/>
                </a:ext>
              </a:extLst>
            </p:cNvPr>
            <p:cNvSpPr>
              <a:spLocks noChangeShapeType="1"/>
            </p:cNvSpPr>
            <p:nvPr/>
          </p:nvSpPr>
          <p:spPr bwMode="auto">
            <a:xfrm>
              <a:off x="2332975" y="6123933"/>
              <a:ext cx="684145" cy="182109"/>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52" name="Line 40">
              <a:extLst>
                <a:ext uri="{FF2B5EF4-FFF2-40B4-BE49-F238E27FC236}">
                  <a16:creationId xmlns:a16="http://schemas.microsoft.com/office/drawing/2014/main" id="{D115F653-599B-4430-C6B3-219AF04B4A3B}"/>
                </a:ext>
              </a:extLst>
            </p:cNvPr>
            <p:cNvSpPr>
              <a:spLocks noChangeShapeType="1"/>
            </p:cNvSpPr>
            <p:nvPr/>
          </p:nvSpPr>
          <p:spPr bwMode="auto">
            <a:xfrm>
              <a:off x="1491418" y="4869809"/>
              <a:ext cx="224107" cy="590277"/>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53" name="TextBox 152">
              <a:extLst>
                <a:ext uri="{FF2B5EF4-FFF2-40B4-BE49-F238E27FC236}">
                  <a16:creationId xmlns:a16="http://schemas.microsoft.com/office/drawing/2014/main" id="{AC50D16B-FC92-2C64-3631-25FC62216F70}"/>
                </a:ext>
              </a:extLst>
            </p:cNvPr>
            <p:cNvSpPr txBox="1"/>
            <p:nvPr/>
          </p:nvSpPr>
          <p:spPr>
            <a:xfrm>
              <a:off x="1007403" y="5020572"/>
              <a:ext cx="909240" cy="307312"/>
            </a:xfrm>
            <a:prstGeom prst="rect">
              <a:avLst/>
            </a:prstGeom>
            <a:noFill/>
          </p:spPr>
          <p:txBody>
            <a:bodyPr wrap="square" rtlCol="0">
              <a:spAutoFit/>
            </a:bodyPr>
            <a:lstStyle/>
            <a:p>
              <a:r>
                <a:rPr lang="en-US" sz="1200"/>
                <a:t>Discovery </a:t>
              </a:r>
            </a:p>
            <a:p>
              <a:r>
                <a:rPr lang="en-US" sz="1200"/>
                <a:t>(TA + MIH)</a:t>
              </a:r>
            </a:p>
          </p:txBody>
        </p:sp>
        <p:sp>
          <p:nvSpPr>
            <p:cNvPr id="154" name="Line 40">
              <a:extLst>
                <a:ext uri="{FF2B5EF4-FFF2-40B4-BE49-F238E27FC236}">
                  <a16:creationId xmlns:a16="http://schemas.microsoft.com/office/drawing/2014/main" id="{87539378-3F7F-7F24-2589-FA6AD2320B02}"/>
                </a:ext>
              </a:extLst>
            </p:cNvPr>
            <p:cNvSpPr>
              <a:spLocks noChangeShapeType="1"/>
            </p:cNvSpPr>
            <p:nvPr/>
          </p:nvSpPr>
          <p:spPr bwMode="auto">
            <a:xfrm flipH="1">
              <a:off x="843763" y="6106808"/>
              <a:ext cx="384376" cy="492208"/>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55" name="TextBox 154">
              <a:extLst>
                <a:ext uri="{FF2B5EF4-FFF2-40B4-BE49-F238E27FC236}">
                  <a16:creationId xmlns:a16="http://schemas.microsoft.com/office/drawing/2014/main" id="{75113CD7-5B54-0D0A-F99C-B513358F5F13}"/>
                </a:ext>
              </a:extLst>
            </p:cNvPr>
            <p:cNvSpPr txBox="1"/>
            <p:nvPr/>
          </p:nvSpPr>
          <p:spPr>
            <a:xfrm>
              <a:off x="1097794" y="6303523"/>
              <a:ext cx="533303" cy="430237"/>
            </a:xfrm>
            <a:prstGeom prst="rect">
              <a:avLst/>
            </a:prstGeom>
            <a:noFill/>
          </p:spPr>
          <p:txBody>
            <a:bodyPr wrap="square" rtlCol="0">
              <a:spAutoFit/>
            </a:bodyPr>
            <a:lstStyle/>
            <a:p>
              <a:r>
                <a:rPr lang="en-US" sz="1200"/>
                <a:t>PDPM (CMC PM)</a:t>
              </a:r>
            </a:p>
          </p:txBody>
        </p:sp>
      </p:grpSp>
      <p:sp>
        <p:nvSpPr>
          <p:cNvPr id="156" name="Line 12">
            <a:extLst>
              <a:ext uri="{FF2B5EF4-FFF2-40B4-BE49-F238E27FC236}">
                <a16:creationId xmlns:a16="http://schemas.microsoft.com/office/drawing/2014/main" id="{C951057D-A631-27AD-B31F-B25D222BAD69}"/>
              </a:ext>
            </a:extLst>
          </p:cNvPr>
          <p:cNvSpPr>
            <a:spLocks noChangeShapeType="1"/>
          </p:cNvSpPr>
          <p:nvPr/>
        </p:nvSpPr>
        <p:spPr bwMode="auto">
          <a:xfrm>
            <a:off x="8054840" y="4221481"/>
            <a:ext cx="228018" cy="757202"/>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161" name="Right Brace 160">
            <a:extLst>
              <a:ext uri="{FF2B5EF4-FFF2-40B4-BE49-F238E27FC236}">
                <a16:creationId xmlns:a16="http://schemas.microsoft.com/office/drawing/2014/main" id="{158C85F1-E2DD-B737-01C1-6A08FB1BB235}"/>
              </a:ext>
            </a:extLst>
          </p:cNvPr>
          <p:cNvSpPr/>
          <p:nvPr/>
        </p:nvSpPr>
        <p:spPr>
          <a:xfrm rot="5400000">
            <a:off x="2244474" y="557342"/>
            <a:ext cx="373547" cy="3486187"/>
          </a:xfrm>
          <a:prstGeom prst="rightBrace">
            <a:avLst>
              <a:gd name="adj1" fmla="val 88241"/>
              <a:gd name="adj2" fmla="val 50000"/>
            </a:avLst>
          </a:prstGeom>
          <a:ln/>
        </p:spPr>
        <p:style>
          <a:lnRef idx="3">
            <a:schemeClr val="accent3"/>
          </a:lnRef>
          <a:fillRef idx="0">
            <a:schemeClr val="accent3"/>
          </a:fillRef>
          <a:effectRef idx="2">
            <a:schemeClr val="accent3"/>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62" name="Rectangle 161">
            <a:extLst>
              <a:ext uri="{FF2B5EF4-FFF2-40B4-BE49-F238E27FC236}">
                <a16:creationId xmlns:a16="http://schemas.microsoft.com/office/drawing/2014/main" id="{0A9722D1-5929-E7F3-BFA5-36A76658E2E7}"/>
              </a:ext>
            </a:extLst>
          </p:cNvPr>
          <p:cNvSpPr/>
          <p:nvPr/>
        </p:nvSpPr>
        <p:spPr>
          <a:xfrm>
            <a:off x="1092267" y="2502522"/>
            <a:ext cx="2502456" cy="46166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ln w="0"/>
                <a:solidFill>
                  <a:srgbClr val="000000">
                    <a:lumMod val="50000"/>
                    <a:lumOff val="50000"/>
                  </a:srgbClr>
                </a:solidFill>
                <a:effectLst>
                  <a:outerShdw blurRad="38100" dist="25400" dir="5400000" algn="ctr" rotWithShape="0">
                    <a:srgbClr val="6E747A">
                      <a:alpha val="43000"/>
                    </a:srgbClr>
                  </a:outerShdw>
                </a:effectLst>
                <a:latin typeface="Arial"/>
              </a:rPr>
              <a:t>Discovery</a:t>
            </a:r>
            <a:r>
              <a:rPr kumimoji="0" lang="en-US" sz="2400" b="0" i="0" u="none" strike="noStrike" kern="1200" cap="none" spc="0" normalizeH="0" baseline="0" noProof="0">
                <a:ln w="0"/>
                <a:solidFill>
                  <a:srgbClr val="000000">
                    <a:lumMod val="50000"/>
                    <a:lumOff val="50000"/>
                  </a:srgbClr>
                </a:solidFill>
                <a:effectLst>
                  <a:outerShdw blurRad="38100" dist="25400" dir="5400000" algn="ctr" rotWithShape="0">
                    <a:srgbClr val="6E747A">
                      <a:alpha val="43000"/>
                    </a:srgbClr>
                  </a:outerShdw>
                </a:effectLst>
                <a:uLnTx/>
                <a:uFillTx/>
                <a:latin typeface="Arial"/>
                <a:ea typeface="+mn-ea"/>
                <a:cs typeface="+mn-cs"/>
              </a:rPr>
              <a:t> Phase</a:t>
            </a:r>
          </a:p>
        </p:txBody>
      </p:sp>
      <p:sp>
        <p:nvSpPr>
          <p:cNvPr id="5" name="TextBox 4">
            <a:extLst>
              <a:ext uri="{FF2B5EF4-FFF2-40B4-BE49-F238E27FC236}">
                <a16:creationId xmlns:a16="http://schemas.microsoft.com/office/drawing/2014/main" id="{6705324F-D79C-F783-9503-59117FF8332A}"/>
              </a:ext>
            </a:extLst>
          </p:cNvPr>
          <p:cNvSpPr txBox="1"/>
          <p:nvPr/>
        </p:nvSpPr>
        <p:spPr>
          <a:xfrm>
            <a:off x="5954571" y="1342781"/>
            <a:ext cx="5751521" cy="5447645"/>
          </a:xfrm>
          <a:prstGeom prst="rect">
            <a:avLst/>
          </a:prstGeom>
          <a:noFill/>
        </p:spPr>
        <p:txBody>
          <a:bodyPr wrap="square" rtlCol="0">
            <a:spAutoFit/>
          </a:bodyPr>
          <a:lstStyle/>
          <a:p>
            <a:pPr marL="285750" indent="-285750">
              <a:buFont typeface="Arial" panose="020B0604020202020204" pitchFamily="34" charset="0"/>
              <a:buChar char="•"/>
            </a:pPr>
            <a:r>
              <a:rPr lang="en-US" sz="2800" dirty="0"/>
              <a:t>In Discovery, teams have different functional partners from other phases of development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Sometimes added to teams for consultation:</a:t>
            </a:r>
          </a:p>
          <a:p>
            <a:pPr marL="742950" lvl="1" indent="-285750">
              <a:buFont typeface="Arial" panose="020B0604020202020204" pitchFamily="34" charset="0"/>
              <a:buChar char="•"/>
            </a:pPr>
            <a:r>
              <a:rPr lang="en-US" sz="2400" dirty="0"/>
              <a:t>Regulatory</a:t>
            </a:r>
          </a:p>
          <a:p>
            <a:pPr marL="742950" lvl="1" indent="-285750">
              <a:buFont typeface="Arial" panose="020B0604020202020204" pitchFamily="34" charset="0"/>
              <a:buChar char="•"/>
            </a:pPr>
            <a:r>
              <a:rPr lang="en-US" sz="2400" dirty="0"/>
              <a:t>EMP</a:t>
            </a:r>
          </a:p>
          <a:p>
            <a:pPr marL="742950" lvl="1" indent="-285750">
              <a:buFont typeface="Arial" panose="020B0604020202020204" pitchFamily="34" charset="0"/>
              <a:buChar char="•"/>
            </a:pPr>
            <a:r>
              <a:rPr lang="en-US" sz="2400" dirty="0"/>
              <a:t>Statistics</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Governance from PE to CI is your </a:t>
            </a:r>
            <a:r>
              <a:rPr lang="en-US" sz="2400" dirty="0" err="1"/>
              <a:t>BoD</a:t>
            </a:r>
            <a:r>
              <a:rPr lang="en-US" sz="2400" dirty="0"/>
              <a:t>, similar to Early Phase     </a:t>
            </a:r>
            <a:r>
              <a:rPr lang="en-US" sz="1400" dirty="0"/>
              <a:t>(possibly pending change)</a:t>
            </a:r>
            <a:endParaRPr lang="en-US" sz="2400" dirty="0"/>
          </a:p>
          <a:p>
            <a:pPr marL="742950" lvl="1" indent="-285750">
              <a:buFont typeface="Arial" panose="020B0604020202020204" pitchFamily="34" charset="0"/>
              <a:buChar char="•"/>
            </a:pPr>
            <a:endParaRPr lang="en-US" sz="2400" dirty="0"/>
          </a:p>
        </p:txBody>
      </p:sp>
      <p:grpSp>
        <p:nvGrpSpPr>
          <p:cNvPr id="51" name="Group 50">
            <a:extLst>
              <a:ext uri="{FF2B5EF4-FFF2-40B4-BE49-F238E27FC236}">
                <a16:creationId xmlns:a16="http://schemas.microsoft.com/office/drawing/2014/main" id="{5608F6F4-110D-4F11-961F-AD4E88FE1021}"/>
              </a:ext>
            </a:extLst>
          </p:cNvPr>
          <p:cNvGrpSpPr/>
          <p:nvPr/>
        </p:nvGrpSpPr>
        <p:grpSpPr>
          <a:xfrm>
            <a:off x="537057" y="1166747"/>
            <a:ext cx="3845982" cy="743577"/>
            <a:chOff x="537057" y="1166747"/>
            <a:chExt cx="3845982" cy="743577"/>
          </a:xfrm>
        </p:grpSpPr>
        <p:grpSp>
          <p:nvGrpSpPr>
            <p:cNvPr id="32" name="Group 31">
              <a:extLst>
                <a:ext uri="{FF2B5EF4-FFF2-40B4-BE49-F238E27FC236}">
                  <a16:creationId xmlns:a16="http://schemas.microsoft.com/office/drawing/2014/main" id="{13B47E9B-5B7F-E665-543C-21071E4A89AB}"/>
                </a:ext>
              </a:extLst>
            </p:cNvPr>
            <p:cNvGrpSpPr/>
            <p:nvPr/>
          </p:nvGrpSpPr>
          <p:grpSpPr>
            <a:xfrm>
              <a:off x="688156" y="1166747"/>
              <a:ext cx="3694883" cy="743577"/>
              <a:chOff x="119743" y="1166747"/>
              <a:chExt cx="3694883" cy="743577"/>
            </a:xfrm>
          </p:grpSpPr>
          <p:sp>
            <p:nvSpPr>
              <p:cNvPr id="163" name="Isosceles Triangle 162">
                <a:extLst>
                  <a:ext uri="{FF2B5EF4-FFF2-40B4-BE49-F238E27FC236}">
                    <a16:creationId xmlns:a16="http://schemas.microsoft.com/office/drawing/2014/main" id="{8992B141-D1EE-EC64-9752-876AA99284DC}"/>
                  </a:ext>
                </a:extLst>
              </p:cNvPr>
              <p:cNvSpPr/>
              <p:nvPr/>
            </p:nvSpPr>
            <p:spPr>
              <a:xfrm>
                <a:off x="2544175" y="1166747"/>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4" name="Isosceles Triangle 163">
                <a:extLst>
                  <a:ext uri="{FF2B5EF4-FFF2-40B4-BE49-F238E27FC236}">
                    <a16:creationId xmlns:a16="http://schemas.microsoft.com/office/drawing/2014/main" id="{51F9306F-1443-E134-B39D-608C33011DF7}"/>
                  </a:ext>
                </a:extLst>
              </p:cNvPr>
              <p:cNvSpPr/>
              <p:nvPr/>
            </p:nvSpPr>
            <p:spPr>
              <a:xfrm>
                <a:off x="1736031" y="1166747"/>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 name="Isosceles Triangle 164">
                <a:extLst>
                  <a:ext uri="{FF2B5EF4-FFF2-40B4-BE49-F238E27FC236}">
                    <a16:creationId xmlns:a16="http://schemas.microsoft.com/office/drawing/2014/main" id="{CA02BD7A-53D0-9030-D75E-6D4F7BA488C7}"/>
                  </a:ext>
                </a:extLst>
              </p:cNvPr>
              <p:cNvSpPr/>
              <p:nvPr/>
            </p:nvSpPr>
            <p:spPr>
              <a:xfrm>
                <a:off x="927887" y="1166747"/>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 name="TextBox 165">
                <a:extLst>
                  <a:ext uri="{FF2B5EF4-FFF2-40B4-BE49-F238E27FC236}">
                    <a16:creationId xmlns:a16="http://schemas.microsoft.com/office/drawing/2014/main" id="{C956C31A-43C3-D16F-1C7F-6B1011ECABEF}"/>
                  </a:ext>
                </a:extLst>
              </p:cNvPr>
              <p:cNvSpPr txBox="1"/>
              <p:nvPr/>
            </p:nvSpPr>
            <p:spPr>
              <a:xfrm>
                <a:off x="927473" y="1602547"/>
                <a:ext cx="445017" cy="307777"/>
              </a:xfrm>
              <a:prstGeom prst="rect">
                <a:avLst/>
              </a:prstGeom>
              <a:noFill/>
            </p:spPr>
            <p:txBody>
              <a:bodyPr wrap="square" rtlCol="0">
                <a:spAutoFit/>
              </a:bodyPr>
              <a:lstStyle/>
              <a:p>
                <a:r>
                  <a:rPr lang="en-US" sz="1400" b="1"/>
                  <a:t>PE</a:t>
                </a:r>
              </a:p>
            </p:txBody>
          </p:sp>
          <p:sp>
            <p:nvSpPr>
              <p:cNvPr id="167" name="TextBox 166">
                <a:extLst>
                  <a:ext uri="{FF2B5EF4-FFF2-40B4-BE49-F238E27FC236}">
                    <a16:creationId xmlns:a16="http://schemas.microsoft.com/office/drawing/2014/main" id="{3C07E2FB-4387-D354-40B6-70282ECE0FB5}"/>
                  </a:ext>
                </a:extLst>
              </p:cNvPr>
              <p:cNvSpPr txBox="1"/>
              <p:nvPr/>
            </p:nvSpPr>
            <p:spPr>
              <a:xfrm>
                <a:off x="1669306" y="1602547"/>
                <a:ext cx="614183" cy="307777"/>
              </a:xfrm>
              <a:prstGeom prst="rect">
                <a:avLst/>
              </a:prstGeom>
              <a:noFill/>
            </p:spPr>
            <p:txBody>
              <a:bodyPr wrap="square" rtlCol="0">
                <a:spAutoFit/>
              </a:bodyPr>
              <a:lstStyle/>
              <a:p>
                <a:r>
                  <a:rPr lang="en-US" sz="1400" b="1"/>
                  <a:t>Lead</a:t>
                </a:r>
              </a:p>
            </p:txBody>
          </p:sp>
          <p:sp>
            <p:nvSpPr>
              <p:cNvPr id="168" name="TextBox 167">
                <a:extLst>
                  <a:ext uri="{FF2B5EF4-FFF2-40B4-BE49-F238E27FC236}">
                    <a16:creationId xmlns:a16="http://schemas.microsoft.com/office/drawing/2014/main" id="{87B41116-F9C4-DBE0-B5EA-6B451AB0C275}"/>
                  </a:ext>
                </a:extLst>
              </p:cNvPr>
              <p:cNvSpPr txBox="1"/>
              <p:nvPr/>
            </p:nvSpPr>
            <p:spPr>
              <a:xfrm>
                <a:off x="2558742" y="1602547"/>
                <a:ext cx="445017" cy="307777"/>
              </a:xfrm>
              <a:prstGeom prst="rect">
                <a:avLst/>
              </a:prstGeom>
              <a:noFill/>
            </p:spPr>
            <p:txBody>
              <a:bodyPr wrap="square" rtlCol="0">
                <a:spAutoFit/>
              </a:bodyPr>
              <a:lstStyle/>
              <a:p>
                <a:r>
                  <a:rPr lang="en-US" sz="1400" b="1"/>
                  <a:t>CI</a:t>
                </a:r>
              </a:p>
            </p:txBody>
          </p:sp>
          <p:sp>
            <p:nvSpPr>
              <p:cNvPr id="169" name="Isosceles Triangle 168">
                <a:extLst>
                  <a:ext uri="{FF2B5EF4-FFF2-40B4-BE49-F238E27FC236}">
                    <a16:creationId xmlns:a16="http://schemas.microsoft.com/office/drawing/2014/main" id="{CF978E7C-349A-ACA5-5321-3991E0CA02AF}"/>
                  </a:ext>
                </a:extLst>
              </p:cNvPr>
              <p:cNvSpPr/>
              <p:nvPr/>
            </p:nvSpPr>
            <p:spPr>
              <a:xfrm>
                <a:off x="3352317" y="1166747"/>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 name="TextBox 169">
                <a:extLst>
                  <a:ext uri="{FF2B5EF4-FFF2-40B4-BE49-F238E27FC236}">
                    <a16:creationId xmlns:a16="http://schemas.microsoft.com/office/drawing/2014/main" id="{C28C97C3-8590-236F-CAC0-49F70FBB9096}"/>
                  </a:ext>
                </a:extLst>
              </p:cNvPr>
              <p:cNvSpPr txBox="1"/>
              <p:nvPr/>
            </p:nvSpPr>
            <p:spPr>
              <a:xfrm>
                <a:off x="3369609" y="1602547"/>
                <a:ext cx="445017" cy="307777"/>
              </a:xfrm>
              <a:prstGeom prst="rect">
                <a:avLst/>
              </a:prstGeom>
              <a:noFill/>
            </p:spPr>
            <p:txBody>
              <a:bodyPr wrap="square" rtlCol="0">
                <a:spAutoFit/>
              </a:bodyPr>
              <a:lstStyle/>
              <a:p>
                <a:r>
                  <a:rPr lang="en-US" sz="1400" b="1"/>
                  <a:t>CS</a:t>
                </a:r>
              </a:p>
            </p:txBody>
          </p:sp>
          <p:sp>
            <p:nvSpPr>
              <p:cNvPr id="7" name="Isosceles Triangle 6">
                <a:extLst>
                  <a:ext uri="{FF2B5EF4-FFF2-40B4-BE49-F238E27FC236}">
                    <a16:creationId xmlns:a16="http://schemas.microsoft.com/office/drawing/2014/main" id="{5ABFAF6E-370C-6912-4A10-7D06235B04A4}"/>
                  </a:ext>
                </a:extLst>
              </p:cNvPr>
              <p:cNvSpPr/>
              <p:nvPr/>
            </p:nvSpPr>
            <p:spPr>
              <a:xfrm>
                <a:off x="119743" y="1166747"/>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TextBox 7">
              <a:extLst>
                <a:ext uri="{FF2B5EF4-FFF2-40B4-BE49-F238E27FC236}">
                  <a16:creationId xmlns:a16="http://schemas.microsoft.com/office/drawing/2014/main" id="{13D10EA0-5FEF-08C2-B5B4-A890B6E2B2B7}"/>
                </a:ext>
              </a:extLst>
            </p:cNvPr>
            <p:cNvSpPr txBox="1"/>
            <p:nvPr/>
          </p:nvSpPr>
          <p:spPr>
            <a:xfrm>
              <a:off x="537057" y="1596691"/>
              <a:ext cx="645587" cy="307777"/>
            </a:xfrm>
            <a:prstGeom prst="rect">
              <a:avLst/>
            </a:prstGeom>
            <a:noFill/>
          </p:spPr>
          <p:txBody>
            <a:bodyPr wrap="square" rtlCol="0">
              <a:spAutoFit/>
            </a:bodyPr>
            <a:lstStyle/>
            <a:p>
              <a:r>
                <a:rPr lang="en-US" sz="1400" b="1"/>
                <a:t>Target</a:t>
              </a:r>
            </a:p>
          </p:txBody>
        </p:sp>
      </p:grpSp>
      <p:sp>
        <p:nvSpPr>
          <p:cNvPr id="54" name="Line 40">
            <a:extLst>
              <a:ext uri="{FF2B5EF4-FFF2-40B4-BE49-F238E27FC236}">
                <a16:creationId xmlns:a16="http://schemas.microsoft.com/office/drawing/2014/main" id="{57C11B40-D5E3-A5CD-10DB-2C5507231F88}"/>
              </a:ext>
            </a:extLst>
          </p:cNvPr>
          <p:cNvSpPr>
            <a:spLocks noChangeShapeType="1"/>
          </p:cNvSpPr>
          <p:nvPr/>
        </p:nvSpPr>
        <p:spPr bwMode="auto">
          <a:xfrm>
            <a:off x="3373450" y="5286740"/>
            <a:ext cx="598707" cy="606783"/>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srgbClr val="000000"/>
              </a:solidFill>
              <a:effectLst/>
              <a:uLnTx/>
              <a:uFillTx/>
              <a:latin typeface="Arial"/>
              <a:ea typeface="+mn-ea"/>
              <a:cs typeface="+mn-cs"/>
            </a:endParaRPr>
          </a:p>
        </p:txBody>
      </p:sp>
      <p:sp>
        <p:nvSpPr>
          <p:cNvPr id="55" name="TextBox 54">
            <a:extLst>
              <a:ext uri="{FF2B5EF4-FFF2-40B4-BE49-F238E27FC236}">
                <a16:creationId xmlns:a16="http://schemas.microsoft.com/office/drawing/2014/main" id="{6E239283-9E69-2CEC-FFB4-F70D6ABE2CD6}"/>
              </a:ext>
            </a:extLst>
          </p:cNvPr>
          <p:cNvSpPr txBox="1"/>
          <p:nvPr/>
        </p:nvSpPr>
        <p:spPr>
          <a:xfrm>
            <a:off x="4192874" y="4891837"/>
            <a:ext cx="960561" cy="276999"/>
          </a:xfrm>
          <a:prstGeom prst="rect">
            <a:avLst/>
          </a:prstGeom>
          <a:noFill/>
        </p:spPr>
        <p:txBody>
          <a:bodyPr wrap="square" rtlCol="0">
            <a:spAutoFit/>
          </a:bodyPr>
          <a:lstStyle/>
          <a:p>
            <a:r>
              <a:rPr lang="en-US" sz="1200"/>
              <a:t>PK/PD</a:t>
            </a:r>
          </a:p>
        </p:txBody>
      </p:sp>
    </p:spTree>
    <p:extLst>
      <p:ext uri="{BB962C8B-B14F-4D97-AF65-F5344CB8AC3E}">
        <p14:creationId xmlns:p14="http://schemas.microsoft.com/office/powerpoint/2010/main" val="1291931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83D-D18C-20F8-CAFD-A6B46C0AA57D}"/>
              </a:ext>
            </a:extLst>
          </p:cNvPr>
          <p:cNvSpPr>
            <a:spLocks noGrp="1"/>
          </p:cNvSpPr>
          <p:nvPr>
            <p:ph type="title"/>
          </p:nvPr>
        </p:nvSpPr>
        <p:spPr/>
        <p:txBody>
          <a:bodyPr/>
          <a:lstStyle/>
          <a:p>
            <a:r>
              <a:rPr lang="en-US"/>
              <a:t>Key Stakeholders</a:t>
            </a:r>
          </a:p>
        </p:txBody>
      </p:sp>
      <p:sp>
        <p:nvSpPr>
          <p:cNvPr id="3" name="Content Placeholder 2">
            <a:extLst>
              <a:ext uri="{FF2B5EF4-FFF2-40B4-BE49-F238E27FC236}">
                <a16:creationId xmlns:a16="http://schemas.microsoft.com/office/drawing/2014/main" id="{196199C0-77F2-AAC8-9673-8DAA05F2BC4D}"/>
              </a:ext>
            </a:extLst>
          </p:cNvPr>
          <p:cNvSpPr>
            <a:spLocks noGrp="1"/>
          </p:cNvSpPr>
          <p:nvPr>
            <p:ph idx="1"/>
          </p:nvPr>
        </p:nvSpPr>
        <p:spPr>
          <a:xfrm>
            <a:off x="208546" y="1033272"/>
            <a:ext cx="11788381" cy="5490118"/>
          </a:xfrm>
        </p:spPr>
        <p:txBody>
          <a:bodyPr>
            <a:normAutofit fontScale="92500" lnSpcReduction="10000"/>
          </a:bodyPr>
          <a:lstStyle/>
          <a:p>
            <a:r>
              <a:rPr lang="en-US" sz="2400" b="1" dirty="0"/>
              <a:t>TA VP(s), MIH VP</a:t>
            </a:r>
          </a:p>
          <a:p>
            <a:pPr lvl="1"/>
            <a:r>
              <a:rPr lang="en-US" sz="2000" dirty="0"/>
              <a:t>Always make sure VPs are aligned/aware of team requests, project status</a:t>
            </a:r>
          </a:p>
          <a:p>
            <a:r>
              <a:rPr lang="en-US" sz="2400" b="1" dirty="0" err="1"/>
              <a:t>BoD</a:t>
            </a:r>
            <a:endParaRPr lang="en-US" sz="2400" b="1" dirty="0"/>
          </a:p>
          <a:p>
            <a:pPr lvl="1"/>
            <a:r>
              <a:rPr lang="en-US" sz="2000" dirty="0"/>
              <a:t>Your BOD should be aligned with the team’s changes to plan (scope, budget, timeline)</a:t>
            </a:r>
          </a:p>
          <a:p>
            <a:r>
              <a:rPr lang="en-US" sz="2400" b="1" dirty="0"/>
              <a:t>Fellow Discovery COO/PPM teams </a:t>
            </a:r>
            <a:r>
              <a:rPr lang="en-US" sz="2400" dirty="0"/>
              <a:t>– learn from each other!</a:t>
            </a:r>
          </a:p>
          <a:p>
            <a:pPr lvl="1"/>
            <a:r>
              <a:rPr lang="en-US" sz="2000" dirty="0"/>
              <a:t>Someone else may have recently been through a process that is new to you</a:t>
            </a:r>
          </a:p>
          <a:p>
            <a:r>
              <a:rPr lang="en-US" sz="2400" b="1" dirty="0"/>
              <a:t>Functional Contacts</a:t>
            </a:r>
            <a:r>
              <a:rPr lang="en-US" sz="2400" dirty="0"/>
              <a:t>:  Tox, ADME, PK/PD, CMC, Clinical, EMP, Decision Sciences, NPP, Competitive Intelligence</a:t>
            </a:r>
          </a:p>
          <a:p>
            <a:pPr lvl="1"/>
            <a:r>
              <a:rPr lang="en-US" sz="2000" dirty="0"/>
              <a:t>Keep these contacts informed on portfolio movement, so they can prepare to resource your projects at the appropriate time</a:t>
            </a:r>
          </a:p>
          <a:p>
            <a:r>
              <a:rPr lang="en-US" sz="2400" b="1" dirty="0"/>
              <a:t>Finance, RM&amp;F/PMET</a:t>
            </a:r>
          </a:p>
          <a:p>
            <a:pPr lvl="1"/>
            <a:r>
              <a:rPr lang="en-US" sz="2000" dirty="0"/>
              <a:t>Great partners in creating and managing budgets</a:t>
            </a:r>
          </a:p>
          <a:p>
            <a:r>
              <a:rPr lang="en-US" sz="2400" b="1" dirty="0"/>
              <a:t>Legal</a:t>
            </a:r>
          </a:p>
          <a:p>
            <a:pPr lvl="1"/>
            <a:r>
              <a:rPr lang="en-US" sz="2000" dirty="0"/>
              <a:t>Discovery deals with Intellectual Property (IP) daily.  Stay in touch with legal while you protect Red CCI</a:t>
            </a:r>
          </a:p>
          <a:p>
            <a:r>
              <a:rPr lang="en-US" sz="2400" b="1" dirty="0"/>
              <a:t>PPM org</a:t>
            </a:r>
          </a:p>
          <a:p>
            <a:pPr lvl="1"/>
            <a:r>
              <a:rPr lang="en-US" sz="2000" dirty="0"/>
              <a:t>Have a sticky wicket?  Touch base with your supervisor and/or Early Phase COOs if guidance is needed </a:t>
            </a:r>
          </a:p>
        </p:txBody>
      </p:sp>
      <p:sp>
        <p:nvSpPr>
          <p:cNvPr id="4" name="Date Placeholder 3">
            <a:extLst>
              <a:ext uri="{FF2B5EF4-FFF2-40B4-BE49-F238E27FC236}">
                <a16:creationId xmlns:a16="http://schemas.microsoft.com/office/drawing/2014/main" id="{220884D6-F44E-81D9-E9C6-40BC3C6F4B09}"/>
              </a:ext>
            </a:extLst>
          </p:cNvPr>
          <p:cNvSpPr>
            <a:spLocks noGrp="1"/>
          </p:cNvSpPr>
          <p:nvPr>
            <p:ph type="dt" sz="half" idx="10"/>
          </p:nvPr>
        </p:nvSpPr>
        <p:spPr/>
        <p:txBody>
          <a:bodyPr/>
          <a:lstStyle/>
          <a:p>
            <a:r>
              <a:rPr lang="en-US"/>
              <a:t>SAPR R&amp;D Strategy Review Template</a:t>
            </a:r>
          </a:p>
        </p:txBody>
      </p:sp>
      <p:sp>
        <p:nvSpPr>
          <p:cNvPr id="5" name="Footer Placeholder 4">
            <a:extLst>
              <a:ext uri="{FF2B5EF4-FFF2-40B4-BE49-F238E27FC236}">
                <a16:creationId xmlns:a16="http://schemas.microsoft.com/office/drawing/2014/main" id="{46B54DFC-129B-8817-6AED-E5F4A5B7AD83}"/>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D774491D-E206-5685-D224-838DB329234C}"/>
              </a:ext>
            </a:extLst>
          </p:cNvPr>
          <p:cNvSpPr>
            <a:spLocks noGrp="1"/>
          </p:cNvSpPr>
          <p:nvPr>
            <p:ph type="sldNum" sz="quarter" idx="12"/>
          </p:nvPr>
        </p:nvSpPr>
        <p:spPr/>
        <p:txBody>
          <a:bodyPr/>
          <a:lstStyle/>
          <a:p>
            <a:fld id="{1DA079B0-34FF-9449-83ED-AEDF3F6C1CC6}" type="slidenum">
              <a:rPr lang="en-US" smtClean="0"/>
              <a:pPr/>
              <a:t>15</a:t>
            </a:fld>
            <a:endParaRPr lang="en-US"/>
          </a:p>
        </p:txBody>
      </p:sp>
      <p:sp>
        <p:nvSpPr>
          <p:cNvPr id="9" name="Star: 5 Points 8">
            <a:extLst>
              <a:ext uri="{FF2B5EF4-FFF2-40B4-BE49-F238E27FC236}">
                <a16:creationId xmlns:a16="http://schemas.microsoft.com/office/drawing/2014/main" id="{3937B7FA-8CE8-7289-6055-FE1745572F90}"/>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0827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190FE-5EC3-8A30-3E50-8C8F6635B687}"/>
              </a:ext>
            </a:extLst>
          </p:cNvPr>
          <p:cNvSpPr>
            <a:spLocks noGrp="1"/>
          </p:cNvSpPr>
          <p:nvPr>
            <p:ph type="title"/>
          </p:nvPr>
        </p:nvSpPr>
        <p:spPr/>
        <p:txBody>
          <a:bodyPr/>
          <a:lstStyle/>
          <a:p>
            <a:r>
              <a:rPr lang="en-US"/>
              <a:t>Managing New and Existing Projects</a:t>
            </a:r>
          </a:p>
        </p:txBody>
      </p:sp>
      <p:sp>
        <p:nvSpPr>
          <p:cNvPr id="3" name="Content Placeholder 2">
            <a:extLst>
              <a:ext uri="{FF2B5EF4-FFF2-40B4-BE49-F238E27FC236}">
                <a16:creationId xmlns:a16="http://schemas.microsoft.com/office/drawing/2014/main" id="{9EF8F87D-7C68-419F-D5CE-09500CAE15D7}"/>
              </a:ext>
            </a:extLst>
          </p:cNvPr>
          <p:cNvSpPr>
            <a:spLocks noGrp="1"/>
          </p:cNvSpPr>
          <p:nvPr>
            <p:ph idx="1"/>
          </p:nvPr>
        </p:nvSpPr>
        <p:spPr>
          <a:xfrm>
            <a:off x="609600" y="1209964"/>
            <a:ext cx="10972800" cy="5022891"/>
          </a:xfrm>
        </p:spPr>
        <p:txBody>
          <a:bodyPr/>
          <a:lstStyle/>
          <a:p>
            <a:r>
              <a:rPr lang="en-US">
                <a:hlinkClick r:id="rId2"/>
              </a:rPr>
              <a:t>Target to CI Checklist</a:t>
            </a:r>
            <a:endParaRPr lang="en-US"/>
          </a:p>
          <a:p>
            <a:pPr lvl="1"/>
            <a:r>
              <a:rPr lang="en-US"/>
              <a:t>Hands on examples, Q&amp;A</a:t>
            </a:r>
          </a:p>
          <a:p>
            <a:pPr lvl="1"/>
            <a:r>
              <a:rPr lang="en-US"/>
              <a:t>This checklist has links to the key tools and processes for starting a new project and managing it through the CI milestone</a:t>
            </a:r>
          </a:p>
          <a:p>
            <a:pPr lvl="2"/>
            <a:r>
              <a:rPr lang="en-US"/>
              <a:t>Bookmark it</a:t>
            </a:r>
          </a:p>
          <a:p>
            <a:pPr lvl="2"/>
            <a:r>
              <a:rPr lang="en-US"/>
              <a:t>Review tools before you need them</a:t>
            </a:r>
          </a:p>
          <a:p>
            <a:pPr lvl="2"/>
            <a:r>
              <a:rPr lang="en-US"/>
              <a:t>Reach out for help</a:t>
            </a:r>
          </a:p>
          <a:p>
            <a:pPr lvl="2"/>
            <a:r>
              <a:rPr lang="en-US"/>
              <a:t>Update the links when tools or processes change (pay it forward!)</a:t>
            </a:r>
          </a:p>
          <a:p>
            <a:pPr lvl="1"/>
            <a:r>
              <a:rPr lang="en-US"/>
              <a:t>Discuss with TA Transition Coach who are the functional contacts who assign support for your projects</a:t>
            </a:r>
          </a:p>
        </p:txBody>
      </p:sp>
      <p:sp>
        <p:nvSpPr>
          <p:cNvPr id="4" name="Date Placeholder 3">
            <a:extLst>
              <a:ext uri="{FF2B5EF4-FFF2-40B4-BE49-F238E27FC236}">
                <a16:creationId xmlns:a16="http://schemas.microsoft.com/office/drawing/2014/main" id="{2E78EADB-4FDE-15E7-C0A6-59133ED6822E}"/>
              </a:ext>
            </a:extLst>
          </p:cNvPr>
          <p:cNvSpPr>
            <a:spLocks noGrp="1"/>
          </p:cNvSpPr>
          <p:nvPr>
            <p:ph type="dt" sz="half" idx="10"/>
          </p:nvPr>
        </p:nvSpPr>
        <p:spPr/>
        <p:txBody>
          <a:bodyPr/>
          <a:lstStyle/>
          <a:p>
            <a:r>
              <a:rPr lang="en-US"/>
              <a:t>SAPR R&amp;D Strategy Review Template</a:t>
            </a:r>
          </a:p>
        </p:txBody>
      </p:sp>
      <p:sp>
        <p:nvSpPr>
          <p:cNvPr id="5" name="Footer Placeholder 4">
            <a:extLst>
              <a:ext uri="{FF2B5EF4-FFF2-40B4-BE49-F238E27FC236}">
                <a16:creationId xmlns:a16="http://schemas.microsoft.com/office/drawing/2014/main" id="{6A82EE60-FB12-AD3C-A9BA-F95909690BA7}"/>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F1EAE9A5-191A-FF54-C743-7AEF4A09AB19}"/>
              </a:ext>
            </a:extLst>
          </p:cNvPr>
          <p:cNvSpPr>
            <a:spLocks noGrp="1"/>
          </p:cNvSpPr>
          <p:nvPr>
            <p:ph type="sldNum" sz="quarter" idx="12"/>
          </p:nvPr>
        </p:nvSpPr>
        <p:spPr/>
        <p:txBody>
          <a:bodyPr/>
          <a:lstStyle/>
          <a:p>
            <a:fld id="{1DA079B0-34FF-9449-83ED-AEDF3F6C1CC6}" type="slidenum">
              <a:rPr lang="en-US" smtClean="0"/>
              <a:pPr/>
              <a:t>16</a:t>
            </a:fld>
            <a:endParaRPr lang="en-US"/>
          </a:p>
        </p:txBody>
      </p:sp>
      <p:sp>
        <p:nvSpPr>
          <p:cNvPr id="7" name="Star: 5 Points 6">
            <a:extLst>
              <a:ext uri="{FF2B5EF4-FFF2-40B4-BE49-F238E27FC236}">
                <a16:creationId xmlns:a16="http://schemas.microsoft.com/office/drawing/2014/main" id="{0085CB48-FB6A-79ED-0920-484B872E104D}"/>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0566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15899-68D8-101E-717F-FA7DC8C3513D}"/>
              </a:ext>
            </a:extLst>
          </p:cNvPr>
          <p:cNvSpPr>
            <a:spLocks noGrp="1"/>
          </p:cNvSpPr>
          <p:nvPr>
            <p:ph type="title"/>
          </p:nvPr>
        </p:nvSpPr>
        <p:spPr>
          <a:xfrm>
            <a:off x="2199314" y="949606"/>
            <a:ext cx="11097208" cy="822960"/>
          </a:xfrm>
        </p:spPr>
        <p:txBody>
          <a:bodyPr>
            <a:normAutofit fontScale="90000"/>
          </a:bodyPr>
          <a:lstStyle/>
          <a:p>
            <a:r>
              <a:rPr lang="en-US"/>
              <a:t>Pre-PE Portfolio Snapshot</a:t>
            </a:r>
            <a:br>
              <a:rPr lang="en-US"/>
            </a:br>
            <a:r>
              <a:rPr lang="en-US" sz="2200"/>
              <a:t>Color coded by molecule cassification </a:t>
            </a:r>
            <a:endParaRPr lang="en-US"/>
          </a:p>
        </p:txBody>
      </p:sp>
      <p:pic>
        <p:nvPicPr>
          <p:cNvPr id="4" name="Picture 3">
            <a:extLst>
              <a:ext uri="{FF2B5EF4-FFF2-40B4-BE49-F238E27FC236}">
                <a16:creationId xmlns:a16="http://schemas.microsoft.com/office/drawing/2014/main" id="{A571E73E-75AC-E7E8-CE61-E38835A0C16C}"/>
              </a:ext>
            </a:extLst>
          </p:cNvPr>
          <p:cNvPicPr>
            <a:picLocks noChangeAspect="1"/>
          </p:cNvPicPr>
          <p:nvPr/>
        </p:nvPicPr>
        <p:blipFill>
          <a:blip r:embed="rId2"/>
          <a:stretch>
            <a:fillRect/>
          </a:stretch>
        </p:blipFill>
        <p:spPr>
          <a:xfrm>
            <a:off x="1604865" y="1109888"/>
            <a:ext cx="9190653" cy="5663381"/>
          </a:xfrm>
          <a:prstGeom prst="rect">
            <a:avLst/>
          </a:prstGeom>
        </p:spPr>
      </p:pic>
      <p:sp>
        <p:nvSpPr>
          <p:cNvPr id="5" name="Title 1">
            <a:extLst>
              <a:ext uri="{FF2B5EF4-FFF2-40B4-BE49-F238E27FC236}">
                <a16:creationId xmlns:a16="http://schemas.microsoft.com/office/drawing/2014/main" id="{36108C1F-0492-397B-E80E-F0C0C1CF077C}"/>
              </a:ext>
            </a:extLst>
          </p:cNvPr>
          <p:cNvSpPr txBox="1">
            <a:spLocks/>
          </p:cNvSpPr>
          <p:nvPr/>
        </p:nvSpPr>
        <p:spPr>
          <a:xfrm>
            <a:off x="609600" y="45720"/>
            <a:ext cx="11097208" cy="822960"/>
          </a:xfrm>
          <a:prstGeom prst="rect">
            <a:avLst/>
          </a:prstGeom>
        </p:spPr>
        <p:txBody>
          <a:bodyPr vert="horz" lIns="91440" tIns="45720" rIns="91440" bIns="45720" rtlCol="0" anchor="b">
            <a:normAutofit fontScale="90000" lnSpcReduction="10000"/>
          </a:bodyPr>
          <a:lstStyle>
            <a:lvl1pPr algn="l" defTabSz="457200" rtl="0" eaLnBrk="1" latinLnBrk="0" hangingPunct="1">
              <a:spcBef>
                <a:spcPct val="0"/>
              </a:spcBef>
              <a:buNone/>
              <a:defRPr sz="3600" b="0" i="0" kern="1200">
                <a:solidFill>
                  <a:schemeClr val="bg1"/>
                </a:solidFill>
                <a:latin typeface="Calibri" pitchFamily="34" charset="0"/>
                <a:ea typeface="+mj-ea"/>
                <a:cs typeface="DIN-Bold"/>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Calibri" pitchFamily="34" charset="0"/>
                <a:ea typeface="+mj-ea"/>
              </a:rPr>
              <a:t>Pre-PE Portfolio Snapshot – TPC Dashboard</a:t>
            </a:r>
            <a:br>
              <a:rPr kumimoji="0" lang="en-US" sz="3600" b="0" i="0" u="none" strike="noStrike" kern="1200" cap="none" spc="0" normalizeH="0" baseline="0" noProof="0">
                <a:ln>
                  <a:noFill/>
                </a:ln>
                <a:solidFill>
                  <a:prstClr val="white"/>
                </a:solidFill>
                <a:effectLst/>
                <a:uLnTx/>
                <a:uFillTx/>
                <a:latin typeface="Calibri" pitchFamily="34" charset="0"/>
                <a:ea typeface="+mj-ea"/>
              </a:rPr>
            </a:br>
            <a:r>
              <a:rPr kumimoji="0" lang="en-US" sz="2200" b="0" i="0" u="none" strike="noStrike" kern="1200" cap="none" spc="0" normalizeH="0" baseline="0" noProof="0">
                <a:ln>
                  <a:noFill/>
                </a:ln>
                <a:solidFill>
                  <a:prstClr val="white"/>
                </a:solidFill>
                <a:effectLst/>
                <a:uLnTx/>
                <a:uFillTx/>
                <a:latin typeface="Calibri" pitchFamily="34" charset="0"/>
                <a:ea typeface="+mj-ea"/>
              </a:rPr>
              <a:t>Color coded by molecule </a:t>
            </a:r>
            <a:r>
              <a:rPr kumimoji="0" lang="en-US" sz="2200" b="0" i="0" u="none" strike="noStrike" kern="1200" cap="none" spc="0" normalizeH="0" baseline="0" noProof="0" err="1">
                <a:ln>
                  <a:noFill/>
                </a:ln>
                <a:solidFill>
                  <a:prstClr val="white"/>
                </a:solidFill>
                <a:effectLst/>
                <a:uLnTx/>
                <a:uFillTx/>
                <a:latin typeface="Calibri" pitchFamily="34" charset="0"/>
                <a:ea typeface="+mj-ea"/>
              </a:rPr>
              <a:t>cassification</a:t>
            </a:r>
            <a:r>
              <a:rPr kumimoji="0" lang="en-US" sz="2200" b="0" i="0" u="none" strike="noStrike" kern="1200" cap="none" spc="0" normalizeH="0" baseline="0" noProof="0">
                <a:ln>
                  <a:noFill/>
                </a:ln>
                <a:solidFill>
                  <a:prstClr val="white"/>
                </a:solidFill>
                <a:effectLst/>
                <a:uLnTx/>
                <a:uFillTx/>
                <a:latin typeface="Calibri" pitchFamily="34" charset="0"/>
                <a:ea typeface="+mj-ea"/>
              </a:rPr>
              <a:t> </a:t>
            </a:r>
            <a:endParaRPr kumimoji="0" lang="en-US" sz="3600" b="0" i="0" u="none" strike="noStrike" kern="1200" cap="none" spc="0" normalizeH="0" baseline="0" noProof="0">
              <a:ln>
                <a:noFill/>
              </a:ln>
              <a:solidFill>
                <a:prstClr val="white"/>
              </a:solidFill>
              <a:effectLst/>
              <a:uLnTx/>
              <a:uFillTx/>
              <a:latin typeface="Calibri" pitchFamily="34" charset="0"/>
              <a:ea typeface="+mj-ea"/>
            </a:endParaRPr>
          </a:p>
        </p:txBody>
      </p:sp>
      <p:pic>
        <p:nvPicPr>
          <p:cNvPr id="6" name="Picture 5">
            <a:extLst>
              <a:ext uri="{FF2B5EF4-FFF2-40B4-BE49-F238E27FC236}">
                <a16:creationId xmlns:a16="http://schemas.microsoft.com/office/drawing/2014/main" id="{6BB99BAE-11B0-06D0-06A1-338FD5B8F4C7}"/>
              </a:ext>
            </a:extLst>
          </p:cNvPr>
          <p:cNvPicPr>
            <a:picLocks noChangeAspect="1"/>
          </p:cNvPicPr>
          <p:nvPr/>
        </p:nvPicPr>
        <p:blipFill rotWithShape="1">
          <a:blip r:embed="rId3"/>
          <a:srcRect l="4494" t="3385"/>
          <a:stretch/>
        </p:blipFill>
        <p:spPr>
          <a:xfrm>
            <a:off x="9772072" y="1108363"/>
            <a:ext cx="1371317" cy="1338133"/>
          </a:xfrm>
          <a:prstGeom prst="rect">
            <a:avLst/>
          </a:prstGeom>
        </p:spPr>
      </p:pic>
      <p:sp>
        <p:nvSpPr>
          <p:cNvPr id="3" name="Star: 5 Points 2">
            <a:extLst>
              <a:ext uri="{FF2B5EF4-FFF2-40B4-BE49-F238E27FC236}">
                <a16:creationId xmlns:a16="http://schemas.microsoft.com/office/drawing/2014/main" id="{BA233BA5-070F-D307-C8C1-16E9FB10069D}"/>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9557070"/>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AA00DF6-5CA6-5495-242A-02ECFDC6D98E}"/>
              </a:ext>
            </a:extLst>
          </p:cNvPr>
          <p:cNvSpPr>
            <a:spLocks noGrp="1"/>
          </p:cNvSpPr>
          <p:nvPr>
            <p:ph type="title"/>
          </p:nvPr>
        </p:nvSpPr>
        <p:spPr>
          <a:xfrm>
            <a:off x="121328" y="46361"/>
            <a:ext cx="11097208" cy="822960"/>
          </a:xfrm>
        </p:spPr>
        <p:txBody>
          <a:bodyPr>
            <a:normAutofit fontScale="90000"/>
          </a:bodyPr>
          <a:lstStyle/>
          <a:p>
            <a:r>
              <a:rPr lang="en-US" dirty="0"/>
              <a:t>Major Milestone Accuracy is Vital;  </a:t>
            </a:r>
            <a:r>
              <a:rPr lang="en-US" b="1" dirty="0">
                <a:solidFill>
                  <a:srgbClr val="FFFF00"/>
                </a:solidFill>
              </a:rPr>
              <a:t>Milestones Change Frequently</a:t>
            </a:r>
          </a:p>
        </p:txBody>
      </p:sp>
      <p:sp>
        <p:nvSpPr>
          <p:cNvPr id="13" name="Content Placeholder 12">
            <a:extLst>
              <a:ext uri="{FF2B5EF4-FFF2-40B4-BE49-F238E27FC236}">
                <a16:creationId xmlns:a16="http://schemas.microsoft.com/office/drawing/2014/main" id="{9078FE68-7B18-76FC-BF02-BD0273284BC4}"/>
              </a:ext>
            </a:extLst>
          </p:cNvPr>
          <p:cNvSpPr>
            <a:spLocks noGrp="1"/>
          </p:cNvSpPr>
          <p:nvPr>
            <p:ph idx="1"/>
          </p:nvPr>
        </p:nvSpPr>
        <p:spPr>
          <a:xfrm>
            <a:off x="838200" y="1532662"/>
            <a:ext cx="10515600" cy="4351338"/>
          </a:xfrm>
        </p:spPr>
        <p:txBody>
          <a:bodyPr>
            <a:normAutofit/>
          </a:bodyPr>
          <a:lstStyle/>
          <a:p>
            <a:pPr>
              <a:defRPr/>
            </a:pPr>
            <a:r>
              <a:rPr lang="en-US" sz="1600">
                <a:solidFill>
                  <a:srgbClr val="000000"/>
                </a:solidFill>
                <a:latin typeface="Calibri" panose="020F0502020204030204" pitchFamily="34" charset="0"/>
                <a:cs typeface="Calibri" panose="020F0502020204030204" pitchFamily="34" charset="0"/>
              </a:rPr>
              <a:t>Major milestones are foundational to managing assets and the overall portfolio.</a:t>
            </a:r>
            <a:endParaRPr lang="en-US" sz="1200" b="1">
              <a:solidFill>
                <a:srgbClr val="000000"/>
              </a:solidFill>
              <a:latin typeface="Calibri" panose="020F0502020204030204" pitchFamily="34" charset="0"/>
              <a:cs typeface="Calibri" panose="020F0502020204030204" pitchFamily="34" charset="0"/>
            </a:endParaRPr>
          </a:p>
          <a:p>
            <a:pPr lvl="1">
              <a:defRPr/>
            </a:pPr>
            <a:r>
              <a:rPr lang="en-US" sz="1400">
                <a:solidFill>
                  <a:srgbClr val="000000"/>
                </a:solidFill>
                <a:latin typeface="Calibri" panose="020F0502020204030204" pitchFamily="34" charset="0"/>
                <a:cs typeface="Calibri" panose="020F0502020204030204" pitchFamily="34" charset="0"/>
              </a:rPr>
              <a:t>Each asset is part of a larger and dynamic portfolio, and PPMs must effectively communicate key project information via R&amp;D project systems (e.g., Prism, Polaris).</a:t>
            </a:r>
          </a:p>
          <a:p>
            <a:pPr lvl="1">
              <a:defRPr/>
            </a:pPr>
            <a:r>
              <a:rPr lang="en-US" sz="1400">
                <a:solidFill>
                  <a:srgbClr val="000000"/>
                </a:solidFill>
                <a:latin typeface="Calibri" panose="020F0502020204030204" pitchFamily="34" charset="0"/>
                <a:cs typeface="Calibri" panose="020F0502020204030204" pitchFamily="34" charset="0"/>
              </a:rPr>
              <a:t>Many development activities occur in the background, without direct involvement of PMs and asset teams.</a:t>
            </a:r>
          </a:p>
          <a:p>
            <a:pPr lvl="1">
              <a:defRPr/>
            </a:pPr>
            <a:r>
              <a:rPr lang="en-US" sz="1400">
                <a:solidFill>
                  <a:srgbClr val="000000"/>
                </a:solidFill>
                <a:latin typeface="Calibri" panose="020F0502020204030204" pitchFamily="34" charset="0"/>
                <a:cs typeface="Calibri" panose="020F0502020204030204" pitchFamily="34" charset="0"/>
              </a:rPr>
              <a:t>These data points are visible enterprise-wide and must be relevant and accurate in real-time.</a:t>
            </a:r>
          </a:p>
          <a:p>
            <a:r>
              <a:rPr lang="en-US" sz="1600">
                <a:solidFill>
                  <a:srgbClr val="000000"/>
                </a:solidFill>
                <a:latin typeface="Calibri" panose="020F0502020204030204" pitchFamily="34" charset="0"/>
                <a:cs typeface="Calibri" panose="020F0502020204030204" pitchFamily="34" charset="0"/>
              </a:rPr>
              <a:t>Major milestone data is used at all levels of the company and informs key decisions made by executive leadership.</a:t>
            </a:r>
          </a:p>
          <a:p>
            <a:pPr lvl="1"/>
            <a:r>
              <a:rPr lang="en-US" sz="1400">
                <a:solidFill>
                  <a:srgbClr val="000000"/>
                </a:solidFill>
                <a:latin typeface="Calibri" panose="020F0502020204030204" pitchFamily="34" charset="0"/>
                <a:cs typeface="Calibri" panose="020F0502020204030204" pitchFamily="34" charset="0"/>
              </a:rPr>
              <a:t>Therefore, the accuracy of milestones is directly impactful to the portfolio.</a:t>
            </a:r>
          </a:p>
          <a:p>
            <a:pPr lvl="1"/>
            <a:r>
              <a:rPr lang="en-US" sz="1400">
                <a:solidFill>
                  <a:srgbClr val="000000"/>
                </a:solidFill>
                <a:latin typeface="Calibri" panose="020F0502020204030204" pitchFamily="34" charset="0"/>
                <a:cs typeface="Calibri" panose="020F0502020204030204" pitchFamily="34" charset="0"/>
              </a:rPr>
              <a:t>Milestones are vital inputs to key business planning, decision, and reporting activities.</a:t>
            </a:r>
          </a:p>
          <a:p>
            <a:endParaRPr lang="en-US"/>
          </a:p>
        </p:txBody>
      </p:sp>
      <p:pic>
        <p:nvPicPr>
          <p:cNvPr id="8" name="Graphic 7" descr="Shopping cart with solid fill">
            <a:extLst>
              <a:ext uri="{FF2B5EF4-FFF2-40B4-BE49-F238E27FC236}">
                <a16:creationId xmlns:a16="http://schemas.microsoft.com/office/drawing/2014/main" id="{D7C9CDE4-3EE3-5570-D6BB-07BF145BC6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61374" y="5637350"/>
            <a:ext cx="914400" cy="914400"/>
          </a:xfrm>
          <a:prstGeom prst="rect">
            <a:avLst/>
          </a:prstGeom>
        </p:spPr>
      </p:pic>
      <p:graphicFrame>
        <p:nvGraphicFramePr>
          <p:cNvPr id="14" name="Diagram 13">
            <a:extLst>
              <a:ext uri="{FF2B5EF4-FFF2-40B4-BE49-F238E27FC236}">
                <a16:creationId xmlns:a16="http://schemas.microsoft.com/office/drawing/2014/main" id="{DC60DFAB-534B-D421-018D-3D17CF0C407C}"/>
              </a:ext>
            </a:extLst>
          </p:cNvPr>
          <p:cNvGraphicFramePr/>
          <p:nvPr/>
        </p:nvGraphicFramePr>
        <p:xfrm>
          <a:off x="2450237" y="4554246"/>
          <a:ext cx="7022237" cy="2096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Rectangle: Rounded Corners 15">
            <a:extLst>
              <a:ext uri="{FF2B5EF4-FFF2-40B4-BE49-F238E27FC236}">
                <a16:creationId xmlns:a16="http://schemas.microsoft.com/office/drawing/2014/main" id="{BFE46DDE-2BA8-080C-3D12-49A9C810C251}"/>
              </a:ext>
            </a:extLst>
          </p:cNvPr>
          <p:cNvSpPr/>
          <p:nvPr/>
        </p:nvSpPr>
        <p:spPr>
          <a:xfrm>
            <a:off x="1807815" y="3861776"/>
            <a:ext cx="8576369" cy="635366"/>
          </a:xfrm>
          <a:prstGeom prst="roundRect">
            <a:avLst/>
          </a:prstGeom>
          <a:solidFill>
            <a:srgbClr val="963C3C"/>
          </a:solidFill>
          <a:ln>
            <a:solidFill>
              <a:srgbClr val="B951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t>Teams in Project &amp; Portfolio Management Relying on Milestones</a:t>
            </a:r>
          </a:p>
        </p:txBody>
      </p:sp>
      <p:sp>
        <p:nvSpPr>
          <p:cNvPr id="2" name="Star: 5 Points 1">
            <a:extLst>
              <a:ext uri="{FF2B5EF4-FFF2-40B4-BE49-F238E27FC236}">
                <a16:creationId xmlns:a16="http://schemas.microsoft.com/office/drawing/2014/main" id="{2B7CFA41-0B8F-480A-BAB6-AA418FFAAA57}"/>
              </a:ext>
            </a:extLst>
          </p:cNvPr>
          <p:cNvSpPr/>
          <p:nvPr/>
        </p:nvSpPr>
        <p:spPr>
          <a:xfrm>
            <a:off x="11132482"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9324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4E1F-53E7-A41A-E5AA-EEF3545F7B73}"/>
              </a:ext>
            </a:extLst>
          </p:cNvPr>
          <p:cNvSpPr>
            <a:spLocks noGrp="1"/>
          </p:cNvSpPr>
          <p:nvPr>
            <p:ph type="title"/>
          </p:nvPr>
        </p:nvSpPr>
        <p:spPr>
          <a:xfrm>
            <a:off x="313509" y="0"/>
            <a:ext cx="11652068" cy="931817"/>
          </a:xfrm>
        </p:spPr>
        <p:txBody>
          <a:bodyPr anchor="ctr">
            <a:normAutofit fontScale="90000"/>
          </a:bodyPr>
          <a:lstStyle/>
          <a:p>
            <a:r>
              <a:rPr lang="en-US" sz="2800" b="1" u="sng"/>
              <a:t>DSBs for Discovery </a:t>
            </a:r>
            <a:r>
              <a:rPr lang="en-US" sz="2800" b="1"/>
              <a:t>:  What Diseases are Covered by the DSB</a:t>
            </a:r>
            <a:r>
              <a:rPr lang="en-US" sz="2800" b="1" cap="none"/>
              <a:t>s?  </a:t>
            </a:r>
            <a:br>
              <a:rPr lang="en-US" sz="2800" b="1" cap="none"/>
            </a:br>
            <a:r>
              <a:rPr lang="en-US" sz="2800" b="1" cap="none"/>
              <a:t>						What if your new project’s indication isn’t on the list?</a:t>
            </a:r>
          </a:p>
        </p:txBody>
      </p:sp>
      <p:pic>
        <p:nvPicPr>
          <p:cNvPr id="5" name="Picture 4">
            <a:extLst>
              <a:ext uri="{FF2B5EF4-FFF2-40B4-BE49-F238E27FC236}">
                <a16:creationId xmlns:a16="http://schemas.microsoft.com/office/drawing/2014/main" id="{938C1485-BF5A-E03A-BF1B-B7FD62488635}"/>
              </a:ext>
            </a:extLst>
          </p:cNvPr>
          <p:cNvPicPr>
            <a:picLocks noChangeAspect="1"/>
          </p:cNvPicPr>
          <p:nvPr/>
        </p:nvPicPr>
        <p:blipFill>
          <a:blip r:embed="rId3"/>
          <a:stretch>
            <a:fillRect/>
          </a:stretch>
        </p:blipFill>
        <p:spPr>
          <a:xfrm>
            <a:off x="5809439" y="1098751"/>
            <a:ext cx="2229425" cy="5066879"/>
          </a:xfrm>
          <a:prstGeom prst="rect">
            <a:avLst/>
          </a:prstGeom>
          <a:noFill/>
          <a:ln w="22225">
            <a:solidFill>
              <a:schemeClr val="tx1"/>
            </a:solidFill>
          </a:ln>
        </p:spPr>
      </p:pic>
      <p:graphicFrame>
        <p:nvGraphicFramePr>
          <p:cNvPr id="9" name="Table 8">
            <a:extLst>
              <a:ext uri="{FF2B5EF4-FFF2-40B4-BE49-F238E27FC236}">
                <a16:creationId xmlns:a16="http://schemas.microsoft.com/office/drawing/2014/main" id="{EDBE4929-21DD-DD98-73B4-497C556EA891}"/>
              </a:ext>
            </a:extLst>
          </p:cNvPr>
          <p:cNvGraphicFramePr>
            <a:graphicFrameLocks noGrp="1"/>
          </p:cNvGraphicFramePr>
          <p:nvPr>
            <p:extLst>
              <p:ext uri="{D42A27DB-BD31-4B8C-83A1-F6EECF244321}">
                <p14:modId xmlns:p14="http://schemas.microsoft.com/office/powerpoint/2010/main" val="1165841634"/>
              </p:ext>
            </p:extLst>
          </p:nvPr>
        </p:nvGraphicFramePr>
        <p:xfrm>
          <a:off x="210810" y="1098749"/>
          <a:ext cx="5465460" cy="5066881"/>
        </p:xfrm>
        <a:graphic>
          <a:graphicData uri="http://schemas.openxmlformats.org/drawingml/2006/table">
            <a:tbl>
              <a:tblPr firstRow="1" bandRow="1"/>
              <a:tblGrid>
                <a:gridCol w="1882003">
                  <a:extLst>
                    <a:ext uri="{9D8B030D-6E8A-4147-A177-3AD203B41FA5}">
                      <a16:colId xmlns:a16="http://schemas.microsoft.com/office/drawing/2014/main" val="71935233"/>
                    </a:ext>
                  </a:extLst>
                </a:gridCol>
                <a:gridCol w="3583457">
                  <a:extLst>
                    <a:ext uri="{9D8B030D-6E8A-4147-A177-3AD203B41FA5}">
                      <a16:colId xmlns:a16="http://schemas.microsoft.com/office/drawing/2014/main" val="2954608322"/>
                    </a:ext>
                  </a:extLst>
                </a:gridCol>
              </a:tblGrid>
              <a:tr h="322358">
                <a:tc>
                  <a:txBody>
                    <a:bodyPr/>
                    <a:lstStyle/>
                    <a:p>
                      <a:pPr algn="ctr" fontAlgn="ctr"/>
                      <a:r>
                        <a:rPr lang="en-US" sz="1500" b="1" i="0" u="none" strike="noStrike">
                          <a:solidFill>
                            <a:schemeClr val="bg1"/>
                          </a:solidFill>
                          <a:effectLst/>
                          <a:latin typeface="Calibri" panose="020F0502020204030204" pitchFamily="34" charset="0"/>
                        </a:rPr>
                        <a:t>Disease Area</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ctr"/>
                      <a:r>
                        <a:rPr lang="en-US" sz="1500" b="1" i="0" u="none" strike="noStrike">
                          <a:solidFill>
                            <a:schemeClr val="bg1"/>
                          </a:solidFill>
                          <a:effectLst/>
                          <a:latin typeface="Calibri" panose="020F0502020204030204" pitchFamily="34" charset="0"/>
                        </a:rPr>
                        <a:t>2023 DSB</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703894949"/>
                  </a:ext>
                </a:extLst>
              </a:tr>
              <a:tr h="258788">
                <a:tc rowSpan="6">
                  <a:txBody>
                    <a:bodyPr/>
                    <a:lstStyle/>
                    <a:p>
                      <a:pPr algn="l" fontAlgn="ctr"/>
                      <a:r>
                        <a:rPr lang="en-US" sz="1300" b="1" i="0" u="none" strike="noStrike">
                          <a:solidFill>
                            <a:srgbClr val="000000"/>
                          </a:solidFill>
                          <a:effectLst/>
                          <a:latin typeface="Calibri" panose="020F0502020204030204" pitchFamily="34" charset="0"/>
                        </a:rPr>
                        <a:t>Diabetes and Diabetes Complications</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Type 2 Diabetes Non-Insulin</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8076169"/>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Insulin</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8388180"/>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Heart Failure (</a:t>
                      </a:r>
                      <a:r>
                        <a:rPr lang="en-US" sz="1100" b="0" i="0" u="none" strike="noStrike" err="1">
                          <a:solidFill>
                            <a:srgbClr val="000000"/>
                          </a:solidFill>
                          <a:effectLst/>
                          <a:latin typeface="Calibri" panose="020F0502020204030204" pitchFamily="34" charset="0"/>
                        </a:rPr>
                        <a:t>HFrEF</a:t>
                      </a:r>
                      <a:r>
                        <a:rPr lang="en-US" sz="1100" b="0" i="0" u="none" strike="noStrike">
                          <a:solidFill>
                            <a:srgbClr val="000000"/>
                          </a:solidFill>
                          <a:effectLst/>
                          <a:latin typeface="Calibri" panose="020F0502020204030204" pitchFamily="34" charset="0"/>
                        </a:rPr>
                        <a:t>, </a:t>
                      </a:r>
                      <a:r>
                        <a:rPr lang="en-US" sz="1100" b="0" i="0" u="none" strike="noStrike" err="1">
                          <a:solidFill>
                            <a:srgbClr val="000000"/>
                          </a:solidFill>
                          <a:effectLst/>
                          <a:latin typeface="Calibri" panose="020F0502020204030204" pitchFamily="34" charset="0"/>
                        </a:rPr>
                        <a:t>HFpEF</a:t>
                      </a:r>
                      <a:r>
                        <a:rPr lang="en-US" sz="1100" b="0" i="0" u="none" strike="noStrike">
                          <a:solidFill>
                            <a:srgbClr val="000000"/>
                          </a:solidFill>
                          <a:effectLst/>
                          <a:latin typeface="Calibri" panose="020F0502020204030204" pitchFamily="34" charset="0"/>
                        </a:rPr>
                        <a:t>)</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4093379"/>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Obesity</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8687062"/>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CKD – advanced disease (S3+)</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4365186"/>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ASCVD</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5626862"/>
                  </a:ext>
                </a:extLst>
              </a:tr>
              <a:tr h="449498">
                <a:tc rowSpan="2">
                  <a:txBody>
                    <a:bodyPr/>
                    <a:lstStyle/>
                    <a:p>
                      <a:pPr algn="l" fontAlgn="ctr"/>
                      <a:r>
                        <a:rPr lang="en-US" sz="1300" b="1" i="0" u="none" strike="noStrike">
                          <a:solidFill>
                            <a:srgbClr val="000000"/>
                          </a:solidFill>
                          <a:effectLst/>
                          <a:latin typeface="Calibri" panose="020F0502020204030204" pitchFamily="34" charset="0"/>
                        </a:rPr>
                        <a:t>Neurodegeneration</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Alzheimer’s Disease (Disease Modification) – Include guidance on Lewy Body Dementia</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8745806"/>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ALS / RNA, Gene Therapy</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0757472"/>
                  </a:ext>
                </a:extLst>
              </a:tr>
              <a:tr h="258788">
                <a:tc rowSpan="2">
                  <a:txBody>
                    <a:bodyPr/>
                    <a:lstStyle/>
                    <a:p>
                      <a:pPr algn="l" fontAlgn="ctr"/>
                      <a:r>
                        <a:rPr lang="en-US" sz="1300" b="1" i="0" u="none" strike="noStrike">
                          <a:solidFill>
                            <a:srgbClr val="000000"/>
                          </a:solidFill>
                          <a:effectLst/>
                          <a:latin typeface="Calibri" panose="020F0502020204030204" pitchFamily="34" charset="0"/>
                        </a:rPr>
                        <a:t>Pain</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Migraine Pain (Acute and Chronic)</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8140107"/>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Chronic Pain (OA, CLBP, and DPNP)</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9664204"/>
                  </a:ext>
                </a:extLst>
              </a:tr>
              <a:tr h="290573">
                <a:tc>
                  <a:txBody>
                    <a:bodyPr/>
                    <a:lstStyle/>
                    <a:p>
                      <a:pPr algn="l" fontAlgn="ctr"/>
                      <a:r>
                        <a:rPr lang="en-US" sz="1300" b="1" i="0" u="none" strike="noStrike">
                          <a:solidFill>
                            <a:srgbClr val="000000"/>
                          </a:solidFill>
                          <a:effectLst/>
                          <a:latin typeface="Calibri" panose="020F0502020204030204" pitchFamily="34" charset="0"/>
                        </a:rPr>
                        <a:t>Oncology</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Oncology</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2143819"/>
                  </a:ext>
                </a:extLst>
              </a:tr>
              <a:tr h="449498">
                <a:tc rowSpan="5">
                  <a:txBody>
                    <a:bodyPr/>
                    <a:lstStyle/>
                    <a:p>
                      <a:pPr algn="l" fontAlgn="ctr"/>
                      <a:r>
                        <a:rPr lang="en-US" sz="1300" b="1" i="0" u="none" strike="noStrike">
                          <a:solidFill>
                            <a:srgbClr val="000000"/>
                          </a:solidFill>
                          <a:effectLst/>
                          <a:latin typeface="Calibri" panose="020F0502020204030204" pitchFamily="34" charset="0"/>
                        </a:rPr>
                        <a:t>Immunology</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Rheumatoid Arthritis (includes guidance on PsA, AS, AxSpa)</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9769515"/>
                  </a:ext>
                </a:extLst>
              </a:tr>
              <a:tr h="258788">
                <a:tc vMerge="1">
                  <a:txBody>
                    <a:bodyPr/>
                    <a:lstStyle/>
                    <a:p>
                      <a:endParaRPr lang="en-US"/>
                    </a:p>
                  </a:txBody>
                  <a:tcPr/>
                </a:tc>
                <a:tc>
                  <a:txBody>
                    <a:bodyPr/>
                    <a:lstStyle/>
                    <a:p>
                      <a:pPr algn="l" fontAlgn="ctr"/>
                      <a:r>
                        <a:rPr lang="en-US" sz="1100" b="0" i="0" u="none" strike="noStrike">
                          <a:solidFill>
                            <a:schemeClr val="tx1"/>
                          </a:solidFill>
                          <a:effectLst/>
                          <a:latin typeface="Calibri" panose="020F0502020204030204" pitchFamily="34" charset="0"/>
                        </a:rPr>
                        <a:t>Lupus (SLE) (still under development)</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9712602"/>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Psoriasis</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668173"/>
                  </a:ext>
                </a:extLst>
              </a:tr>
              <a:tr h="25878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Atopic Dermatitis, inc AA</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3542391"/>
                  </a:ext>
                </a:extLst>
              </a:tr>
              <a:tr h="449498">
                <a:tc v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UC and Crohn’s Disease (include guidance on EOE if determined by DSB team)</a:t>
                      </a:r>
                    </a:p>
                  </a:txBody>
                  <a:tcPr marL="3261" marR="3261" marT="3261" marB="2347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3214041"/>
                  </a:ext>
                </a:extLst>
              </a:tr>
            </a:tbl>
          </a:graphicData>
        </a:graphic>
      </p:graphicFrame>
      <p:sp>
        <p:nvSpPr>
          <p:cNvPr id="3" name="TextBox 2">
            <a:extLst>
              <a:ext uri="{FF2B5EF4-FFF2-40B4-BE49-F238E27FC236}">
                <a16:creationId xmlns:a16="http://schemas.microsoft.com/office/drawing/2014/main" id="{A4E8F6F4-4E5E-3485-65F2-868884382108}"/>
              </a:ext>
            </a:extLst>
          </p:cNvPr>
          <p:cNvSpPr txBox="1"/>
          <p:nvPr/>
        </p:nvSpPr>
        <p:spPr>
          <a:xfrm>
            <a:off x="8038864" y="1028342"/>
            <a:ext cx="4018457" cy="5632311"/>
          </a:xfrm>
          <a:prstGeom prst="rect">
            <a:avLst/>
          </a:prstGeom>
          <a:noFill/>
        </p:spPr>
        <p:txBody>
          <a:bodyPr wrap="square" rtlCol="0">
            <a:spAutoFit/>
          </a:bodyPr>
          <a:lstStyle/>
          <a:p>
            <a:r>
              <a:rPr lang="en-US"/>
              <a:t>One size does not fit all. New Modalities are constantly being brought in which adds to increased complexities. Work with functions to right size or be directionally correct. Start with modalities that have longer timelines and work from there. Questions to ask when starting a program:</a:t>
            </a:r>
          </a:p>
          <a:p>
            <a:pPr marL="342900" indent="-342900">
              <a:buAutoNum type="arabicParenR"/>
            </a:pPr>
            <a:r>
              <a:rPr lang="en-US"/>
              <a:t>Do the CMC timelines and budget make sense for the project? Is there conjugation between different molecules – this adds time and spend to </a:t>
            </a:r>
            <a:r>
              <a:rPr lang="en-US" err="1"/>
              <a:t>mfg</a:t>
            </a:r>
            <a:r>
              <a:rPr lang="en-US"/>
              <a:t> both pieces</a:t>
            </a:r>
          </a:p>
          <a:p>
            <a:pPr marL="342900" indent="-342900">
              <a:buAutoNum type="arabicParenR"/>
            </a:pPr>
            <a:r>
              <a:rPr lang="en-US"/>
              <a:t>Are there additional Tox studies that will need to be perform?</a:t>
            </a:r>
          </a:p>
          <a:p>
            <a:pPr marL="342900" indent="-342900">
              <a:buAutoNum type="arabicParenR"/>
            </a:pPr>
            <a:r>
              <a:rPr lang="en-US"/>
              <a:t>Is there an additional function that needs to be brought in? (example ARCs require </a:t>
            </a:r>
            <a:r>
              <a:rPr lang="en-US" err="1"/>
              <a:t>BioTDR</a:t>
            </a:r>
            <a:r>
              <a:rPr lang="en-US"/>
              <a:t> and </a:t>
            </a:r>
            <a:r>
              <a:rPr lang="en-US" err="1"/>
              <a:t>GenMeds</a:t>
            </a:r>
            <a:r>
              <a:rPr lang="en-US"/>
              <a:t>)</a:t>
            </a:r>
          </a:p>
          <a:p>
            <a:pPr marL="342900" indent="-342900">
              <a:buAutoNum type="arabicParenR"/>
            </a:pPr>
            <a:r>
              <a:rPr lang="en-US"/>
              <a:t>Review with team and functions to see if changes make sense </a:t>
            </a:r>
          </a:p>
        </p:txBody>
      </p:sp>
      <p:sp>
        <p:nvSpPr>
          <p:cNvPr id="4" name="TextBox 3">
            <a:extLst>
              <a:ext uri="{FF2B5EF4-FFF2-40B4-BE49-F238E27FC236}">
                <a16:creationId xmlns:a16="http://schemas.microsoft.com/office/drawing/2014/main" id="{06C829FC-EE18-0008-1A55-43F152E199E8}"/>
              </a:ext>
            </a:extLst>
          </p:cNvPr>
          <p:cNvSpPr txBox="1"/>
          <p:nvPr/>
        </p:nvSpPr>
        <p:spPr>
          <a:xfrm>
            <a:off x="313509" y="6418729"/>
            <a:ext cx="3290303" cy="369332"/>
          </a:xfrm>
          <a:prstGeom prst="rect">
            <a:avLst/>
          </a:prstGeom>
          <a:noFill/>
        </p:spPr>
        <p:txBody>
          <a:bodyPr wrap="square" rtlCol="0">
            <a:spAutoFit/>
          </a:bodyPr>
          <a:lstStyle/>
          <a:p>
            <a:r>
              <a:rPr lang="en-US"/>
              <a:t>… </a:t>
            </a:r>
            <a:r>
              <a:rPr lang="en-US">
                <a:hlinkClick r:id="rId4"/>
              </a:rPr>
              <a:t>2023 RDs</a:t>
            </a:r>
            <a:endParaRPr lang="en-US"/>
          </a:p>
        </p:txBody>
      </p:sp>
      <p:sp>
        <p:nvSpPr>
          <p:cNvPr id="6" name="Oval 5">
            <a:extLst>
              <a:ext uri="{FF2B5EF4-FFF2-40B4-BE49-F238E27FC236}">
                <a16:creationId xmlns:a16="http://schemas.microsoft.com/office/drawing/2014/main" id="{461D98FA-B3A2-92F1-23D4-F61B9C0FDE60}"/>
              </a:ext>
            </a:extLst>
          </p:cNvPr>
          <p:cNvSpPr/>
          <p:nvPr/>
        </p:nvSpPr>
        <p:spPr>
          <a:xfrm>
            <a:off x="5809438" y="1335024"/>
            <a:ext cx="975409" cy="457200"/>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206AD045-C6BB-97AD-56FC-8CD1CCE1FD04}"/>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3608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Milestone Confidence Levels – Discovery</a:t>
            </a:r>
          </a:p>
        </p:txBody>
      </p:sp>
      <p:sp>
        <p:nvSpPr>
          <p:cNvPr id="8" name="Content Placeholder 7">
            <a:extLst>
              <a:ext uri="{FF2B5EF4-FFF2-40B4-BE49-F238E27FC236}">
                <a16:creationId xmlns:a16="http://schemas.microsoft.com/office/drawing/2014/main" id="{71F8616F-4879-C6B2-002F-F5C49CCA7144}"/>
              </a:ext>
            </a:extLst>
          </p:cNvPr>
          <p:cNvSpPr>
            <a:spLocks noGrp="1"/>
          </p:cNvSpPr>
          <p:nvPr>
            <p:ph idx="1"/>
          </p:nvPr>
        </p:nvSpPr>
        <p:spPr>
          <a:xfrm>
            <a:off x="275435" y="1112909"/>
            <a:ext cx="11641130" cy="1590896"/>
          </a:xfrm>
        </p:spPr>
        <p:txBody>
          <a:bodyPr>
            <a:normAutofit fontScale="92500" lnSpcReduction="20000"/>
          </a:bodyPr>
          <a:lstStyle/>
          <a:p>
            <a:pPr marL="89297" defTabSz="685800">
              <a:defRPr/>
            </a:pPr>
            <a:r>
              <a:rPr lang="en-US" sz="2000">
                <a:solidFill>
                  <a:prstClr val="black"/>
                </a:solidFill>
                <a:latin typeface="Calibri" panose="020F0502020204030204"/>
              </a:rPr>
              <a:t>A confidence level applied to a major milestone provides operational </a:t>
            </a:r>
            <a:r>
              <a:rPr lang="en-US" sz="1800">
                <a:solidFill>
                  <a:prstClr val="black"/>
                </a:solidFill>
                <a:latin typeface="Calibri" panose="020F0502020204030204"/>
              </a:rPr>
              <a:t>certainty of achieving that milestones.</a:t>
            </a:r>
          </a:p>
          <a:p>
            <a:pPr marL="546497" lvl="1" defTabSz="685800">
              <a:defRPr/>
            </a:pPr>
            <a:r>
              <a:rPr lang="en-US" sz="1800">
                <a:solidFill>
                  <a:prstClr val="black"/>
                </a:solidFill>
                <a:latin typeface="Calibri" panose="020F0502020204030204"/>
              </a:rPr>
              <a:t>Provides more granularity for other groups reviewing the portfolio to make decisions.</a:t>
            </a:r>
          </a:p>
          <a:p>
            <a:pPr marL="89297" defTabSz="685800">
              <a:defRPr/>
            </a:pPr>
            <a:r>
              <a:rPr lang="en-US" sz="2000">
                <a:solidFill>
                  <a:prstClr val="black"/>
                </a:solidFill>
                <a:latin typeface="Calibri" panose="020F0502020204030204"/>
              </a:rPr>
              <a:t>Downstream milestone confidence levels should be viewed as the possibility of achieving them within 1Q of predicted date.</a:t>
            </a:r>
          </a:p>
          <a:p>
            <a:pPr marL="489347" lvl="1" defTabSz="685800">
              <a:defRPr/>
            </a:pPr>
            <a:r>
              <a:rPr lang="en-US" sz="1800">
                <a:solidFill>
                  <a:prstClr val="black"/>
                </a:solidFill>
                <a:latin typeface="Calibri" panose="020F0502020204030204"/>
              </a:rPr>
              <a:t>Best Practice:  As a project progresses and achieves a milestone, downstream milestones within that year should be updated to Medium confidence, if they were listed as Archetype</a:t>
            </a:r>
          </a:p>
        </p:txBody>
      </p:sp>
      <p:sp>
        <p:nvSpPr>
          <p:cNvPr id="4" name="Date Placeholder 3"/>
          <p:cNvSpPr>
            <a:spLocks noGrp="1"/>
          </p:cNvSpPr>
          <p:nvPr>
            <p:ph type="dt" sz="half" idx="10"/>
          </p:nvPr>
        </p:nvSpPr>
        <p:spPr/>
        <p:txBody>
          <a:bodyPr/>
          <a:lstStyle/>
          <a:p>
            <a:pPr algn="r" defTabSz="457200">
              <a:defRPr/>
            </a:pPr>
            <a:fld id="{EFFD0C0F-614A-4583-831D-E8BC5D5430EB}" type="datetime1">
              <a:rPr lang="en-US" sz="800">
                <a:solidFill>
                  <a:srgbClr val="82785C"/>
                </a:solidFill>
                <a:latin typeface="Arial"/>
                <a:cs typeface="Arial"/>
              </a:rPr>
              <a:pPr algn="r" defTabSz="457200">
                <a:defRPr/>
              </a:pPr>
              <a:t>9/1/2026</a:t>
            </a:fld>
            <a:endParaRPr lang="en-US" sz="800">
              <a:solidFill>
                <a:srgbClr val="82785C"/>
              </a:solidFill>
              <a:latin typeface="Arial"/>
              <a:cs typeface="Arial"/>
            </a:endParaRPr>
          </a:p>
        </p:txBody>
      </p:sp>
      <p:sp>
        <p:nvSpPr>
          <p:cNvPr id="5" name="Footer Placeholder 4"/>
          <p:cNvSpPr>
            <a:spLocks noGrp="1"/>
          </p:cNvSpPr>
          <p:nvPr>
            <p:ph type="ftr" sz="quarter" idx="11"/>
          </p:nvPr>
        </p:nvSpPr>
        <p:spPr/>
        <p:txBody>
          <a:bodyPr/>
          <a:lstStyle/>
          <a:p>
            <a:pPr algn="r" defTabSz="457200">
              <a:defRPr/>
            </a:pPr>
            <a:r>
              <a:rPr lang="en-US" sz="800">
                <a:solidFill>
                  <a:srgbClr val="82785C"/>
                </a:solidFill>
                <a:latin typeface="Arial"/>
              </a:rPr>
              <a:t>Company Confidential  © 2024 Eli Lilly and Company </a:t>
            </a:r>
          </a:p>
        </p:txBody>
      </p:sp>
      <p:sp>
        <p:nvSpPr>
          <p:cNvPr id="6" name="Slide Number Placeholder 5"/>
          <p:cNvSpPr>
            <a:spLocks noGrp="1"/>
          </p:cNvSpPr>
          <p:nvPr>
            <p:ph type="sldNum" sz="quarter" idx="12"/>
          </p:nvPr>
        </p:nvSpPr>
        <p:spPr/>
        <p:txBody>
          <a:bodyPr/>
          <a:lstStyle/>
          <a:p>
            <a:pPr defTabSz="457200">
              <a:defRPr/>
            </a:pPr>
            <a:fld id="{1DA079B0-34FF-9449-83ED-AEDF3F6C1CC6}" type="slidenum">
              <a:rPr lang="en-US" sz="800">
                <a:solidFill>
                  <a:srgbClr val="82785C"/>
                </a:solidFill>
                <a:latin typeface="Arial"/>
                <a:cs typeface="Arial"/>
              </a:rPr>
              <a:pPr defTabSz="457200">
                <a:defRPr/>
              </a:pPr>
              <a:t>20</a:t>
            </a:fld>
            <a:endParaRPr lang="en-US" sz="800">
              <a:solidFill>
                <a:srgbClr val="82785C"/>
              </a:solidFill>
              <a:latin typeface="Arial"/>
              <a:cs typeface="Arial"/>
            </a:endParaRPr>
          </a:p>
        </p:txBody>
      </p:sp>
      <p:graphicFrame>
        <p:nvGraphicFramePr>
          <p:cNvPr id="3" name="Table 2">
            <a:extLst>
              <a:ext uri="{FF2B5EF4-FFF2-40B4-BE49-F238E27FC236}">
                <a16:creationId xmlns:a16="http://schemas.microsoft.com/office/drawing/2014/main" id="{E38D73A8-4DC0-6E78-BE74-44C917C44140}"/>
              </a:ext>
            </a:extLst>
          </p:cNvPr>
          <p:cNvGraphicFramePr>
            <a:graphicFrameLocks noGrp="1"/>
          </p:cNvGraphicFramePr>
          <p:nvPr>
            <p:extLst>
              <p:ext uri="{D42A27DB-BD31-4B8C-83A1-F6EECF244321}">
                <p14:modId xmlns:p14="http://schemas.microsoft.com/office/powerpoint/2010/main" val="457246227"/>
              </p:ext>
            </p:extLst>
          </p:nvPr>
        </p:nvGraphicFramePr>
        <p:xfrm>
          <a:off x="7801765" y="3882495"/>
          <a:ext cx="4114800" cy="2621280"/>
        </p:xfrm>
        <a:graphic>
          <a:graphicData uri="http://schemas.openxmlformats.org/drawingml/2006/table">
            <a:tbl>
              <a:tblPr>
                <a:tableStyleId>{08FB837D-C827-4EFA-A057-4D05807E0F7C}</a:tableStyleId>
              </a:tblPr>
              <a:tblGrid>
                <a:gridCol w="1897315">
                  <a:extLst>
                    <a:ext uri="{9D8B030D-6E8A-4147-A177-3AD203B41FA5}">
                      <a16:colId xmlns:a16="http://schemas.microsoft.com/office/drawing/2014/main" val="4180653840"/>
                    </a:ext>
                  </a:extLst>
                </a:gridCol>
                <a:gridCol w="2217485">
                  <a:extLst>
                    <a:ext uri="{9D8B030D-6E8A-4147-A177-3AD203B41FA5}">
                      <a16:colId xmlns:a16="http://schemas.microsoft.com/office/drawing/2014/main" val="2686776802"/>
                    </a:ext>
                  </a:extLst>
                </a:gridCol>
              </a:tblGrid>
              <a:tr h="198707">
                <a:tc>
                  <a:txBody>
                    <a:bodyPr/>
                    <a:lstStyle/>
                    <a:p>
                      <a:pPr algn="ctr" fontAlgn="base"/>
                      <a:r>
                        <a:rPr lang="en-US" sz="1800" b="1" i="0">
                          <a:solidFill>
                            <a:schemeClr val="bg1"/>
                          </a:solidFill>
                          <a:effectLst/>
                        </a:rPr>
                        <a:t>Confidence Level: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63C3C"/>
                    </a:solidFill>
                  </a:tcPr>
                </a:tc>
                <a:tc>
                  <a:txBody>
                    <a:bodyPr/>
                    <a:lstStyle/>
                    <a:p>
                      <a:pPr algn="ctr" fontAlgn="base"/>
                      <a:r>
                        <a:rPr lang="en-US" sz="1800" b="1" i="0">
                          <a:solidFill>
                            <a:schemeClr val="bg1"/>
                          </a:solidFill>
                          <a:effectLst/>
                        </a:rPr>
                        <a:t>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63C3C"/>
                    </a:solidFill>
                  </a:tcPr>
                </a:tc>
                <a:extLst>
                  <a:ext uri="{0D108BD9-81ED-4DB2-BD59-A6C34878D82A}">
                    <a16:rowId xmlns:a16="http://schemas.microsoft.com/office/drawing/2014/main" val="944904369"/>
                  </a:ext>
                </a:extLst>
              </a:tr>
              <a:tr h="304800">
                <a:tc>
                  <a:txBody>
                    <a:bodyPr/>
                    <a:lstStyle/>
                    <a:p>
                      <a:pPr algn="ctr" fontAlgn="base"/>
                      <a:r>
                        <a:rPr lang="en-US" sz="1600" b="0">
                          <a:solidFill>
                            <a:srgbClr val="000000"/>
                          </a:solidFill>
                          <a:effectLst/>
                        </a:rPr>
                        <a:t>HIGH​</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tc>
                  <a:txBody>
                    <a:bodyPr/>
                    <a:lstStyle/>
                    <a:p>
                      <a:pPr algn="ctr" fontAlgn="base"/>
                      <a:r>
                        <a:rPr lang="en-US" sz="1600" b="0">
                          <a:solidFill>
                            <a:srgbClr val="000000"/>
                          </a:solidFill>
                          <a:effectLst/>
                        </a:rPr>
                        <a:t>&gt;80%​</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extLst>
                  <a:ext uri="{0D108BD9-81ED-4DB2-BD59-A6C34878D82A}">
                    <a16:rowId xmlns:a16="http://schemas.microsoft.com/office/drawing/2014/main" val="3480057943"/>
                  </a:ext>
                </a:extLst>
              </a:tr>
              <a:tr h="304800">
                <a:tc>
                  <a:txBody>
                    <a:bodyPr/>
                    <a:lstStyle/>
                    <a:p>
                      <a:pPr algn="ctr" fontAlgn="base"/>
                      <a:r>
                        <a:rPr lang="en-US" sz="1600" b="0">
                          <a:solidFill>
                            <a:srgbClr val="000000"/>
                          </a:solidFill>
                          <a:effectLst/>
                        </a:rPr>
                        <a:t>MEDIUM​</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tc>
                  <a:txBody>
                    <a:bodyPr/>
                    <a:lstStyle/>
                    <a:p>
                      <a:pPr algn="ctr" fontAlgn="base"/>
                      <a:r>
                        <a:rPr lang="en-US" sz="1600" b="0">
                          <a:solidFill>
                            <a:srgbClr val="000000"/>
                          </a:solidFill>
                          <a:effectLst/>
                        </a:rPr>
                        <a:t>50-80%​</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extLst>
                  <a:ext uri="{0D108BD9-81ED-4DB2-BD59-A6C34878D82A}">
                    <a16:rowId xmlns:a16="http://schemas.microsoft.com/office/drawing/2014/main" val="623053808"/>
                  </a:ext>
                </a:extLst>
              </a:tr>
              <a:tr h="304800">
                <a:tc>
                  <a:txBody>
                    <a:bodyPr/>
                    <a:lstStyle/>
                    <a:p>
                      <a:pPr algn="ctr" fontAlgn="base"/>
                      <a:r>
                        <a:rPr lang="en-US" sz="1600" b="0">
                          <a:solidFill>
                            <a:srgbClr val="000000"/>
                          </a:solidFill>
                          <a:effectLst/>
                        </a:rPr>
                        <a:t>LOW​</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tc>
                  <a:txBody>
                    <a:bodyPr/>
                    <a:lstStyle/>
                    <a:p>
                      <a:pPr algn="ctr" fontAlgn="base"/>
                      <a:r>
                        <a:rPr lang="en-US" sz="1600" b="0">
                          <a:solidFill>
                            <a:srgbClr val="000000"/>
                          </a:solidFill>
                          <a:effectLst/>
                        </a:rPr>
                        <a:t>25-50%​</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extLst>
                  <a:ext uri="{0D108BD9-81ED-4DB2-BD59-A6C34878D82A}">
                    <a16:rowId xmlns:a16="http://schemas.microsoft.com/office/drawing/2014/main" val="2606412878"/>
                  </a:ext>
                </a:extLst>
              </a:tr>
              <a:tr h="279400">
                <a:tc>
                  <a:txBody>
                    <a:bodyPr/>
                    <a:lstStyle/>
                    <a:p>
                      <a:pPr algn="ctr" fontAlgn="base"/>
                      <a:r>
                        <a:rPr lang="en-US" sz="1600" b="0">
                          <a:solidFill>
                            <a:srgbClr val="000000"/>
                          </a:solidFill>
                          <a:effectLst/>
                        </a:rPr>
                        <a:t>VERY LOW​</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tc>
                  <a:txBody>
                    <a:bodyPr/>
                    <a:lstStyle/>
                    <a:p>
                      <a:pPr algn="ctr" fontAlgn="base"/>
                      <a:r>
                        <a:rPr lang="en-US" sz="1600" b="0">
                          <a:solidFill>
                            <a:srgbClr val="000000"/>
                          </a:solidFill>
                          <a:effectLst/>
                        </a:rPr>
                        <a:t>&lt;25%​</a:t>
                      </a:r>
                      <a:endParaRPr lang="en-US" sz="1400" b="0" i="0">
                        <a:solidFill>
                          <a:srgbClr val="000000"/>
                        </a:solidFill>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extLst>
                  <a:ext uri="{0D108BD9-81ED-4DB2-BD59-A6C34878D82A}">
                    <a16:rowId xmlns:a16="http://schemas.microsoft.com/office/drawing/2014/main" val="3036035427"/>
                  </a:ext>
                </a:extLst>
              </a:tr>
              <a:tr h="384048">
                <a:tc>
                  <a:txBody>
                    <a:bodyPr/>
                    <a:lstStyle/>
                    <a:p>
                      <a:pPr algn="ctr" fontAlgn="base"/>
                      <a:r>
                        <a:rPr lang="en-US" sz="1600" b="0">
                          <a:solidFill>
                            <a:srgbClr val="000000"/>
                          </a:solidFill>
                          <a:effectLst/>
                        </a:rPr>
                        <a:t>PENDING CHANGE​</a:t>
                      </a:r>
                      <a:endParaRPr lang="en-US" sz="1400" b="0" i="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tc>
                  <a:txBody>
                    <a:bodyPr/>
                    <a:lstStyle/>
                    <a:p>
                      <a:pPr algn="ctr" fontAlgn="base"/>
                      <a:r>
                        <a:rPr lang="en-US" sz="1200" b="0">
                          <a:solidFill>
                            <a:srgbClr val="000000"/>
                          </a:solidFill>
                          <a:effectLst/>
                        </a:rPr>
                        <a:t>Milestone date is in flux or </a:t>
                      </a:r>
                      <a:br>
                        <a:rPr lang="en-US" sz="1200" b="0">
                          <a:solidFill>
                            <a:srgbClr val="000000"/>
                          </a:solidFill>
                          <a:effectLst/>
                        </a:rPr>
                      </a:br>
                      <a:r>
                        <a:rPr lang="en-US" sz="1200" b="0">
                          <a:solidFill>
                            <a:srgbClr val="000000"/>
                          </a:solidFill>
                          <a:effectLst/>
                        </a:rPr>
                        <a:t>not yet governance approved</a:t>
                      </a:r>
                      <a:endParaRPr lang="en-US" sz="1200" b="0" i="0">
                        <a:solidFill>
                          <a:srgbClr val="000000"/>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extLst>
                  <a:ext uri="{0D108BD9-81ED-4DB2-BD59-A6C34878D82A}">
                    <a16:rowId xmlns:a16="http://schemas.microsoft.com/office/drawing/2014/main" val="3248949491"/>
                  </a:ext>
                </a:extLst>
              </a:tr>
              <a:tr h="384048">
                <a:tc>
                  <a:txBody>
                    <a:bodyPr/>
                    <a:lstStyle/>
                    <a:p>
                      <a:pPr algn="ctr" fontAlgn="base"/>
                      <a:r>
                        <a:rPr lang="en-US" sz="1600" b="0">
                          <a:solidFill>
                            <a:srgbClr val="000000"/>
                          </a:solidFill>
                          <a:effectLst/>
                        </a:rPr>
                        <a:t>ARCHETYPE</a:t>
                      </a:r>
                      <a:endParaRPr lang="en-US" sz="1400" b="0" i="0">
                        <a:solidFill>
                          <a:srgbClr val="00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tc>
                  <a:txBody>
                    <a:bodyPr/>
                    <a:lstStyle/>
                    <a:p>
                      <a:pPr marL="0" marR="0" lvl="0" indent="0" algn="ctr" defTabSz="457200" rtl="0" eaLnBrk="1" fontAlgn="base" latinLnBrk="0" hangingPunct="1">
                        <a:lnSpc>
                          <a:spcPct val="100000"/>
                        </a:lnSpc>
                        <a:spcBef>
                          <a:spcPts val="0"/>
                        </a:spcBef>
                        <a:spcAft>
                          <a:spcPts val="0"/>
                        </a:spcAft>
                        <a:buClrTx/>
                        <a:buSzTx/>
                        <a:buFontTx/>
                        <a:buNone/>
                        <a:tabLst/>
                        <a:defRPr/>
                      </a:pPr>
                      <a:r>
                        <a:rPr lang="en-US" sz="1200" b="0">
                          <a:solidFill>
                            <a:srgbClr val="000000"/>
                          </a:solidFill>
                          <a:effectLst/>
                        </a:rPr>
                        <a:t>Milestone date not yet planned </a:t>
                      </a:r>
                      <a:br>
                        <a:rPr lang="en-US" sz="1200" b="0">
                          <a:solidFill>
                            <a:srgbClr val="000000"/>
                          </a:solidFill>
                          <a:effectLst/>
                        </a:rPr>
                      </a:br>
                      <a:r>
                        <a:rPr lang="en-US" sz="1200" b="0">
                          <a:solidFill>
                            <a:srgbClr val="000000"/>
                          </a:solidFill>
                          <a:effectLst/>
                        </a:rPr>
                        <a:t>( &gt; 18-24 months out)</a:t>
                      </a:r>
                      <a:endParaRPr lang="en-US" sz="1200" b="0" i="0">
                        <a:solidFill>
                          <a:srgbClr val="000000"/>
                        </a:solidFill>
                        <a:effectLst/>
                        <a:latin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ACAC"/>
                    </a:solidFill>
                  </a:tcPr>
                </a:tc>
                <a:extLst>
                  <a:ext uri="{0D108BD9-81ED-4DB2-BD59-A6C34878D82A}">
                    <a16:rowId xmlns:a16="http://schemas.microsoft.com/office/drawing/2014/main" val="231992225"/>
                  </a:ext>
                </a:extLst>
              </a:tr>
            </a:tbl>
          </a:graphicData>
        </a:graphic>
      </p:graphicFrame>
      <p:sp>
        <p:nvSpPr>
          <p:cNvPr id="7" name="TextBox 6">
            <a:extLst>
              <a:ext uri="{FF2B5EF4-FFF2-40B4-BE49-F238E27FC236}">
                <a16:creationId xmlns:a16="http://schemas.microsoft.com/office/drawing/2014/main" id="{41FE19E1-0531-C80D-0C9F-8BBB46E53B16}"/>
              </a:ext>
            </a:extLst>
          </p:cNvPr>
          <p:cNvSpPr txBox="1"/>
          <p:nvPr/>
        </p:nvSpPr>
        <p:spPr>
          <a:xfrm>
            <a:off x="275435" y="2948034"/>
            <a:ext cx="7385453" cy="3539430"/>
          </a:xfrm>
          <a:prstGeom prst="rect">
            <a:avLst/>
          </a:prstGeom>
          <a:noFill/>
        </p:spPr>
        <p:txBody>
          <a:bodyPr wrap="square" rtlCol="0">
            <a:spAutoFit/>
          </a:bodyPr>
          <a:lstStyle/>
          <a:p>
            <a:r>
              <a:rPr lang="en-US" sz="2400" b="1" u="sng"/>
              <a:t>Discovery:</a:t>
            </a:r>
          </a:p>
          <a:p>
            <a:pPr marL="285750" indent="-285750">
              <a:buFontTx/>
              <a:buChar char="-"/>
            </a:pPr>
            <a:r>
              <a:rPr lang="en-US" sz="2000"/>
              <a:t>Because the Discovery space is both very dynamic and often ambiguous with new modalities, Confidence Level tends be either Medium or Archetype</a:t>
            </a:r>
          </a:p>
          <a:p>
            <a:pPr marL="285750" indent="-285750">
              <a:buFontTx/>
              <a:buChar char="-"/>
            </a:pPr>
            <a:endParaRPr lang="en-US" sz="2000"/>
          </a:p>
          <a:p>
            <a:pPr marL="285750" indent="-285750">
              <a:buFontTx/>
              <a:buChar char="-"/>
            </a:pPr>
            <a:r>
              <a:rPr lang="en-US" sz="2000"/>
              <a:t>Exceptions:</a:t>
            </a:r>
          </a:p>
          <a:p>
            <a:pPr marL="742950" lvl="1" indent="-285750">
              <a:buFontTx/>
              <a:buChar char="-"/>
            </a:pPr>
            <a:r>
              <a:rPr lang="en-US" sz="2000"/>
              <a:t>When a project has selected a PE date and the TPC time slot is scheduled, change the PE probability to High</a:t>
            </a:r>
          </a:p>
          <a:p>
            <a:pPr marL="742950" lvl="1" indent="-285750">
              <a:buFontTx/>
              <a:buChar char="-"/>
            </a:pPr>
            <a:r>
              <a:rPr lang="en-US" sz="2000"/>
              <a:t>Archetype is sometimes used for a new modality to create some order and a starting point, even though a DSB does not exist (and therefore there is no archetype)</a:t>
            </a:r>
          </a:p>
        </p:txBody>
      </p:sp>
      <p:sp>
        <p:nvSpPr>
          <p:cNvPr id="9" name="Star: 5 Points 8">
            <a:extLst>
              <a:ext uri="{FF2B5EF4-FFF2-40B4-BE49-F238E27FC236}">
                <a16:creationId xmlns:a16="http://schemas.microsoft.com/office/drawing/2014/main" id="{251EFCD2-3069-6FB1-C4D0-3BCDFD4B3629}"/>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88814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36650-368A-310B-539E-180F4B783C7F}"/>
              </a:ext>
            </a:extLst>
          </p:cNvPr>
          <p:cNvSpPr>
            <a:spLocks noGrp="1"/>
          </p:cNvSpPr>
          <p:nvPr>
            <p:ph type="title"/>
          </p:nvPr>
        </p:nvSpPr>
        <p:spPr/>
        <p:txBody>
          <a:bodyPr/>
          <a:lstStyle/>
          <a:p>
            <a:r>
              <a:rPr lang="en-US"/>
              <a:t>Discovery budgets – Building and Maintaining</a:t>
            </a:r>
          </a:p>
        </p:txBody>
      </p:sp>
      <p:sp>
        <p:nvSpPr>
          <p:cNvPr id="3" name="Content Placeholder 2">
            <a:extLst>
              <a:ext uri="{FF2B5EF4-FFF2-40B4-BE49-F238E27FC236}">
                <a16:creationId xmlns:a16="http://schemas.microsoft.com/office/drawing/2014/main" id="{3640A02A-0769-D91A-C7D5-8FB1295259BE}"/>
              </a:ext>
            </a:extLst>
          </p:cNvPr>
          <p:cNvSpPr>
            <a:spLocks noGrp="1"/>
          </p:cNvSpPr>
          <p:nvPr>
            <p:ph idx="1"/>
          </p:nvPr>
        </p:nvSpPr>
        <p:spPr>
          <a:xfrm>
            <a:off x="207264" y="1069812"/>
            <a:ext cx="11499544" cy="5517604"/>
          </a:xfrm>
        </p:spPr>
        <p:txBody>
          <a:bodyPr>
            <a:normAutofit fontScale="85000" lnSpcReduction="20000"/>
          </a:bodyPr>
          <a:lstStyle/>
          <a:p>
            <a:r>
              <a:rPr lang="en-US" b="1"/>
              <a:t>Pre-PE</a:t>
            </a:r>
          </a:p>
          <a:p>
            <a:pPr lvl="1"/>
            <a:r>
              <a:rPr lang="en-US"/>
              <a:t>Lead team through RUAT, document and make changes in Prism if different from Archetype PE-FHD for your modality</a:t>
            </a:r>
          </a:p>
          <a:p>
            <a:pPr lvl="1"/>
            <a:r>
              <a:rPr lang="en-US"/>
              <a:t>Upload modified RUAT to PMO site for documentation</a:t>
            </a:r>
          </a:p>
          <a:p>
            <a:pPr lvl="1"/>
            <a:r>
              <a:rPr lang="en-US"/>
              <a:t>Update milestones in Prism for your project</a:t>
            </a:r>
          </a:p>
          <a:p>
            <a:pPr lvl="1"/>
            <a:r>
              <a:rPr lang="en-US"/>
              <a:t>Pull budget and add high-level bullet to TPC slide deck cover page, noting cost and any significant differences from Archetype </a:t>
            </a:r>
          </a:p>
          <a:p>
            <a:endParaRPr lang="en-US"/>
          </a:p>
          <a:p>
            <a:r>
              <a:rPr lang="en-US" b="1"/>
              <a:t>Post-PE</a:t>
            </a:r>
          </a:p>
          <a:p>
            <a:pPr lvl="1"/>
            <a:r>
              <a:rPr lang="en-US"/>
              <a:t>Pull budgets periodically to make sure team is on track</a:t>
            </a:r>
          </a:p>
          <a:p>
            <a:pPr lvl="1"/>
            <a:r>
              <a:rPr lang="en-US"/>
              <a:t>Frequency depends on current activities and TA, Finance’s preference</a:t>
            </a:r>
          </a:p>
          <a:p>
            <a:endParaRPr lang="en-US"/>
          </a:p>
          <a:p>
            <a:r>
              <a:rPr lang="en-US" b="1"/>
              <a:t>When in doubt, reach out</a:t>
            </a:r>
          </a:p>
          <a:p>
            <a:pPr lvl="1"/>
            <a:r>
              <a:rPr lang="en-US"/>
              <a:t>Finance, RM&amp;F/PMET, Functions</a:t>
            </a:r>
          </a:p>
          <a:p>
            <a:pPr lvl="1"/>
            <a:endParaRPr lang="en-US"/>
          </a:p>
          <a:p>
            <a:endParaRPr lang="en-US"/>
          </a:p>
        </p:txBody>
      </p:sp>
      <p:sp>
        <p:nvSpPr>
          <p:cNvPr id="4" name="Date Placeholder 3">
            <a:extLst>
              <a:ext uri="{FF2B5EF4-FFF2-40B4-BE49-F238E27FC236}">
                <a16:creationId xmlns:a16="http://schemas.microsoft.com/office/drawing/2014/main" id="{7CACB622-D1EC-611A-163A-918284576EB5}"/>
              </a:ext>
            </a:extLst>
          </p:cNvPr>
          <p:cNvSpPr>
            <a:spLocks noGrp="1"/>
          </p:cNvSpPr>
          <p:nvPr>
            <p:ph type="dt" sz="half" idx="10"/>
          </p:nvPr>
        </p:nvSpPr>
        <p:spPr/>
        <p:txBody>
          <a:bodyPr/>
          <a:lstStyle/>
          <a:p>
            <a:r>
              <a:rPr lang="en-US"/>
              <a:t>SAPR R&amp;D Strategy Review Template</a:t>
            </a:r>
          </a:p>
        </p:txBody>
      </p:sp>
      <p:sp>
        <p:nvSpPr>
          <p:cNvPr id="5" name="Footer Placeholder 4">
            <a:extLst>
              <a:ext uri="{FF2B5EF4-FFF2-40B4-BE49-F238E27FC236}">
                <a16:creationId xmlns:a16="http://schemas.microsoft.com/office/drawing/2014/main" id="{E4C251E5-1BDB-14BD-306D-DAF392BF8F6E}"/>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87948F22-52C6-FE81-0D95-EE55F9094A86}"/>
              </a:ext>
            </a:extLst>
          </p:cNvPr>
          <p:cNvSpPr>
            <a:spLocks noGrp="1"/>
          </p:cNvSpPr>
          <p:nvPr>
            <p:ph type="sldNum" sz="quarter" idx="12"/>
          </p:nvPr>
        </p:nvSpPr>
        <p:spPr/>
        <p:txBody>
          <a:bodyPr/>
          <a:lstStyle/>
          <a:p>
            <a:fld id="{1DA079B0-34FF-9449-83ED-AEDF3F6C1CC6}" type="slidenum">
              <a:rPr lang="en-US" smtClean="0"/>
              <a:pPr/>
              <a:t>21</a:t>
            </a:fld>
            <a:endParaRPr lang="en-US"/>
          </a:p>
        </p:txBody>
      </p:sp>
      <p:sp>
        <p:nvSpPr>
          <p:cNvPr id="7" name="Star: 5 Points 6">
            <a:extLst>
              <a:ext uri="{FF2B5EF4-FFF2-40B4-BE49-F238E27FC236}">
                <a16:creationId xmlns:a16="http://schemas.microsoft.com/office/drawing/2014/main" id="{DC8276B3-050E-1BC1-CC46-6944B4124C58}"/>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4049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7CDE7F6-433E-1EA2-F4F4-9E5D169B615D}"/>
              </a:ext>
            </a:extLst>
          </p:cNvPr>
          <p:cNvSpPr>
            <a:spLocks noGrp="1"/>
          </p:cNvSpPr>
          <p:nvPr>
            <p:ph type="title"/>
          </p:nvPr>
        </p:nvSpPr>
        <p:spPr/>
        <p:txBody>
          <a:bodyPr>
            <a:normAutofit/>
          </a:bodyPr>
          <a:lstStyle/>
          <a:p>
            <a:r>
              <a:rPr lang="en-US" sz="4000" b="1"/>
              <a:t>Portfolio Entry to Candidate Identification (CI)</a:t>
            </a:r>
          </a:p>
        </p:txBody>
      </p:sp>
      <p:sp>
        <p:nvSpPr>
          <p:cNvPr id="3" name="Date Placeholder 2">
            <a:extLst>
              <a:ext uri="{FF2B5EF4-FFF2-40B4-BE49-F238E27FC236}">
                <a16:creationId xmlns:a16="http://schemas.microsoft.com/office/drawing/2014/main" id="{6CA15F40-3589-D546-6254-87FE32362979}"/>
              </a:ext>
            </a:extLst>
          </p:cNvPr>
          <p:cNvSpPr>
            <a:spLocks noGrp="1"/>
          </p:cNvSpPr>
          <p:nvPr>
            <p:ph type="dt" sz="half" idx="4294967295"/>
          </p:nvPr>
        </p:nvSpPr>
        <p:spPr>
          <a:xfrm>
            <a:off x="1524000" y="6356351"/>
            <a:ext cx="2133600" cy="365125"/>
          </a:xfrm>
        </p:spPr>
        <p:txBody>
          <a:bodyPr/>
          <a:lstStyle/>
          <a:p>
            <a:fld id="{63E5B9EF-4CB0-44EC-8E33-599E52A6232F}" type="datetime1">
              <a:rPr lang="en-US" smtClean="0"/>
              <a:pPr/>
              <a:t>9/1/2026</a:t>
            </a:fld>
            <a:endParaRPr lang="en-US"/>
          </a:p>
        </p:txBody>
      </p:sp>
      <p:sp>
        <p:nvSpPr>
          <p:cNvPr id="4" name="Footer Placeholder 3">
            <a:extLst>
              <a:ext uri="{FF2B5EF4-FFF2-40B4-BE49-F238E27FC236}">
                <a16:creationId xmlns:a16="http://schemas.microsoft.com/office/drawing/2014/main" id="{FEA93A57-960E-1502-42C2-52B26496A3CF}"/>
              </a:ext>
            </a:extLst>
          </p:cNvPr>
          <p:cNvSpPr>
            <a:spLocks noGrp="1"/>
          </p:cNvSpPr>
          <p:nvPr>
            <p:ph type="ftr" sz="quarter" idx="4294967295"/>
          </p:nvPr>
        </p:nvSpPr>
        <p:spPr>
          <a:xfrm>
            <a:off x="1524000" y="6356351"/>
            <a:ext cx="2895600" cy="365125"/>
          </a:xfrm>
        </p:spPr>
        <p:txBody>
          <a:bodyPr/>
          <a:lstStyle/>
          <a:p>
            <a:r>
              <a:rPr lang="en-US"/>
              <a:t>Company Confidential  ©2021 Eli Lilly and Company </a:t>
            </a:r>
          </a:p>
        </p:txBody>
      </p:sp>
    </p:spTree>
    <p:extLst>
      <p:ext uri="{BB962C8B-B14F-4D97-AF65-F5344CB8AC3E}">
        <p14:creationId xmlns:p14="http://schemas.microsoft.com/office/powerpoint/2010/main" val="1204319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D84FE-FAF4-6D72-0A70-ECDC0BF800D2}"/>
              </a:ext>
            </a:extLst>
          </p:cNvPr>
          <p:cNvSpPr>
            <a:spLocks noGrp="1"/>
          </p:cNvSpPr>
          <p:nvPr>
            <p:ph type="title"/>
          </p:nvPr>
        </p:nvSpPr>
        <p:spPr/>
        <p:txBody>
          <a:bodyPr/>
          <a:lstStyle/>
          <a:p>
            <a:r>
              <a:rPr lang="en-US"/>
              <a:t>PE to CI Team Management</a:t>
            </a:r>
          </a:p>
        </p:txBody>
      </p:sp>
      <p:sp>
        <p:nvSpPr>
          <p:cNvPr id="3" name="Content Placeholder 2">
            <a:extLst>
              <a:ext uri="{FF2B5EF4-FFF2-40B4-BE49-F238E27FC236}">
                <a16:creationId xmlns:a16="http://schemas.microsoft.com/office/drawing/2014/main" id="{664A68B4-128F-F7F4-52D6-6216E1445634}"/>
              </a:ext>
            </a:extLst>
          </p:cNvPr>
          <p:cNvSpPr>
            <a:spLocks noGrp="1"/>
          </p:cNvSpPr>
          <p:nvPr>
            <p:ph idx="1"/>
          </p:nvPr>
        </p:nvSpPr>
        <p:spPr>
          <a:xfrm>
            <a:off x="353121" y="1016000"/>
            <a:ext cx="11485757" cy="5571416"/>
          </a:xfrm>
        </p:spPr>
        <p:txBody>
          <a:bodyPr>
            <a:normAutofit fontScale="77500" lnSpcReduction="20000"/>
          </a:bodyPr>
          <a:lstStyle/>
          <a:p>
            <a:r>
              <a:rPr lang="en-US" dirty="0"/>
              <a:t>Once your team has achieved PE, the Discovery COO/PPM team is responsible for:</a:t>
            </a:r>
          </a:p>
          <a:p>
            <a:pPr lvl="1"/>
            <a:r>
              <a:rPr lang="en-US" dirty="0"/>
              <a:t>Driving teams to achieve approved plan to CI/CS on time, on budget</a:t>
            </a:r>
          </a:p>
          <a:p>
            <a:pPr lvl="1"/>
            <a:r>
              <a:rPr lang="en-US" dirty="0"/>
              <a:t>Create some structure, in preparation for handoff to Early Phase Development</a:t>
            </a:r>
          </a:p>
          <a:p>
            <a:endParaRPr lang="en-US" dirty="0"/>
          </a:p>
          <a:p>
            <a:pPr lvl="1"/>
            <a:r>
              <a:rPr lang="en-US" dirty="0"/>
              <a:t>Recurring meetings recommended:</a:t>
            </a:r>
          </a:p>
          <a:p>
            <a:pPr lvl="2"/>
            <a:r>
              <a:rPr lang="en-US" dirty="0"/>
              <a:t>Core or Lead Team  (STL, MIH Lead, COO, PPM, key functional leads)</a:t>
            </a:r>
          </a:p>
          <a:p>
            <a:pPr lvl="3"/>
            <a:r>
              <a:rPr lang="en-US" dirty="0"/>
              <a:t>Leads provide updates on key data readouts; COO/PPM monitors deliverables and updates timeline, budget</a:t>
            </a:r>
          </a:p>
          <a:p>
            <a:pPr lvl="3"/>
            <a:r>
              <a:rPr lang="en-US" dirty="0"/>
              <a:t>Smaller than Working Group meetings and less focused on day-to-day scientific details </a:t>
            </a:r>
          </a:p>
          <a:p>
            <a:pPr lvl="2"/>
            <a:r>
              <a:rPr lang="en-US" dirty="0"/>
              <a:t>Ops or Strategy Team  (</a:t>
            </a:r>
            <a:r>
              <a:rPr lang="en-US"/>
              <a:t>STL, MIH Lead, </a:t>
            </a:r>
            <a:r>
              <a:rPr lang="en-US" dirty="0"/>
              <a:t>COO, PPM only)</a:t>
            </a:r>
          </a:p>
          <a:p>
            <a:pPr lvl="3"/>
            <a:r>
              <a:rPr lang="en-US" dirty="0"/>
              <a:t>High-level plans and team progress/health discussions; little science discussed</a:t>
            </a:r>
          </a:p>
          <a:p>
            <a:pPr lvl="1"/>
            <a:r>
              <a:rPr lang="en-US" dirty="0"/>
              <a:t>Consider creating a Core/Lead Team Team’s site  (Label it Red CCI, make Private)</a:t>
            </a:r>
          </a:p>
          <a:p>
            <a:pPr lvl="2"/>
            <a:r>
              <a:rPr lang="en-US" dirty="0"/>
              <a:t>Get team organized</a:t>
            </a:r>
          </a:p>
          <a:p>
            <a:pPr lvl="3"/>
            <a:r>
              <a:rPr lang="en-US" dirty="0"/>
              <a:t>Add PM operational tools, folders for governance slides, </a:t>
            </a:r>
            <a:r>
              <a:rPr lang="en-US" dirty="0" err="1"/>
              <a:t>etc</a:t>
            </a:r>
            <a:r>
              <a:rPr lang="en-US" dirty="0"/>
              <a:t>  (i.e. meeting agenda tracker, action item tracker, RD, BOD slides)</a:t>
            </a:r>
          </a:p>
          <a:p>
            <a:pPr lvl="1"/>
            <a:r>
              <a:rPr lang="en-US" dirty="0"/>
              <a:t>Check budget periodically to keep team on track</a:t>
            </a:r>
          </a:p>
          <a:p>
            <a:pPr lvl="1"/>
            <a:r>
              <a:rPr lang="en-US" dirty="0"/>
              <a:t>Update RD when needed</a:t>
            </a:r>
          </a:p>
          <a:p>
            <a:pPr lvl="1"/>
            <a:r>
              <a:rPr lang="en-US" dirty="0"/>
              <a:t>Communicate, communicate, communicate</a:t>
            </a:r>
          </a:p>
        </p:txBody>
      </p:sp>
      <p:sp>
        <p:nvSpPr>
          <p:cNvPr id="4" name="Date Placeholder 3">
            <a:extLst>
              <a:ext uri="{FF2B5EF4-FFF2-40B4-BE49-F238E27FC236}">
                <a16:creationId xmlns:a16="http://schemas.microsoft.com/office/drawing/2014/main" id="{DA34E172-F5A8-3F51-F3DF-1034F3FC85CC}"/>
              </a:ext>
            </a:extLst>
          </p:cNvPr>
          <p:cNvSpPr>
            <a:spLocks noGrp="1"/>
          </p:cNvSpPr>
          <p:nvPr>
            <p:ph type="dt" sz="half" idx="10"/>
          </p:nvPr>
        </p:nvSpPr>
        <p:spPr/>
        <p:txBody>
          <a:bodyPr/>
          <a:lstStyle/>
          <a:p>
            <a:r>
              <a:rPr lang="en-US"/>
              <a:t>SAPR R&amp;D Strategy Review Template</a:t>
            </a:r>
          </a:p>
        </p:txBody>
      </p:sp>
      <p:sp>
        <p:nvSpPr>
          <p:cNvPr id="5" name="Footer Placeholder 4">
            <a:extLst>
              <a:ext uri="{FF2B5EF4-FFF2-40B4-BE49-F238E27FC236}">
                <a16:creationId xmlns:a16="http://schemas.microsoft.com/office/drawing/2014/main" id="{DFFD73B3-E2A6-ADEB-AE60-6A5C33F66C68}"/>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1469D9C5-7D05-5051-FDEC-433B41F0B75C}"/>
              </a:ext>
            </a:extLst>
          </p:cNvPr>
          <p:cNvSpPr>
            <a:spLocks noGrp="1"/>
          </p:cNvSpPr>
          <p:nvPr>
            <p:ph type="sldNum" sz="quarter" idx="12"/>
          </p:nvPr>
        </p:nvSpPr>
        <p:spPr/>
        <p:txBody>
          <a:bodyPr/>
          <a:lstStyle/>
          <a:p>
            <a:fld id="{1DA079B0-34FF-9449-83ED-AEDF3F6C1CC6}" type="slidenum">
              <a:rPr lang="en-US" smtClean="0"/>
              <a:pPr/>
              <a:t>23</a:t>
            </a:fld>
            <a:endParaRPr lang="en-US"/>
          </a:p>
        </p:txBody>
      </p:sp>
      <p:sp>
        <p:nvSpPr>
          <p:cNvPr id="7" name="Star: 5 Points 6">
            <a:extLst>
              <a:ext uri="{FF2B5EF4-FFF2-40B4-BE49-F238E27FC236}">
                <a16:creationId xmlns:a16="http://schemas.microsoft.com/office/drawing/2014/main" id="{CC840EA1-D6E6-3BC8-39E2-850AAD5E5E2A}"/>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22838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84D61-0432-F7F7-014D-1EC09C1C9B99}"/>
              </a:ext>
            </a:extLst>
          </p:cNvPr>
          <p:cNvSpPr>
            <a:spLocks noGrp="1"/>
          </p:cNvSpPr>
          <p:nvPr>
            <p:ph type="title"/>
          </p:nvPr>
        </p:nvSpPr>
        <p:spPr>
          <a:xfrm>
            <a:off x="615180" y="157550"/>
            <a:ext cx="10515600" cy="634188"/>
          </a:xfrm>
        </p:spPr>
        <p:txBody>
          <a:bodyPr>
            <a:normAutofit fontScale="90000"/>
          </a:bodyPr>
          <a:lstStyle/>
          <a:p>
            <a:r>
              <a:rPr lang="en-US" b="1"/>
              <a:t>How to be successful in Discovery?</a:t>
            </a:r>
          </a:p>
        </p:txBody>
      </p:sp>
      <p:sp>
        <p:nvSpPr>
          <p:cNvPr id="3" name="Content Placeholder 2">
            <a:extLst>
              <a:ext uri="{FF2B5EF4-FFF2-40B4-BE49-F238E27FC236}">
                <a16:creationId xmlns:a16="http://schemas.microsoft.com/office/drawing/2014/main" id="{0F1106C7-417C-AEA4-8BAC-B93659ACFA09}"/>
              </a:ext>
            </a:extLst>
          </p:cNvPr>
          <p:cNvSpPr>
            <a:spLocks noGrp="1"/>
          </p:cNvSpPr>
          <p:nvPr>
            <p:ph idx="1"/>
          </p:nvPr>
        </p:nvSpPr>
        <p:spPr>
          <a:xfrm>
            <a:off x="524107" y="1095495"/>
            <a:ext cx="11117766" cy="5323777"/>
          </a:xfrm>
        </p:spPr>
        <p:txBody>
          <a:bodyPr>
            <a:normAutofit fontScale="77500" lnSpcReduction="20000"/>
          </a:bodyPr>
          <a:lstStyle/>
          <a:p>
            <a:r>
              <a:rPr lang="en-US" sz="3200" u="sng"/>
              <a:t>Linda and </a:t>
            </a:r>
            <a:r>
              <a:rPr lang="en-US" sz="3200" u="sng" err="1"/>
              <a:t>Beebs</a:t>
            </a:r>
            <a:r>
              <a:rPr lang="en-US" u="sng" err="1"/>
              <a:t>’s</a:t>
            </a:r>
            <a:r>
              <a:rPr lang="en-US" u="sng"/>
              <a:t> </a:t>
            </a:r>
            <a:r>
              <a:rPr lang="en-US" sz="3200" u="sng"/>
              <a:t>- Top 5:</a:t>
            </a:r>
          </a:p>
          <a:p>
            <a:pPr marL="1163337" lvl="1" indent="-619100">
              <a:buFont typeface="+mj-lt"/>
              <a:buAutoNum type="arabicPeriod"/>
            </a:pPr>
            <a:endParaRPr lang="en-US" sz="2667"/>
          </a:p>
          <a:p>
            <a:pPr marL="1163337" lvl="1" indent="-619100">
              <a:buFont typeface="+mj-lt"/>
              <a:buAutoNum type="arabicPeriod"/>
            </a:pPr>
            <a:r>
              <a:rPr lang="en-US" sz="2667" b="1"/>
              <a:t>Listen</a:t>
            </a:r>
          </a:p>
          <a:p>
            <a:pPr marL="1001437" lvl="2" indent="0">
              <a:buNone/>
            </a:pPr>
            <a:r>
              <a:rPr lang="en-US" sz="1867"/>
              <a:t>	“</a:t>
            </a:r>
            <a:r>
              <a:rPr lang="en-US"/>
              <a:t>Seek First to Understand” principle – Steven Covey</a:t>
            </a:r>
            <a:endParaRPr lang="en-US" sz="1867"/>
          </a:p>
          <a:p>
            <a:pPr marL="1163337" lvl="1" indent="-619100">
              <a:buFont typeface="+mj-lt"/>
              <a:buAutoNum type="arabicPeriod"/>
            </a:pPr>
            <a:r>
              <a:rPr lang="en-US" sz="2667" b="1"/>
              <a:t>Ask questions and be humble </a:t>
            </a:r>
          </a:p>
          <a:p>
            <a:pPr marL="1001437" lvl="2" indent="0">
              <a:buNone/>
            </a:pPr>
            <a:r>
              <a:rPr lang="en-US" sz="2267"/>
              <a:t>	</a:t>
            </a:r>
            <a:r>
              <a:rPr lang="en-US"/>
              <a:t>Discovery is just that – science is inherently humbling </a:t>
            </a:r>
            <a:r>
              <a:rPr lang="en-US">
                <a:sym typeface="Wingdings" panose="05000000000000000000" pitchFamily="2" charset="2"/>
              </a:rPr>
              <a:t> </a:t>
            </a:r>
            <a:r>
              <a:rPr lang="en-US"/>
              <a:t>there’s so much to learn and find creative solutions to make new medicines!  Be brave to say “I don’t know” or “I don’t understand” – you can lead clarity in communications for teammates and stakeholders (act as Translator)</a:t>
            </a:r>
          </a:p>
          <a:p>
            <a:pPr marL="1163337" lvl="1" indent="-619100">
              <a:buFont typeface="+mj-lt"/>
              <a:buAutoNum type="arabicPeriod"/>
            </a:pPr>
            <a:r>
              <a:rPr lang="en-US" sz="2667" b="1"/>
              <a:t>Communicate to ensure alignment</a:t>
            </a:r>
          </a:p>
          <a:p>
            <a:pPr marL="1001437" lvl="2" indent="0">
              <a:buNone/>
            </a:pPr>
            <a:r>
              <a:rPr lang="en-US" sz="2267"/>
              <a:t>	</a:t>
            </a:r>
            <a:r>
              <a:rPr lang="en-US"/>
              <a:t>Herding cats is a key skill here!  Verify that your VPs and functional partners align</a:t>
            </a:r>
          </a:p>
          <a:p>
            <a:pPr marL="1163337" lvl="1" indent="-619100">
              <a:buFont typeface="+mj-lt"/>
              <a:buAutoNum type="arabicPeriod"/>
            </a:pPr>
            <a:r>
              <a:rPr lang="en-US" sz="2667" b="1"/>
              <a:t>Establish strong relationships with your key partners</a:t>
            </a:r>
          </a:p>
          <a:p>
            <a:pPr marL="1020444" lvl="2" indent="0">
              <a:buNone/>
            </a:pPr>
            <a:r>
              <a:rPr lang="en-US" sz="2333"/>
              <a:t>	</a:t>
            </a:r>
            <a:r>
              <a:rPr lang="en-US"/>
              <a:t>TA VP(s), PMO, RM&amp;F and Functional contacts (Tox, ADME, PR&amp;D, Clinical, Competitive Intelligence, New Product Planning, Decision Sciences).  Sometimes it’s more important Who You Know than What You Know (leverage your functions and your network to navigate the ambiguity)</a:t>
            </a:r>
          </a:p>
          <a:p>
            <a:pPr marL="1163337" lvl="1" indent="-619100">
              <a:buFont typeface="+mj-lt"/>
              <a:buAutoNum type="arabicPeriod"/>
            </a:pPr>
            <a:r>
              <a:rPr lang="en-US" sz="2667" b="1"/>
              <a:t>Be flexible, calm, pragmatic</a:t>
            </a:r>
          </a:p>
          <a:p>
            <a:pPr marL="1001437" lvl="2" indent="0">
              <a:buNone/>
            </a:pPr>
            <a:r>
              <a:rPr lang="en-US" sz="2267"/>
              <a:t>	</a:t>
            </a:r>
            <a:r>
              <a:rPr lang="en-US"/>
              <a:t>This is a dynamic, often ambiguous space to navigate, and your teams need you to lead them through it with calm confidence!  Being comfortable with ambiguity is a must</a:t>
            </a:r>
          </a:p>
          <a:p>
            <a:pPr marL="544237" lvl="1" indent="0">
              <a:buNone/>
            </a:pPr>
            <a:endParaRPr lang="en-US" sz="2667"/>
          </a:p>
          <a:p>
            <a:pPr marL="1163337" lvl="1" indent="-619100">
              <a:buFont typeface="+mj-lt"/>
              <a:buAutoNum type="arabicPeriod"/>
            </a:pPr>
            <a:endParaRPr lang="en-US" sz="2667"/>
          </a:p>
          <a:p>
            <a:pPr lvl="1"/>
            <a:endParaRPr lang="en-US" sz="2667"/>
          </a:p>
        </p:txBody>
      </p:sp>
      <p:sp>
        <p:nvSpPr>
          <p:cNvPr id="4" name="Date Placeholder 3">
            <a:extLst>
              <a:ext uri="{FF2B5EF4-FFF2-40B4-BE49-F238E27FC236}">
                <a16:creationId xmlns:a16="http://schemas.microsoft.com/office/drawing/2014/main" id="{1BFB552F-2234-57EF-3B8F-27AA3D451B4D}"/>
              </a:ext>
            </a:extLst>
          </p:cNvPr>
          <p:cNvSpPr>
            <a:spLocks noGrp="1"/>
          </p:cNvSpPr>
          <p:nvPr>
            <p:ph type="dt" sz="half" idx="10"/>
          </p:nvPr>
        </p:nvSpPr>
        <p:spPr/>
        <p:txBody>
          <a:bodyPr/>
          <a:lstStyle/>
          <a:p>
            <a:pPr>
              <a:defRPr/>
            </a:pPr>
            <a:fld id="{C05910C0-F0E4-3B4A-8D46-358441509B60}" type="datetime1">
              <a:rPr lang="en-US" smtClean="0"/>
              <a:pPr>
                <a:defRPr/>
              </a:pPr>
              <a:t>9/1/2026</a:t>
            </a:fld>
            <a:endParaRPr lang="en-US"/>
          </a:p>
        </p:txBody>
      </p:sp>
      <p:sp>
        <p:nvSpPr>
          <p:cNvPr id="5" name="Footer Placeholder 4">
            <a:extLst>
              <a:ext uri="{FF2B5EF4-FFF2-40B4-BE49-F238E27FC236}">
                <a16:creationId xmlns:a16="http://schemas.microsoft.com/office/drawing/2014/main" id="{440BF289-212F-3DDD-E398-7C3233E1D6CC}"/>
              </a:ext>
            </a:extLst>
          </p:cNvPr>
          <p:cNvSpPr>
            <a:spLocks noGrp="1"/>
          </p:cNvSpPr>
          <p:nvPr>
            <p:ph type="ftr" sz="quarter" idx="11"/>
          </p:nvPr>
        </p:nvSpPr>
        <p:spPr/>
        <p:txBody>
          <a:bodyPr/>
          <a:lstStyle/>
          <a:p>
            <a:pPr>
              <a:defRPr/>
            </a:pPr>
            <a:r>
              <a:rPr lang="en-US"/>
              <a:t>Company Confidential  ©2019 Eli Lilly and Company </a:t>
            </a:r>
          </a:p>
        </p:txBody>
      </p:sp>
      <p:sp>
        <p:nvSpPr>
          <p:cNvPr id="6" name="Slide Number Placeholder 5">
            <a:extLst>
              <a:ext uri="{FF2B5EF4-FFF2-40B4-BE49-F238E27FC236}">
                <a16:creationId xmlns:a16="http://schemas.microsoft.com/office/drawing/2014/main" id="{4FAF30D2-AEC7-F015-6639-C93E7C57CE74}"/>
              </a:ext>
            </a:extLst>
          </p:cNvPr>
          <p:cNvSpPr>
            <a:spLocks noGrp="1"/>
          </p:cNvSpPr>
          <p:nvPr>
            <p:ph type="sldNum" sz="quarter" idx="12"/>
          </p:nvPr>
        </p:nvSpPr>
        <p:spPr/>
        <p:txBody>
          <a:bodyPr/>
          <a:lstStyle/>
          <a:p>
            <a:pPr>
              <a:defRPr/>
            </a:pPr>
            <a:fld id="{D6E4A9EC-2F93-AA4A-8BF5-70DF04282848}" type="slidenum">
              <a:rPr lang="en-US" smtClean="0"/>
              <a:pPr>
                <a:defRPr/>
              </a:pPr>
              <a:t>24</a:t>
            </a:fld>
            <a:endParaRPr lang="en-US"/>
          </a:p>
        </p:txBody>
      </p:sp>
      <p:sp>
        <p:nvSpPr>
          <p:cNvPr id="7" name="Star: 5 Points 6">
            <a:extLst>
              <a:ext uri="{FF2B5EF4-FFF2-40B4-BE49-F238E27FC236}">
                <a16:creationId xmlns:a16="http://schemas.microsoft.com/office/drawing/2014/main" id="{5B9F0CDC-DF43-ECF1-F4B0-AFCDE3B69257}"/>
              </a:ext>
            </a:extLst>
          </p:cNvPr>
          <p:cNvSpPr/>
          <p:nvPr/>
        </p:nvSpPr>
        <p:spPr>
          <a:xfrm>
            <a:off x="11070336" y="173718"/>
            <a:ext cx="786384" cy="630936"/>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71411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38380-8C07-119C-95B1-8B137482C0D5}"/>
              </a:ext>
            </a:extLst>
          </p:cNvPr>
          <p:cNvSpPr>
            <a:spLocks noGrp="1"/>
          </p:cNvSpPr>
          <p:nvPr>
            <p:ph type="title"/>
          </p:nvPr>
        </p:nvSpPr>
        <p:spPr/>
        <p:txBody>
          <a:bodyPr>
            <a:normAutofit/>
          </a:bodyPr>
          <a:lstStyle/>
          <a:p>
            <a:r>
              <a:rPr lang="en-US" sz="5400"/>
              <a:t>Q&amp;A</a:t>
            </a:r>
          </a:p>
        </p:txBody>
      </p:sp>
    </p:spTree>
    <p:extLst>
      <p:ext uri="{BB962C8B-B14F-4D97-AF65-F5344CB8AC3E}">
        <p14:creationId xmlns:p14="http://schemas.microsoft.com/office/powerpoint/2010/main" val="3637577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AB07-D441-7F2F-2FC1-1F1F06187AC2}"/>
              </a:ext>
            </a:extLst>
          </p:cNvPr>
          <p:cNvSpPr>
            <a:spLocks noGrp="1"/>
          </p:cNvSpPr>
          <p:nvPr>
            <p:ph type="ctrTitle"/>
          </p:nvPr>
        </p:nvSpPr>
        <p:spPr/>
        <p:txBody>
          <a:bodyPr>
            <a:normAutofit/>
          </a:bodyPr>
          <a:lstStyle/>
          <a:p>
            <a:r>
              <a:rPr lang="en-US" sz="4800" b="1"/>
              <a:t>BACKUP</a:t>
            </a:r>
          </a:p>
        </p:txBody>
      </p:sp>
      <p:sp>
        <p:nvSpPr>
          <p:cNvPr id="5" name="Footer Placeholder 4">
            <a:extLst>
              <a:ext uri="{FF2B5EF4-FFF2-40B4-BE49-F238E27FC236}">
                <a16:creationId xmlns:a16="http://schemas.microsoft.com/office/drawing/2014/main" id="{12EAE04F-D354-94C1-7EEB-13948DE3D637}"/>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1D0AE3C0-7BD6-33E1-A6ED-AD11AD2A9781}"/>
              </a:ext>
            </a:extLst>
          </p:cNvPr>
          <p:cNvSpPr>
            <a:spLocks noGrp="1"/>
          </p:cNvSpPr>
          <p:nvPr>
            <p:ph type="sldNum" sz="quarter" idx="12"/>
          </p:nvPr>
        </p:nvSpPr>
        <p:spPr/>
        <p:txBody>
          <a:bodyPr/>
          <a:lstStyle/>
          <a:p>
            <a:fld id="{1DA079B0-34FF-9449-83ED-AEDF3F6C1CC6}" type="slidenum">
              <a:rPr lang="en-US" smtClean="0"/>
              <a:pPr/>
              <a:t>26</a:t>
            </a:fld>
            <a:endParaRPr lang="en-US"/>
          </a:p>
        </p:txBody>
      </p:sp>
    </p:spTree>
    <p:extLst>
      <p:ext uri="{BB962C8B-B14F-4D97-AF65-F5344CB8AC3E}">
        <p14:creationId xmlns:p14="http://schemas.microsoft.com/office/powerpoint/2010/main" val="1486544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84BDFD5-2156-4FCB-B877-71B5BB06495F}"/>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1776E"/>
                </a:solidFill>
                <a:effectLst/>
                <a:uLnTx/>
                <a:uFillTx/>
                <a:latin typeface="DIN Pro" panose="02000503040000020003" pitchFamily="50" charset="0"/>
                <a:cs typeface="+mn-cs"/>
              </a:rPr>
              <a:t>Company Confidential  ©2022 Eli Lilly and Company </a:t>
            </a:r>
          </a:p>
        </p:txBody>
      </p:sp>
      <p:sp>
        <p:nvSpPr>
          <p:cNvPr id="4" name="Slide Number Placeholder 3">
            <a:extLst>
              <a:ext uri="{FF2B5EF4-FFF2-40B4-BE49-F238E27FC236}">
                <a16:creationId xmlns:a16="http://schemas.microsoft.com/office/drawing/2014/main" id="{3E4BE327-280C-482D-B09F-7165D3032773}"/>
              </a:ext>
            </a:extLst>
          </p:cNvPr>
          <p:cNvSpPr>
            <a:spLocks noGrp="1"/>
          </p:cNvSpPr>
          <p:nvPr>
            <p:ph type="sldNum"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E80B146-301A-481F-8D59-328DC994CDDA}" type="slidenum">
              <a:rPr kumimoji="0" lang="en-US" sz="800" b="0" i="0" u="none" strike="noStrike" kern="1200" cap="none" spc="0" normalizeH="0" baseline="0" noProof="0" smtClean="0">
                <a:ln>
                  <a:noFill/>
                </a:ln>
                <a:solidFill>
                  <a:srgbClr val="81776E"/>
                </a:solidFill>
                <a:effectLst/>
                <a:uLnTx/>
                <a:uFillTx/>
                <a:latin typeface="DIN Pro" panose="02000503040000020003" pitchFamily="50" charset="0"/>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81776E"/>
              </a:solidFill>
              <a:effectLst/>
              <a:uLnTx/>
              <a:uFillTx/>
              <a:latin typeface="DIN Pro" panose="02000503040000020003" pitchFamily="50" charset="0"/>
              <a:cs typeface="+mn-cs"/>
            </a:endParaRPr>
          </a:p>
        </p:txBody>
      </p:sp>
      <p:sp>
        <p:nvSpPr>
          <p:cNvPr id="5" name="Title 4">
            <a:extLst>
              <a:ext uri="{FF2B5EF4-FFF2-40B4-BE49-F238E27FC236}">
                <a16:creationId xmlns:a16="http://schemas.microsoft.com/office/drawing/2014/main" id="{3C41F313-336B-4F60-A6A0-C136DEE95658}"/>
              </a:ext>
            </a:extLst>
          </p:cNvPr>
          <p:cNvSpPr>
            <a:spLocks noGrp="1"/>
          </p:cNvSpPr>
          <p:nvPr>
            <p:ph type="title"/>
          </p:nvPr>
        </p:nvSpPr>
        <p:spPr>
          <a:xfrm>
            <a:off x="585789" y="537882"/>
            <a:ext cx="11054714" cy="455141"/>
          </a:xfrm>
        </p:spPr>
        <p:txBody>
          <a:bodyPr>
            <a:normAutofit/>
          </a:bodyPr>
          <a:lstStyle/>
          <a:p>
            <a:r>
              <a:rPr lang="en-US"/>
              <a:t>Target Portfolio Committee</a:t>
            </a:r>
          </a:p>
        </p:txBody>
      </p:sp>
      <p:sp>
        <p:nvSpPr>
          <p:cNvPr id="7" name="Text Placeholder 5">
            <a:extLst>
              <a:ext uri="{FF2B5EF4-FFF2-40B4-BE49-F238E27FC236}">
                <a16:creationId xmlns:a16="http://schemas.microsoft.com/office/drawing/2014/main" id="{66D93FC6-8B66-48B2-F6E1-DA350B35D633}"/>
              </a:ext>
            </a:extLst>
          </p:cNvPr>
          <p:cNvSpPr>
            <a:spLocks noGrp="1"/>
          </p:cNvSpPr>
          <p:nvPr>
            <p:ph type="body" sz="quarter" idx="13"/>
          </p:nvPr>
        </p:nvSpPr>
        <p:spPr>
          <a:xfrm>
            <a:off x="565632" y="163298"/>
            <a:ext cx="10750390" cy="261611"/>
          </a:xfrm>
        </p:spPr>
        <p:txBody>
          <a:bodyPr>
            <a:normAutofit/>
          </a:bodyPr>
          <a:lstStyle/>
          <a:p>
            <a:r>
              <a:rPr lang="en-US" sz="1000"/>
              <a:t>How we make better and better decisions – Next Generation R&amp;D Portfolio Oversight</a:t>
            </a:r>
          </a:p>
        </p:txBody>
      </p:sp>
      <p:sp>
        <p:nvSpPr>
          <p:cNvPr id="9" name="Content Placeholder 8">
            <a:extLst>
              <a:ext uri="{FF2B5EF4-FFF2-40B4-BE49-F238E27FC236}">
                <a16:creationId xmlns:a16="http://schemas.microsoft.com/office/drawing/2014/main" id="{512E9EE1-A804-42A2-81EC-45DFFDFB466B}"/>
              </a:ext>
            </a:extLst>
          </p:cNvPr>
          <p:cNvSpPr>
            <a:spLocks noGrp="1"/>
          </p:cNvSpPr>
          <p:nvPr>
            <p:ph idx="1"/>
          </p:nvPr>
        </p:nvSpPr>
        <p:spPr>
          <a:xfrm>
            <a:off x="2052814" y="2384010"/>
            <a:ext cx="10553134" cy="323772"/>
          </a:xfrm>
        </p:spPr>
        <p:txBody>
          <a:bodyPr>
            <a:normAutofit fontScale="25000" lnSpcReduction="20000"/>
          </a:bodyPr>
          <a:lstStyle/>
          <a:p>
            <a:pPr>
              <a:lnSpc>
                <a:spcPct val="134000"/>
              </a:lnSpc>
              <a:spcBef>
                <a:spcPts val="0"/>
              </a:spcBef>
              <a:spcAft>
                <a:spcPts val="1200"/>
              </a:spcAft>
            </a:pPr>
            <a:r>
              <a:rPr lang="en-GB" sz="8000" b="0" cap="none">
                <a:latin typeface="DIN Pro"/>
              </a:rPr>
              <a:t>TA Target Portfolio Strategy and its translation into aligned Target and Portfolio Entries. </a:t>
            </a:r>
            <a:endParaRPr lang="en-US" sz="8000" b="0" cap="none">
              <a:latin typeface="DIN Pro"/>
            </a:endParaRPr>
          </a:p>
          <a:p>
            <a:endParaRPr lang="en-US"/>
          </a:p>
        </p:txBody>
      </p:sp>
      <p:sp>
        <p:nvSpPr>
          <p:cNvPr id="2" name="TextBox 1">
            <a:extLst>
              <a:ext uri="{FF2B5EF4-FFF2-40B4-BE49-F238E27FC236}">
                <a16:creationId xmlns:a16="http://schemas.microsoft.com/office/drawing/2014/main" id="{68FF5C6E-A59B-43AD-AADC-F93A37055400}"/>
              </a:ext>
            </a:extLst>
          </p:cNvPr>
          <p:cNvSpPr txBox="1"/>
          <p:nvPr/>
        </p:nvSpPr>
        <p:spPr>
          <a:xfrm>
            <a:off x="652303" y="2343474"/>
            <a:ext cx="8130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59C95"/>
                </a:solidFill>
                <a:effectLst/>
                <a:uLnTx/>
                <a:uFillTx/>
                <a:latin typeface="Arial"/>
                <a:ea typeface="+mn-ea"/>
                <a:cs typeface="+mn-cs"/>
              </a:rPr>
              <a:t>Focus</a:t>
            </a:r>
          </a:p>
        </p:txBody>
      </p:sp>
      <p:sp>
        <p:nvSpPr>
          <p:cNvPr id="8" name="TextBox 7">
            <a:extLst>
              <a:ext uri="{FF2B5EF4-FFF2-40B4-BE49-F238E27FC236}">
                <a16:creationId xmlns:a16="http://schemas.microsoft.com/office/drawing/2014/main" id="{D4BCEFEC-7698-4D13-953A-7BCB6FF3809B}"/>
              </a:ext>
            </a:extLst>
          </p:cNvPr>
          <p:cNvSpPr txBox="1"/>
          <p:nvPr/>
        </p:nvSpPr>
        <p:spPr>
          <a:xfrm>
            <a:off x="652303" y="1190188"/>
            <a:ext cx="67197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59C95"/>
                </a:solidFill>
                <a:effectLst/>
                <a:uLnTx/>
                <a:uFillTx/>
                <a:latin typeface="Arial"/>
                <a:ea typeface="+mn-ea"/>
                <a:cs typeface="+mn-cs"/>
              </a:rPr>
              <a:t>Goal</a:t>
            </a:r>
          </a:p>
        </p:txBody>
      </p:sp>
      <p:sp>
        <p:nvSpPr>
          <p:cNvPr id="10" name="TextBox 9">
            <a:extLst>
              <a:ext uri="{FF2B5EF4-FFF2-40B4-BE49-F238E27FC236}">
                <a16:creationId xmlns:a16="http://schemas.microsoft.com/office/drawing/2014/main" id="{4BE969DF-4DF4-42BA-BE1F-3DA36F0EB45F}"/>
              </a:ext>
            </a:extLst>
          </p:cNvPr>
          <p:cNvSpPr txBox="1"/>
          <p:nvPr/>
        </p:nvSpPr>
        <p:spPr>
          <a:xfrm>
            <a:off x="652303" y="3376221"/>
            <a:ext cx="8387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59C95"/>
                </a:solidFill>
                <a:effectLst/>
                <a:uLnTx/>
                <a:uFillTx/>
                <a:latin typeface="Arial"/>
                <a:ea typeface="+mn-ea"/>
                <a:cs typeface="+mn-cs"/>
              </a:rPr>
              <a:t>Topics</a:t>
            </a:r>
          </a:p>
        </p:txBody>
      </p:sp>
      <p:sp>
        <p:nvSpPr>
          <p:cNvPr id="11" name="TextBox 10">
            <a:extLst>
              <a:ext uri="{FF2B5EF4-FFF2-40B4-BE49-F238E27FC236}">
                <a16:creationId xmlns:a16="http://schemas.microsoft.com/office/drawing/2014/main" id="{2BF101BA-DB8F-44A8-9C8A-2E004A7A19C4}"/>
              </a:ext>
            </a:extLst>
          </p:cNvPr>
          <p:cNvSpPr txBox="1"/>
          <p:nvPr/>
        </p:nvSpPr>
        <p:spPr>
          <a:xfrm>
            <a:off x="652303" y="5278313"/>
            <a:ext cx="114646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59C95"/>
                </a:solidFill>
                <a:effectLst/>
                <a:uLnTx/>
                <a:uFillTx/>
                <a:latin typeface="Arial"/>
                <a:ea typeface="+mn-ea"/>
                <a:cs typeface="+mn-cs"/>
              </a:rPr>
              <a:t>Members</a:t>
            </a:r>
          </a:p>
        </p:txBody>
      </p:sp>
      <p:sp>
        <p:nvSpPr>
          <p:cNvPr id="14" name="Content Placeholder 8">
            <a:extLst>
              <a:ext uri="{FF2B5EF4-FFF2-40B4-BE49-F238E27FC236}">
                <a16:creationId xmlns:a16="http://schemas.microsoft.com/office/drawing/2014/main" id="{03AF4C93-DCA1-4070-8D4F-A21779A96679}"/>
              </a:ext>
            </a:extLst>
          </p:cNvPr>
          <p:cNvSpPr txBox="1">
            <a:spLocks/>
          </p:cNvSpPr>
          <p:nvPr/>
        </p:nvSpPr>
        <p:spPr>
          <a:xfrm>
            <a:off x="2052814" y="1212967"/>
            <a:ext cx="9818712" cy="360179"/>
          </a:xfrm>
          <a:prstGeom prst="rect">
            <a:avLst/>
          </a:prstGeom>
        </p:spPr>
        <p:txBody>
          <a:bodyPr vert="horz" lIns="0" tIns="0" rIns="0" bIns="0" rtlCol="0">
            <a:noAutofit/>
          </a:bodyPr>
          <a:lstStyle>
            <a:lvl1pPr marL="0" indent="0" algn="l" defTabSz="914538" rtl="0" eaLnBrk="1" latinLnBrk="0" hangingPunct="1">
              <a:lnSpc>
                <a:spcPct val="114000"/>
              </a:lnSpc>
              <a:spcBef>
                <a:spcPts val="1000"/>
              </a:spcBef>
              <a:buFont typeface="Arial" panose="020B0604020202020204" pitchFamily="34" charset="0"/>
              <a:buNone/>
              <a:defRPr sz="1400" b="1" kern="1200" cap="all" baseline="0">
                <a:solidFill>
                  <a:schemeClr val="tx2"/>
                </a:solidFill>
                <a:latin typeface="DIN Pro Black" panose="02000503030000020004" pitchFamily="50" charset="0"/>
                <a:ea typeface="+mn-ea"/>
                <a:cs typeface="Arial" panose="020B0604020202020204" pitchFamily="34" charset="0"/>
              </a:defRPr>
            </a:lvl1pPr>
            <a:lvl2pPr marL="0" indent="0" algn="l" defTabSz="914538" rtl="0" eaLnBrk="1" latinLnBrk="0" hangingPunct="1">
              <a:lnSpc>
                <a:spcPct val="114000"/>
              </a:lnSpc>
              <a:spcBef>
                <a:spcPts val="0"/>
              </a:spcBef>
              <a:spcAft>
                <a:spcPts val="1000"/>
              </a:spcAft>
              <a:buFont typeface="Arial" panose="020B0604020202020204" pitchFamily="34" charset="0"/>
              <a:buNone/>
              <a:defRPr sz="1200" kern="1200">
                <a:solidFill>
                  <a:schemeClr val="tx2"/>
                </a:solidFill>
                <a:latin typeface="DIN Pro" panose="02000503040000020003" pitchFamily="50" charset="0"/>
                <a:ea typeface="+mn-ea"/>
                <a:cs typeface="Arial" panose="020B0604020202020204" pitchFamily="34" charset="0"/>
              </a:defRPr>
            </a:lvl2pPr>
            <a:lvl3pPr marL="228635" indent="-228635" algn="l" defTabSz="914538" rtl="0" eaLnBrk="1" latinLnBrk="0" hangingPunct="1">
              <a:lnSpc>
                <a:spcPct val="114000"/>
              </a:lnSpc>
              <a:spcBef>
                <a:spcPts val="0"/>
              </a:spcBef>
              <a:spcAft>
                <a:spcPts val="1000"/>
              </a:spcAft>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3pPr>
            <a:lvl4pPr marL="514428" indent="-228635" algn="l" defTabSz="914538" rtl="0" eaLnBrk="1" latinLnBrk="0" hangingPunct="1">
              <a:lnSpc>
                <a:spcPct val="114000"/>
              </a:lnSpc>
              <a:spcBef>
                <a:spcPts val="0"/>
              </a:spcBef>
              <a:spcAft>
                <a:spcPts val="1000"/>
              </a:spcAft>
              <a:buFont typeface="DIN Pro Light" panose="020B0504020101010102" pitchFamily="34" charset="0"/>
              <a:buChar char="–"/>
              <a:defRPr sz="1200" kern="1200">
                <a:solidFill>
                  <a:schemeClr val="tx2"/>
                </a:solidFill>
                <a:latin typeface="DIN Pro" panose="02000503040000020003" pitchFamily="50" charset="0"/>
                <a:ea typeface="+mn-ea"/>
                <a:cs typeface="Arial" panose="020B0604020202020204" pitchFamily="34" charset="0"/>
              </a:defRPr>
            </a:lvl4pPr>
            <a:lvl5pPr marL="800220" indent="-228635" algn="l" defTabSz="914538" rtl="0" eaLnBrk="1" latinLnBrk="0" hangingPunct="1">
              <a:lnSpc>
                <a:spcPct val="114000"/>
              </a:lnSpc>
              <a:spcBef>
                <a:spcPts val="0"/>
              </a:spcBef>
              <a:spcAft>
                <a:spcPts val="1000"/>
              </a:spcAft>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5pPr>
            <a:lvl6pPr marL="2514978"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247"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515"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782"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538"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000000"/>
                </a:solidFill>
                <a:effectLst/>
                <a:uLnTx/>
                <a:uFillTx/>
                <a:latin typeface="DIN Pro"/>
                <a:ea typeface="+mn-ea"/>
                <a:cs typeface="Arial" panose="020B0604020202020204" pitchFamily="34" charset="0"/>
              </a:rPr>
              <a:t>Delivery of more robust scientific targets and drive high quality portfolio entries to fuel the clinical pipeline. </a:t>
            </a:r>
            <a:endParaRPr kumimoji="0" lang="en-US" sz="2000" b="0" i="0" u="none" strike="noStrike" kern="1200" cap="none" spc="0" normalizeH="0" baseline="0" noProof="0">
              <a:ln>
                <a:noFill/>
              </a:ln>
              <a:solidFill>
                <a:srgbClr val="000000"/>
              </a:solidFill>
              <a:effectLst/>
              <a:uLnTx/>
              <a:uFillTx/>
              <a:latin typeface="DIN Pro"/>
              <a:ea typeface="+mn-ea"/>
              <a:cs typeface="Arial" panose="020B0604020202020204" pitchFamily="34" charset="0"/>
            </a:endParaRPr>
          </a:p>
        </p:txBody>
      </p:sp>
      <p:sp>
        <p:nvSpPr>
          <p:cNvPr id="15" name="Content Placeholder 8">
            <a:extLst>
              <a:ext uri="{FF2B5EF4-FFF2-40B4-BE49-F238E27FC236}">
                <a16:creationId xmlns:a16="http://schemas.microsoft.com/office/drawing/2014/main" id="{D36CE70A-5D29-43B8-9073-032C4A845FAB}"/>
              </a:ext>
            </a:extLst>
          </p:cNvPr>
          <p:cNvSpPr txBox="1">
            <a:spLocks/>
          </p:cNvSpPr>
          <p:nvPr/>
        </p:nvSpPr>
        <p:spPr>
          <a:xfrm>
            <a:off x="2052814" y="3374285"/>
            <a:ext cx="10306975" cy="695127"/>
          </a:xfrm>
          <a:prstGeom prst="rect">
            <a:avLst/>
          </a:prstGeom>
        </p:spPr>
        <p:txBody>
          <a:bodyPr vert="horz" lIns="0" tIns="0" rIns="0" bIns="0" rtlCol="0">
            <a:normAutofit fontScale="25000" lnSpcReduction="20000"/>
          </a:bodyPr>
          <a:lstStyle>
            <a:lvl1pPr marL="0" indent="0" algn="l" defTabSz="914538" rtl="0" eaLnBrk="1" latinLnBrk="0" hangingPunct="1">
              <a:lnSpc>
                <a:spcPct val="114000"/>
              </a:lnSpc>
              <a:spcBef>
                <a:spcPts val="1000"/>
              </a:spcBef>
              <a:buFont typeface="Arial" panose="020B0604020202020204" pitchFamily="34" charset="0"/>
              <a:buNone/>
              <a:defRPr sz="1400" b="1" kern="1200" cap="all" baseline="0">
                <a:solidFill>
                  <a:schemeClr val="tx2"/>
                </a:solidFill>
                <a:latin typeface="DIN Pro Black" panose="02000503030000020004" pitchFamily="50" charset="0"/>
                <a:ea typeface="+mn-ea"/>
                <a:cs typeface="Arial" panose="020B0604020202020204" pitchFamily="34" charset="0"/>
              </a:defRPr>
            </a:lvl1pPr>
            <a:lvl2pPr marL="0" indent="0" algn="l" defTabSz="914538" rtl="0" eaLnBrk="1" latinLnBrk="0" hangingPunct="1">
              <a:lnSpc>
                <a:spcPct val="114000"/>
              </a:lnSpc>
              <a:spcBef>
                <a:spcPts val="0"/>
              </a:spcBef>
              <a:spcAft>
                <a:spcPts val="1000"/>
              </a:spcAft>
              <a:buFont typeface="Arial" panose="020B0604020202020204" pitchFamily="34" charset="0"/>
              <a:buNone/>
              <a:defRPr sz="1200" kern="1200">
                <a:solidFill>
                  <a:schemeClr val="tx2"/>
                </a:solidFill>
                <a:latin typeface="DIN Pro" panose="02000503040000020003" pitchFamily="50" charset="0"/>
                <a:ea typeface="+mn-ea"/>
                <a:cs typeface="Arial" panose="020B0604020202020204" pitchFamily="34" charset="0"/>
              </a:defRPr>
            </a:lvl2pPr>
            <a:lvl3pPr marL="228635" indent="-228635" algn="l" defTabSz="914538" rtl="0" eaLnBrk="1" latinLnBrk="0" hangingPunct="1">
              <a:lnSpc>
                <a:spcPct val="114000"/>
              </a:lnSpc>
              <a:spcBef>
                <a:spcPts val="0"/>
              </a:spcBef>
              <a:spcAft>
                <a:spcPts val="1000"/>
              </a:spcAft>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3pPr>
            <a:lvl4pPr marL="514428" indent="-228635" algn="l" defTabSz="914538" rtl="0" eaLnBrk="1" latinLnBrk="0" hangingPunct="1">
              <a:lnSpc>
                <a:spcPct val="114000"/>
              </a:lnSpc>
              <a:spcBef>
                <a:spcPts val="0"/>
              </a:spcBef>
              <a:spcAft>
                <a:spcPts val="1000"/>
              </a:spcAft>
              <a:buFont typeface="DIN Pro Light" panose="020B0504020101010102" pitchFamily="34" charset="0"/>
              <a:buChar char="–"/>
              <a:defRPr sz="1200" kern="1200">
                <a:solidFill>
                  <a:schemeClr val="tx2"/>
                </a:solidFill>
                <a:latin typeface="DIN Pro" panose="02000503040000020003" pitchFamily="50" charset="0"/>
                <a:ea typeface="+mn-ea"/>
                <a:cs typeface="Arial" panose="020B0604020202020204" pitchFamily="34" charset="0"/>
              </a:defRPr>
            </a:lvl4pPr>
            <a:lvl5pPr marL="800220" indent="-228635" algn="l" defTabSz="914538" rtl="0" eaLnBrk="1" latinLnBrk="0" hangingPunct="1">
              <a:lnSpc>
                <a:spcPct val="114000"/>
              </a:lnSpc>
              <a:spcBef>
                <a:spcPts val="0"/>
              </a:spcBef>
              <a:spcAft>
                <a:spcPts val="1000"/>
              </a:spcAft>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5pPr>
            <a:lvl6pPr marL="2514978"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247"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515"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782"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6075" marR="0" lvl="0" indent="-346075" algn="l" defTabSz="914538"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GB"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rPr>
              <a:t>TA Target Portfolio Reviews</a:t>
            </a:r>
            <a:endParaRPr kumimoji="0" lang="en-US"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endParaRPr>
          </a:p>
          <a:p>
            <a:pPr marL="346075" marR="0" lvl="0" indent="-346075" algn="l" defTabSz="914538"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GB"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rPr>
              <a:t>Target Entries (as needed) </a:t>
            </a:r>
            <a:endParaRPr kumimoji="0" lang="en-US"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endParaRPr>
          </a:p>
          <a:p>
            <a:pPr marL="346075" marR="0" lvl="0" indent="-346075" algn="l" defTabSz="914538" rtl="0" eaLnBrk="1" fontAlgn="auto" latinLnBrk="0" hangingPunct="1">
              <a:lnSpc>
                <a:spcPct val="114000"/>
              </a:lnSpc>
              <a:spcBef>
                <a:spcPts val="0"/>
              </a:spcBef>
              <a:spcAft>
                <a:spcPts val="0"/>
              </a:spcAft>
              <a:buClrTx/>
              <a:buSzTx/>
              <a:buFont typeface="Arial" panose="020B0604020202020204" pitchFamily="34" charset="0"/>
              <a:buChar char="•"/>
              <a:tabLst/>
              <a:defRPr/>
            </a:pPr>
            <a:r>
              <a:rPr kumimoji="0" lang="en-GB"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rPr>
              <a:t>Portfolio Entries</a:t>
            </a:r>
            <a:endParaRPr kumimoji="0" lang="en-US"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endParaRPr>
          </a:p>
          <a:p>
            <a:pPr marL="346075" marR="0" lvl="0" indent="-346075" algn="l" defTabSz="914538" rtl="0" eaLnBrk="1" fontAlgn="auto" latinLnBrk="0" hangingPunct="1">
              <a:lnSpc>
                <a:spcPct val="114000"/>
              </a:lnSpc>
              <a:spcBef>
                <a:spcPts val="0"/>
              </a:spcBef>
              <a:spcAft>
                <a:spcPts val="1200"/>
              </a:spcAft>
              <a:buClrTx/>
              <a:buSzTx/>
              <a:buFont typeface="Arial" panose="020B0604020202020204" pitchFamily="34" charset="0"/>
              <a:buChar char="•"/>
              <a:tabLst/>
              <a:defRPr/>
            </a:pPr>
            <a:r>
              <a:rPr kumimoji="0" lang="en-GB"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rPr>
              <a:t>Performance of Pre-clinical Portfolio</a:t>
            </a:r>
            <a:endParaRPr kumimoji="0" lang="en-US" sz="8000" b="0" i="0" u="none" strike="noStrike" kern="1200" cap="none" spc="0" normalizeH="0" baseline="0" noProof="0">
              <a:ln>
                <a:noFill/>
              </a:ln>
              <a:solidFill>
                <a:srgbClr val="000000"/>
              </a:solidFill>
              <a:effectLst/>
              <a:uLnTx/>
              <a:uFillTx/>
              <a:latin typeface="DIN Pro"/>
              <a:ea typeface="+mn-ea"/>
              <a:cs typeface="Arial" panose="020B0604020202020204" pitchFamily="34" charset="0"/>
            </a:endParaRPr>
          </a:p>
          <a:p>
            <a:pPr marL="0" marR="0" lvl="0" indent="0" algn="l" defTabSz="914538" rtl="0" eaLnBrk="1" fontAlgn="auto" latinLnBrk="0" hangingPunct="1">
              <a:lnSpc>
                <a:spcPct val="114000"/>
              </a:lnSpc>
              <a:spcBef>
                <a:spcPts val="1000"/>
              </a:spcBef>
              <a:spcAft>
                <a:spcPts val="0"/>
              </a:spcAft>
              <a:buClrTx/>
              <a:buSzTx/>
              <a:buFont typeface="Arial" panose="020B0604020202020204" pitchFamily="34" charset="0"/>
              <a:buNone/>
              <a:tabLst/>
              <a:defRPr/>
            </a:pPr>
            <a:endParaRPr kumimoji="0" lang="en-US" sz="1400" b="1" i="0" u="none" strike="noStrike" kern="1200" cap="all" spc="0" normalizeH="0" baseline="0" noProof="0">
              <a:ln>
                <a:noFill/>
              </a:ln>
              <a:solidFill>
                <a:srgbClr val="000000"/>
              </a:solidFill>
              <a:effectLst/>
              <a:uLnTx/>
              <a:uFillTx/>
              <a:latin typeface="DIN Pro Black" panose="02000503030000020004" pitchFamily="50" charset="0"/>
              <a:ea typeface="+mn-ea"/>
              <a:cs typeface="Arial" panose="020B0604020202020204" pitchFamily="34" charset="0"/>
            </a:endParaRPr>
          </a:p>
        </p:txBody>
      </p:sp>
      <p:sp>
        <p:nvSpPr>
          <p:cNvPr id="16" name="Content Placeholder 8">
            <a:extLst>
              <a:ext uri="{FF2B5EF4-FFF2-40B4-BE49-F238E27FC236}">
                <a16:creationId xmlns:a16="http://schemas.microsoft.com/office/drawing/2014/main" id="{E2D54701-232F-4599-A1A0-A6386612E3E3}"/>
              </a:ext>
            </a:extLst>
          </p:cNvPr>
          <p:cNvSpPr txBox="1">
            <a:spLocks/>
          </p:cNvSpPr>
          <p:nvPr/>
        </p:nvSpPr>
        <p:spPr>
          <a:xfrm>
            <a:off x="2052815" y="5281730"/>
            <a:ext cx="9417136" cy="958488"/>
          </a:xfrm>
          <a:prstGeom prst="rect">
            <a:avLst/>
          </a:prstGeom>
        </p:spPr>
        <p:txBody>
          <a:bodyPr vert="horz" lIns="0" tIns="0" rIns="0" bIns="0" rtlCol="0">
            <a:normAutofit fontScale="47500" lnSpcReduction="20000"/>
          </a:bodyPr>
          <a:lstStyle>
            <a:lvl1pPr marL="0" indent="0" algn="l" defTabSz="914538" rtl="0" eaLnBrk="1" latinLnBrk="0" hangingPunct="1">
              <a:lnSpc>
                <a:spcPct val="114000"/>
              </a:lnSpc>
              <a:spcBef>
                <a:spcPts val="1000"/>
              </a:spcBef>
              <a:buFont typeface="Arial" panose="020B0604020202020204" pitchFamily="34" charset="0"/>
              <a:buNone/>
              <a:defRPr sz="1400" b="1" kern="1200" cap="all" baseline="0">
                <a:solidFill>
                  <a:schemeClr val="tx2"/>
                </a:solidFill>
                <a:latin typeface="DIN Pro Black" panose="02000503030000020004" pitchFamily="50" charset="0"/>
                <a:ea typeface="+mn-ea"/>
                <a:cs typeface="Arial" panose="020B0604020202020204" pitchFamily="34" charset="0"/>
              </a:defRPr>
            </a:lvl1pPr>
            <a:lvl2pPr marL="0" indent="0" algn="l" defTabSz="914538" rtl="0" eaLnBrk="1" latinLnBrk="0" hangingPunct="1">
              <a:lnSpc>
                <a:spcPct val="114000"/>
              </a:lnSpc>
              <a:spcBef>
                <a:spcPts val="0"/>
              </a:spcBef>
              <a:spcAft>
                <a:spcPts val="1000"/>
              </a:spcAft>
              <a:buFont typeface="Arial" panose="020B0604020202020204" pitchFamily="34" charset="0"/>
              <a:buNone/>
              <a:defRPr sz="1200" kern="1200">
                <a:solidFill>
                  <a:schemeClr val="tx2"/>
                </a:solidFill>
                <a:latin typeface="DIN Pro" panose="02000503040000020003" pitchFamily="50" charset="0"/>
                <a:ea typeface="+mn-ea"/>
                <a:cs typeface="Arial" panose="020B0604020202020204" pitchFamily="34" charset="0"/>
              </a:defRPr>
            </a:lvl2pPr>
            <a:lvl3pPr marL="228635" indent="-228635" algn="l" defTabSz="914538" rtl="0" eaLnBrk="1" latinLnBrk="0" hangingPunct="1">
              <a:lnSpc>
                <a:spcPct val="114000"/>
              </a:lnSpc>
              <a:spcBef>
                <a:spcPts val="0"/>
              </a:spcBef>
              <a:spcAft>
                <a:spcPts val="1000"/>
              </a:spcAft>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3pPr>
            <a:lvl4pPr marL="514428" indent="-228635" algn="l" defTabSz="914538" rtl="0" eaLnBrk="1" latinLnBrk="0" hangingPunct="1">
              <a:lnSpc>
                <a:spcPct val="114000"/>
              </a:lnSpc>
              <a:spcBef>
                <a:spcPts val="0"/>
              </a:spcBef>
              <a:spcAft>
                <a:spcPts val="1000"/>
              </a:spcAft>
              <a:buFont typeface="DIN Pro Light" panose="020B0504020101010102" pitchFamily="34" charset="0"/>
              <a:buChar char="–"/>
              <a:defRPr sz="1200" kern="1200">
                <a:solidFill>
                  <a:schemeClr val="tx2"/>
                </a:solidFill>
                <a:latin typeface="DIN Pro" panose="02000503040000020003" pitchFamily="50" charset="0"/>
                <a:ea typeface="+mn-ea"/>
                <a:cs typeface="Arial" panose="020B0604020202020204" pitchFamily="34" charset="0"/>
              </a:defRPr>
            </a:lvl4pPr>
            <a:lvl5pPr marL="800220" indent="-228635" algn="l" defTabSz="914538" rtl="0" eaLnBrk="1" latinLnBrk="0" hangingPunct="1">
              <a:lnSpc>
                <a:spcPct val="114000"/>
              </a:lnSpc>
              <a:spcBef>
                <a:spcPts val="0"/>
              </a:spcBef>
              <a:spcAft>
                <a:spcPts val="1000"/>
              </a:spcAft>
              <a:buFont typeface="Arial" panose="020B0604020202020204" pitchFamily="34" charset="0"/>
              <a:buChar char="•"/>
              <a:defRPr sz="1200" kern="1200">
                <a:solidFill>
                  <a:schemeClr val="tx2"/>
                </a:solidFill>
                <a:latin typeface="DIN Pro" panose="02000503040000020003" pitchFamily="50" charset="0"/>
                <a:ea typeface="+mn-ea"/>
                <a:cs typeface="Arial" panose="020B0604020202020204" pitchFamily="34" charset="0"/>
              </a:defRPr>
            </a:lvl5pPr>
            <a:lvl6pPr marL="2514978"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247"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515"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782" indent="-228635" algn="l" defTabSz="91453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 marR="18288" lvl="0" indent="0" algn="l" defTabSz="914538" rtl="0" eaLnBrk="1" fontAlgn="base" latinLnBrk="0" hangingPunct="1">
              <a:lnSpc>
                <a:spcPct val="114000"/>
              </a:lnSpc>
              <a:spcBef>
                <a:spcPts val="0"/>
              </a:spcBef>
              <a:spcAft>
                <a:spcPts val="0"/>
              </a:spcAft>
              <a:buClrTx/>
              <a:buSzTx/>
              <a:buFont typeface="Arial" panose="020B0604020202020204" pitchFamily="34" charset="0"/>
              <a:buNone/>
              <a:tabLst/>
              <a:defRPr/>
            </a:pPr>
            <a:r>
              <a:rPr kumimoji="0" lang="en-GB" sz="3400" b="1" i="0" u="none" strike="noStrike" kern="1200" cap="none" spc="0" normalizeH="0" baseline="0" noProof="0">
                <a:ln>
                  <a:noFill/>
                </a:ln>
                <a:solidFill>
                  <a:srgbClr val="000000"/>
                </a:solidFill>
                <a:effectLst/>
                <a:uLnTx/>
                <a:uFillTx/>
                <a:latin typeface="DIN Pro" panose="02000503040000020003"/>
                <a:ea typeface="Arial" panose="020B0604020202020204" pitchFamily="34" charset="0"/>
                <a:cs typeface="Arial" panose="020B0604020202020204" pitchFamily="34" charset="0"/>
              </a:rPr>
              <a:t>Dan Skovronsky (Chair), </a:t>
            </a:r>
            <a:r>
              <a:rPr kumimoji="0" lang="en-GB" sz="3400" b="0" i="0" u="none" strike="noStrike" kern="1200" cap="none" spc="0" normalizeH="0" baseline="0" noProof="0">
                <a:ln>
                  <a:noFill/>
                </a:ln>
                <a:solidFill>
                  <a:srgbClr val="000000"/>
                </a:solidFill>
                <a:effectLst/>
                <a:uLnTx/>
                <a:uFillTx/>
                <a:latin typeface="DIN Pro" panose="02000503040000020003"/>
                <a:ea typeface="Arial" panose="020B0604020202020204" pitchFamily="34" charset="0"/>
                <a:cs typeface="Arial" panose="020B0604020202020204" pitchFamily="34" charset="0"/>
              </a:rPr>
              <a:t>Adrienne Brown, </a:t>
            </a:r>
            <a:r>
              <a:rPr kumimoji="0" lang="en-US" sz="3400" b="0" i="0" u="none" strike="noStrike" kern="1200" cap="none" spc="0" normalizeH="0" baseline="0" noProof="0">
                <a:ln>
                  <a:noFill/>
                </a:ln>
                <a:solidFill>
                  <a:srgbClr val="000000"/>
                </a:solidFill>
                <a:effectLst/>
                <a:uLnTx/>
                <a:uFillTx/>
                <a:latin typeface="DIN Pro" panose="02000503040000020003"/>
                <a:ea typeface="Calibri" panose="020F0502020204030204" pitchFamily="34" charset="0"/>
                <a:cs typeface="Arial" panose="020B0604020202020204" pitchFamily="34" charset="0"/>
              </a:rPr>
              <a:t>Andrew Adams, Barry Taylor, Bill heath, Carl </a:t>
            </a:r>
            <a:r>
              <a:rPr kumimoji="0" lang="en-US" sz="3400" b="0" i="0" u="none" strike="noStrike" kern="1200" cap="none" spc="0" normalizeH="0" baseline="0" noProof="0" err="1">
                <a:ln>
                  <a:noFill/>
                </a:ln>
                <a:solidFill>
                  <a:srgbClr val="000000"/>
                </a:solidFill>
                <a:effectLst/>
                <a:uLnTx/>
                <a:uFillTx/>
                <a:latin typeface="DIN Pro" panose="02000503040000020003"/>
                <a:ea typeface="Calibri" panose="020F0502020204030204" pitchFamily="34" charset="0"/>
                <a:cs typeface="Arial" panose="020B0604020202020204" pitchFamily="34" charset="0"/>
              </a:rPr>
              <a:t>Mcmillian</a:t>
            </a:r>
            <a:r>
              <a:rPr kumimoji="0" lang="en-US" sz="3400" b="0" i="0" u="none" strike="noStrike" kern="1200" cap="none" spc="0" normalizeH="0" baseline="0" noProof="0">
                <a:ln>
                  <a:noFill/>
                </a:ln>
                <a:solidFill>
                  <a:srgbClr val="000000"/>
                </a:solidFill>
                <a:effectLst/>
                <a:uLnTx/>
                <a:uFillTx/>
                <a:latin typeface="DIN Pro" panose="02000503040000020003"/>
                <a:ea typeface="Calibri" panose="020F0502020204030204" pitchFamily="34" charset="0"/>
                <a:cs typeface="Arial" panose="020B0604020202020204" pitchFamily="34" charset="0"/>
              </a:rPr>
              <a:t>, David Hyman, Elizabeth van Sant Hoffman, Jeff Sevigny, Jirong Lu, Mark Mintun, Mark Genovese, Nisha Nanda, Ramesh </a:t>
            </a:r>
            <a:r>
              <a:rPr kumimoji="0" lang="en-US" sz="3400" b="0" i="0" u="none" strike="noStrike" kern="1200" cap="none" spc="0" normalizeH="0" baseline="0" noProof="0" err="1">
                <a:ln>
                  <a:noFill/>
                </a:ln>
                <a:solidFill>
                  <a:srgbClr val="000000"/>
                </a:solidFill>
                <a:effectLst/>
                <a:uLnTx/>
                <a:uFillTx/>
                <a:latin typeface="DIN Pro" panose="02000503040000020003"/>
                <a:ea typeface="Calibri" panose="020F0502020204030204" pitchFamily="34" charset="0"/>
                <a:cs typeface="Arial" panose="020B0604020202020204" pitchFamily="34" charset="0"/>
              </a:rPr>
              <a:t>Durvasula</a:t>
            </a:r>
            <a:r>
              <a:rPr kumimoji="0" lang="en-US" sz="3400" b="0" i="0" u="none" strike="noStrike" kern="1200" cap="none" spc="0" normalizeH="0" baseline="0" noProof="0">
                <a:ln>
                  <a:noFill/>
                </a:ln>
                <a:solidFill>
                  <a:srgbClr val="000000"/>
                </a:solidFill>
                <a:effectLst/>
                <a:uLnTx/>
                <a:uFillTx/>
                <a:latin typeface="DIN Pro" panose="02000503040000020003"/>
                <a:ea typeface="Calibri" panose="020F0502020204030204" pitchFamily="34" charset="0"/>
                <a:cs typeface="Arial" panose="020B0604020202020204" pitchFamily="34" charset="0"/>
              </a:rPr>
              <a:t>, Rob Metcalf, Ruth Gimeno, Utpal Singh, </a:t>
            </a:r>
            <a:r>
              <a:rPr kumimoji="0" lang="en-US" sz="3400" b="1" i="0" u="none" strike="noStrike" kern="1200" cap="none" spc="0" normalizeH="0" baseline="0" noProof="0">
                <a:ln>
                  <a:noFill/>
                </a:ln>
                <a:solidFill>
                  <a:srgbClr val="000000"/>
                </a:solidFill>
                <a:effectLst/>
                <a:uLnTx/>
                <a:uFillTx/>
                <a:latin typeface="DIN Pro" panose="02000503040000020003"/>
                <a:ea typeface="Calibri" panose="020F0502020204030204" pitchFamily="34" charset="0"/>
                <a:cs typeface="Arial" panose="020B0604020202020204" pitchFamily="34" charset="0"/>
              </a:rPr>
              <a:t>Stacy Keding (facilitator)</a:t>
            </a:r>
            <a:endParaRPr kumimoji="0" lang="en-US" sz="3400" b="1" i="0" u="none" strike="noStrike" kern="1200" cap="none" spc="0" normalizeH="0" baseline="0" noProof="0">
              <a:ln>
                <a:noFill/>
              </a:ln>
              <a:solidFill>
                <a:srgbClr val="000000"/>
              </a:solidFill>
              <a:effectLst/>
              <a:uLnTx/>
              <a:uFillTx/>
              <a:latin typeface="DIN Pro" panose="02000503040000020003"/>
              <a:ea typeface="+mn-ea"/>
              <a:cs typeface="Arial" panose="020B0604020202020204" pitchFamily="34" charset="0"/>
            </a:endParaRPr>
          </a:p>
          <a:p>
            <a:pPr marL="0" marR="0" lvl="4" indent="0" algn="l" defTabSz="914538" rtl="0" eaLnBrk="1" fontAlgn="auto" latinLnBrk="0" hangingPunct="1">
              <a:lnSpc>
                <a:spcPct val="117000"/>
              </a:lnSpc>
              <a:spcBef>
                <a:spcPts val="0"/>
              </a:spcBef>
              <a:spcAft>
                <a:spcPts val="0"/>
              </a:spcAft>
              <a:buClrTx/>
              <a:buSzTx/>
              <a:buFont typeface="Arial" panose="020B0604020202020204" pitchFamily="34" charset="0"/>
              <a:buNone/>
              <a:tabLst/>
              <a:defRPr/>
            </a:pPr>
            <a:endParaRPr kumimoji="0" lang="en-GB" sz="1800" b="0" i="0" u="none" strike="noStrike" kern="1200" cap="none" spc="0" normalizeH="0" baseline="0" noProof="0">
              <a:ln>
                <a:noFill/>
              </a:ln>
              <a:solidFill>
                <a:srgbClr val="000000"/>
              </a:solidFill>
              <a:effectLst/>
              <a:uLnTx/>
              <a:uFillTx/>
              <a:latin typeface="DIN Pro" panose="02000503040000020003" pitchFamily="50" charset="0"/>
              <a:ea typeface="Arial" panose="020B0604020202020204" pitchFamily="34" charset="0"/>
              <a:cs typeface="Arial" panose="020B0604020202020204" pitchFamily="34" charset="0"/>
            </a:endParaRPr>
          </a:p>
          <a:p>
            <a:pPr marL="0" marR="0" lvl="4" indent="0" algn="l" defTabSz="914538" rtl="0" eaLnBrk="1" fontAlgn="auto" latinLnBrk="0" hangingPunct="1">
              <a:lnSpc>
                <a:spcPct val="117000"/>
              </a:lnSpc>
              <a:spcBef>
                <a:spcPts val="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000000"/>
                </a:solidFill>
                <a:effectLst/>
                <a:uLnTx/>
                <a:uFillTx/>
                <a:latin typeface="DIN Pro" panose="02000503040000020003" pitchFamily="50" charset="0"/>
                <a:ea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111732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379142" y="0"/>
            <a:ext cx="9854856" cy="936804"/>
          </a:xfrm>
        </p:spPr>
        <p:txBody>
          <a:bodyPr>
            <a:noAutofit/>
          </a:bodyPr>
          <a:lstStyle/>
          <a:p>
            <a:r>
              <a:rPr lang="en-US" b="1"/>
              <a:t>Discovery Project Management:</a:t>
            </a:r>
            <a:br>
              <a:rPr lang="en-US"/>
            </a:br>
            <a:r>
              <a:rPr lang="en-US" sz="2400" i="1"/>
              <a:t>Leadership in Drug Development  Process</a:t>
            </a:r>
            <a:endParaRPr lang="en-US" i="1"/>
          </a:p>
        </p:txBody>
      </p:sp>
      <p:sp>
        <p:nvSpPr>
          <p:cNvPr id="67" name="Slide Number Placeholder 4"/>
          <p:cNvSpPr>
            <a:spLocks noGrp="1"/>
          </p:cNvSpPr>
          <p:nvPr>
            <p:ph type="sldNum" sz="quarter" idx="4294967295"/>
          </p:nvPr>
        </p:nvSpPr>
        <p:spPr>
          <a:xfrm>
            <a:off x="9034462" y="5792392"/>
            <a:ext cx="490538" cy="195263"/>
          </a:xfrm>
          <a:prstGeom prst="rect">
            <a:avLst/>
          </a:prstGeom>
        </p:spPr>
        <p:txBody>
          <a:bodyPr/>
          <a:lstStyle/>
          <a:p>
            <a:pPr defTabSz="685800">
              <a:defRPr/>
            </a:pPr>
            <a:r>
              <a:rPr lang="en-US" sz="600">
                <a:solidFill>
                  <a:srgbClr val="FFFFFF"/>
                </a:solidFill>
              </a:rPr>
              <a:t> </a:t>
            </a:r>
            <a:fld id="{D64412D8-EAD5-48D6-9307-AEDAD172397A}" type="slidenum">
              <a:rPr lang="en-US" sz="600">
                <a:solidFill>
                  <a:srgbClr val="FFFFFF"/>
                </a:solidFill>
              </a:rPr>
              <a:pPr defTabSz="685800">
                <a:defRPr/>
              </a:pPr>
              <a:t>28</a:t>
            </a:fld>
            <a:endParaRPr lang="en-US" sz="600">
              <a:solidFill>
                <a:srgbClr val="FFFFFF"/>
              </a:solidFill>
            </a:endParaRPr>
          </a:p>
        </p:txBody>
      </p:sp>
      <p:sp>
        <p:nvSpPr>
          <p:cNvPr id="309279" name="Freeform 31"/>
          <p:cNvSpPr>
            <a:spLocks/>
          </p:cNvSpPr>
          <p:nvPr/>
        </p:nvSpPr>
        <p:spPr bwMode="auto">
          <a:xfrm>
            <a:off x="5023685" y="3245831"/>
            <a:ext cx="2057400" cy="571500"/>
          </a:xfrm>
          <a:custGeom>
            <a:avLst/>
            <a:gdLst/>
            <a:ahLst/>
            <a:cxnLst>
              <a:cxn ang="0">
                <a:pos x="0" y="0"/>
              </a:cxn>
              <a:cxn ang="0">
                <a:pos x="432" y="0"/>
              </a:cxn>
              <a:cxn ang="0">
                <a:pos x="1728" y="48"/>
              </a:cxn>
              <a:cxn ang="0">
                <a:pos x="1728" y="432"/>
              </a:cxn>
              <a:cxn ang="0">
                <a:pos x="432" y="480"/>
              </a:cxn>
              <a:cxn ang="0">
                <a:pos x="0" y="480"/>
              </a:cxn>
              <a:cxn ang="0">
                <a:pos x="0" y="0"/>
              </a:cxn>
            </a:cxnLst>
            <a:rect l="0" t="0" r="r" b="b"/>
            <a:pathLst>
              <a:path w="1728" h="480">
                <a:moveTo>
                  <a:pt x="0" y="0"/>
                </a:moveTo>
                <a:lnTo>
                  <a:pt x="432" y="0"/>
                </a:lnTo>
                <a:lnTo>
                  <a:pt x="1728" y="48"/>
                </a:lnTo>
                <a:lnTo>
                  <a:pt x="1728" y="432"/>
                </a:lnTo>
                <a:lnTo>
                  <a:pt x="432" y="480"/>
                </a:lnTo>
                <a:lnTo>
                  <a:pt x="0" y="480"/>
                </a:lnTo>
                <a:lnTo>
                  <a:pt x="0" y="0"/>
                </a:lnTo>
                <a:close/>
              </a:path>
            </a:pathLst>
          </a:custGeom>
          <a:solidFill>
            <a:schemeClr val="bg2">
              <a:lumMod val="40000"/>
              <a:lumOff val="60000"/>
            </a:schemeClr>
          </a:solidFill>
          <a:ln w="19050" cmpd="sng">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81" name="Freeform 33"/>
          <p:cNvSpPr>
            <a:spLocks/>
          </p:cNvSpPr>
          <p:nvPr/>
        </p:nvSpPr>
        <p:spPr bwMode="auto">
          <a:xfrm>
            <a:off x="3656960" y="3188681"/>
            <a:ext cx="1345295" cy="685800"/>
          </a:xfrm>
          <a:custGeom>
            <a:avLst/>
            <a:gdLst/>
            <a:ahLst/>
            <a:cxnLst>
              <a:cxn ang="0">
                <a:pos x="0" y="0"/>
              </a:cxn>
              <a:cxn ang="0">
                <a:pos x="432" y="0"/>
              </a:cxn>
              <a:cxn ang="0">
                <a:pos x="1296" y="48"/>
              </a:cxn>
              <a:cxn ang="0">
                <a:pos x="1296" y="528"/>
              </a:cxn>
              <a:cxn ang="0">
                <a:pos x="432" y="576"/>
              </a:cxn>
              <a:cxn ang="0">
                <a:pos x="0" y="576"/>
              </a:cxn>
              <a:cxn ang="0">
                <a:pos x="0" y="0"/>
              </a:cxn>
            </a:cxnLst>
            <a:rect l="0" t="0" r="r" b="b"/>
            <a:pathLst>
              <a:path w="1296" h="576">
                <a:moveTo>
                  <a:pt x="0" y="0"/>
                </a:moveTo>
                <a:lnTo>
                  <a:pt x="432" y="0"/>
                </a:lnTo>
                <a:lnTo>
                  <a:pt x="1296" y="48"/>
                </a:lnTo>
                <a:lnTo>
                  <a:pt x="1296" y="528"/>
                </a:lnTo>
                <a:lnTo>
                  <a:pt x="432" y="576"/>
                </a:lnTo>
                <a:lnTo>
                  <a:pt x="0" y="576"/>
                </a:lnTo>
                <a:lnTo>
                  <a:pt x="0" y="0"/>
                </a:lnTo>
                <a:close/>
              </a:path>
            </a:pathLst>
          </a:custGeom>
          <a:solidFill>
            <a:srgbClr val="92D050"/>
          </a:solidFill>
          <a:ln w="19050" cmpd="sng">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82" name="Line 34"/>
          <p:cNvSpPr>
            <a:spLocks noChangeShapeType="1"/>
          </p:cNvSpPr>
          <p:nvPr/>
        </p:nvSpPr>
        <p:spPr bwMode="auto">
          <a:xfrm flipH="1">
            <a:off x="4313700" y="3188681"/>
            <a:ext cx="8563" cy="685800"/>
          </a:xfrm>
          <a:prstGeom prst="line">
            <a:avLst/>
          </a:prstGeom>
          <a:solidFill>
            <a:srgbClr val="92D050"/>
          </a:solidFill>
          <a:ln w="19050">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84" name="Line 36"/>
          <p:cNvSpPr>
            <a:spLocks noChangeShapeType="1"/>
          </p:cNvSpPr>
          <p:nvPr/>
        </p:nvSpPr>
        <p:spPr bwMode="auto">
          <a:xfrm>
            <a:off x="5538035" y="3245831"/>
            <a:ext cx="0" cy="571500"/>
          </a:xfrm>
          <a:prstGeom prst="line">
            <a:avLst/>
          </a:prstGeom>
          <a:noFill/>
          <a:ln w="19050">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85" name="Line 37"/>
          <p:cNvSpPr>
            <a:spLocks noChangeShapeType="1"/>
          </p:cNvSpPr>
          <p:nvPr/>
        </p:nvSpPr>
        <p:spPr bwMode="auto">
          <a:xfrm>
            <a:off x="6052385" y="3274407"/>
            <a:ext cx="0" cy="521494"/>
          </a:xfrm>
          <a:prstGeom prst="line">
            <a:avLst/>
          </a:prstGeom>
          <a:noFill/>
          <a:ln w="19050">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86" name="Line 38"/>
          <p:cNvSpPr>
            <a:spLocks noChangeShapeType="1"/>
          </p:cNvSpPr>
          <p:nvPr/>
        </p:nvSpPr>
        <p:spPr bwMode="auto">
          <a:xfrm>
            <a:off x="6566735" y="3288695"/>
            <a:ext cx="0" cy="485775"/>
          </a:xfrm>
          <a:prstGeom prst="line">
            <a:avLst/>
          </a:prstGeom>
          <a:noFill/>
          <a:ln w="19050">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grpSp>
        <p:nvGrpSpPr>
          <p:cNvPr id="4" name="Group 39"/>
          <p:cNvGrpSpPr>
            <a:grpSpLocks/>
          </p:cNvGrpSpPr>
          <p:nvPr/>
        </p:nvGrpSpPr>
        <p:grpSpPr bwMode="auto">
          <a:xfrm>
            <a:off x="7102517" y="3188681"/>
            <a:ext cx="2057400" cy="685800"/>
            <a:chOff x="3888" y="1296"/>
            <a:chExt cx="1728" cy="576"/>
          </a:xfrm>
          <a:solidFill>
            <a:schemeClr val="bg2">
              <a:lumMod val="40000"/>
              <a:lumOff val="60000"/>
            </a:schemeClr>
          </a:solidFill>
        </p:grpSpPr>
        <p:sp>
          <p:nvSpPr>
            <p:cNvPr id="309288" name="Freeform 40"/>
            <p:cNvSpPr>
              <a:spLocks/>
            </p:cNvSpPr>
            <p:nvPr/>
          </p:nvSpPr>
          <p:spPr bwMode="auto">
            <a:xfrm>
              <a:off x="3888" y="1296"/>
              <a:ext cx="1728" cy="576"/>
            </a:xfrm>
            <a:custGeom>
              <a:avLst/>
              <a:gdLst/>
              <a:ahLst/>
              <a:cxnLst>
                <a:cxn ang="0">
                  <a:pos x="0" y="96"/>
                </a:cxn>
                <a:cxn ang="0">
                  <a:pos x="1488" y="96"/>
                </a:cxn>
                <a:cxn ang="0">
                  <a:pos x="1488" y="0"/>
                </a:cxn>
                <a:cxn ang="0">
                  <a:pos x="1728" y="288"/>
                </a:cxn>
                <a:cxn ang="0">
                  <a:pos x="1488" y="576"/>
                </a:cxn>
                <a:cxn ang="0">
                  <a:pos x="1488" y="480"/>
                </a:cxn>
                <a:cxn ang="0">
                  <a:pos x="0" y="480"/>
                </a:cxn>
                <a:cxn ang="0">
                  <a:pos x="0" y="96"/>
                </a:cxn>
              </a:cxnLst>
              <a:rect l="0" t="0" r="r" b="b"/>
              <a:pathLst>
                <a:path w="1728" h="576">
                  <a:moveTo>
                    <a:pt x="0" y="96"/>
                  </a:moveTo>
                  <a:lnTo>
                    <a:pt x="1488" y="96"/>
                  </a:lnTo>
                  <a:lnTo>
                    <a:pt x="1488" y="0"/>
                  </a:lnTo>
                  <a:lnTo>
                    <a:pt x="1728" y="288"/>
                  </a:lnTo>
                  <a:lnTo>
                    <a:pt x="1488" y="576"/>
                  </a:lnTo>
                  <a:lnTo>
                    <a:pt x="1488" y="480"/>
                  </a:lnTo>
                  <a:lnTo>
                    <a:pt x="0" y="480"/>
                  </a:lnTo>
                  <a:lnTo>
                    <a:pt x="0" y="96"/>
                  </a:lnTo>
                  <a:close/>
                </a:path>
              </a:pathLst>
            </a:custGeom>
            <a:grpFill/>
            <a:ln w="19050" cmpd="sng">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89" name="Line 41"/>
            <p:cNvSpPr>
              <a:spLocks noChangeShapeType="1"/>
            </p:cNvSpPr>
            <p:nvPr/>
          </p:nvSpPr>
          <p:spPr bwMode="auto">
            <a:xfrm>
              <a:off x="4368" y="1392"/>
              <a:ext cx="0" cy="384"/>
            </a:xfrm>
            <a:prstGeom prst="line">
              <a:avLst/>
            </a:prstGeom>
            <a:grpFill/>
            <a:ln w="19050">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90" name="Line 42"/>
            <p:cNvSpPr>
              <a:spLocks noChangeShapeType="1"/>
            </p:cNvSpPr>
            <p:nvPr/>
          </p:nvSpPr>
          <p:spPr bwMode="auto">
            <a:xfrm>
              <a:off x="5136" y="1392"/>
              <a:ext cx="0" cy="384"/>
            </a:xfrm>
            <a:prstGeom prst="line">
              <a:avLst/>
            </a:prstGeom>
            <a:grpFill/>
            <a:ln w="19050">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291" name="Line 43"/>
            <p:cNvSpPr>
              <a:spLocks noChangeShapeType="1"/>
            </p:cNvSpPr>
            <p:nvPr/>
          </p:nvSpPr>
          <p:spPr bwMode="auto">
            <a:xfrm>
              <a:off x="4368" y="1392"/>
              <a:ext cx="768" cy="384"/>
            </a:xfrm>
            <a:prstGeom prst="line">
              <a:avLst/>
            </a:prstGeom>
            <a:grpFill/>
            <a:ln w="19050">
              <a:solidFill>
                <a:schemeClr val="tx1"/>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grpSp>
      <p:sp>
        <p:nvSpPr>
          <p:cNvPr id="309292" name="Text Box 44"/>
          <p:cNvSpPr txBox="1">
            <a:spLocks noChangeArrowheads="1"/>
          </p:cNvSpPr>
          <p:nvPr/>
        </p:nvSpPr>
        <p:spPr bwMode="auto">
          <a:xfrm>
            <a:off x="3748503" y="3331073"/>
            <a:ext cx="463589" cy="438582"/>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Target</a:t>
            </a:r>
          </a:p>
          <a:p>
            <a:pPr algn="ctr" defTabSz="685800" eaLnBrk="0" fontAlgn="base" hangingPunct="0">
              <a:spcBef>
                <a:spcPct val="0"/>
              </a:spcBef>
              <a:spcAft>
                <a:spcPct val="0"/>
              </a:spcAft>
              <a:defRPr/>
            </a:pPr>
            <a:r>
              <a:rPr lang="en-US" sz="750" b="1">
                <a:solidFill>
                  <a:srgbClr val="000000"/>
                </a:solidFill>
                <a:latin typeface="Times New Roman" pitchFamily="18" charset="0"/>
              </a:rPr>
              <a:t>To</a:t>
            </a:r>
          </a:p>
          <a:p>
            <a:pPr algn="ctr" defTabSz="685800" eaLnBrk="0" fontAlgn="base" hangingPunct="0">
              <a:spcBef>
                <a:spcPct val="0"/>
              </a:spcBef>
              <a:spcAft>
                <a:spcPct val="0"/>
              </a:spcAft>
              <a:defRPr/>
            </a:pPr>
            <a:r>
              <a:rPr lang="en-US" sz="750" b="1">
                <a:solidFill>
                  <a:srgbClr val="000000"/>
                </a:solidFill>
                <a:latin typeface="Times New Roman" pitchFamily="18" charset="0"/>
              </a:rPr>
              <a:t>Hit</a:t>
            </a:r>
          </a:p>
        </p:txBody>
      </p:sp>
      <p:sp>
        <p:nvSpPr>
          <p:cNvPr id="309293" name="Text Box 45"/>
          <p:cNvSpPr txBox="1">
            <a:spLocks noChangeArrowheads="1"/>
          </p:cNvSpPr>
          <p:nvPr/>
        </p:nvSpPr>
        <p:spPr bwMode="auto">
          <a:xfrm>
            <a:off x="4463933" y="3302981"/>
            <a:ext cx="393056" cy="438582"/>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Hit</a:t>
            </a:r>
          </a:p>
          <a:p>
            <a:pPr algn="ctr" defTabSz="685800" eaLnBrk="0" fontAlgn="base" hangingPunct="0">
              <a:spcBef>
                <a:spcPct val="0"/>
              </a:spcBef>
              <a:spcAft>
                <a:spcPct val="0"/>
              </a:spcAft>
              <a:defRPr/>
            </a:pPr>
            <a:r>
              <a:rPr lang="en-US" sz="750" b="1">
                <a:solidFill>
                  <a:srgbClr val="000000"/>
                </a:solidFill>
                <a:latin typeface="Times New Roman" pitchFamily="18" charset="0"/>
              </a:rPr>
              <a:t>To</a:t>
            </a:r>
          </a:p>
          <a:p>
            <a:pPr algn="ctr" defTabSz="685800" eaLnBrk="0" fontAlgn="base" hangingPunct="0">
              <a:spcBef>
                <a:spcPct val="0"/>
              </a:spcBef>
              <a:spcAft>
                <a:spcPct val="0"/>
              </a:spcAft>
              <a:defRPr/>
            </a:pPr>
            <a:r>
              <a:rPr lang="en-US" sz="750" b="1">
                <a:solidFill>
                  <a:srgbClr val="000000"/>
                </a:solidFill>
                <a:latin typeface="Times New Roman" pitchFamily="18" charset="0"/>
              </a:rPr>
              <a:t>Lead</a:t>
            </a:r>
          </a:p>
        </p:txBody>
      </p:sp>
      <p:sp>
        <p:nvSpPr>
          <p:cNvPr id="5" name="Rectangle 4">
            <a:extLst>
              <a:ext uri="{FF2B5EF4-FFF2-40B4-BE49-F238E27FC236}">
                <a16:creationId xmlns:a16="http://schemas.microsoft.com/office/drawing/2014/main" id="{EF3E21C1-F354-43E2-AA1F-D8E3D07A6C85}"/>
              </a:ext>
            </a:extLst>
          </p:cNvPr>
          <p:cNvSpPr/>
          <p:nvPr/>
        </p:nvSpPr>
        <p:spPr>
          <a:xfrm>
            <a:off x="5031306" y="3257263"/>
            <a:ext cx="496491" cy="55006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309295" name="Text Box 47"/>
          <p:cNvSpPr txBox="1">
            <a:spLocks noChangeArrowheads="1"/>
          </p:cNvSpPr>
          <p:nvPr/>
        </p:nvSpPr>
        <p:spPr bwMode="auto">
          <a:xfrm>
            <a:off x="5010366" y="3384370"/>
            <a:ext cx="546946" cy="323165"/>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Lead</a:t>
            </a:r>
          </a:p>
          <a:p>
            <a:pPr algn="ctr" defTabSz="685800" eaLnBrk="0" fontAlgn="base" hangingPunct="0">
              <a:spcBef>
                <a:spcPct val="0"/>
              </a:spcBef>
              <a:spcAft>
                <a:spcPct val="0"/>
              </a:spcAft>
              <a:defRPr/>
            </a:pPr>
            <a:r>
              <a:rPr lang="en-US" sz="750" b="1" err="1">
                <a:solidFill>
                  <a:srgbClr val="000000"/>
                </a:solidFill>
                <a:latin typeface="Times New Roman" pitchFamily="18" charset="0"/>
              </a:rPr>
              <a:t>Optimiz</a:t>
            </a:r>
            <a:r>
              <a:rPr lang="en-US" sz="750" b="1">
                <a:solidFill>
                  <a:srgbClr val="000000"/>
                </a:solidFill>
                <a:latin typeface="Times New Roman" pitchFamily="18" charset="0"/>
              </a:rPr>
              <a:t>.</a:t>
            </a:r>
          </a:p>
        </p:txBody>
      </p:sp>
      <p:sp>
        <p:nvSpPr>
          <p:cNvPr id="309296" name="Text Box 48"/>
          <p:cNvSpPr txBox="1">
            <a:spLocks noChangeArrowheads="1"/>
          </p:cNvSpPr>
          <p:nvPr/>
        </p:nvSpPr>
        <p:spPr bwMode="auto">
          <a:xfrm>
            <a:off x="5528128" y="3384370"/>
            <a:ext cx="538930" cy="323165"/>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Pre-Clin</a:t>
            </a:r>
          </a:p>
          <a:p>
            <a:pPr algn="ctr" defTabSz="685800" eaLnBrk="0" fontAlgn="base" hangingPunct="0">
              <a:spcBef>
                <a:spcPct val="0"/>
              </a:spcBef>
              <a:spcAft>
                <a:spcPct val="0"/>
              </a:spcAft>
              <a:defRPr/>
            </a:pPr>
            <a:r>
              <a:rPr lang="en-US" sz="750" b="1">
                <a:solidFill>
                  <a:srgbClr val="000000"/>
                </a:solidFill>
                <a:latin typeface="Times New Roman" pitchFamily="18" charset="0"/>
              </a:rPr>
              <a:t>Dev.</a:t>
            </a:r>
          </a:p>
        </p:txBody>
      </p:sp>
      <p:sp>
        <p:nvSpPr>
          <p:cNvPr id="309297" name="Text Box 49"/>
          <p:cNvSpPr txBox="1">
            <a:spLocks noChangeArrowheads="1"/>
          </p:cNvSpPr>
          <p:nvPr/>
        </p:nvSpPr>
        <p:spPr bwMode="auto">
          <a:xfrm>
            <a:off x="6059998" y="3451811"/>
            <a:ext cx="486031" cy="207749"/>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Phase I</a:t>
            </a:r>
          </a:p>
        </p:txBody>
      </p:sp>
      <p:sp>
        <p:nvSpPr>
          <p:cNvPr id="309298" name="Text Box 50"/>
          <p:cNvSpPr txBox="1">
            <a:spLocks noChangeArrowheads="1"/>
          </p:cNvSpPr>
          <p:nvPr/>
        </p:nvSpPr>
        <p:spPr bwMode="auto">
          <a:xfrm>
            <a:off x="6576476" y="3451811"/>
            <a:ext cx="497252" cy="207749"/>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Phase 2</a:t>
            </a:r>
          </a:p>
        </p:txBody>
      </p:sp>
      <p:sp>
        <p:nvSpPr>
          <p:cNvPr id="309299" name="Text Box 51"/>
          <p:cNvSpPr txBox="1">
            <a:spLocks noChangeArrowheads="1"/>
          </p:cNvSpPr>
          <p:nvPr/>
        </p:nvSpPr>
        <p:spPr bwMode="auto">
          <a:xfrm>
            <a:off x="7133688" y="3451811"/>
            <a:ext cx="497252" cy="207749"/>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Phase 3</a:t>
            </a:r>
          </a:p>
        </p:txBody>
      </p:sp>
      <p:sp>
        <p:nvSpPr>
          <p:cNvPr id="309300" name="Text Box 52"/>
          <p:cNvSpPr txBox="1">
            <a:spLocks noChangeArrowheads="1"/>
          </p:cNvSpPr>
          <p:nvPr/>
        </p:nvSpPr>
        <p:spPr bwMode="auto">
          <a:xfrm>
            <a:off x="7602048" y="3580399"/>
            <a:ext cx="692818" cy="207749"/>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Registration</a:t>
            </a:r>
          </a:p>
        </p:txBody>
      </p:sp>
      <p:sp>
        <p:nvSpPr>
          <p:cNvPr id="309301" name="Text Box 53"/>
          <p:cNvSpPr txBox="1">
            <a:spLocks noChangeArrowheads="1"/>
          </p:cNvSpPr>
          <p:nvPr/>
        </p:nvSpPr>
        <p:spPr bwMode="auto">
          <a:xfrm>
            <a:off x="8126465" y="3323224"/>
            <a:ext cx="498855" cy="207749"/>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Launch</a:t>
            </a:r>
          </a:p>
        </p:txBody>
      </p:sp>
      <p:sp>
        <p:nvSpPr>
          <p:cNvPr id="309302" name="Text Box 54"/>
          <p:cNvSpPr txBox="1">
            <a:spLocks noChangeArrowheads="1"/>
          </p:cNvSpPr>
          <p:nvPr/>
        </p:nvSpPr>
        <p:spPr bwMode="auto">
          <a:xfrm>
            <a:off x="8589618" y="3384370"/>
            <a:ext cx="498855" cy="323165"/>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Global</a:t>
            </a:r>
          </a:p>
          <a:p>
            <a:pPr algn="ctr" defTabSz="685800" eaLnBrk="0" fontAlgn="base" hangingPunct="0">
              <a:spcBef>
                <a:spcPct val="0"/>
              </a:spcBef>
              <a:spcAft>
                <a:spcPct val="0"/>
              </a:spcAft>
              <a:defRPr/>
            </a:pPr>
            <a:r>
              <a:rPr lang="en-US" sz="750" b="1">
                <a:solidFill>
                  <a:srgbClr val="000000"/>
                </a:solidFill>
                <a:latin typeface="Times New Roman" pitchFamily="18" charset="0"/>
              </a:rPr>
              <a:t>Launch</a:t>
            </a:r>
          </a:p>
        </p:txBody>
      </p:sp>
      <p:sp>
        <p:nvSpPr>
          <p:cNvPr id="309303" name="Text Box 55"/>
          <p:cNvSpPr txBox="1">
            <a:spLocks noChangeArrowheads="1"/>
          </p:cNvSpPr>
          <p:nvPr/>
        </p:nvSpPr>
        <p:spPr bwMode="auto">
          <a:xfrm>
            <a:off x="3924054" y="2911266"/>
            <a:ext cx="601447" cy="253916"/>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1050" b="1">
                <a:solidFill>
                  <a:srgbClr val="000000"/>
                </a:solidFill>
                <a:latin typeface="Times New Roman" pitchFamily="18" charset="0"/>
              </a:rPr>
              <a:t>Project</a:t>
            </a:r>
          </a:p>
        </p:txBody>
      </p:sp>
      <p:sp>
        <p:nvSpPr>
          <p:cNvPr id="309304" name="Text Box 56"/>
          <p:cNvSpPr txBox="1">
            <a:spLocks noChangeArrowheads="1"/>
          </p:cNvSpPr>
          <p:nvPr/>
        </p:nvSpPr>
        <p:spPr bwMode="auto">
          <a:xfrm>
            <a:off x="5703366" y="2911266"/>
            <a:ext cx="699230" cy="253916"/>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1050" b="1">
                <a:solidFill>
                  <a:srgbClr val="000000"/>
                </a:solidFill>
                <a:latin typeface="Times New Roman" pitchFamily="18" charset="0"/>
              </a:rPr>
              <a:t>Program</a:t>
            </a:r>
          </a:p>
        </p:txBody>
      </p:sp>
      <p:sp>
        <p:nvSpPr>
          <p:cNvPr id="309305" name="Text Box 57"/>
          <p:cNvSpPr txBox="1">
            <a:spLocks noChangeArrowheads="1"/>
          </p:cNvSpPr>
          <p:nvPr/>
        </p:nvSpPr>
        <p:spPr bwMode="auto">
          <a:xfrm>
            <a:off x="7786414" y="2911266"/>
            <a:ext cx="647934" cy="253916"/>
          </a:xfrm>
          <a:prstGeom prst="rect">
            <a:avLst/>
          </a:prstGeom>
          <a:noFill/>
          <a:ln w="9525">
            <a:noFill/>
            <a:miter lim="800000"/>
            <a:headEnd/>
            <a:tailEnd/>
          </a:ln>
          <a:effectLst/>
        </p:spPr>
        <p:txBody>
          <a:bodyPr wrap="none">
            <a:spAutoFit/>
          </a:bodyPr>
          <a:lstStyle/>
          <a:p>
            <a:pPr algn="ctr" defTabSz="685800" eaLnBrk="0" fontAlgn="base" hangingPunct="0">
              <a:spcBef>
                <a:spcPct val="0"/>
              </a:spcBef>
              <a:spcAft>
                <a:spcPct val="0"/>
              </a:spcAft>
              <a:defRPr/>
            </a:pPr>
            <a:r>
              <a:rPr lang="en-US" sz="1050" b="1">
                <a:solidFill>
                  <a:srgbClr val="000000"/>
                </a:solidFill>
                <a:latin typeface="Times New Roman" pitchFamily="18" charset="0"/>
              </a:rPr>
              <a:t>Product</a:t>
            </a:r>
          </a:p>
        </p:txBody>
      </p:sp>
      <p:sp>
        <p:nvSpPr>
          <p:cNvPr id="309307" name="AutoShape 59"/>
          <p:cNvSpPr>
            <a:spLocks/>
          </p:cNvSpPr>
          <p:nvPr/>
        </p:nvSpPr>
        <p:spPr bwMode="auto">
          <a:xfrm rot="-5400000">
            <a:off x="6820971" y="2976870"/>
            <a:ext cx="165365" cy="2631232"/>
          </a:xfrm>
          <a:prstGeom prst="leftBrace">
            <a:avLst>
              <a:gd name="adj1" fmla="val 39394"/>
              <a:gd name="adj2" fmla="val 49940"/>
            </a:avLst>
          </a:prstGeom>
          <a:noFill/>
          <a:ln w="38100">
            <a:solidFill>
              <a:schemeClr val="bg2"/>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308" name="Text Box 60"/>
          <p:cNvSpPr txBox="1">
            <a:spLocks noChangeArrowheads="1"/>
          </p:cNvSpPr>
          <p:nvPr/>
        </p:nvSpPr>
        <p:spPr bwMode="auto">
          <a:xfrm>
            <a:off x="6296373" y="4328109"/>
            <a:ext cx="1153649" cy="300082"/>
          </a:xfrm>
          <a:prstGeom prst="rect">
            <a:avLst/>
          </a:prstGeom>
          <a:noFill/>
          <a:ln w="9525">
            <a:noFill/>
            <a:miter lim="800000"/>
            <a:headEnd/>
            <a:tailEnd/>
          </a:ln>
          <a:effectLst/>
        </p:spPr>
        <p:txBody>
          <a:bodyPr wrap="none">
            <a:spAutoFit/>
          </a:bodyPr>
          <a:lstStyle/>
          <a:p>
            <a:pPr defTabSz="685800" fontAlgn="base">
              <a:spcBef>
                <a:spcPct val="0"/>
              </a:spcBef>
              <a:spcAft>
                <a:spcPct val="0"/>
              </a:spcAft>
              <a:defRPr/>
            </a:pPr>
            <a:r>
              <a:rPr lang="en-US" sz="1350" b="1">
                <a:solidFill>
                  <a:srgbClr val="0070C0"/>
                </a:solidFill>
                <a:latin typeface="Calibri"/>
              </a:rPr>
              <a:t>Development</a:t>
            </a:r>
          </a:p>
        </p:txBody>
      </p:sp>
      <p:sp>
        <p:nvSpPr>
          <p:cNvPr id="309309" name="AutoShape 61"/>
          <p:cNvSpPr>
            <a:spLocks/>
          </p:cNvSpPr>
          <p:nvPr/>
        </p:nvSpPr>
        <p:spPr bwMode="auto">
          <a:xfrm rot="-5400000">
            <a:off x="4146298" y="2949906"/>
            <a:ext cx="176645" cy="2696441"/>
          </a:xfrm>
          <a:prstGeom prst="leftBrace">
            <a:avLst>
              <a:gd name="adj1" fmla="val 26515"/>
              <a:gd name="adj2" fmla="val 49940"/>
            </a:avLst>
          </a:prstGeom>
          <a:noFill/>
          <a:ln w="38100">
            <a:solidFill>
              <a:schemeClr val="bg2"/>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310" name="AutoShape 62"/>
          <p:cNvSpPr>
            <a:spLocks/>
          </p:cNvSpPr>
          <p:nvPr/>
        </p:nvSpPr>
        <p:spPr bwMode="auto">
          <a:xfrm rot="-5400000">
            <a:off x="8607034" y="3827236"/>
            <a:ext cx="176648" cy="941783"/>
          </a:xfrm>
          <a:prstGeom prst="leftBrace">
            <a:avLst>
              <a:gd name="adj1" fmla="val 13636"/>
              <a:gd name="adj2" fmla="val 49323"/>
            </a:avLst>
          </a:prstGeom>
          <a:noFill/>
          <a:ln w="38100">
            <a:solidFill>
              <a:schemeClr val="bg2"/>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309311" name="Text Box 63"/>
          <p:cNvSpPr txBox="1">
            <a:spLocks noChangeArrowheads="1"/>
          </p:cNvSpPr>
          <p:nvPr/>
        </p:nvSpPr>
        <p:spPr bwMode="auto">
          <a:xfrm>
            <a:off x="3754039" y="4328109"/>
            <a:ext cx="879793" cy="300082"/>
          </a:xfrm>
          <a:prstGeom prst="rect">
            <a:avLst/>
          </a:prstGeom>
          <a:noFill/>
          <a:ln w="9525">
            <a:noFill/>
            <a:miter lim="800000"/>
            <a:headEnd/>
            <a:tailEnd/>
          </a:ln>
          <a:effectLst/>
        </p:spPr>
        <p:txBody>
          <a:bodyPr wrap="none">
            <a:spAutoFit/>
          </a:bodyPr>
          <a:lstStyle/>
          <a:p>
            <a:pPr defTabSz="685800" fontAlgn="base">
              <a:spcBef>
                <a:spcPct val="0"/>
              </a:spcBef>
              <a:spcAft>
                <a:spcPct val="0"/>
              </a:spcAft>
              <a:defRPr/>
            </a:pPr>
            <a:r>
              <a:rPr lang="en-US" sz="1350" b="1">
                <a:solidFill>
                  <a:srgbClr val="0070C0"/>
                </a:solidFill>
                <a:latin typeface="Calibri"/>
              </a:rPr>
              <a:t>Discovery</a:t>
            </a:r>
          </a:p>
        </p:txBody>
      </p:sp>
      <p:sp>
        <p:nvSpPr>
          <p:cNvPr id="309312" name="Text Box 64"/>
          <p:cNvSpPr txBox="1">
            <a:spLocks noChangeArrowheads="1"/>
          </p:cNvSpPr>
          <p:nvPr/>
        </p:nvSpPr>
        <p:spPr bwMode="auto">
          <a:xfrm>
            <a:off x="8162920" y="4338949"/>
            <a:ext cx="974434" cy="300082"/>
          </a:xfrm>
          <a:prstGeom prst="rect">
            <a:avLst/>
          </a:prstGeom>
          <a:noFill/>
          <a:ln w="9525">
            <a:noFill/>
            <a:miter lim="800000"/>
            <a:headEnd/>
            <a:tailEnd/>
          </a:ln>
          <a:effectLst/>
        </p:spPr>
        <p:txBody>
          <a:bodyPr wrap="none">
            <a:spAutoFit/>
          </a:bodyPr>
          <a:lstStyle/>
          <a:p>
            <a:pPr defTabSz="685800" fontAlgn="base">
              <a:spcBef>
                <a:spcPct val="0"/>
              </a:spcBef>
              <a:spcAft>
                <a:spcPct val="0"/>
              </a:spcAft>
              <a:defRPr/>
            </a:pPr>
            <a:r>
              <a:rPr lang="en-US" sz="1350" b="1">
                <a:solidFill>
                  <a:srgbClr val="0070C0"/>
                </a:solidFill>
                <a:latin typeface="Calibri"/>
              </a:rPr>
              <a:t>Production</a:t>
            </a:r>
          </a:p>
        </p:txBody>
      </p:sp>
      <p:sp>
        <p:nvSpPr>
          <p:cNvPr id="8" name="Flowchart: Manual Operation 7">
            <a:extLst>
              <a:ext uri="{FF2B5EF4-FFF2-40B4-BE49-F238E27FC236}">
                <a16:creationId xmlns:a16="http://schemas.microsoft.com/office/drawing/2014/main" id="{A31CC323-F8BD-441B-B1BA-214A71A1428A}"/>
              </a:ext>
            </a:extLst>
          </p:cNvPr>
          <p:cNvSpPr/>
          <p:nvPr/>
        </p:nvSpPr>
        <p:spPr>
          <a:xfrm rot="16200000">
            <a:off x="2705934" y="3164976"/>
            <a:ext cx="1125682" cy="729880"/>
          </a:xfrm>
          <a:prstGeom prst="flowChartManualOperation">
            <a:avLst/>
          </a:prstGeom>
          <a:solidFill>
            <a:srgbClr val="92D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69" name="Text Box 44">
            <a:extLst>
              <a:ext uri="{FF2B5EF4-FFF2-40B4-BE49-F238E27FC236}">
                <a16:creationId xmlns:a16="http://schemas.microsoft.com/office/drawing/2014/main" id="{45F6DB70-5E58-4C5A-8A31-5D7693B9AB70}"/>
              </a:ext>
            </a:extLst>
          </p:cNvPr>
          <p:cNvSpPr txBox="1">
            <a:spLocks noChangeArrowheads="1"/>
          </p:cNvSpPr>
          <p:nvPr/>
        </p:nvSpPr>
        <p:spPr bwMode="auto">
          <a:xfrm>
            <a:off x="2886763" y="3397530"/>
            <a:ext cx="721052" cy="438582"/>
          </a:xfrm>
          <a:prstGeom prst="rect">
            <a:avLst/>
          </a:prstGeom>
          <a:noFill/>
          <a:ln w="9525">
            <a:noFill/>
            <a:miter lim="800000"/>
            <a:headEnd/>
            <a:tailEnd/>
          </a:ln>
          <a:effectLst/>
        </p:spPr>
        <p:txBody>
          <a:bodyPr wrap="square">
            <a:spAutoFit/>
          </a:bodyPr>
          <a:lstStyle/>
          <a:p>
            <a:pPr algn="ctr" defTabSz="685800" eaLnBrk="0" fontAlgn="base" hangingPunct="0">
              <a:spcBef>
                <a:spcPct val="0"/>
              </a:spcBef>
              <a:spcAft>
                <a:spcPct val="0"/>
              </a:spcAft>
              <a:defRPr/>
            </a:pPr>
            <a:r>
              <a:rPr lang="en-US" sz="750" b="1">
                <a:solidFill>
                  <a:srgbClr val="000000"/>
                </a:solidFill>
                <a:latin typeface="Times New Roman" pitchFamily="18" charset="0"/>
              </a:rPr>
              <a:t>Pre-Target (Exploratory)</a:t>
            </a:r>
          </a:p>
        </p:txBody>
      </p:sp>
      <p:sp>
        <p:nvSpPr>
          <p:cNvPr id="72" name="AutoShape 61">
            <a:extLst>
              <a:ext uri="{FF2B5EF4-FFF2-40B4-BE49-F238E27FC236}">
                <a16:creationId xmlns:a16="http://schemas.microsoft.com/office/drawing/2014/main" id="{890E6054-A6B1-44BA-A48D-CB7A026FFDF8}"/>
              </a:ext>
            </a:extLst>
          </p:cNvPr>
          <p:cNvSpPr>
            <a:spLocks/>
          </p:cNvSpPr>
          <p:nvPr/>
        </p:nvSpPr>
        <p:spPr bwMode="auto">
          <a:xfrm rot="5400000">
            <a:off x="4075991" y="1489840"/>
            <a:ext cx="252414" cy="2596727"/>
          </a:xfrm>
          <a:prstGeom prst="leftBrace">
            <a:avLst>
              <a:gd name="adj1" fmla="val 26515"/>
              <a:gd name="adj2" fmla="val 49940"/>
            </a:avLst>
          </a:prstGeom>
          <a:noFill/>
          <a:ln w="38100">
            <a:solidFill>
              <a:schemeClr val="bg2"/>
            </a:solidFill>
            <a:round/>
            <a:headEnd/>
            <a:tailEnd/>
          </a:ln>
          <a:effectLst/>
        </p:spPr>
        <p:txBody>
          <a:bodyPr wrap="none" anchor="ctr"/>
          <a:lstStyle/>
          <a:p>
            <a:pPr algn="ctr" defTabSz="685800" eaLnBrk="0" fontAlgn="base" hangingPunct="0">
              <a:lnSpc>
                <a:spcPct val="95000"/>
              </a:lnSpc>
              <a:spcBef>
                <a:spcPct val="0"/>
              </a:spcBef>
              <a:spcAft>
                <a:spcPct val="0"/>
              </a:spcAft>
              <a:defRPr/>
            </a:pPr>
            <a:endParaRPr lang="en-US" sz="2700">
              <a:solidFill>
                <a:srgbClr val="000000"/>
              </a:solidFill>
              <a:latin typeface="Calibri"/>
            </a:endParaRPr>
          </a:p>
        </p:txBody>
      </p:sp>
      <p:sp>
        <p:nvSpPr>
          <p:cNvPr id="9" name="TextBox 8">
            <a:extLst>
              <a:ext uri="{FF2B5EF4-FFF2-40B4-BE49-F238E27FC236}">
                <a16:creationId xmlns:a16="http://schemas.microsoft.com/office/drawing/2014/main" id="{950FFA64-FAE5-401D-87CB-4973E3593C80}"/>
              </a:ext>
            </a:extLst>
          </p:cNvPr>
          <p:cNvSpPr txBox="1"/>
          <p:nvPr/>
        </p:nvSpPr>
        <p:spPr>
          <a:xfrm>
            <a:off x="3424523" y="2349831"/>
            <a:ext cx="1491434" cy="300082"/>
          </a:xfrm>
          <a:prstGeom prst="rect">
            <a:avLst/>
          </a:prstGeom>
          <a:solidFill>
            <a:srgbClr val="92D050"/>
          </a:solidFill>
          <a:ln w="28575">
            <a:solidFill>
              <a:schemeClr val="tx1"/>
            </a:solidFill>
          </a:ln>
        </p:spPr>
        <p:txBody>
          <a:bodyPr wrap="none" rtlCol="0">
            <a:spAutoFit/>
          </a:bodyPr>
          <a:lstStyle/>
          <a:p>
            <a:pPr defTabSz="685800">
              <a:defRPr/>
            </a:pPr>
            <a:r>
              <a:rPr lang="en-US" sz="1350">
                <a:solidFill>
                  <a:prstClr val="black"/>
                </a:solidFill>
                <a:latin typeface="Calibri"/>
              </a:rPr>
              <a:t>TAPPM Interaction</a:t>
            </a:r>
          </a:p>
        </p:txBody>
      </p:sp>
      <p:sp>
        <p:nvSpPr>
          <p:cNvPr id="6" name="Rectangle 5">
            <a:extLst>
              <a:ext uri="{FF2B5EF4-FFF2-40B4-BE49-F238E27FC236}">
                <a16:creationId xmlns:a16="http://schemas.microsoft.com/office/drawing/2014/main" id="{686F8B11-CD1A-42C8-9256-BC77830F54A5}"/>
              </a:ext>
            </a:extLst>
          </p:cNvPr>
          <p:cNvSpPr/>
          <p:nvPr/>
        </p:nvSpPr>
        <p:spPr>
          <a:xfrm>
            <a:off x="2389969" y="2097539"/>
            <a:ext cx="7944818" cy="26885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pic>
        <p:nvPicPr>
          <p:cNvPr id="2" name="Picture 1">
            <a:extLst>
              <a:ext uri="{FF2B5EF4-FFF2-40B4-BE49-F238E27FC236}">
                <a16:creationId xmlns:a16="http://schemas.microsoft.com/office/drawing/2014/main" id="{47A18836-6BEB-4960-80A4-F24D11875F8A}"/>
              </a:ext>
            </a:extLst>
          </p:cNvPr>
          <p:cNvPicPr>
            <a:picLocks noChangeAspect="1"/>
          </p:cNvPicPr>
          <p:nvPr/>
        </p:nvPicPr>
        <p:blipFill>
          <a:blip r:embed="rId2"/>
          <a:stretch>
            <a:fillRect/>
          </a:stretch>
        </p:blipFill>
        <p:spPr>
          <a:xfrm>
            <a:off x="1880206" y="2104603"/>
            <a:ext cx="8260914" cy="2501690"/>
          </a:xfrm>
          <a:prstGeom prst="rect">
            <a:avLst/>
          </a:prstGeom>
        </p:spPr>
      </p:pic>
      <p:pic>
        <p:nvPicPr>
          <p:cNvPr id="60" name="Picture 59">
            <a:extLst>
              <a:ext uri="{FF2B5EF4-FFF2-40B4-BE49-F238E27FC236}">
                <a16:creationId xmlns:a16="http://schemas.microsoft.com/office/drawing/2014/main" id="{AE3A8AD9-A766-4ACF-A6C0-D8DFE96EFCF8}"/>
              </a:ext>
            </a:extLst>
          </p:cNvPr>
          <p:cNvPicPr>
            <a:picLocks noChangeAspect="1"/>
          </p:cNvPicPr>
          <p:nvPr/>
        </p:nvPicPr>
        <p:blipFill>
          <a:blip r:embed="rId3"/>
          <a:stretch>
            <a:fillRect/>
          </a:stretch>
        </p:blipFill>
        <p:spPr>
          <a:xfrm flipV="1">
            <a:off x="4950611" y="3717479"/>
            <a:ext cx="844196" cy="339702"/>
          </a:xfrm>
          <a:prstGeom prst="rect">
            <a:avLst/>
          </a:prstGeom>
        </p:spPr>
      </p:pic>
      <p:sp>
        <p:nvSpPr>
          <p:cNvPr id="12" name="TextBox 11">
            <a:extLst>
              <a:ext uri="{FF2B5EF4-FFF2-40B4-BE49-F238E27FC236}">
                <a16:creationId xmlns:a16="http://schemas.microsoft.com/office/drawing/2014/main" id="{FF424708-089C-4015-BD58-98EC3FDB9C75}"/>
              </a:ext>
            </a:extLst>
          </p:cNvPr>
          <p:cNvSpPr txBox="1"/>
          <p:nvPr/>
        </p:nvSpPr>
        <p:spPr>
          <a:xfrm>
            <a:off x="3105446" y="3747337"/>
            <a:ext cx="1268039" cy="415498"/>
          </a:xfrm>
          <a:prstGeom prst="rect">
            <a:avLst/>
          </a:prstGeom>
          <a:noFill/>
        </p:spPr>
        <p:txBody>
          <a:bodyPr wrap="none" rtlCol="0">
            <a:spAutoFit/>
          </a:bodyPr>
          <a:lstStyle/>
          <a:p>
            <a:pPr defTabSz="685800">
              <a:defRPr/>
            </a:pPr>
            <a:r>
              <a:rPr lang="en-US" sz="2100" b="1">
                <a:solidFill>
                  <a:srgbClr val="0070C0"/>
                </a:solidFill>
                <a:latin typeface="Calibri"/>
              </a:rPr>
              <a:t>Discovery</a:t>
            </a:r>
          </a:p>
        </p:txBody>
      </p:sp>
      <p:sp>
        <p:nvSpPr>
          <p:cNvPr id="15" name="Arrow: Down 14">
            <a:extLst>
              <a:ext uri="{FF2B5EF4-FFF2-40B4-BE49-F238E27FC236}">
                <a16:creationId xmlns:a16="http://schemas.microsoft.com/office/drawing/2014/main" id="{C8FAB5CD-37E6-42E5-8F6C-128C106FCE9E}"/>
              </a:ext>
            </a:extLst>
          </p:cNvPr>
          <p:cNvSpPr/>
          <p:nvPr/>
        </p:nvSpPr>
        <p:spPr>
          <a:xfrm>
            <a:off x="2050882" y="2160245"/>
            <a:ext cx="609931" cy="960870"/>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123" name="TextBox 122">
            <a:extLst>
              <a:ext uri="{FF2B5EF4-FFF2-40B4-BE49-F238E27FC236}">
                <a16:creationId xmlns:a16="http://schemas.microsoft.com/office/drawing/2014/main" id="{C7E366DA-17E8-4698-BD00-512B0C387C4E}"/>
              </a:ext>
            </a:extLst>
          </p:cNvPr>
          <p:cNvSpPr txBox="1"/>
          <p:nvPr/>
        </p:nvSpPr>
        <p:spPr>
          <a:xfrm>
            <a:off x="1735384" y="1149700"/>
            <a:ext cx="8772819" cy="888705"/>
          </a:xfrm>
          <a:prstGeom prst="rect">
            <a:avLst/>
          </a:prstGeom>
          <a:noFill/>
        </p:spPr>
        <p:txBody>
          <a:bodyPr wrap="square" rtlCol="0">
            <a:spAutoFit/>
          </a:bodyPr>
          <a:lstStyle/>
          <a:p>
            <a:pPr defTabSz="685800">
              <a:defRPr/>
            </a:pPr>
            <a:r>
              <a:rPr lang="en-US" sz="1725" b="1">
                <a:solidFill>
                  <a:srgbClr val="0070C0"/>
                </a:solidFill>
                <a:latin typeface="Calibri"/>
              </a:rPr>
              <a:t>Responsible for a portfolio of projects.  </a:t>
            </a:r>
            <a:r>
              <a:rPr lang="en-US" sz="1725">
                <a:solidFill>
                  <a:srgbClr val="0070C0"/>
                </a:solidFill>
                <a:latin typeface="Calibri"/>
              </a:rPr>
              <a:t>Includes working closely with VPs and Sr. Directors across functions to ensure strategy and alignment of portfolio, and ensure continuous flow of projects into the Portfolio</a:t>
            </a:r>
          </a:p>
        </p:txBody>
      </p:sp>
      <p:sp>
        <p:nvSpPr>
          <p:cNvPr id="124" name="Flowchart: Merge 123">
            <a:extLst>
              <a:ext uri="{FF2B5EF4-FFF2-40B4-BE49-F238E27FC236}">
                <a16:creationId xmlns:a16="http://schemas.microsoft.com/office/drawing/2014/main" id="{B1B54F26-D64F-4565-B6EA-D73F3C8347F7}"/>
              </a:ext>
            </a:extLst>
          </p:cNvPr>
          <p:cNvSpPr/>
          <p:nvPr/>
        </p:nvSpPr>
        <p:spPr>
          <a:xfrm>
            <a:off x="3359478" y="2950057"/>
            <a:ext cx="827341" cy="360243"/>
          </a:xfrm>
          <a:prstGeom prst="flowChartMerg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a:solidFill>
                  <a:prstClr val="white"/>
                </a:solidFill>
                <a:latin typeface="Calibri"/>
              </a:rPr>
              <a:t>PE</a:t>
            </a:r>
          </a:p>
        </p:txBody>
      </p:sp>
      <p:sp>
        <p:nvSpPr>
          <p:cNvPr id="125" name="Flowchart: Merge 124">
            <a:extLst>
              <a:ext uri="{FF2B5EF4-FFF2-40B4-BE49-F238E27FC236}">
                <a16:creationId xmlns:a16="http://schemas.microsoft.com/office/drawing/2014/main" id="{2893659C-49A6-4873-981A-97BB97EDFB5D}"/>
              </a:ext>
            </a:extLst>
          </p:cNvPr>
          <p:cNvSpPr/>
          <p:nvPr/>
        </p:nvSpPr>
        <p:spPr>
          <a:xfrm>
            <a:off x="4724576" y="2931438"/>
            <a:ext cx="845591" cy="318368"/>
          </a:xfrm>
          <a:prstGeom prst="flowChartMerg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a:solidFill>
                  <a:prstClr val="white"/>
                </a:solidFill>
                <a:latin typeface="Calibri"/>
              </a:rPr>
              <a:t>CI</a:t>
            </a:r>
          </a:p>
        </p:txBody>
      </p:sp>
      <p:grpSp>
        <p:nvGrpSpPr>
          <p:cNvPr id="16" name="Group 15">
            <a:extLst>
              <a:ext uri="{FF2B5EF4-FFF2-40B4-BE49-F238E27FC236}">
                <a16:creationId xmlns:a16="http://schemas.microsoft.com/office/drawing/2014/main" id="{8E2175E2-9054-4FB2-B3D7-8B881DC770D6}"/>
              </a:ext>
            </a:extLst>
          </p:cNvPr>
          <p:cNvGrpSpPr/>
          <p:nvPr/>
        </p:nvGrpSpPr>
        <p:grpSpPr>
          <a:xfrm>
            <a:off x="1735384" y="4091065"/>
            <a:ext cx="3886264" cy="1194674"/>
            <a:chOff x="281845" y="5167432"/>
            <a:chExt cx="5181685" cy="1592898"/>
          </a:xfrm>
        </p:grpSpPr>
        <p:pic>
          <p:nvPicPr>
            <p:cNvPr id="7" name="Picture 6">
              <a:extLst>
                <a:ext uri="{FF2B5EF4-FFF2-40B4-BE49-F238E27FC236}">
                  <a16:creationId xmlns:a16="http://schemas.microsoft.com/office/drawing/2014/main" id="{8AA580A7-EF08-4966-A809-E672414D8004}"/>
                </a:ext>
              </a:extLst>
            </p:cNvPr>
            <p:cNvPicPr>
              <a:picLocks noChangeAspect="1"/>
            </p:cNvPicPr>
            <p:nvPr/>
          </p:nvPicPr>
          <p:blipFill>
            <a:blip r:embed="rId3"/>
            <a:stretch>
              <a:fillRect/>
            </a:stretch>
          </p:blipFill>
          <p:spPr>
            <a:xfrm flipV="1">
              <a:off x="807905" y="5424357"/>
              <a:ext cx="670559" cy="269831"/>
            </a:xfrm>
            <a:prstGeom prst="rect">
              <a:avLst/>
            </a:prstGeom>
          </p:spPr>
        </p:pic>
        <p:pic>
          <p:nvPicPr>
            <p:cNvPr id="44" name="Picture 43">
              <a:extLst>
                <a:ext uri="{FF2B5EF4-FFF2-40B4-BE49-F238E27FC236}">
                  <a16:creationId xmlns:a16="http://schemas.microsoft.com/office/drawing/2014/main" id="{6F7FC225-BB57-47AD-9B46-24A940039C7C}"/>
                </a:ext>
              </a:extLst>
            </p:cNvPr>
            <p:cNvPicPr>
              <a:picLocks noChangeAspect="1"/>
            </p:cNvPicPr>
            <p:nvPr/>
          </p:nvPicPr>
          <p:blipFill>
            <a:blip r:embed="rId3"/>
            <a:stretch>
              <a:fillRect/>
            </a:stretch>
          </p:blipFill>
          <p:spPr>
            <a:xfrm flipV="1">
              <a:off x="528689" y="5637867"/>
              <a:ext cx="917829" cy="369332"/>
            </a:xfrm>
            <a:prstGeom prst="rect">
              <a:avLst/>
            </a:prstGeom>
          </p:spPr>
        </p:pic>
        <p:pic>
          <p:nvPicPr>
            <p:cNvPr id="45" name="Picture 44">
              <a:extLst>
                <a:ext uri="{FF2B5EF4-FFF2-40B4-BE49-F238E27FC236}">
                  <a16:creationId xmlns:a16="http://schemas.microsoft.com/office/drawing/2014/main" id="{4BC8F3C3-C9BB-4842-AE5F-1C507E161F89}"/>
                </a:ext>
              </a:extLst>
            </p:cNvPr>
            <p:cNvPicPr>
              <a:picLocks noChangeAspect="1"/>
            </p:cNvPicPr>
            <p:nvPr/>
          </p:nvPicPr>
          <p:blipFill>
            <a:blip r:embed="rId3"/>
            <a:stretch>
              <a:fillRect/>
            </a:stretch>
          </p:blipFill>
          <p:spPr>
            <a:xfrm flipV="1">
              <a:off x="374964" y="5984036"/>
              <a:ext cx="730740" cy="294048"/>
            </a:xfrm>
            <a:prstGeom prst="rect">
              <a:avLst/>
            </a:prstGeom>
          </p:spPr>
        </p:pic>
        <p:pic>
          <p:nvPicPr>
            <p:cNvPr id="46" name="Picture 45">
              <a:extLst>
                <a:ext uri="{FF2B5EF4-FFF2-40B4-BE49-F238E27FC236}">
                  <a16:creationId xmlns:a16="http://schemas.microsoft.com/office/drawing/2014/main" id="{32101D49-3EF8-4A24-96E1-5A63208A4DDF}"/>
                </a:ext>
              </a:extLst>
            </p:cNvPr>
            <p:cNvPicPr>
              <a:picLocks noChangeAspect="1"/>
            </p:cNvPicPr>
            <p:nvPr/>
          </p:nvPicPr>
          <p:blipFill>
            <a:blip r:embed="rId3"/>
            <a:stretch>
              <a:fillRect/>
            </a:stretch>
          </p:blipFill>
          <p:spPr>
            <a:xfrm flipV="1">
              <a:off x="895646" y="6122920"/>
              <a:ext cx="917829" cy="369332"/>
            </a:xfrm>
            <a:prstGeom prst="rect">
              <a:avLst/>
            </a:prstGeom>
          </p:spPr>
        </p:pic>
        <p:pic>
          <p:nvPicPr>
            <p:cNvPr id="47" name="Picture 46">
              <a:extLst>
                <a:ext uri="{FF2B5EF4-FFF2-40B4-BE49-F238E27FC236}">
                  <a16:creationId xmlns:a16="http://schemas.microsoft.com/office/drawing/2014/main" id="{DB75B8AA-5DA9-4D7D-876E-90A672C429E4}"/>
                </a:ext>
              </a:extLst>
            </p:cNvPr>
            <p:cNvPicPr>
              <a:picLocks noChangeAspect="1"/>
            </p:cNvPicPr>
            <p:nvPr/>
          </p:nvPicPr>
          <p:blipFill>
            <a:blip r:embed="rId3"/>
            <a:stretch>
              <a:fillRect/>
            </a:stretch>
          </p:blipFill>
          <p:spPr>
            <a:xfrm flipV="1">
              <a:off x="1544264" y="5800783"/>
              <a:ext cx="490217" cy="197262"/>
            </a:xfrm>
            <a:prstGeom prst="rect">
              <a:avLst/>
            </a:prstGeom>
          </p:spPr>
        </p:pic>
        <p:pic>
          <p:nvPicPr>
            <p:cNvPr id="48" name="Picture 47">
              <a:extLst>
                <a:ext uri="{FF2B5EF4-FFF2-40B4-BE49-F238E27FC236}">
                  <a16:creationId xmlns:a16="http://schemas.microsoft.com/office/drawing/2014/main" id="{DADB2C74-43BC-4C56-8D6C-30BEFA6D19D3}"/>
                </a:ext>
              </a:extLst>
            </p:cNvPr>
            <p:cNvPicPr>
              <a:picLocks noChangeAspect="1"/>
            </p:cNvPicPr>
            <p:nvPr/>
          </p:nvPicPr>
          <p:blipFill>
            <a:blip r:embed="rId3"/>
            <a:stretch>
              <a:fillRect/>
            </a:stretch>
          </p:blipFill>
          <p:spPr>
            <a:xfrm flipV="1">
              <a:off x="389194" y="5514006"/>
              <a:ext cx="513289" cy="206546"/>
            </a:xfrm>
            <a:prstGeom prst="rect">
              <a:avLst/>
            </a:prstGeom>
          </p:spPr>
        </p:pic>
        <p:pic>
          <p:nvPicPr>
            <p:cNvPr id="49" name="Picture 48">
              <a:extLst>
                <a:ext uri="{FF2B5EF4-FFF2-40B4-BE49-F238E27FC236}">
                  <a16:creationId xmlns:a16="http://schemas.microsoft.com/office/drawing/2014/main" id="{DBF1D6E8-1B31-4922-9E31-F0EC79291DC2}"/>
                </a:ext>
              </a:extLst>
            </p:cNvPr>
            <p:cNvPicPr>
              <a:picLocks noChangeAspect="1"/>
            </p:cNvPicPr>
            <p:nvPr/>
          </p:nvPicPr>
          <p:blipFill>
            <a:blip r:embed="rId3"/>
            <a:stretch>
              <a:fillRect/>
            </a:stretch>
          </p:blipFill>
          <p:spPr>
            <a:xfrm flipV="1">
              <a:off x="1448029" y="6029849"/>
              <a:ext cx="547098" cy="220151"/>
            </a:xfrm>
            <a:prstGeom prst="rect">
              <a:avLst/>
            </a:prstGeom>
          </p:spPr>
        </p:pic>
        <p:pic>
          <p:nvPicPr>
            <p:cNvPr id="51" name="Picture 50">
              <a:extLst>
                <a:ext uri="{FF2B5EF4-FFF2-40B4-BE49-F238E27FC236}">
                  <a16:creationId xmlns:a16="http://schemas.microsoft.com/office/drawing/2014/main" id="{A6098166-27E4-4D2C-83A5-27557F9BFF00}"/>
                </a:ext>
              </a:extLst>
            </p:cNvPr>
            <p:cNvPicPr>
              <a:picLocks noChangeAspect="1"/>
            </p:cNvPicPr>
            <p:nvPr/>
          </p:nvPicPr>
          <p:blipFill>
            <a:blip r:embed="rId3"/>
            <a:stretch>
              <a:fillRect/>
            </a:stretch>
          </p:blipFill>
          <p:spPr>
            <a:xfrm flipV="1">
              <a:off x="1143572" y="5992237"/>
              <a:ext cx="373770" cy="150404"/>
            </a:xfrm>
            <a:prstGeom prst="rect">
              <a:avLst/>
            </a:prstGeom>
          </p:spPr>
        </p:pic>
        <p:pic>
          <p:nvPicPr>
            <p:cNvPr id="52" name="Picture 51">
              <a:extLst>
                <a:ext uri="{FF2B5EF4-FFF2-40B4-BE49-F238E27FC236}">
                  <a16:creationId xmlns:a16="http://schemas.microsoft.com/office/drawing/2014/main" id="{57DA3AFD-6D76-4160-9193-F4378DF726FC}"/>
                </a:ext>
              </a:extLst>
            </p:cNvPr>
            <p:cNvPicPr>
              <a:picLocks noChangeAspect="1"/>
            </p:cNvPicPr>
            <p:nvPr/>
          </p:nvPicPr>
          <p:blipFill>
            <a:blip r:embed="rId3"/>
            <a:stretch>
              <a:fillRect/>
            </a:stretch>
          </p:blipFill>
          <p:spPr>
            <a:xfrm flipV="1">
              <a:off x="1508087" y="6272650"/>
              <a:ext cx="917829" cy="369332"/>
            </a:xfrm>
            <a:prstGeom prst="rect">
              <a:avLst/>
            </a:prstGeom>
          </p:spPr>
        </p:pic>
        <p:pic>
          <p:nvPicPr>
            <p:cNvPr id="56" name="Picture 55">
              <a:extLst>
                <a:ext uri="{FF2B5EF4-FFF2-40B4-BE49-F238E27FC236}">
                  <a16:creationId xmlns:a16="http://schemas.microsoft.com/office/drawing/2014/main" id="{6DC124D7-6035-48F4-A2C6-775E9F3F554A}"/>
                </a:ext>
              </a:extLst>
            </p:cNvPr>
            <p:cNvPicPr>
              <a:picLocks noChangeAspect="1"/>
            </p:cNvPicPr>
            <p:nvPr/>
          </p:nvPicPr>
          <p:blipFill>
            <a:blip r:embed="rId3"/>
            <a:stretch>
              <a:fillRect/>
            </a:stretch>
          </p:blipFill>
          <p:spPr>
            <a:xfrm flipV="1">
              <a:off x="466785" y="6334648"/>
              <a:ext cx="547098" cy="220151"/>
            </a:xfrm>
            <a:prstGeom prst="rect">
              <a:avLst/>
            </a:prstGeom>
          </p:spPr>
        </p:pic>
        <p:pic>
          <p:nvPicPr>
            <p:cNvPr id="57" name="Picture 56">
              <a:extLst>
                <a:ext uri="{FF2B5EF4-FFF2-40B4-BE49-F238E27FC236}">
                  <a16:creationId xmlns:a16="http://schemas.microsoft.com/office/drawing/2014/main" id="{8E8AF0C9-ADEE-47F3-BED8-E26E97687C66}"/>
                </a:ext>
              </a:extLst>
            </p:cNvPr>
            <p:cNvPicPr>
              <a:picLocks noChangeAspect="1"/>
            </p:cNvPicPr>
            <p:nvPr/>
          </p:nvPicPr>
          <p:blipFill>
            <a:blip r:embed="rId3"/>
            <a:stretch>
              <a:fillRect/>
            </a:stretch>
          </p:blipFill>
          <p:spPr>
            <a:xfrm flipV="1">
              <a:off x="998416" y="6435249"/>
              <a:ext cx="547098" cy="220151"/>
            </a:xfrm>
            <a:prstGeom prst="rect">
              <a:avLst/>
            </a:prstGeom>
          </p:spPr>
        </p:pic>
        <p:pic>
          <p:nvPicPr>
            <p:cNvPr id="58" name="Picture 57">
              <a:extLst>
                <a:ext uri="{FF2B5EF4-FFF2-40B4-BE49-F238E27FC236}">
                  <a16:creationId xmlns:a16="http://schemas.microsoft.com/office/drawing/2014/main" id="{360249FD-04A5-4BE4-8087-EEDEFF0B777F}"/>
                </a:ext>
              </a:extLst>
            </p:cNvPr>
            <p:cNvPicPr>
              <a:picLocks noChangeAspect="1"/>
            </p:cNvPicPr>
            <p:nvPr/>
          </p:nvPicPr>
          <p:blipFill>
            <a:blip r:embed="rId3"/>
            <a:stretch>
              <a:fillRect/>
            </a:stretch>
          </p:blipFill>
          <p:spPr>
            <a:xfrm flipV="1">
              <a:off x="1750619" y="6151250"/>
              <a:ext cx="547098" cy="220151"/>
            </a:xfrm>
            <a:prstGeom prst="rect">
              <a:avLst/>
            </a:prstGeom>
          </p:spPr>
        </p:pic>
        <p:pic>
          <p:nvPicPr>
            <p:cNvPr id="59" name="Picture 58">
              <a:extLst>
                <a:ext uri="{FF2B5EF4-FFF2-40B4-BE49-F238E27FC236}">
                  <a16:creationId xmlns:a16="http://schemas.microsoft.com/office/drawing/2014/main" id="{D8C2DF26-9C13-403E-8BB4-208020D71132}"/>
                </a:ext>
              </a:extLst>
            </p:cNvPr>
            <p:cNvPicPr>
              <a:picLocks noChangeAspect="1"/>
            </p:cNvPicPr>
            <p:nvPr/>
          </p:nvPicPr>
          <p:blipFill>
            <a:blip r:embed="rId3"/>
            <a:stretch>
              <a:fillRect/>
            </a:stretch>
          </p:blipFill>
          <p:spPr>
            <a:xfrm flipV="1">
              <a:off x="310680" y="6129720"/>
              <a:ext cx="547098" cy="220151"/>
            </a:xfrm>
            <a:prstGeom prst="rect">
              <a:avLst/>
            </a:prstGeom>
          </p:spPr>
        </p:pic>
        <p:pic>
          <p:nvPicPr>
            <p:cNvPr id="61" name="Picture 60">
              <a:extLst>
                <a:ext uri="{FF2B5EF4-FFF2-40B4-BE49-F238E27FC236}">
                  <a16:creationId xmlns:a16="http://schemas.microsoft.com/office/drawing/2014/main" id="{2F4E5EFE-7C28-4AA4-B471-8B4577126DAD}"/>
                </a:ext>
              </a:extLst>
            </p:cNvPr>
            <p:cNvPicPr>
              <a:picLocks noChangeAspect="1"/>
            </p:cNvPicPr>
            <p:nvPr/>
          </p:nvPicPr>
          <p:blipFill>
            <a:blip r:embed="rId3"/>
            <a:stretch>
              <a:fillRect/>
            </a:stretch>
          </p:blipFill>
          <p:spPr>
            <a:xfrm flipV="1">
              <a:off x="2118093" y="5299789"/>
              <a:ext cx="670559" cy="269831"/>
            </a:xfrm>
            <a:prstGeom prst="rect">
              <a:avLst/>
            </a:prstGeom>
          </p:spPr>
        </p:pic>
        <p:pic>
          <p:nvPicPr>
            <p:cNvPr id="62" name="Picture 61">
              <a:extLst>
                <a:ext uri="{FF2B5EF4-FFF2-40B4-BE49-F238E27FC236}">
                  <a16:creationId xmlns:a16="http://schemas.microsoft.com/office/drawing/2014/main" id="{FA37ADEB-6333-4A95-A59E-2F2E166CC8DA}"/>
                </a:ext>
              </a:extLst>
            </p:cNvPr>
            <p:cNvPicPr>
              <a:picLocks noChangeAspect="1"/>
            </p:cNvPicPr>
            <p:nvPr/>
          </p:nvPicPr>
          <p:blipFill>
            <a:blip r:embed="rId3"/>
            <a:stretch>
              <a:fillRect/>
            </a:stretch>
          </p:blipFill>
          <p:spPr>
            <a:xfrm flipV="1">
              <a:off x="2191109" y="5681210"/>
              <a:ext cx="917829" cy="369332"/>
            </a:xfrm>
            <a:prstGeom prst="rect">
              <a:avLst/>
            </a:prstGeom>
          </p:spPr>
        </p:pic>
        <p:pic>
          <p:nvPicPr>
            <p:cNvPr id="63" name="Picture 62">
              <a:extLst>
                <a:ext uri="{FF2B5EF4-FFF2-40B4-BE49-F238E27FC236}">
                  <a16:creationId xmlns:a16="http://schemas.microsoft.com/office/drawing/2014/main" id="{BD07B90C-1BFB-4B7C-8271-3767FD60F0F6}"/>
                </a:ext>
              </a:extLst>
            </p:cNvPr>
            <p:cNvPicPr>
              <a:picLocks noChangeAspect="1"/>
            </p:cNvPicPr>
            <p:nvPr/>
          </p:nvPicPr>
          <p:blipFill>
            <a:blip r:embed="rId3"/>
            <a:stretch>
              <a:fillRect/>
            </a:stretch>
          </p:blipFill>
          <p:spPr>
            <a:xfrm flipV="1">
              <a:off x="2037384" y="6027379"/>
              <a:ext cx="730740" cy="294048"/>
            </a:xfrm>
            <a:prstGeom prst="rect">
              <a:avLst/>
            </a:prstGeom>
          </p:spPr>
        </p:pic>
        <p:pic>
          <p:nvPicPr>
            <p:cNvPr id="64" name="Picture 63">
              <a:extLst>
                <a:ext uri="{FF2B5EF4-FFF2-40B4-BE49-F238E27FC236}">
                  <a16:creationId xmlns:a16="http://schemas.microsoft.com/office/drawing/2014/main" id="{6AE878BE-5394-4E76-8423-C1947CCC179F}"/>
                </a:ext>
              </a:extLst>
            </p:cNvPr>
            <p:cNvPicPr>
              <a:picLocks noChangeAspect="1"/>
            </p:cNvPicPr>
            <p:nvPr/>
          </p:nvPicPr>
          <p:blipFill>
            <a:blip r:embed="rId3"/>
            <a:stretch>
              <a:fillRect/>
            </a:stretch>
          </p:blipFill>
          <p:spPr>
            <a:xfrm flipV="1">
              <a:off x="2558066" y="6166263"/>
              <a:ext cx="917829" cy="369332"/>
            </a:xfrm>
            <a:prstGeom prst="rect">
              <a:avLst/>
            </a:prstGeom>
          </p:spPr>
        </p:pic>
        <p:pic>
          <p:nvPicPr>
            <p:cNvPr id="65" name="Picture 64">
              <a:extLst>
                <a:ext uri="{FF2B5EF4-FFF2-40B4-BE49-F238E27FC236}">
                  <a16:creationId xmlns:a16="http://schemas.microsoft.com/office/drawing/2014/main" id="{E302E2C1-8C07-4F5B-8250-8D3199AC3FFE}"/>
                </a:ext>
              </a:extLst>
            </p:cNvPr>
            <p:cNvPicPr>
              <a:picLocks noChangeAspect="1"/>
            </p:cNvPicPr>
            <p:nvPr/>
          </p:nvPicPr>
          <p:blipFill>
            <a:blip r:embed="rId3"/>
            <a:stretch>
              <a:fillRect/>
            </a:stretch>
          </p:blipFill>
          <p:spPr>
            <a:xfrm flipV="1">
              <a:off x="3206684" y="5844126"/>
              <a:ext cx="490217" cy="197262"/>
            </a:xfrm>
            <a:prstGeom prst="rect">
              <a:avLst/>
            </a:prstGeom>
          </p:spPr>
        </p:pic>
        <p:pic>
          <p:nvPicPr>
            <p:cNvPr id="66" name="Picture 65">
              <a:extLst>
                <a:ext uri="{FF2B5EF4-FFF2-40B4-BE49-F238E27FC236}">
                  <a16:creationId xmlns:a16="http://schemas.microsoft.com/office/drawing/2014/main" id="{6366AB3F-86E9-424F-9A89-34556E52CDA9}"/>
                </a:ext>
              </a:extLst>
            </p:cNvPr>
            <p:cNvPicPr>
              <a:picLocks noChangeAspect="1"/>
            </p:cNvPicPr>
            <p:nvPr/>
          </p:nvPicPr>
          <p:blipFill>
            <a:blip r:embed="rId3"/>
            <a:stretch>
              <a:fillRect/>
            </a:stretch>
          </p:blipFill>
          <p:spPr>
            <a:xfrm flipV="1">
              <a:off x="2051614" y="5557349"/>
              <a:ext cx="513289" cy="206546"/>
            </a:xfrm>
            <a:prstGeom prst="rect">
              <a:avLst/>
            </a:prstGeom>
          </p:spPr>
        </p:pic>
        <p:pic>
          <p:nvPicPr>
            <p:cNvPr id="68" name="Picture 67">
              <a:extLst>
                <a:ext uri="{FF2B5EF4-FFF2-40B4-BE49-F238E27FC236}">
                  <a16:creationId xmlns:a16="http://schemas.microsoft.com/office/drawing/2014/main" id="{4EBA1D13-786A-4478-AC71-4F8EF41087F1}"/>
                </a:ext>
              </a:extLst>
            </p:cNvPr>
            <p:cNvPicPr>
              <a:picLocks noChangeAspect="1"/>
            </p:cNvPicPr>
            <p:nvPr/>
          </p:nvPicPr>
          <p:blipFill>
            <a:blip r:embed="rId3"/>
            <a:stretch>
              <a:fillRect/>
            </a:stretch>
          </p:blipFill>
          <p:spPr>
            <a:xfrm flipV="1">
              <a:off x="3110449" y="6073192"/>
              <a:ext cx="547098" cy="220151"/>
            </a:xfrm>
            <a:prstGeom prst="rect">
              <a:avLst/>
            </a:prstGeom>
          </p:spPr>
        </p:pic>
        <p:pic>
          <p:nvPicPr>
            <p:cNvPr id="70" name="Picture 69">
              <a:extLst>
                <a:ext uri="{FF2B5EF4-FFF2-40B4-BE49-F238E27FC236}">
                  <a16:creationId xmlns:a16="http://schemas.microsoft.com/office/drawing/2014/main" id="{9822788E-573B-47D6-B4B4-E3F3AC917185}"/>
                </a:ext>
              </a:extLst>
            </p:cNvPr>
            <p:cNvPicPr>
              <a:picLocks noChangeAspect="1"/>
            </p:cNvPicPr>
            <p:nvPr/>
          </p:nvPicPr>
          <p:blipFill>
            <a:blip r:embed="rId3"/>
            <a:stretch>
              <a:fillRect/>
            </a:stretch>
          </p:blipFill>
          <p:spPr>
            <a:xfrm flipV="1">
              <a:off x="2992877" y="5539742"/>
              <a:ext cx="917829" cy="369332"/>
            </a:xfrm>
            <a:prstGeom prst="rect">
              <a:avLst/>
            </a:prstGeom>
          </p:spPr>
        </p:pic>
        <p:pic>
          <p:nvPicPr>
            <p:cNvPr id="71" name="Picture 70">
              <a:extLst>
                <a:ext uri="{FF2B5EF4-FFF2-40B4-BE49-F238E27FC236}">
                  <a16:creationId xmlns:a16="http://schemas.microsoft.com/office/drawing/2014/main" id="{76F96D57-B6EA-430F-8B46-E4C409820171}"/>
                </a:ext>
              </a:extLst>
            </p:cNvPr>
            <p:cNvPicPr>
              <a:picLocks noChangeAspect="1"/>
            </p:cNvPicPr>
            <p:nvPr/>
          </p:nvPicPr>
          <p:blipFill>
            <a:blip r:embed="rId3"/>
            <a:stretch>
              <a:fillRect/>
            </a:stretch>
          </p:blipFill>
          <p:spPr>
            <a:xfrm flipV="1">
              <a:off x="2805992" y="6035580"/>
              <a:ext cx="373770" cy="150404"/>
            </a:xfrm>
            <a:prstGeom prst="rect">
              <a:avLst/>
            </a:prstGeom>
          </p:spPr>
        </p:pic>
        <p:pic>
          <p:nvPicPr>
            <p:cNvPr id="73" name="Picture 72">
              <a:extLst>
                <a:ext uri="{FF2B5EF4-FFF2-40B4-BE49-F238E27FC236}">
                  <a16:creationId xmlns:a16="http://schemas.microsoft.com/office/drawing/2014/main" id="{6CB21FBB-A944-4EE9-8443-9D5A3F40EF95}"/>
                </a:ext>
              </a:extLst>
            </p:cNvPr>
            <p:cNvPicPr>
              <a:picLocks noChangeAspect="1"/>
            </p:cNvPicPr>
            <p:nvPr/>
          </p:nvPicPr>
          <p:blipFill>
            <a:blip r:embed="rId3"/>
            <a:stretch>
              <a:fillRect/>
            </a:stretch>
          </p:blipFill>
          <p:spPr>
            <a:xfrm flipV="1">
              <a:off x="3911434" y="6239962"/>
              <a:ext cx="917829" cy="369332"/>
            </a:xfrm>
            <a:prstGeom prst="rect">
              <a:avLst/>
            </a:prstGeom>
          </p:spPr>
        </p:pic>
        <p:pic>
          <p:nvPicPr>
            <p:cNvPr id="75" name="Picture 74">
              <a:extLst>
                <a:ext uri="{FF2B5EF4-FFF2-40B4-BE49-F238E27FC236}">
                  <a16:creationId xmlns:a16="http://schemas.microsoft.com/office/drawing/2014/main" id="{75D98181-E3F4-4ADE-9C0C-4CA9497E12BE}"/>
                </a:ext>
              </a:extLst>
            </p:cNvPr>
            <p:cNvPicPr>
              <a:picLocks noChangeAspect="1"/>
            </p:cNvPicPr>
            <p:nvPr/>
          </p:nvPicPr>
          <p:blipFill>
            <a:blip r:embed="rId4"/>
            <a:stretch>
              <a:fillRect/>
            </a:stretch>
          </p:blipFill>
          <p:spPr>
            <a:xfrm>
              <a:off x="3524766" y="5818561"/>
              <a:ext cx="328562" cy="336263"/>
            </a:xfrm>
            <a:prstGeom prst="rect">
              <a:avLst/>
            </a:prstGeom>
          </p:spPr>
        </p:pic>
        <p:pic>
          <p:nvPicPr>
            <p:cNvPr id="76" name="Picture 75">
              <a:extLst>
                <a:ext uri="{FF2B5EF4-FFF2-40B4-BE49-F238E27FC236}">
                  <a16:creationId xmlns:a16="http://schemas.microsoft.com/office/drawing/2014/main" id="{9DEDE07A-01D5-4524-A239-AE125341481F}"/>
                </a:ext>
              </a:extLst>
            </p:cNvPr>
            <p:cNvPicPr>
              <a:picLocks noChangeAspect="1"/>
            </p:cNvPicPr>
            <p:nvPr/>
          </p:nvPicPr>
          <p:blipFill>
            <a:blip r:embed="rId3"/>
            <a:stretch>
              <a:fillRect/>
            </a:stretch>
          </p:blipFill>
          <p:spPr>
            <a:xfrm flipV="1">
              <a:off x="2129205" y="6377991"/>
              <a:ext cx="547098" cy="220151"/>
            </a:xfrm>
            <a:prstGeom prst="rect">
              <a:avLst/>
            </a:prstGeom>
          </p:spPr>
        </p:pic>
        <p:pic>
          <p:nvPicPr>
            <p:cNvPr id="77" name="Picture 76">
              <a:extLst>
                <a:ext uri="{FF2B5EF4-FFF2-40B4-BE49-F238E27FC236}">
                  <a16:creationId xmlns:a16="http://schemas.microsoft.com/office/drawing/2014/main" id="{4E0E941F-D8C0-4164-8D70-684871EC031D}"/>
                </a:ext>
              </a:extLst>
            </p:cNvPr>
            <p:cNvPicPr>
              <a:picLocks noChangeAspect="1"/>
            </p:cNvPicPr>
            <p:nvPr/>
          </p:nvPicPr>
          <p:blipFill>
            <a:blip r:embed="rId3"/>
            <a:stretch>
              <a:fillRect/>
            </a:stretch>
          </p:blipFill>
          <p:spPr>
            <a:xfrm flipV="1">
              <a:off x="2660836" y="6478592"/>
              <a:ext cx="547098" cy="220151"/>
            </a:xfrm>
            <a:prstGeom prst="rect">
              <a:avLst/>
            </a:prstGeom>
          </p:spPr>
        </p:pic>
        <p:pic>
          <p:nvPicPr>
            <p:cNvPr id="78" name="Picture 77">
              <a:extLst>
                <a:ext uri="{FF2B5EF4-FFF2-40B4-BE49-F238E27FC236}">
                  <a16:creationId xmlns:a16="http://schemas.microsoft.com/office/drawing/2014/main" id="{91B7DBD0-0894-43A3-9F48-65268A14849C}"/>
                </a:ext>
              </a:extLst>
            </p:cNvPr>
            <p:cNvPicPr>
              <a:picLocks noChangeAspect="1"/>
            </p:cNvPicPr>
            <p:nvPr/>
          </p:nvPicPr>
          <p:blipFill>
            <a:blip r:embed="rId3"/>
            <a:stretch>
              <a:fillRect/>
            </a:stretch>
          </p:blipFill>
          <p:spPr>
            <a:xfrm flipV="1">
              <a:off x="3413039" y="6194593"/>
              <a:ext cx="547098" cy="220151"/>
            </a:xfrm>
            <a:prstGeom prst="rect">
              <a:avLst/>
            </a:prstGeom>
          </p:spPr>
        </p:pic>
        <p:pic>
          <p:nvPicPr>
            <p:cNvPr id="79" name="Picture 78">
              <a:extLst>
                <a:ext uri="{FF2B5EF4-FFF2-40B4-BE49-F238E27FC236}">
                  <a16:creationId xmlns:a16="http://schemas.microsoft.com/office/drawing/2014/main" id="{C1CF7962-BC00-498E-B67B-61A14B335BEF}"/>
                </a:ext>
              </a:extLst>
            </p:cNvPr>
            <p:cNvPicPr>
              <a:picLocks noChangeAspect="1"/>
            </p:cNvPicPr>
            <p:nvPr/>
          </p:nvPicPr>
          <p:blipFill>
            <a:blip r:embed="rId3"/>
            <a:stretch>
              <a:fillRect/>
            </a:stretch>
          </p:blipFill>
          <p:spPr>
            <a:xfrm flipV="1">
              <a:off x="1973100" y="6173063"/>
              <a:ext cx="547098" cy="220151"/>
            </a:xfrm>
            <a:prstGeom prst="rect">
              <a:avLst/>
            </a:prstGeom>
          </p:spPr>
        </p:pic>
        <p:pic>
          <p:nvPicPr>
            <p:cNvPr id="80" name="Picture 79">
              <a:extLst>
                <a:ext uri="{FF2B5EF4-FFF2-40B4-BE49-F238E27FC236}">
                  <a16:creationId xmlns:a16="http://schemas.microsoft.com/office/drawing/2014/main" id="{B2C026AF-E9E9-4F00-81F9-A56E3756C3B1}"/>
                </a:ext>
              </a:extLst>
            </p:cNvPr>
            <p:cNvPicPr>
              <a:picLocks noChangeAspect="1"/>
            </p:cNvPicPr>
            <p:nvPr/>
          </p:nvPicPr>
          <p:blipFill>
            <a:blip r:embed="rId3"/>
            <a:stretch>
              <a:fillRect/>
            </a:stretch>
          </p:blipFill>
          <p:spPr>
            <a:xfrm flipV="1">
              <a:off x="3535728" y="5576757"/>
              <a:ext cx="670559" cy="269831"/>
            </a:xfrm>
            <a:prstGeom prst="rect">
              <a:avLst/>
            </a:prstGeom>
          </p:spPr>
        </p:pic>
        <p:pic>
          <p:nvPicPr>
            <p:cNvPr id="81" name="Picture 80">
              <a:extLst>
                <a:ext uri="{FF2B5EF4-FFF2-40B4-BE49-F238E27FC236}">
                  <a16:creationId xmlns:a16="http://schemas.microsoft.com/office/drawing/2014/main" id="{E6C3658C-256B-4F02-AC44-3E2553D3A4EB}"/>
                </a:ext>
              </a:extLst>
            </p:cNvPr>
            <p:cNvPicPr>
              <a:picLocks noChangeAspect="1"/>
            </p:cNvPicPr>
            <p:nvPr/>
          </p:nvPicPr>
          <p:blipFill>
            <a:blip r:embed="rId3"/>
            <a:stretch>
              <a:fillRect/>
            </a:stretch>
          </p:blipFill>
          <p:spPr>
            <a:xfrm flipV="1">
              <a:off x="3256512" y="5790267"/>
              <a:ext cx="917829" cy="369332"/>
            </a:xfrm>
            <a:prstGeom prst="rect">
              <a:avLst/>
            </a:prstGeom>
          </p:spPr>
        </p:pic>
        <p:pic>
          <p:nvPicPr>
            <p:cNvPr id="82" name="Picture 81">
              <a:extLst>
                <a:ext uri="{FF2B5EF4-FFF2-40B4-BE49-F238E27FC236}">
                  <a16:creationId xmlns:a16="http://schemas.microsoft.com/office/drawing/2014/main" id="{BD5AB577-C872-4FCE-8BF6-CBC44156EE94}"/>
                </a:ext>
              </a:extLst>
            </p:cNvPr>
            <p:cNvPicPr>
              <a:picLocks noChangeAspect="1"/>
            </p:cNvPicPr>
            <p:nvPr/>
          </p:nvPicPr>
          <p:blipFill>
            <a:blip r:embed="rId3"/>
            <a:stretch>
              <a:fillRect/>
            </a:stretch>
          </p:blipFill>
          <p:spPr>
            <a:xfrm flipV="1">
              <a:off x="3607250" y="6145148"/>
              <a:ext cx="730740" cy="294048"/>
            </a:xfrm>
            <a:prstGeom prst="rect">
              <a:avLst/>
            </a:prstGeom>
          </p:spPr>
        </p:pic>
        <p:pic>
          <p:nvPicPr>
            <p:cNvPr id="83" name="Picture 82">
              <a:extLst>
                <a:ext uri="{FF2B5EF4-FFF2-40B4-BE49-F238E27FC236}">
                  <a16:creationId xmlns:a16="http://schemas.microsoft.com/office/drawing/2014/main" id="{BFD80472-E8A6-43F6-80C1-A27C7D5F1DA6}"/>
                </a:ext>
              </a:extLst>
            </p:cNvPr>
            <p:cNvPicPr>
              <a:picLocks noChangeAspect="1"/>
            </p:cNvPicPr>
            <p:nvPr/>
          </p:nvPicPr>
          <p:blipFill>
            <a:blip r:embed="rId3"/>
            <a:stretch>
              <a:fillRect/>
            </a:stretch>
          </p:blipFill>
          <p:spPr>
            <a:xfrm flipV="1">
              <a:off x="4111856" y="5907835"/>
              <a:ext cx="917829" cy="369332"/>
            </a:xfrm>
            <a:prstGeom prst="rect">
              <a:avLst/>
            </a:prstGeom>
          </p:spPr>
        </p:pic>
        <p:pic>
          <p:nvPicPr>
            <p:cNvPr id="85" name="Picture 84">
              <a:extLst>
                <a:ext uri="{FF2B5EF4-FFF2-40B4-BE49-F238E27FC236}">
                  <a16:creationId xmlns:a16="http://schemas.microsoft.com/office/drawing/2014/main" id="{C9220EA6-B3B0-4D0C-824A-9AA683A7DAD2}"/>
                </a:ext>
              </a:extLst>
            </p:cNvPr>
            <p:cNvPicPr>
              <a:picLocks noChangeAspect="1"/>
            </p:cNvPicPr>
            <p:nvPr/>
          </p:nvPicPr>
          <p:blipFill>
            <a:blip r:embed="rId3"/>
            <a:stretch>
              <a:fillRect/>
            </a:stretch>
          </p:blipFill>
          <p:spPr>
            <a:xfrm flipV="1">
              <a:off x="3117017" y="5666406"/>
              <a:ext cx="513289" cy="206546"/>
            </a:xfrm>
            <a:prstGeom prst="rect">
              <a:avLst/>
            </a:prstGeom>
          </p:spPr>
        </p:pic>
        <p:pic>
          <p:nvPicPr>
            <p:cNvPr id="87" name="Picture 86">
              <a:extLst>
                <a:ext uri="{FF2B5EF4-FFF2-40B4-BE49-F238E27FC236}">
                  <a16:creationId xmlns:a16="http://schemas.microsoft.com/office/drawing/2014/main" id="{6B902AE3-BE0D-4B02-BD56-B363BBA15B5D}"/>
                </a:ext>
              </a:extLst>
            </p:cNvPr>
            <p:cNvPicPr>
              <a:picLocks noChangeAspect="1"/>
            </p:cNvPicPr>
            <p:nvPr/>
          </p:nvPicPr>
          <p:blipFill>
            <a:blip r:embed="rId3"/>
            <a:stretch>
              <a:fillRect/>
            </a:stretch>
          </p:blipFill>
          <p:spPr>
            <a:xfrm flipV="1">
              <a:off x="4207112" y="5490850"/>
              <a:ext cx="917829" cy="369332"/>
            </a:xfrm>
            <a:prstGeom prst="rect">
              <a:avLst/>
            </a:prstGeom>
          </p:spPr>
        </p:pic>
        <p:pic>
          <p:nvPicPr>
            <p:cNvPr id="89" name="Picture 88">
              <a:extLst>
                <a:ext uri="{FF2B5EF4-FFF2-40B4-BE49-F238E27FC236}">
                  <a16:creationId xmlns:a16="http://schemas.microsoft.com/office/drawing/2014/main" id="{503304C3-F249-4C44-A7C4-6D75C4436592}"/>
                </a:ext>
              </a:extLst>
            </p:cNvPr>
            <p:cNvPicPr>
              <a:picLocks noChangeAspect="1"/>
            </p:cNvPicPr>
            <p:nvPr/>
          </p:nvPicPr>
          <p:blipFill>
            <a:blip r:embed="rId3"/>
            <a:stretch>
              <a:fillRect/>
            </a:stretch>
          </p:blipFill>
          <p:spPr>
            <a:xfrm flipV="1">
              <a:off x="4545701" y="5769083"/>
              <a:ext cx="917829" cy="369332"/>
            </a:xfrm>
            <a:prstGeom prst="rect">
              <a:avLst/>
            </a:prstGeom>
          </p:spPr>
        </p:pic>
        <p:pic>
          <p:nvPicPr>
            <p:cNvPr id="91" name="Picture 90">
              <a:extLst>
                <a:ext uri="{FF2B5EF4-FFF2-40B4-BE49-F238E27FC236}">
                  <a16:creationId xmlns:a16="http://schemas.microsoft.com/office/drawing/2014/main" id="{EFFDD852-47A2-44E4-894A-A4E7223FF5F8}"/>
                </a:ext>
              </a:extLst>
            </p:cNvPr>
            <p:cNvPicPr>
              <a:picLocks noChangeAspect="1"/>
            </p:cNvPicPr>
            <p:nvPr/>
          </p:nvPicPr>
          <p:blipFill>
            <a:blip r:embed="rId4"/>
            <a:stretch>
              <a:fillRect/>
            </a:stretch>
          </p:blipFill>
          <p:spPr>
            <a:xfrm>
              <a:off x="4415252" y="5800429"/>
              <a:ext cx="328562" cy="336263"/>
            </a:xfrm>
            <a:prstGeom prst="rect">
              <a:avLst/>
            </a:prstGeom>
          </p:spPr>
        </p:pic>
        <p:pic>
          <p:nvPicPr>
            <p:cNvPr id="92" name="Picture 91">
              <a:extLst>
                <a:ext uri="{FF2B5EF4-FFF2-40B4-BE49-F238E27FC236}">
                  <a16:creationId xmlns:a16="http://schemas.microsoft.com/office/drawing/2014/main" id="{437DBFD1-9F56-403D-953D-BC1C38649ECB}"/>
                </a:ext>
              </a:extLst>
            </p:cNvPr>
            <p:cNvPicPr>
              <a:picLocks noChangeAspect="1"/>
            </p:cNvPicPr>
            <p:nvPr/>
          </p:nvPicPr>
          <p:blipFill>
            <a:blip r:embed="rId3"/>
            <a:stretch>
              <a:fillRect/>
            </a:stretch>
          </p:blipFill>
          <p:spPr>
            <a:xfrm flipV="1">
              <a:off x="3194608" y="6487048"/>
              <a:ext cx="547098" cy="220151"/>
            </a:xfrm>
            <a:prstGeom prst="rect">
              <a:avLst/>
            </a:prstGeom>
          </p:spPr>
        </p:pic>
        <p:pic>
          <p:nvPicPr>
            <p:cNvPr id="95" name="Picture 94">
              <a:extLst>
                <a:ext uri="{FF2B5EF4-FFF2-40B4-BE49-F238E27FC236}">
                  <a16:creationId xmlns:a16="http://schemas.microsoft.com/office/drawing/2014/main" id="{458E0028-EC95-4DF5-A8C7-09DD452585B8}"/>
                </a:ext>
              </a:extLst>
            </p:cNvPr>
            <p:cNvPicPr>
              <a:picLocks noChangeAspect="1"/>
            </p:cNvPicPr>
            <p:nvPr/>
          </p:nvPicPr>
          <p:blipFill>
            <a:blip r:embed="rId3"/>
            <a:stretch>
              <a:fillRect/>
            </a:stretch>
          </p:blipFill>
          <p:spPr>
            <a:xfrm flipV="1">
              <a:off x="3038503" y="6282120"/>
              <a:ext cx="547098" cy="220151"/>
            </a:xfrm>
            <a:prstGeom prst="rect">
              <a:avLst/>
            </a:prstGeom>
          </p:spPr>
        </p:pic>
        <p:pic>
          <p:nvPicPr>
            <p:cNvPr id="96" name="Picture 95">
              <a:extLst>
                <a:ext uri="{FF2B5EF4-FFF2-40B4-BE49-F238E27FC236}">
                  <a16:creationId xmlns:a16="http://schemas.microsoft.com/office/drawing/2014/main" id="{8E033E68-653C-4937-8618-CD15C6158B23}"/>
                </a:ext>
              </a:extLst>
            </p:cNvPr>
            <p:cNvPicPr>
              <a:picLocks noChangeAspect="1"/>
            </p:cNvPicPr>
            <p:nvPr/>
          </p:nvPicPr>
          <p:blipFill>
            <a:blip r:embed="rId3"/>
            <a:stretch>
              <a:fillRect/>
            </a:stretch>
          </p:blipFill>
          <p:spPr>
            <a:xfrm flipV="1">
              <a:off x="421536" y="5693124"/>
              <a:ext cx="490217" cy="197262"/>
            </a:xfrm>
            <a:prstGeom prst="rect">
              <a:avLst/>
            </a:prstGeom>
          </p:spPr>
        </p:pic>
        <p:pic>
          <p:nvPicPr>
            <p:cNvPr id="97" name="Picture 96">
              <a:extLst>
                <a:ext uri="{FF2B5EF4-FFF2-40B4-BE49-F238E27FC236}">
                  <a16:creationId xmlns:a16="http://schemas.microsoft.com/office/drawing/2014/main" id="{A3B1FDA8-4656-4749-98EC-C5BA146E58F1}"/>
                </a:ext>
              </a:extLst>
            </p:cNvPr>
            <p:cNvPicPr>
              <a:picLocks noChangeAspect="1"/>
            </p:cNvPicPr>
            <p:nvPr/>
          </p:nvPicPr>
          <p:blipFill>
            <a:blip r:embed="rId3"/>
            <a:stretch>
              <a:fillRect/>
            </a:stretch>
          </p:blipFill>
          <p:spPr>
            <a:xfrm flipV="1">
              <a:off x="325301" y="5922190"/>
              <a:ext cx="547098" cy="220151"/>
            </a:xfrm>
            <a:prstGeom prst="rect">
              <a:avLst/>
            </a:prstGeom>
          </p:spPr>
        </p:pic>
        <p:pic>
          <p:nvPicPr>
            <p:cNvPr id="98" name="Picture 97">
              <a:extLst>
                <a:ext uri="{FF2B5EF4-FFF2-40B4-BE49-F238E27FC236}">
                  <a16:creationId xmlns:a16="http://schemas.microsoft.com/office/drawing/2014/main" id="{E487C7D4-75F3-48DB-8E87-457AE948644F}"/>
                </a:ext>
              </a:extLst>
            </p:cNvPr>
            <p:cNvPicPr>
              <a:picLocks noChangeAspect="1"/>
            </p:cNvPicPr>
            <p:nvPr/>
          </p:nvPicPr>
          <p:blipFill>
            <a:blip r:embed="rId3"/>
            <a:stretch>
              <a:fillRect/>
            </a:stretch>
          </p:blipFill>
          <p:spPr>
            <a:xfrm flipV="1">
              <a:off x="627891" y="6043591"/>
              <a:ext cx="547098" cy="220151"/>
            </a:xfrm>
            <a:prstGeom prst="rect">
              <a:avLst/>
            </a:prstGeom>
          </p:spPr>
        </p:pic>
        <p:pic>
          <p:nvPicPr>
            <p:cNvPr id="99" name="Picture 98">
              <a:extLst>
                <a:ext uri="{FF2B5EF4-FFF2-40B4-BE49-F238E27FC236}">
                  <a16:creationId xmlns:a16="http://schemas.microsoft.com/office/drawing/2014/main" id="{0469FE28-EE15-40E0-ABB3-2596507AAC60}"/>
                </a:ext>
              </a:extLst>
            </p:cNvPr>
            <p:cNvPicPr>
              <a:picLocks noChangeAspect="1"/>
            </p:cNvPicPr>
            <p:nvPr/>
          </p:nvPicPr>
          <p:blipFill>
            <a:blip r:embed="rId3"/>
            <a:stretch>
              <a:fillRect/>
            </a:stretch>
          </p:blipFill>
          <p:spPr>
            <a:xfrm flipV="1">
              <a:off x="1006477" y="6270332"/>
              <a:ext cx="547098" cy="220151"/>
            </a:xfrm>
            <a:prstGeom prst="rect">
              <a:avLst/>
            </a:prstGeom>
          </p:spPr>
        </p:pic>
        <p:pic>
          <p:nvPicPr>
            <p:cNvPr id="100" name="Picture 99">
              <a:extLst>
                <a:ext uri="{FF2B5EF4-FFF2-40B4-BE49-F238E27FC236}">
                  <a16:creationId xmlns:a16="http://schemas.microsoft.com/office/drawing/2014/main" id="{7162F468-1A16-4D59-A821-06BE56C2ECAF}"/>
                </a:ext>
              </a:extLst>
            </p:cNvPr>
            <p:cNvPicPr>
              <a:picLocks noChangeAspect="1"/>
            </p:cNvPicPr>
            <p:nvPr/>
          </p:nvPicPr>
          <p:blipFill>
            <a:blip r:embed="rId3"/>
            <a:stretch>
              <a:fillRect/>
            </a:stretch>
          </p:blipFill>
          <p:spPr>
            <a:xfrm flipV="1">
              <a:off x="850372" y="6065404"/>
              <a:ext cx="547098" cy="220151"/>
            </a:xfrm>
            <a:prstGeom prst="rect">
              <a:avLst/>
            </a:prstGeom>
          </p:spPr>
        </p:pic>
        <p:pic>
          <p:nvPicPr>
            <p:cNvPr id="101" name="Picture 100">
              <a:extLst>
                <a:ext uri="{FF2B5EF4-FFF2-40B4-BE49-F238E27FC236}">
                  <a16:creationId xmlns:a16="http://schemas.microsoft.com/office/drawing/2014/main" id="{EA408AEB-B7F2-4CDF-9A24-4C692751D16C}"/>
                </a:ext>
              </a:extLst>
            </p:cNvPr>
            <p:cNvPicPr>
              <a:picLocks noChangeAspect="1"/>
            </p:cNvPicPr>
            <p:nvPr/>
          </p:nvPicPr>
          <p:blipFill>
            <a:blip r:embed="rId3"/>
            <a:stretch>
              <a:fillRect/>
            </a:stretch>
          </p:blipFill>
          <p:spPr>
            <a:xfrm flipV="1">
              <a:off x="281845" y="5215925"/>
              <a:ext cx="490217" cy="197262"/>
            </a:xfrm>
            <a:prstGeom prst="rect">
              <a:avLst/>
            </a:prstGeom>
          </p:spPr>
        </p:pic>
        <p:pic>
          <p:nvPicPr>
            <p:cNvPr id="102" name="Picture 101">
              <a:extLst>
                <a:ext uri="{FF2B5EF4-FFF2-40B4-BE49-F238E27FC236}">
                  <a16:creationId xmlns:a16="http://schemas.microsoft.com/office/drawing/2014/main" id="{FDCF1955-5144-4241-AF44-1E9809518D2D}"/>
                </a:ext>
              </a:extLst>
            </p:cNvPr>
            <p:cNvPicPr>
              <a:picLocks noChangeAspect="1"/>
            </p:cNvPicPr>
            <p:nvPr/>
          </p:nvPicPr>
          <p:blipFill>
            <a:blip r:embed="rId3"/>
            <a:stretch>
              <a:fillRect/>
            </a:stretch>
          </p:blipFill>
          <p:spPr>
            <a:xfrm flipV="1">
              <a:off x="560193" y="5267848"/>
              <a:ext cx="547098" cy="220151"/>
            </a:xfrm>
            <a:prstGeom prst="rect">
              <a:avLst/>
            </a:prstGeom>
          </p:spPr>
        </p:pic>
        <p:pic>
          <p:nvPicPr>
            <p:cNvPr id="103" name="Picture 102">
              <a:extLst>
                <a:ext uri="{FF2B5EF4-FFF2-40B4-BE49-F238E27FC236}">
                  <a16:creationId xmlns:a16="http://schemas.microsoft.com/office/drawing/2014/main" id="{D83D8F1F-EBC6-476A-8068-877402E4B30E}"/>
                </a:ext>
              </a:extLst>
            </p:cNvPr>
            <p:cNvPicPr>
              <a:picLocks noChangeAspect="1"/>
            </p:cNvPicPr>
            <p:nvPr/>
          </p:nvPicPr>
          <p:blipFill>
            <a:blip r:embed="rId3"/>
            <a:stretch>
              <a:fillRect/>
            </a:stretch>
          </p:blipFill>
          <p:spPr>
            <a:xfrm flipV="1">
              <a:off x="862783" y="5389249"/>
              <a:ext cx="547098" cy="220151"/>
            </a:xfrm>
            <a:prstGeom prst="rect">
              <a:avLst/>
            </a:prstGeom>
          </p:spPr>
        </p:pic>
        <p:pic>
          <p:nvPicPr>
            <p:cNvPr id="104" name="Picture 103">
              <a:extLst>
                <a:ext uri="{FF2B5EF4-FFF2-40B4-BE49-F238E27FC236}">
                  <a16:creationId xmlns:a16="http://schemas.microsoft.com/office/drawing/2014/main" id="{45649F1B-37F9-44D7-BA97-391D0F4A8B40}"/>
                </a:ext>
              </a:extLst>
            </p:cNvPr>
            <p:cNvPicPr>
              <a:picLocks noChangeAspect="1"/>
            </p:cNvPicPr>
            <p:nvPr/>
          </p:nvPicPr>
          <p:blipFill>
            <a:blip r:embed="rId3"/>
            <a:stretch>
              <a:fillRect/>
            </a:stretch>
          </p:blipFill>
          <p:spPr>
            <a:xfrm flipV="1">
              <a:off x="1241369" y="5615990"/>
              <a:ext cx="547098" cy="220151"/>
            </a:xfrm>
            <a:prstGeom prst="rect">
              <a:avLst/>
            </a:prstGeom>
          </p:spPr>
        </p:pic>
        <p:pic>
          <p:nvPicPr>
            <p:cNvPr id="105" name="Picture 104">
              <a:extLst>
                <a:ext uri="{FF2B5EF4-FFF2-40B4-BE49-F238E27FC236}">
                  <a16:creationId xmlns:a16="http://schemas.microsoft.com/office/drawing/2014/main" id="{9D5D229D-BC21-4DC8-B608-F60C3A03D0A7}"/>
                </a:ext>
              </a:extLst>
            </p:cNvPr>
            <p:cNvPicPr>
              <a:picLocks noChangeAspect="1"/>
            </p:cNvPicPr>
            <p:nvPr/>
          </p:nvPicPr>
          <p:blipFill>
            <a:blip r:embed="rId3"/>
            <a:stretch>
              <a:fillRect/>
            </a:stretch>
          </p:blipFill>
          <p:spPr>
            <a:xfrm flipV="1">
              <a:off x="1085264" y="5411062"/>
              <a:ext cx="547098" cy="220151"/>
            </a:xfrm>
            <a:prstGeom prst="rect">
              <a:avLst/>
            </a:prstGeom>
          </p:spPr>
        </p:pic>
        <p:pic>
          <p:nvPicPr>
            <p:cNvPr id="106" name="Picture 105">
              <a:extLst>
                <a:ext uri="{FF2B5EF4-FFF2-40B4-BE49-F238E27FC236}">
                  <a16:creationId xmlns:a16="http://schemas.microsoft.com/office/drawing/2014/main" id="{9D22B2BA-B91E-4371-9C9A-2EB3FD08880A}"/>
                </a:ext>
              </a:extLst>
            </p:cNvPr>
            <p:cNvPicPr>
              <a:picLocks noChangeAspect="1"/>
            </p:cNvPicPr>
            <p:nvPr/>
          </p:nvPicPr>
          <p:blipFill>
            <a:blip r:embed="rId3"/>
            <a:stretch>
              <a:fillRect/>
            </a:stretch>
          </p:blipFill>
          <p:spPr>
            <a:xfrm flipV="1">
              <a:off x="1218491" y="5953183"/>
              <a:ext cx="490217" cy="197262"/>
            </a:xfrm>
            <a:prstGeom prst="rect">
              <a:avLst/>
            </a:prstGeom>
          </p:spPr>
        </p:pic>
        <p:pic>
          <p:nvPicPr>
            <p:cNvPr id="107" name="Picture 106">
              <a:extLst>
                <a:ext uri="{FF2B5EF4-FFF2-40B4-BE49-F238E27FC236}">
                  <a16:creationId xmlns:a16="http://schemas.microsoft.com/office/drawing/2014/main" id="{6F053CAA-D077-4962-AED9-9C78A83C8362}"/>
                </a:ext>
              </a:extLst>
            </p:cNvPr>
            <p:cNvPicPr>
              <a:picLocks noChangeAspect="1"/>
            </p:cNvPicPr>
            <p:nvPr/>
          </p:nvPicPr>
          <p:blipFill>
            <a:blip r:embed="rId3"/>
            <a:stretch>
              <a:fillRect/>
            </a:stretch>
          </p:blipFill>
          <p:spPr>
            <a:xfrm flipV="1">
              <a:off x="1122256" y="6182249"/>
              <a:ext cx="547098" cy="220151"/>
            </a:xfrm>
            <a:prstGeom prst="rect">
              <a:avLst/>
            </a:prstGeom>
          </p:spPr>
        </p:pic>
        <p:pic>
          <p:nvPicPr>
            <p:cNvPr id="108" name="Picture 107">
              <a:extLst>
                <a:ext uri="{FF2B5EF4-FFF2-40B4-BE49-F238E27FC236}">
                  <a16:creationId xmlns:a16="http://schemas.microsoft.com/office/drawing/2014/main" id="{93401D65-8957-4864-94BD-1E55AD4A8F25}"/>
                </a:ext>
              </a:extLst>
            </p:cNvPr>
            <p:cNvPicPr>
              <a:picLocks noChangeAspect="1"/>
            </p:cNvPicPr>
            <p:nvPr/>
          </p:nvPicPr>
          <p:blipFill>
            <a:blip r:embed="rId3"/>
            <a:stretch>
              <a:fillRect/>
            </a:stretch>
          </p:blipFill>
          <p:spPr>
            <a:xfrm flipV="1">
              <a:off x="1424846" y="6303650"/>
              <a:ext cx="547098" cy="220151"/>
            </a:xfrm>
            <a:prstGeom prst="rect">
              <a:avLst/>
            </a:prstGeom>
          </p:spPr>
        </p:pic>
        <p:pic>
          <p:nvPicPr>
            <p:cNvPr id="109" name="Picture 108">
              <a:extLst>
                <a:ext uri="{FF2B5EF4-FFF2-40B4-BE49-F238E27FC236}">
                  <a16:creationId xmlns:a16="http://schemas.microsoft.com/office/drawing/2014/main" id="{B09BE624-3FDB-4B05-805B-562978871A2F}"/>
                </a:ext>
              </a:extLst>
            </p:cNvPr>
            <p:cNvPicPr>
              <a:picLocks noChangeAspect="1"/>
            </p:cNvPicPr>
            <p:nvPr/>
          </p:nvPicPr>
          <p:blipFill>
            <a:blip r:embed="rId3"/>
            <a:stretch>
              <a:fillRect/>
            </a:stretch>
          </p:blipFill>
          <p:spPr>
            <a:xfrm flipV="1">
              <a:off x="1803432" y="6530391"/>
              <a:ext cx="547098" cy="220151"/>
            </a:xfrm>
            <a:prstGeom prst="rect">
              <a:avLst/>
            </a:prstGeom>
          </p:spPr>
        </p:pic>
        <p:pic>
          <p:nvPicPr>
            <p:cNvPr id="110" name="Picture 109">
              <a:extLst>
                <a:ext uri="{FF2B5EF4-FFF2-40B4-BE49-F238E27FC236}">
                  <a16:creationId xmlns:a16="http://schemas.microsoft.com/office/drawing/2014/main" id="{3067DE6B-90F8-49E3-B7DD-0DBA9EE7D316}"/>
                </a:ext>
              </a:extLst>
            </p:cNvPr>
            <p:cNvPicPr>
              <a:picLocks noChangeAspect="1"/>
            </p:cNvPicPr>
            <p:nvPr/>
          </p:nvPicPr>
          <p:blipFill>
            <a:blip r:embed="rId3"/>
            <a:stretch>
              <a:fillRect/>
            </a:stretch>
          </p:blipFill>
          <p:spPr>
            <a:xfrm flipV="1">
              <a:off x="1647327" y="6325463"/>
              <a:ext cx="547098" cy="220151"/>
            </a:xfrm>
            <a:prstGeom prst="rect">
              <a:avLst/>
            </a:prstGeom>
          </p:spPr>
        </p:pic>
        <p:pic>
          <p:nvPicPr>
            <p:cNvPr id="11" name="Picture 10">
              <a:extLst>
                <a:ext uri="{FF2B5EF4-FFF2-40B4-BE49-F238E27FC236}">
                  <a16:creationId xmlns:a16="http://schemas.microsoft.com/office/drawing/2014/main" id="{1E38137F-5147-4F31-9043-19A4D044E8E8}"/>
                </a:ext>
              </a:extLst>
            </p:cNvPr>
            <p:cNvPicPr>
              <a:picLocks noChangeAspect="1"/>
            </p:cNvPicPr>
            <p:nvPr/>
          </p:nvPicPr>
          <p:blipFill>
            <a:blip r:embed="rId4"/>
            <a:stretch>
              <a:fillRect/>
            </a:stretch>
          </p:blipFill>
          <p:spPr>
            <a:xfrm>
              <a:off x="1075651" y="5800429"/>
              <a:ext cx="328562" cy="336263"/>
            </a:xfrm>
            <a:prstGeom prst="rect">
              <a:avLst/>
            </a:prstGeom>
          </p:spPr>
        </p:pic>
        <p:pic>
          <p:nvPicPr>
            <p:cNvPr id="55" name="Picture 54">
              <a:extLst>
                <a:ext uri="{FF2B5EF4-FFF2-40B4-BE49-F238E27FC236}">
                  <a16:creationId xmlns:a16="http://schemas.microsoft.com/office/drawing/2014/main" id="{45555673-9F78-45C8-8227-1E2FF2997364}"/>
                </a:ext>
              </a:extLst>
            </p:cNvPr>
            <p:cNvPicPr>
              <a:picLocks noChangeAspect="1"/>
            </p:cNvPicPr>
            <p:nvPr/>
          </p:nvPicPr>
          <p:blipFill>
            <a:blip r:embed="rId4"/>
            <a:stretch>
              <a:fillRect/>
            </a:stretch>
          </p:blipFill>
          <p:spPr>
            <a:xfrm>
              <a:off x="1862346" y="5800429"/>
              <a:ext cx="328562" cy="336263"/>
            </a:xfrm>
            <a:prstGeom prst="rect">
              <a:avLst/>
            </a:prstGeom>
          </p:spPr>
        </p:pic>
        <p:pic>
          <p:nvPicPr>
            <p:cNvPr id="111" name="Picture 110">
              <a:extLst>
                <a:ext uri="{FF2B5EF4-FFF2-40B4-BE49-F238E27FC236}">
                  <a16:creationId xmlns:a16="http://schemas.microsoft.com/office/drawing/2014/main" id="{B9ACEDE6-B0D0-4345-9CCF-8AE0605D4953}"/>
                </a:ext>
              </a:extLst>
            </p:cNvPr>
            <p:cNvPicPr>
              <a:picLocks noChangeAspect="1"/>
            </p:cNvPicPr>
            <p:nvPr/>
          </p:nvPicPr>
          <p:blipFill>
            <a:blip r:embed="rId3"/>
            <a:stretch>
              <a:fillRect/>
            </a:stretch>
          </p:blipFill>
          <p:spPr>
            <a:xfrm flipV="1">
              <a:off x="2563578" y="5402361"/>
              <a:ext cx="670559" cy="269831"/>
            </a:xfrm>
            <a:prstGeom prst="rect">
              <a:avLst/>
            </a:prstGeom>
          </p:spPr>
        </p:pic>
        <p:pic>
          <p:nvPicPr>
            <p:cNvPr id="112" name="Picture 111">
              <a:extLst>
                <a:ext uri="{FF2B5EF4-FFF2-40B4-BE49-F238E27FC236}">
                  <a16:creationId xmlns:a16="http://schemas.microsoft.com/office/drawing/2014/main" id="{B551A00A-E9CB-48B2-AC38-68D7E9AAF80D}"/>
                </a:ext>
              </a:extLst>
            </p:cNvPr>
            <p:cNvPicPr>
              <a:picLocks noChangeAspect="1"/>
            </p:cNvPicPr>
            <p:nvPr/>
          </p:nvPicPr>
          <p:blipFill>
            <a:blip r:embed="rId3"/>
            <a:stretch>
              <a:fillRect/>
            </a:stretch>
          </p:blipFill>
          <p:spPr>
            <a:xfrm flipV="1">
              <a:off x="2515157" y="5167432"/>
              <a:ext cx="670559" cy="269831"/>
            </a:xfrm>
            <a:prstGeom prst="rect">
              <a:avLst/>
            </a:prstGeom>
          </p:spPr>
        </p:pic>
        <p:pic>
          <p:nvPicPr>
            <p:cNvPr id="113" name="Picture 112">
              <a:extLst>
                <a:ext uri="{FF2B5EF4-FFF2-40B4-BE49-F238E27FC236}">
                  <a16:creationId xmlns:a16="http://schemas.microsoft.com/office/drawing/2014/main" id="{CBE58023-894E-42D8-A1E4-F900B5168198}"/>
                </a:ext>
              </a:extLst>
            </p:cNvPr>
            <p:cNvPicPr>
              <a:picLocks noChangeAspect="1"/>
            </p:cNvPicPr>
            <p:nvPr/>
          </p:nvPicPr>
          <p:blipFill>
            <a:blip r:embed="rId3"/>
            <a:stretch>
              <a:fillRect/>
            </a:stretch>
          </p:blipFill>
          <p:spPr>
            <a:xfrm flipV="1">
              <a:off x="2927525" y="5924900"/>
              <a:ext cx="670559" cy="269831"/>
            </a:xfrm>
            <a:prstGeom prst="rect">
              <a:avLst/>
            </a:prstGeom>
          </p:spPr>
        </p:pic>
        <p:pic>
          <p:nvPicPr>
            <p:cNvPr id="114" name="Picture 113">
              <a:extLst>
                <a:ext uri="{FF2B5EF4-FFF2-40B4-BE49-F238E27FC236}">
                  <a16:creationId xmlns:a16="http://schemas.microsoft.com/office/drawing/2014/main" id="{95C5D645-E05B-451B-ABDC-F11997E443AE}"/>
                </a:ext>
              </a:extLst>
            </p:cNvPr>
            <p:cNvPicPr>
              <a:picLocks noChangeAspect="1"/>
            </p:cNvPicPr>
            <p:nvPr/>
          </p:nvPicPr>
          <p:blipFill>
            <a:blip r:embed="rId3"/>
            <a:stretch>
              <a:fillRect/>
            </a:stretch>
          </p:blipFill>
          <p:spPr>
            <a:xfrm flipV="1">
              <a:off x="3197964" y="5321987"/>
              <a:ext cx="670559" cy="269831"/>
            </a:xfrm>
            <a:prstGeom prst="rect">
              <a:avLst/>
            </a:prstGeom>
          </p:spPr>
        </p:pic>
        <p:pic>
          <p:nvPicPr>
            <p:cNvPr id="74" name="Picture 73">
              <a:extLst>
                <a:ext uri="{FF2B5EF4-FFF2-40B4-BE49-F238E27FC236}">
                  <a16:creationId xmlns:a16="http://schemas.microsoft.com/office/drawing/2014/main" id="{E59FCA63-084A-47C8-A977-281556DE2351}"/>
                </a:ext>
              </a:extLst>
            </p:cNvPr>
            <p:cNvPicPr>
              <a:picLocks noChangeAspect="1"/>
            </p:cNvPicPr>
            <p:nvPr/>
          </p:nvPicPr>
          <p:blipFill>
            <a:blip r:embed="rId4"/>
            <a:stretch>
              <a:fillRect/>
            </a:stretch>
          </p:blipFill>
          <p:spPr>
            <a:xfrm>
              <a:off x="2738071" y="5800429"/>
              <a:ext cx="328562" cy="336263"/>
            </a:xfrm>
            <a:prstGeom prst="rect">
              <a:avLst/>
            </a:prstGeom>
          </p:spPr>
        </p:pic>
        <p:pic>
          <p:nvPicPr>
            <p:cNvPr id="90" name="Picture 89">
              <a:extLst>
                <a:ext uri="{FF2B5EF4-FFF2-40B4-BE49-F238E27FC236}">
                  <a16:creationId xmlns:a16="http://schemas.microsoft.com/office/drawing/2014/main" id="{2A0495B4-B112-4B3C-A709-129B75662D5B}"/>
                </a:ext>
              </a:extLst>
            </p:cNvPr>
            <p:cNvPicPr>
              <a:picLocks noChangeAspect="1"/>
            </p:cNvPicPr>
            <p:nvPr/>
          </p:nvPicPr>
          <p:blipFill>
            <a:blip r:embed="rId4"/>
            <a:stretch>
              <a:fillRect/>
            </a:stretch>
          </p:blipFill>
          <p:spPr>
            <a:xfrm>
              <a:off x="3519903" y="5800429"/>
              <a:ext cx="328562" cy="336263"/>
            </a:xfrm>
            <a:prstGeom prst="rect">
              <a:avLst/>
            </a:prstGeom>
          </p:spPr>
        </p:pic>
        <p:pic>
          <p:nvPicPr>
            <p:cNvPr id="115" name="Picture 114">
              <a:extLst>
                <a:ext uri="{FF2B5EF4-FFF2-40B4-BE49-F238E27FC236}">
                  <a16:creationId xmlns:a16="http://schemas.microsoft.com/office/drawing/2014/main" id="{621FFA76-77FF-4EF7-AA9E-FE05EF1D3AA0}"/>
                </a:ext>
              </a:extLst>
            </p:cNvPr>
            <p:cNvPicPr>
              <a:picLocks noChangeAspect="1"/>
            </p:cNvPicPr>
            <p:nvPr/>
          </p:nvPicPr>
          <p:blipFill>
            <a:blip r:embed="rId3"/>
            <a:stretch>
              <a:fillRect/>
            </a:stretch>
          </p:blipFill>
          <p:spPr>
            <a:xfrm flipV="1">
              <a:off x="1690646" y="5321296"/>
              <a:ext cx="547098" cy="220151"/>
            </a:xfrm>
            <a:prstGeom prst="rect">
              <a:avLst/>
            </a:prstGeom>
          </p:spPr>
        </p:pic>
        <p:pic>
          <p:nvPicPr>
            <p:cNvPr id="116" name="Picture 115">
              <a:extLst>
                <a:ext uri="{FF2B5EF4-FFF2-40B4-BE49-F238E27FC236}">
                  <a16:creationId xmlns:a16="http://schemas.microsoft.com/office/drawing/2014/main" id="{622A5F6E-B564-40CA-8E9D-3E6D1590D3D1}"/>
                </a:ext>
              </a:extLst>
            </p:cNvPr>
            <p:cNvPicPr>
              <a:picLocks noChangeAspect="1"/>
            </p:cNvPicPr>
            <p:nvPr/>
          </p:nvPicPr>
          <p:blipFill>
            <a:blip r:embed="rId3"/>
            <a:stretch>
              <a:fillRect/>
            </a:stretch>
          </p:blipFill>
          <p:spPr>
            <a:xfrm flipV="1">
              <a:off x="1266111" y="5254451"/>
              <a:ext cx="547098" cy="220151"/>
            </a:xfrm>
            <a:prstGeom prst="rect">
              <a:avLst/>
            </a:prstGeom>
          </p:spPr>
        </p:pic>
        <p:pic>
          <p:nvPicPr>
            <p:cNvPr id="117" name="Picture 116">
              <a:extLst>
                <a:ext uri="{FF2B5EF4-FFF2-40B4-BE49-F238E27FC236}">
                  <a16:creationId xmlns:a16="http://schemas.microsoft.com/office/drawing/2014/main" id="{736E9513-D40D-4A79-A608-E2A8B01055BD}"/>
                </a:ext>
              </a:extLst>
            </p:cNvPr>
            <p:cNvPicPr>
              <a:picLocks noChangeAspect="1"/>
            </p:cNvPicPr>
            <p:nvPr/>
          </p:nvPicPr>
          <p:blipFill>
            <a:blip r:embed="rId3"/>
            <a:stretch>
              <a:fillRect/>
            </a:stretch>
          </p:blipFill>
          <p:spPr>
            <a:xfrm flipV="1">
              <a:off x="1801763" y="5500549"/>
              <a:ext cx="547098" cy="220151"/>
            </a:xfrm>
            <a:prstGeom prst="rect">
              <a:avLst/>
            </a:prstGeom>
          </p:spPr>
        </p:pic>
        <p:pic>
          <p:nvPicPr>
            <p:cNvPr id="118" name="Picture 117">
              <a:extLst>
                <a:ext uri="{FF2B5EF4-FFF2-40B4-BE49-F238E27FC236}">
                  <a16:creationId xmlns:a16="http://schemas.microsoft.com/office/drawing/2014/main" id="{E1C044B7-0D3E-42C4-A167-82A0BFFC65FF}"/>
                </a:ext>
              </a:extLst>
            </p:cNvPr>
            <p:cNvPicPr>
              <a:picLocks noChangeAspect="1"/>
            </p:cNvPicPr>
            <p:nvPr/>
          </p:nvPicPr>
          <p:blipFill>
            <a:blip r:embed="rId3"/>
            <a:stretch>
              <a:fillRect/>
            </a:stretch>
          </p:blipFill>
          <p:spPr>
            <a:xfrm flipV="1">
              <a:off x="1274656" y="6334649"/>
              <a:ext cx="547098" cy="220151"/>
            </a:xfrm>
            <a:prstGeom prst="rect">
              <a:avLst/>
            </a:prstGeom>
          </p:spPr>
        </p:pic>
        <p:pic>
          <p:nvPicPr>
            <p:cNvPr id="119" name="Picture 118">
              <a:extLst>
                <a:ext uri="{FF2B5EF4-FFF2-40B4-BE49-F238E27FC236}">
                  <a16:creationId xmlns:a16="http://schemas.microsoft.com/office/drawing/2014/main" id="{A7322A59-2B45-40CF-A64E-BF1B2BEF0616}"/>
                </a:ext>
              </a:extLst>
            </p:cNvPr>
            <p:cNvPicPr>
              <a:picLocks noChangeAspect="1"/>
            </p:cNvPicPr>
            <p:nvPr/>
          </p:nvPicPr>
          <p:blipFill>
            <a:blip r:embed="rId3"/>
            <a:stretch>
              <a:fillRect/>
            </a:stretch>
          </p:blipFill>
          <p:spPr>
            <a:xfrm flipV="1">
              <a:off x="1427056" y="6487049"/>
              <a:ext cx="547098" cy="220151"/>
            </a:xfrm>
            <a:prstGeom prst="rect">
              <a:avLst/>
            </a:prstGeom>
          </p:spPr>
        </p:pic>
        <p:pic>
          <p:nvPicPr>
            <p:cNvPr id="120" name="Picture 119">
              <a:extLst>
                <a:ext uri="{FF2B5EF4-FFF2-40B4-BE49-F238E27FC236}">
                  <a16:creationId xmlns:a16="http://schemas.microsoft.com/office/drawing/2014/main" id="{EA5D56CF-D9C9-4F4D-BEB2-50D9632E8270}"/>
                </a:ext>
              </a:extLst>
            </p:cNvPr>
            <p:cNvPicPr>
              <a:picLocks noChangeAspect="1"/>
            </p:cNvPicPr>
            <p:nvPr/>
          </p:nvPicPr>
          <p:blipFill>
            <a:blip r:embed="rId3"/>
            <a:stretch>
              <a:fillRect/>
            </a:stretch>
          </p:blipFill>
          <p:spPr>
            <a:xfrm flipV="1">
              <a:off x="1168144" y="6514054"/>
              <a:ext cx="547098" cy="220151"/>
            </a:xfrm>
            <a:prstGeom prst="rect">
              <a:avLst/>
            </a:prstGeom>
          </p:spPr>
        </p:pic>
        <p:pic>
          <p:nvPicPr>
            <p:cNvPr id="121" name="Picture 120">
              <a:extLst>
                <a:ext uri="{FF2B5EF4-FFF2-40B4-BE49-F238E27FC236}">
                  <a16:creationId xmlns:a16="http://schemas.microsoft.com/office/drawing/2014/main" id="{9D17EC1F-EFC4-4A6F-B8E2-FF4B00A1F926}"/>
                </a:ext>
              </a:extLst>
            </p:cNvPr>
            <p:cNvPicPr>
              <a:picLocks noChangeAspect="1"/>
            </p:cNvPicPr>
            <p:nvPr/>
          </p:nvPicPr>
          <p:blipFill>
            <a:blip r:embed="rId3"/>
            <a:stretch>
              <a:fillRect/>
            </a:stretch>
          </p:blipFill>
          <p:spPr>
            <a:xfrm flipV="1">
              <a:off x="590952" y="6540179"/>
              <a:ext cx="547098" cy="220151"/>
            </a:xfrm>
            <a:prstGeom prst="rect">
              <a:avLst/>
            </a:prstGeom>
          </p:spPr>
        </p:pic>
        <p:pic>
          <p:nvPicPr>
            <p:cNvPr id="127" name="Picture 126">
              <a:extLst>
                <a:ext uri="{FF2B5EF4-FFF2-40B4-BE49-F238E27FC236}">
                  <a16:creationId xmlns:a16="http://schemas.microsoft.com/office/drawing/2014/main" id="{E3DCF39A-5D93-4410-A83F-B3AEA5726088}"/>
                </a:ext>
              </a:extLst>
            </p:cNvPr>
            <p:cNvPicPr>
              <a:picLocks noChangeAspect="1"/>
            </p:cNvPicPr>
            <p:nvPr/>
          </p:nvPicPr>
          <p:blipFill>
            <a:blip r:embed="rId3"/>
            <a:stretch>
              <a:fillRect/>
            </a:stretch>
          </p:blipFill>
          <p:spPr>
            <a:xfrm flipV="1">
              <a:off x="872039" y="5202298"/>
              <a:ext cx="547098" cy="220151"/>
            </a:xfrm>
            <a:prstGeom prst="rect">
              <a:avLst/>
            </a:prstGeom>
          </p:spPr>
        </p:pic>
      </p:grpSp>
      <p:sp>
        <p:nvSpPr>
          <p:cNvPr id="130" name="TextBox 129">
            <a:extLst>
              <a:ext uri="{FF2B5EF4-FFF2-40B4-BE49-F238E27FC236}">
                <a16:creationId xmlns:a16="http://schemas.microsoft.com/office/drawing/2014/main" id="{5E82D677-A3AC-4073-A438-ED49CAECF847}"/>
              </a:ext>
            </a:extLst>
          </p:cNvPr>
          <p:cNvSpPr txBox="1"/>
          <p:nvPr/>
        </p:nvSpPr>
        <p:spPr>
          <a:xfrm>
            <a:off x="1589526" y="5549183"/>
            <a:ext cx="8918676" cy="1077218"/>
          </a:xfrm>
          <a:prstGeom prst="rect">
            <a:avLst/>
          </a:prstGeom>
          <a:noFill/>
        </p:spPr>
        <p:txBody>
          <a:bodyPr wrap="square" rtlCol="0">
            <a:spAutoFit/>
          </a:bodyPr>
          <a:lstStyle/>
          <a:p>
            <a:pPr defTabSz="685800">
              <a:defRPr/>
            </a:pPr>
            <a:r>
              <a:rPr lang="en-US" sz="1600" b="1">
                <a:solidFill>
                  <a:srgbClr val="0070C0"/>
                </a:solidFill>
                <a:latin typeface="Calibri"/>
              </a:rPr>
              <a:t>Leads multiple projects from inception to Early Phase COO hand-off.  </a:t>
            </a:r>
            <a:r>
              <a:rPr lang="en-US" sz="1600">
                <a:solidFill>
                  <a:srgbClr val="0070C0"/>
                </a:solidFill>
                <a:latin typeface="Calibri"/>
              </a:rPr>
              <a:t>Includes working closely with the TA and functional Scientists and Leadership, Governance Committees, Decision Sciences, Competitive Intelligence, New Product Planning, Clinicians, and BODs (post PE) on each team.  In addition, collaborates with TA Liaison to provide periodic TA Portfolio updates. </a:t>
            </a:r>
          </a:p>
        </p:txBody>
      </p:sp>
      <p:sp>
        <p:nvSpPr>
          <p:cNvPr id="131" name="Arrow: Down 130">
            <a:extLst>
              <a:ext uri="{FF2B5EF4-FFF2-40B4-BE49-F238E27FC236}">
                <a16:creationId xmlns:a16="http://schemas.microsoft.com/office/drawing/2014/main" id="{8BF77160-68D5-40FB-B98B-6B22869569A1}"/>
              </a:ext>
            </a:extLst>
          </p:cNvPr>
          <p:cNvSpPr/>
          <p:nvPr/>
        </p:nvSpPr>
        <p:spPr>
          <a:xfrm rot="10800000">
            <a:off x="2558217" y="4464809"/>
            <a:ext cx="609931" cy="960870"/>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grpSp>
        <p:nvGrpSpPr>
          <p:cNvPr id="13" name="Group 12">
            <a:extLst>
              <a:ext uri="{FF2B5EF4-FFF2-40B4-BE49-F238E27FC236}">
                <a16:creationId xmlns:a16="http://schemas.microsoft.com/office/drawing/2014/main" id="{9B40D44D-4358-E067-9DCA-F1AE96E7DF57}"/>
              </a:ext>
            </a:extLst>
          </p:cNvPr>
          <p:cNvGrpSpPr/>
          <p:nvPr/>
        </p:nvGrpSpPr>
        <p:grpSpPr>
          <a:xfrm>
            <a:off x="2566655" y="2070912"/>
            <a:ext cx="2349302" cy="646331"/>
            <a:chOff x="5621648" y="1824989"/>
            <a:chExt cx="2164766" cy="646331"/>
          </a:xfrm>
        </p:grpSpPr>
        <p:sp>
          <p:nvSpPr>
            <p:cNvPr id="10" name="Rectangle 9">
              <a:extLst>
                <a:ext uri="{FF2B5EF4-FFF2-40B4-BE49-F238E27FC236}">
                  <a16:creationId xmlns:a16="http://schemas.microsoft.com/office/drawing/2014/main" id="{45E7EEED-9243-92AD-636B-FE96C2CDC908}"/>
                </a:ext>
              </a:extLst>
            </p:cNvPr>
            <p:cNvSpPr/>
            <p:nvPr/>
          </p:nvSpPr>
          <p:spPr>
            <a:xfrm>
              <a:off x="5621648" y="1850780"/>
              <a:ext cx="2164766" cy="344169"/>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3" name="TextBox 2">
              <a:extLst>
                <a:ext uri="{FF2B5EF4-FFF2-40B4-BE49-F238E27FC236}">
                  <a16:creationId xmlns:a16="http://schemas.microsoft.com/office/drawing/2014/main" id="{C5877A3D-229E-D9F8-908A-A0572903381E}"/>
                </a:ext>
              </a:extLst>
            </p:cNvPr>
            <p:cNvSpPr txBox="1"/>
            <p:nvPr/>
          </p:nvSpPr>
          <p:spPr>
            <a:xfrm>
              <a:off x="5637555" y="1824989"/>
              <a:ext cx="2148859" cy="646331"/>
            </a:xfrm>
            <a:prstGeom prst="rect">
              <a:avLst/>
            </a:prstGeom>
            <a:noFill/>
          </p:spPr>
          <p:txBody>
            <a:bodyPr wrap="square" rtlCol="0">
              <a:spAutoFit/>
            </a:bodyPr>
            <a:lstStyle/>
            <a:p>
              <a:r>
                <a:rPr lang="en-US" b="1"/>
                <a:t>Discovery Interaction</a:t>
              </a:r>
            </a:p>
          </p:txBody>
        </p:sp>
      </p:gr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E2B06-F5EF-DFE6-1155-7818C4C88394}"/>
              </a:ext>
            </a:extLst>
          </p:cNvPr>
          <p:cNvSpPr>
            <a:spLocks noGrp="1"/>
          </p:cNvSpPr>
          <p:nvPr>
            <p:ph type="title"/>
          </p:nvPr>
        </p:nvSpPr>
        <p:spPr>
          <a:xfrm>
            <a:off x="144379" y="45720"/>
            <a:ext cx="12047621" cy="822960"/>
          </a:xfrm>
        </p:spPr>
        <p:txBody>
          <a:bodyPr>
            <a:normAutofit fontScale="90000"/>
          </a:bodyPr>
          <a:lstStyle/>
          <a:p>
            <a:r>
              <a:rPr lang="en-US"/>
              <a:t>Prism Pre-Portfolio  (“Blue Suitcase”) – Project’s Start in the System</a:t>
            </a:r>
          </a:p>
        </p:txBody>
      </p:sp>
      <p:pic>
        <p:nvPicPr>
          <p:cNvPr id="4" name="Picture 3">
            <a:extLst>
              <a:ext uri="{FF2B5EF4-FFF2-40B4-BE49-F238E27FC236}">
                <a16:creationId xmlns:a16="http://schemas.microsoft.com/office/drawing/2014/main" id="{441EBFA8-902E-B33D-D55D-513BD8BB6EE5}"/>
              </a:ext>
            </a:extLst>
          </p:cNvPr>
          <p:cNvPicPr>
            <a:picLocks noChangeAspect="1"/>
          </p:cNvPicPr>
          <p:nvPr/>
        </p:nvPicPr>
        <p:blipFill>
          <a:blip r:embed="rId2"/>
          <a:stretch>
            <a:fillRect/>
          </a:stretch>
        </p:blipFill>
        <p:spPr>
          <a:xfrm>
            <a:off x="2176042" y="1135861"/>
            <a:ext cx="4381725" cy="520727"/>
          </a:xfrm>
          <a:prstGeom prst="rect">
            <a:avLst/>
          </a:prstGeom>
        </p:spPr>
      </p:pic>
      <p:sp>
        <p:nvSpPr>
          <p:cNvPr id="5" name="TextBox 4">
            <a:extLst>
              <a:ext uri="{FF2B5EF4-FFF2-40B4-BE49-F238E27FC236}">
                <a16:creationId xmlns:a16="http://schemas.microsoft.com/office/drawing/2014/main" id="{381C393A-CD49-6AAD-BFBF-F05AA3DF5D23}"/>
              </a:ext>
            </a:extLst>
          </p:cNvPr>
          <p:cNvSpPr txBox="1"/>
          <p:nvPr/>
        </p:nvSpPr>
        <p:spPr>
          <a:xfrm>
            <a:off x="809010" y="3031958"/>
            <a:ext cx="10179832" cy="3416320"/>
          </a:xfrm>
          <a:prstGeom prst="rect">
            <a:avLst/>
          </a:prstGeom>
          <a:noFill/>
        </p:spPr>
        <p:txBody>
          <a:bodyPr wrap="square" rtlCol="0">
            <a:spAutoFit/>
          </a:bodyPr>
          <a:lstStyle/>
          <a:p>
            <a:pPr marL="285750" indent="-285750">
              <a:buFont typeface="Arial" panose="020B0604020202020204" pitchFamily="34" charset="0"/>
              <a:buChar char="•"/>
            </a:pPr>
            <a:r>
              <a:rPr lang="en-US" sz="2400"/>
              <a:t>With VP approval, add new projects to the Pre-Portfolio in the Prism module above</a:t>
            </a:r>
          </a:p>
          <a:p>
            <a:pPr marL="285750" indent="-285750">
              <a:buFont typeface="Arial" panose="020B0604020202020204" pitchFamily="34" charset="0"/>
              <a:buChar char="•"/>
            </a:pPr>
            <a:r>
              <a:rPr lang="en-US" sz="2400"/>
              <a:t>Work with team to get the necessary information describing the project</a:t>
            </a:r>
          </a:p>
          <a:p>
            <a:pPr marL="742950" lvl="1" indent="-285750">
              <a:buFont typeface="Arial" panose="020B0604020202020204" pitchFamily="34" charset="0"/>
              <a:buChar char="•"/>
            </a:pPr>
            <a:r>
              <a:rPr lang="en-US" sz="2400"/>
              <a:t>Important – See the Modality definitions</a:t>
            </a:r>
          </a:p>
          <a:p>
            <a:pPr marL="742950" lvl="1" indent="-285750">
              <a:buFont typeface="Arial" panose="020B0604020202020204" pitchFamily="34" charset="0"/>
              <a:buChar char="•"/>
            </a:pPr>
            <a:r>
              <a:rPr lang="en-US" sz="2400"/>
              <a:t>Nomenclature – Follow existing projects’ examples, unless specified by VP</a:t>
            </a:r>
          </a:p>
          <a:p>
            <a:pPr marL="742950" lvl="1" indent="-285750">
              <a:buFont typeface="Arial" panose="020B0604020202020204" pitchFamily="34" charset="0"/>
              <a:buChar char="•"/>
            </a:pPr>
            <a:r>
              <a:rPr lang="en-US" sz="2400"/>
              <a:t>Detailed instructions in TAPPM OneNote Notebook and Target to CI Checklist  (see link on previous slide) </a:t>
            </a:r>
          </a:p>
          <a:p>
            <a:pPr marL="285750" indent="-285750">
              <a:buFont typeface="Arial" panose="020B0604020202020204" pitchFamily="34" charset="0"/>
              <a:buChar char="•"/>
            </a:pPr>
            <a:r>
              <a:rPr lang="en-US" sz="2400"/>
              <a:t>This Prism module feeds the TPC Dashboard, which shares information with key stakeholders (limited access)</a:t>
            </a:r>
          </a:p>
        </p:txBody>
      </p:sp>
      <p:sp>
        <p:nvSpPr>
          <p:cNvPr id="6" name="Arrow: Up 5">
            <a:extLst>
              <a:ext uri="{FF2B5EF4-FFF2-40B4-BE49-F238E27FC236}">
                <a16:creationId xmlns:a16="http://schemas.microsoft.com/office/drawing/2014/main" id="{601A5F12-D16C-97EB-CAC5-85A3C7A12B56}"/>
              </a:ext>
            </a:extLst>
          </p:cNvPr>
          <p:cNvSpPr/>
          <p:nvPr/>
        </p:nvSpPr>
        <p:spPr>
          <a:xfrm>
            <a:off x="3837514" y="1770647"/>
            <a:ext cx="529390" cy="946805"/>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2880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4EF7E-6161-9D81-1747-6C7A48456CC7}"/>
              </a:ext>
            </a:extLst>
          </p:cNvPr>
          <p:cNvSpPr>
            <a:spLocks noGrp="1"/>
          </p:cNvSpPr>
          <p:nvPr>
            <p:ph type="title"/>
          </p:nvPr>
        </p:nvSpPr>
        <p:spPr/>
        <p:txBody>
          <a:bodyPr/>
          <a:lstStyle/>
          <a:p>
            <a:r>
              <a:rPr lang="en-US"/>
              <a:t>Milestone Definitions</a:t>
            </a:r>
          </a:p>
        </p:txBody>
      </p:sp>
      <p:sp>
        <p:nvSpPr>
          <p:cNvPr id="3" name="Content Placeholder 2">
            <a:extLst>
              <a:ext uri="{FF2B5EF4-FFF2-40B4-BE49-F238E27FC236}">
                <a16:creationId xmlns:a16="http://schemas.microsoft.com/office/drawing/2014/main" id="{3687BD5C-BFB7-0384-A25B-9EC48140C4CE}"/>
              </a:ext>
            </a:extLst>
          </p:cNvPr>
          <p:cNvSpPr>
            <a:spLocks noGrp="1"/>
          </p:cNvSpPr>
          <p:nvPr>
            <p:ph idx="1"/>
          </p:nvPr>
        </p:nvSpPr>
        <p:spPr/>
        <p:txBody>
          <a:bodyPr>
            <a:normAutofit/>
          </a:bodyPr>
          <a:lstStyle/>
          <a:p>
            <a:pPr marL="0" indent="0">
              <a:buNone/>
            </a:pPr>
            <a:r>
              <a:rPr lang="en-US" sz="1400" b="1" i="0" u="sng">
                <a:solidFill>
                  <a:srgbClr val="000000"/>
                </a:solidFill>
                <a:effectLst/>
                <a:latin typeface="Calibri" panose="020F0502020204030204" pitchFamily="34" charset="0"/>
              </a:rPr>
              <a:t>Target:</a:t>
            </a:r>
            <a:r>
              <a:rPr lang="en-US" sz="1400" b="1" i="0">
                <a:solidFill>
                  <a:srgbClr val="000000"/>
                </a:solidFill>
                <a:effectLst/>
                <a:latin typeface="Calibri" panose="020F0502020204030204" pitchFamily="34" charset="0"/>
              </a:rPr>
              <a:t>  </a:t>
            </a:r>
            <a:r>
              <a:rPr lang="en-US" sz="1400" b="0" i="0">
                <a:solidFill>
                  <a:srgbClr val="000000"/>
                </a:solidFill>
                <a:effectLst/>
                <a:latin typeface="Calibri" panose="020F0502020204030204" pitchFamily="34" charset="0"/>
              </a:rPr>
              <a:t>There is supporting evidence (internal or external) that modulating the target will impact a disease phenotype and it fits within the therapeutic area’s strategy. May require a TPC visit.</a:t>
            </a:r>
          </a:p>
          <a:p>
            <a:pPr marL="0" indent="0">
              <a:buNone/>
            </a:pPr>
            <a:endParaRPr lang="en-US" sz="1400" b="0" i="0">
              <a:solidFill>
                <a:srgbClr val="000000"/>
              </a:solidFill>
              <a:effectLst/>
              <a:latin typeface="Calibri" panose="020F0502020204030204" pitchFamily="34" charset="0"/>
            </a:endParaRPr>
          </a:p>
          <a:p>
            <a:pPr marL="0" indent="0">
              <a:buNone/>
            </a:pPr>
            <a:r>
              <a:rPr lang="en-US" sz="1400" b="1" u="sng">
                <a:solidFill>
                  <a:srgbClr val="000000"/>
                </a:solidFill>
                <a:latin typeface="Calibri" panose="020F0502020204030204" pitchFamily="34" charset="0"/>
              </a:rPr>
              <a:t>HIT:</a:t>
            </a:r>
            <a:r>
              <a:rPr lang="en-US" sz="1400">
                <a:solidFill>
                  <a:srgbClr val="000000"/>
                </a:solidFill>
                <a:latin typeface="Calibri" panose="020F0502020204030204" pitchFamily="34" charset="0"/>
              </a:rPr>
              <a:t> The asset profile/differentiation strategy should be defined with sufficient detail to permit focused optimization with a clear goal of desired attributes.  Chemical/molecular scaffold/antibody/sequence with desired target modulation properties (agonist, antagonist, potentiator, etc.) has been identified and its engineering trajectory understood.  </a:t>
            </a:r>
            <a:r>
              <a:rPr lang="en-US" sz="1400" err="1">
                <a:solidFill>
                  <a:srgbClr val="000000"/>
                </a:solidFill>
                <a:latin typeface="Calibri" panose="020F0502020204030204" pitchFamily="34" charset="0"/>
              </a:rPr>
              <a:t>Druggability</a:t>
            </a:r>
            <a:r>
              <a:rPr lang="en-US" sz="1400">
                <a:solidFill>
                  <a:srgbClr val="000000"/>
                </a:solidFill>
                <a:latin typeface="Calibri" panose="020F0502020204030204" pitchFamily="34" charset="0"/>
              </a:rPr>
              <a:t> should be understood.  A connected flow scheme and target pharmacology assays should be in place to enable molecule optimization. </a:t>
            </a:r>
            <a:endParaRPr lang="en-US" sz="1400" b="0" i="0">
              <a:solidFill>
                <a:srgbClr val="000000"/>
              </a:solidFill>
              <a:effectLst/>
              <a:latin typeface="Calibri" panose="020F0502020204030204" pitchFamily="34" charset="0"/>
            </a:endParaRPr>
          </a:p>
          <a:p>
            <a:pPr marL="0" indent="0">
              <a:buNone/>
            </a:pPr>
            <a:endParaRPr lang="en-US" sz="1400" u="sng">
              <a:solidFill>
                <a:srgbClr val="000000"/>
              </a:solidFill>
              <a:latin typeface="Calibri" panose="020F0502020204030204" pitchFamily="34" charset="0"/>
            </a:endParaRPr>
          </a:p>
          <a:p>
            <a:pPr marL="0" indent="0">
              <a:buNone/>
            </a:pPr>
            <a:r>
              <a:rPr lang="en-US" sz="1400" b="1" i="0" u="sng">
                <a:solidFill>
                  <a:srgbClr val="000000"/>
                </a:solidFill>
                <a:effectLst/>
                <a:latin typeface="Calibri" panose="020F0502020204030204" pitchFamily="34" charset="0"/>
              </a:rPr>
              <a:t>Portfolio Entry (PE)</a:t>
            </a:r>
            <a:r>
              <a:rPr lang="en-US" sz="1400" b="1" i="0">
                <a:solidFill>
                  <a:srgbClr val="000000"/>
                </a:solidFill>
                <a:effectLst/>
                <a:latin typeface="Calibri" panose="020F0502020204030204" pitchFamily="34" charset="0"/>
              </a:rPr>
              <a:t>: </a:t>
            </a:r>
            <a:r>
              <a:rPr lang="en-US" sz="1400" b="0" i="0">
                <a:solidFill>
                  <a:srgbClr val="000000"/>
                </a:solidFill>
                <a:effectLst/>
                <a:latin typeface="Calibri" panose="020F0502020204030204" pitchFamily="34" charset="0"/>
              </a:rPr>
              <a:t> Date a project officially enters the Portfolio (via TPC visit), and the project team has approved scope (PE-FHD) for execution in </a:t>
            </a:r>
            <a:r>
              <a:rPr lang="en-US" sz="1400">
                <a:solidFill>
                  <a:srgbClr val="000000"/>
                </a:solidFill>
                <a:latin typeface="Calibri" panose="020F0502020204030204" pitchFamily="34" charset="0"/>
              </a:rPr>
              <a:t>the</a:t>
            </a:r>
            <a:r>
              <a:rPr lang="en-US" sz="1400" b="0" i="0">
                <a:solidFill>
                  <a:srgbClr val="000000"/>
                </a:solidFill>
                <a:effectLst/>
                <a:latin typeface="Calibri" panose="020F0502020204030204" pitchFamily="34" charset="0"/>
              </a:rPr>
              <a:t> Portfolio. </a:t>
            </a:r>
            <a:r>
              <a:rPr lang="en-US" sz="1400">
                <a:solidFill>
                  <a:srgbClr val="000000"/>
                </a:solidFill>
                <a:latin typeface="Calibri" panose="020F0502020204030204" pitchFamily="34" charset="0"/>
              </a:rPr>
              <a:t>Ideal time for PE is when there is a need for cross functional support which typically aligns with HIT for internal SM/LM projects and LEAD with genetic medicine projects. PE dates for collaborations can depend on additional factors including but not limited to legal/contractual obligations, business decisions, strategic decisions, etc.   </a:t>
            </a:r>
          </a:p>
          <a:p>
            <a:pPr marL="0" indent="0">
              <a:buNone/>
            </a:pPr>
            <a:endParaRPr lang="en-US" sz="1400" b="1" i="0" u="sng">
              <a:solidFill>
                <a:srgbClr val="000000"/>
              </a:solidFill>
              <a:effectLst/>
              <a:latin typeface="Calibri" panose="020F0502020204030204" pitchFamily="34" charset="0"/>
            </a:endParaRPr>
          </a:p>
          <a:p>
            <a:pPr marL="0" indent="0">
              <a:buNone/>
            </a:pPr>
            <a:r>
              <a:rPr lang="en-US" sz="1400" b="1" i="0" u="sng">
                <a:solidFill>
                  <a:srgbClr val="000000"/>
                </a:solidFill>
                <a:effectLst/>
                <a:latin typeface="Calibri" panose="020F0502020204030204" pitchFamily="34" charset="0"/>
              </a:rPr>
              <a:t>Lead:</a:t>
            </a:r>
            <a:r>
              <a:rPr lang="en-US" sz="1400" b="0" i="0">
                <a:solidFill>
                  <a:srgbClr val="000000"/>
                </a:solidFill>
                <a:effectLst/>
                <a:latin typeface="Calibri" panose="020F0502020204030204" pitchFamily="34" charset="0"/>
              </a:rPr>
              <a:t> Date of identification of one or more molecules or chemical series that have potential to produce a CS molecule as confirmed by the </a:t>
            </a:r>
            <a:r>
              <a:rPr lang="en-US" sz="1400" b="0" i="0" err="1">
                <a:solidFill>
                  <a:srgbClr val="000000"/>
                </a:solidFill>
                <a:effectLst/>
                <a:latin typeface="Calibri" panose="020F0502020204030204" pitchFamily="34" charset="0"/>
              </a:rPr>
              <a:t>BoD</a:t>
            </a:r>
            <a:r>
              <a:rPr lang="en-US" sz="1400">
                <a:solidFill>
                  <a:srgbClr val="000000"/>
                </a:solidFill>
                <a:latin typeface="Calibri" panose="020F0502020204030204" pitchFamily="34" charset="0"/>
              </a:rPr>
              <a:t>. </a:t>
            </a:r>
            <a:endParaRPr lang="en-US" sz="1400" b="1" u="sng">
              <a:solidFill>
                <a:srgbClr val="000000"/>
              </a:solidFill>
              <a:latin typeface="Calibri" panose="020F0502020204030204" pitchFamily="34" charset="0"/>
            </a:endParaRPr>
          </a:p>
          <a:p>
            <a:pPr marL="0" indent="0">
              <a:buNone/>
            </a:pPr>
            <a:endParaRPr lang="en-US" sz="1400" b="1" i="0" u="sng">
              <a:solidFill>
                <a:srgbClr val="000000"/>
              </a:solidFill>
              <a:effectLst/>
              <a:latin typeface="Calibri" panose="020F0502020204030204" pitchFamily="34" charset="0"/>
            </a:endParaRPr>
          </a:p>
          <a:p>
            <a:pPr marL="0" indent="0">
              <a:buNone/>
            </a:pPr>
            <a:r>
              <a:rPr lang="en-US" sz="1400" b="1" i="0" u="sng">
                <a:solidFill>
                  <a:srgbClr val="000000"/>
                </a:solidFill>
                <a:effectLst/>
                <a:latin typeface="Calibri" panose="020F0502020204030204" pitchFamily="34" charset="0"/>
              </a:rPr>
              <a:t>Candidate Selection (CS): </a:t>
            </a:r>
            <a:r>
              <a:rPr lang="en-US" sz="1400" b="1" i="0">
                <a:solidFill>
                  <a:srgbClr val="000000"/>
                </a:solidFill>
                <a:effectLst/>
                <a:latin typeface="Calibri" panose="020F0502020204030204" pitchFamily="34" charset="0"/>
              </a:rPr>
              <a:t> </a:t>
            </a:r>
            <a:r>
              <a:rPr lang="en-US" sz="1400" b="0" i="0">
                <a:solidFill>
                  <a:srgbClr val="000000"/>
                </a:solidFill>
                <a:effectLst/>
                <a:latin typeface="Calibri" panose="020F0502020204030204" pitchFamily="34" charset="0"/>
              </a:rPr>
              <a:t>A decision made with the intention of moving an optimized compound toward clinical development. The </a:t>
            </a:r>
            <a:r>
              <a:rPr lang="en-US" sz="1400" b="0" i="0" err="1">
                <a:solidFill>
                  <a:srgbClr val="000000"/>
                </a:solidFill>
                <a:effectLst/>
                <a:latin typeface="Calibri" panose="020F0502020204030204" pitchFamily="34" charset="0"/>
              </a:rPr>
              <a:t>BoD</a:t>
            </a:r>
            <a:r>
              <a:rPr lang="en-US" sz="1400" b="0" i="0">
                <a:solidFill>
                  <a:srgbClr val="000000"/>
                </a:solidFill>
                <a:effectLst/>
                <a:latin typeface="Calibri" panose="020F0502020204030204" pitchFamily="34" charset="0"/>
              </a:rPr>
              <a:t> makes this decision based on the lead development CSF’s being met. </a:t>
            </a:r>
          </a:p>
          <a:p>
            <a:pPr marL="0" indent="0">
              <a:buNone/>
            </a:pPr>
            <a:endParaRPr lang="en-US" sz="1400">
              <a:solidFill>
                <a:srgbClr val="000000"/>
              </a:solidFill>
              <a:latin typeface="Calibri" panose="020F0502020204030204" pitchFamily="34" charset="0"/>
            </a:endParaRPr>
          </a:p>
          <a:p>
            <a:pPr marL="0" indent="0">
              <a:buNone/>
            </a:pPr>
            <a:r>
              <a:rPr lang="en-US" sz="1400" b="1" i="0" u="sng">
                <a:solidFill>
                  <a:srgbClr val="000000"/>
                </a:solidFill>
                <a:effectLst/>
                <a:latin typeface="Calibri" panose="020F0502020204030204" pitchFamily="34" charset="0"/>
              </a:rPr>
              <a:t>First toxicology dose (FTD):</a:t>
            </a:r>
            <a:r>
              <a:rPr lang="en-US" sz="1400" b="1" i="0">
                <a:solidFill>
                  <a:srgbClr val="000000"/>
                </a:solidFill>
                <a:effectLst/>
                <a:latin typeface="Calibri" panose="020F0502020204030204" pitchFamily="34" charset="0"/>
              </a:rPr>
              <a:t> </a:t>
            </a:r>
            <a:r>
              <a:rPr lang="en-US" sz="1400" b="0" i="0">
                <a:solidFill>
                  <a:srgbClr val="000000"/>
                </a:solidFill>
                <a:effectLst/>
                <a:latin typeface="Calibri" panose="020F0502020204030204" pitchFamily="34" charset="0"/>
              </a:rPr>
              <a:t>Date on which the first dose was administered in the first in vivo toxicity study, conducted according to requirements of good laboratory practice (GLP), necessary to support the first ever administration to humans. </a:t>
            </a:r>
            <a:endParaRPr lang="en-US" sz="2400"/>
          </a:p>
        </p:txBody>
      </p:sp>
      <p:sp>
        <p:nvSpPr>
          <p:cNvPr id="4" name="Date Placeholder 3">
            <a:extLst>
              <a:ext uri="{FF2B5EF4-FFF2-40B4-BE49-F238E27FC236}">
                <a16:creationId xmlns:a16="http://schemas.microsoft.com/office/drawing/2014/main" id="{7EE3D6BC-888C-9FDA-B16D-D3543211430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SAPR R&amp;D Strategy Review Template</a:t>
            </a:r>
          </a:p>
        </p:txBody>
      </p:sp>
      <p:sp>
        <p:nvSpPr>
          <p:cNvPr id="5" name="Footer Placeholder 4">
            <a:extLst>
              <a:ext uri="{FF2B5EF4-FFF2-40B4-BE49-F238E27FC236}">
                <a16:creationId xmlns:a16="http://schemas.microsoft.com/office/drawing/2014/main" id="{636B89EC-9F6B-359F-2C4F-58F0CD60B06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Company Confidential  ©2014 Eli Lilly and Company </a:t>
            </a:r>
          </a:p>
        </p:txBody>
      </p:sp>
      <p:sp>
        <p:nvSpPr>
          <p:cNvPr id="6" name="Slide Number Placeholder 5">
            <a:extLst>
              <a:ext uri="{FF2B5EF4-FFF2-40B4-BE49-F238E27FC236}">
                <a16:creationId xmlns:a16="http://schemas.microsoft.com/office/drawing/2014/main" id="{7DE447A8-E1F1-6F08-3143-6237E5AEDFD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A079B0-34FF-9449-83ED-AEDF3F6C1CC6}" type="slidenum">
              <a:rPr kumimoji="0" lang="en-US" sz="800" b="0" i="0" u="none" strike="noStrike" kern="1200" cap="none" spc="0" normalizeH="0" baseline="0" noProof="0" smtClean="0">
                <a:ln>
                  <a:noFill/>
                </a:ln>
                <a:solidFill>
                  <a:srgbClr val="86786F"/>
                </a:solidFill>
                <a:effectLst/>
                <a:uLnTx/>
                <a:uFillTx/>
                <a:latin typeface="DIN-Regular"/>
                <a:ea typeface="+mn-ea"/>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86786F"/>
              </a:solidFill>
              <a:effectLst/>
              <a:uLnTx/>
              <a:uFillTx/>
              <a:latin typeface="DIN-Regular"/>
              <a:ea typeface="+mn-ea"/>
            </a:endParaRPr>
          </a:p>
        </p:txBody>
      </p:sp>
    </p:spTree>
    <p:extLst>
      <p:ext uri="{BB962C8B-B14F-4D97-AF65-F5344CB8AC3E}">
        <p14:creationId xmlns:p14="http://schemas.microsoft.com/office/powerpoint/2010/main" val="424894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1D0DA2-F519-9505-E72C-F8A8CAD51CBA}"/>
              </a:ext>
            </a:extLst>
          </p:cNvPr>
          <p:cNvSpPr>
            <a:spLocks noGrp="1"/>
          </p:cNvSpPr>
          <p:nvPr>
            <p:ph type="dt" sz="half" idx="10"/>
          </p:nvPr>
        </p:nvSpPr>
        <p:spPr/>
        <p:txBody>
          <a:bodyPr/>
          <a:lstStyle/>
          <a:p>
            <a:r>
              <a:rPr lang="en-US"/>
              <a:t>SAPR R&amp;D Strategy Review Template</a:t>
            </a:r>
          </a:p>
        </p:txBody>
      </p:sp>
      <p:sp>
        <p:nvSpPr>
          <p:cNvPr id="3" name="Footer Placeholder 2">
            <a:extLst>
              <a:ext uri="{FF2B5EF4-FFF2-40B4-BE49-F238E27FC236}">
                <a16:creationId xmlns:a16="http://schemas.microsoft.com/office/drawing/2014/main" id="{26F781C6-2F97-A0BA-3E51-E643C11925B1}"/>
              </a:ext>
            </a:extLst>
          </p:cNvPr>
          <p:cNvSpPr>
            <a:spLocks noGrp="1"/>
          </p:cNvSpPr>
          <p:nvPr>
            <p:ph type="ftr" sz="quarter" idx="11"/>
          </p:nvPr>
        </p:nvSpPr>
        <p:spPr/>
        <p:txBody>
          <a:bodyPr/>
          <a:lstStyle/>
          <a:p>
            <a:r>
              <a:rPr lang="en-US"/>
              <a:t>Company Confidential  ©2014 Eli Lilly and Company </a:t>
            </a:r>
          </a:p>
        </p:txBody>
      </p:sp>
      <p:sp>
        <p:nvSpPr>
          <p:cNvPr id="4" name="Slide Number Placeholder 3">
            <a:extLst>
              <a:ext uri="{FF2B5EF4-FFF2-40B4-BE49-F238E27FC236}">
                <a16:creationId xmlns:a16="http://schemas.microsoft.com/office/drawing/2014/main" id="{8438A4DB-F837-E9F2-882D-FF012AFD2F82}"/>
              </a:ext>
            </a:extLst>
          </p:cNvPr>
          <p:cNvSpPr>
            <a:spLocks noGrp="1"/>
          </p:cNvSpPr>
          <p:nvPr>
            <p:ph type="sldNum" sz="quarter" idx="12"/>
          </p:nvPr>
        </p:nvSpPr>
        <p:spPr/>
        <p:txBody>
          <a:bodyPr/>
          <a:lstStyle/>
          <a:p>
            <a:fld id="{1DA079B0-34FF-9449-83ED-AEDF3F6C1CC6}" type="slidenum">
              <a:rPr lang="en-US" smtClean="0"/>
              <a:pPr/>
              <a:t>31</a:t>
            </a:fld>
            <a:endParaRPr lang="en-US"/>
          </a:p>
        </p:txBody>
      </p:sp>
      <p:pic>
        <p:nvPicPr>
          <p:cNvPr id="2050" name="Picture 2">
            <a:extLst>
              <a:ext uri="{FF2B5EF4-FFF2-40B4-BE49-F238E27FC236}">
                <a16:creationId xmlns:a16="http://schemas.microsoft.com/office/drawing/2014/main" id="{8756FD1E-7F99-DA21-23BE-36B5AE1BB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54039"/>
            <a:ext cx="9906000" cy="539283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BE226C-AA27-FAAD-3148-70EA414C1F48}"/>
              </a:ext>
            </a:extLst>
          </p:cNvPr>
          <p:cNvSpPr txBox="1"/>
          <p:nvPr/>
        </p:nvSpPr>
        <p:spPr>
          <a:xfrm>
            <a:off x="156116" y="244939"/>
            <a:ext cx="10337182" cy="523220"/>
          </a:xfrm>
          <a:prstGeom prst="rect">
            <a:avLst/>
          </a:prstGeom>
          <a:noFill/>
        </p:spPr>
        <p:txBody>
          <a:bodyPr wrap="square" rtlCol="0">
            <a:spAutoFit/>
          </a:bodyPr>
          <a:lstStyle/>
          <a:p>
            <a:r>
              <a:rPr lang="en-US" sz="2800" b="1">
                <a:solidFill>
                  <a:schemeClr val="bg1"/>
                </a:solidFill>
              </a:rPr>
              <a:t>Confidence Assessment information to provide Decision Sciences</a:t>
            </a:r>
          </a:p>
        </p:txBody>
      </p:sp>
    </p:spTree>
    <p:extLst>
      <p:ext uri="{BB962C8B-B14F-4D97-AF65-F5344CB8AC3E}">
        <p14:creationId xmlns:p14="http://schemas.microsoft.com/office/powerpoint/2010/main" val="4173102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1394"/>
            <a:ext cx="11097208" cy="822960"/>
          </a:xfrm>
        </p:spPr>
        <p:txBody>
          <a:bodyPr/>
          <a:lstStyle/>
          <a:p>
            <a:r>
              <a:rPr lang="en-US" b="1"/>
              <a:t>Target Milestone Deliverables </a:t>
            </a:r>
          </a:p>
        </p:txBody>
      </p:sp>
      <p:sp>
        <p:nvSpPr>
          <p:cNvPr id="5" name="TextBox 4"/>
          <p:cNvSpPr txBox="1"/>
          <p:nvPr/>
        </p:nvSpPr>
        <p:spPr>
          <a:xfrm>
            <a:off x="5181600" y="1295400"/>
            <a:ext cx="6705600" cy="54476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C00000"/>
                </a:solidFill>
                <a:effectLst/>
                <a:uLnTx/>
                <a:uFillTx/>
                <a:latin typeface="Calibri"/>
                <a:ea typeface="+mn-ea"/>
                <a:cs typeface="+mn-cs"/>
              </a:rPr>
              <a:t>Deliverables</a:t>
            </a:r>
            <a:r>
              <a:rPr kumimoji="0" lang="en-US" sz="2400" b="0" i="0" u="none" strike="noStrike" kern="1200" cap="none" spc="0" normalizeH="0" baseline="0" noProof="0">
                <a:ln>
                  <a:noFill/>
                </a:ln>
                <a:solidFill>
                  <a:prstClr val="black"/>
                </a:solidFill>
                <a:effectLst/>
                <a:uLnTx/>
                <a:uFillTx/>
                <a:latin typeface="Calibri"/>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Strategic Fit</a:t>
            </a:r>
            <a:r>
              <a:rPr kumimoji="0" lang="en-US" sz="1800" b="0" i="0" u="none" strike="noStrike" kern="1200" cap="none" spc="0" normalizeH="0" baseline="0" noProof="0">
                <a:ln>
                  <a:noFill/>
                </a:ln>
                <a:solidFill>
                  <a:prstClr val="black"/>
                </a:solidFill>
                <a:effectLst/>
                <a:uLnTx/>
                <a:uFillTx/>
                <a:latin typeface="Calibri"/>
                <a:ea typeface="+mn-ea"/>
                <a:cs typeface="+mn-cs"/>
              </a:rPr>
              <a:t>: Asset profile is on strategy with TA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Compelling Therapeutic Hypothesis/Target Validation</a:t>
            </a:r>
            <a:r>
              <a:rPr kumimoji="0" lang="en-US" sz="1800" b="0" i="0" u="none" strike="noStrike" kern="1200" cap="none" spc="0" normalizeH="0" baseline="0" noProof="0">
                <a:ln>
                  <a:noFill/>
                </a:ln>
                <a:solidFill>
                  <a:prstClr val="black"/>
                </a:solidFill>
                <a:effectLst/>
                <a:uLnTx/>
                <a:uFillTx/>
                <a:latin typeface="Calibri"/>
                <a:ea typeface="+mn-ea"/>
                <a:cs typeface="+mn-cs"/>
              </a:rPr>
              <a:t>: supporting evidence (internal or external) that modulating target will impact the disease phenotype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Molecule Strategy</a:t>
            </a:r>
            <a:r>
              <a:rPr kumimoji="0" lang="en-US" sz="1800" b="0" i="0" u="none" strike="noStrike" kern="1200" cap="none" spc="0" normalizeH="0" baseline="0" noProof="0">
                <a:ln>
                  <a:noFill/>
                </a:ln>
                <a:solidFill>
                  <a:prstClr val="black"/>
                </a:solidFill>
                <a:effectLst/>
                <a:uLnTx/>
                <a:uFillTx/>
                <a:latin typeface="Calibri"/>
                <a:ea typeface="+mn-ea"/>
                <a:cs typeface="+mn-cs"/>
              </a:rPr>
              <a:t>: What modality is most likely to be successful in target modulation and achieving attributes defined in asset profile? Should we parallel process multiple modalities?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Safety Assessment</a:t>
            </a:r>
            <a:r>
              <a:rPr kumimoji="0" lang="en-US" sz="1800" b="0" i="0" u="none" strike="noStrike" kern="1200" cap="none" spc="0" normalizeH="0" baseline="0" noProof="0">
                <a:ln>
                  <a:noFill/>
                </a:ln>
                <a:solidFill>
                  <a:prstClr val="black"/>
                </a:solidFill>
                <a:effectLst/>
                <a:uLnTx/>
                <a:uFillTx/>
                <a:latin typeface="Calibri"/>
                <a:ea typeface="+mn-ea"/>
                <a:cs typeface="+mn-cs"/>
              </a:rPr>
              <a:t>: early assessment to understand potential liabilities of target and recommendations of activities for next stages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Enablement</a:t>
            </a:r>
            <a:r>
              <a:rPr kumimoji="0" lang="en-US" sz="1800" b="0" i="0" u="none" strike="noStrike" kern="1200" cap="none" spc="0" normalizeH="0" baseline="0" noProof="0">
                <a:ln>
                  <a:noFill/>
                </a:ln>
                <a:solidFill>
                  <a:prstClr val="black"/>
                </a:solidFill>
                <a:effectLst/>
                <a:uLnTx/>
                <a:uFillTx/>
                <a:latin typeface="Calibri"/>
                <a:ea typeface="+mn-ea"/>
                <a:cs typeface="+mn-cs"/>
              </a:rPr>
              <a:t>: Primary screening strategy and key assays/reagents are in place to enable hit identification and establish an understanding of target </a:t>
            </a:r>
            <a:r>
              <a:rPr kumimoji="0" lang="en-US" sz="1800" b="0" i="0" u="none" strike="noStrike" kern="1200" cap="none" spc="0" normalizeH="0" baseline="0" noProof="0" err="1">
                <a:ln>
                  <a:noFill/>
                </a:ln>
                <a:solidFill>
                  <a:prstClr val="black"/>
                </a:solidFill>
                <a:effectLst/>
                <a:uLnTx/>
                <a:uFillTx/>
                <a:latin typeface="Calibri"/>
                <a:ea typeface="+mn-ea"/>
                <a:cs typeface="+mn-cs"/>
              </a:rPr>
              <a:t>druggability</a:t>
            </a:r>
            <a:r>
              <a:rPr kumimoji="0" lang="en-US" sz="1800" b="0" i="0" u="none" strike="noStrike" kern="1200" cap="none" spc="0" normalizeH="0" baseline="0" noProof="0">
                <a:ln>
                  <a:noFill/>
                </a:ln>
                <a:solidFill>
                  <a:prstClr val="black"/>
                </a:solidFill>
                <a:effectLst/>
                <a:uLnTx/>
                <a:uFillTx/>
                <a:latin typeface="Calibri"/>
                <a:ea typeface="+mn-ea"/>
                <a:cs typeface="+mn-cs"/>
              </a:rPr>
              <a:t> (learning cycles)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Competitive Landscape/Disease State Map</a:t>
            </a:r>
            <a:r>
              <a:rPr kumimoji="0" lang="en-US" sz="1800" b="0" i="0" u="none" strike="noStrike" kern="1200" cap="none" spc="0" normalizeH="0" baseline="0" noProof="0">
                <a:ln>
                  <a:noFill/>
                </a:ln>
                <a:solidFill>
                  <a:prstClr val="black"/>
                </a:solidFill>
                <a:effectLst/>
                <a:uLnTx/>
                <a:uFillTx/>
                <a:latin typeface="Calibri"/>
                <a:ea typeface="+mn-ea"/>
                <a:cs typeface="+mn-cs"/>
              </a:rPr>
              <a:t>: Who are the competitors and what is the status? Define initial differentiation strategy/hypothesis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p:cNvPicPr>
            <a:picLocks noChangeAspect="1"/>
          </p:cNvPicPr>
          <p:nvPr/>
        </p:nvPicPr>
        <p:blipFill>
          <a:blip r:embed="rId2"/>
          <a:stretch>
            <a:fillRect/>
          </a:stretch>
        </p:blipFill>
        <p:spPr>
          <a:xfrm>
            <a:off x="609600" y="1676400"/>
            <a:ext cx="3971925" cy="3838575"/>
          </a:xfrm>
          <a:prstGeom prst="rect">
            <a:avLst/>
          </a:prstGeom>
        </p:spPr>
      </p:pic>
    </p:spTree>
    <p:extLst>
      <p:ext uri="{BB962C8B-B14F-4D97-AF65-F5344CB8AC3E}">
        <p14:creationId xmlns:p14="http://schemas.microsoft.com/office/powerpoint/2010/main" val="1441621161"/>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Portfolio Entry Deliverables</a:t>
            </a:r>
          </a:p>
        </p:txBody>
      </p:sp>
      <p:sp>
        <p:nvSpPr>
          <p:cNvPr id="4" name="TextBox 3"/>
          <p:cNvSpPr txBox="1"/>
          <p:nvPr/>
        </p:nvSpPr>
        <p:spPr>
          <a:xfrm>
            <a:off x="4876800" y="1876257"/>
            <a:ext cx="6781800" cy="54476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C00000"/>
                </a:solidFill>
                <a:effectLst/>
                <a:uLnTx/>
                <a:uFillTx/>
                <a:latin typeface="Calibri"/>
                <a:ea typeface="+mn-ea"/>
                <a:cs typeface="+mn-cs"/>
              </a:rPr>
              <a:t>Deliverables</a:t>
            </a:r>
            <a:endParaRPr kumimoji="0" lang="en-US" sz="2400" b="0" i="0" u="none" strike="noStrike" kern="1200" cap="none" spc="0" normalizeH="0" baseline="0" noProof="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Strategic Fit</a:t>
            </a:r>
            <a:r>
              <a:rPr kumimoji="0" lang="en-US" sz="1800" b="0" i="0" u="none" strike="noStrike" kern="1200" cap="none" spc="0" normalizeH="0" baseline="0" noProof="0">
                <a:ln>
                  <a:noFill/>
                </a:ln>
                <a:solidFill>
                  <a:prstClr val="black"/>
                </a:solidFill>
                <a:effectLst/>
                <a:uLnTx/>
                <a:uFillTx/>
                <a:latin typeface="Calibri"/>
                <a:ea typeface="+mn-ea"/>
                <a:cs typeface="+mn-cs"/>
              </a:rPr>
              <a:t>: Asset profile/differentiation strategy is defined with sufficient detail to permit focused optimization with a clear goal of desired attributes.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Molecule</a:t>
            </a:r>
            <a:r>
              <a:rPr kumimoji="0" lang="en-US" sz="1800" b="0" i="0" u="none" strike="noStrike" kern="1200" cap="none" spc="0" normalizeH="0" baseline="0" noProof="0">
                <a:ln>
                  <a:noFill/>
                </a:ln>
                <a:solidFill>
                  <a:prstClr val="black"/>
                </a:solidFill>
                <a:effectLst/>
                <a:uLnTx/>
                <a:uFillTx/>
                <a:latin typeface="Calibri"/>
                <a:ea typeface="+mn-ea"/>
                <a:cs typeface="+mn-cs"/>
              </a:rPr>
              <a:t>: Chemical/molecular scaffold/antibody with desired target modulation properties (agonist, antagonist, </a:t>
            </a:r>
            <a:r>
              <a:rPr kumimoji="0" lang="en-US" sz="1800" b="0" i="0" u="none" strike="noStrike" kern="1200" cap="none" spc="0" normalizeH="0" baseline="0" noProof="0" err="1">
                <a:ln>
                  <a:noFill/>
                </a:ln>
                <a:solidFill>
                  <a:prstClr val="black"/>
                </a:solidFill>
                <a:effectLst/>
                <a:uLnTx/>
                <a:uFillTx/>
                <a:latin typeface="Calibri"/>
                <a:ea typeface="+mn-ea"/>
                <a:cs typeface="+mn-cs"/>
              </a:rPr>
              <a:t>potentiator</a:t>
            </a:r>
            <a:r>
              <a:rPr kumimoji="0" lang="en-US" sz="1800" b="0" i="0" u="none" strike="noStrike" kern="1200" cap="none" spc="0" normalizeH="0" baseline="0" noProof="0">
                <a:ln>
                  <a:noFill/>
                </a:ln>
                <a:solidFill>
                  <a:prstClr val="black"/>
                </a:solidFill>
                <a:effectLst/>
                <a:uLnTx/>
                <a:uFillTx/>
                <a:latin typeface="Calibri"/>
                <a:ea typeface="+mn-ea"/>
                <a:cs typeface="+mn-cs"/>
              </a:rPr>
              <a:t>, </a:t>
            </a:r>
            <a:r>
              <a:rPr kumimoji="0" lang="en-US" sz="1800" b="0" i="0" u="none" strike="noStrike" kern="1200" cap="none" spc="0" normalizeH="0" baseline="0" noProof="0" err="1">
                <a:ln>
                  <a:noFill/>
                </a:ln>
                <a:solidFill>
                  <a:prstClr val="black"/>
                </a:solidFill>
                <a:effectLst/>
                <a:uLnTx/>
                <a:uFillTx/>
                <a:latin typeface="Calibri"/>
                <a:ea typeface="+mn-ea"/>
                <a:cs typeface="+mn-cs"/>
              </a:rPr>
              <a:t>etc</a:t>
            </a:r>
            <a:r>
              <a:rPr kumimoji="0" lang="en-US" sz="1800" b="0" i="0" u="none" strike="noStrike" kern="1200" cap="none" spc="0" normalizeH="0" baseline="0" noProof="0">
                <a:ln>
                  <a:noFill/>
                </a:ln>
                <a:solidFill>
                  <a:prstClr val="black"/>
                </a:solidFill>
                <a:effectLst/>
                <a:uLnTx/>
                <a:uFillTx/>
                <a:latin typeface="Calibri"/>
                <a:ea typeface="+mn-ea"/>
                <a:cs typeface="+mn-cs"/>
              </a:rPr>
              <a:t>) has been identified. The trajectory of chemical scaffold and Ab/Protein/peptide engineering is understood.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Performance:</a:t>
            </a:r>
            <a:r>
              <a:rPr kumimoji="0" lang="en-US" sz="1800" b="0" i="0" u="none" strike="noStrike" kern="1200" cap="none" spc="0" normalizeH="0" baseline="0" noProof="0">
                <a:ln>
                  <a:noFill/>
                </a:ln>
                <a:solidFill>
                  <a:prstClr val="black"/>
                </a:solidFill>
                <a:effectLst/>
                <a:uLnTx/>
                <a:uFillTx/>
                <a:latin typeface="Calibri"/>
                <a:ea typeface="+mn-ea"/>
                <a:cs typeface="+mn-cs"/>
              </a:rPr>
              <a:t> </a:t>
            </a:r>
            <a:r>
              <a:rPr kumimoji="0" lang="en-US" sz="1800" b="0" i="0" u="none" strike="noStrike" kern="1200" cap="none" spc="0" normalizeH="0" baseline="0" noProof="0" err="1">
                <a:ln>
                  <a:noFill/>
                </a:ln>
                <a:solidFill>
                  <a:prstClr val="black"/>
                </a:solidFill>
                <a:effectLst/>
                <a:uLnTx/>
                <a:uFillTx/>
                <a:latin typeface="Calibri"/>
                <a:ea typeface="+mn-ea"/>
                <a:cs typeface="+mn-cs"/>
              </a:rPr>
              <a:t>Druggability</a:t>
            </a:r>
            <a:r>
              <a:rPr kumimoji="0" lang="en-US" sz="1800" b="0" i="0" u="none" strike="noStrike" kern="1200" cap="none" spc="0" normalizeH="0" baseline="0" noProof="0">
                <a:ln>
                  <a:noFill/>
                </a:ln>
                <a:solidFill>
                  <a:prstClr val="black"/>
                </a:solidFill>
                <a:effectLst/>
                <a:uLnTx/>
                <a:uFillTx/>
                <a:latin typeface="Calibri"/>
                <a:ea typeface="+mn-ea"/>
                <a:cs typeface="+mn-cs"/>
              </a:rPr>
              <a:t> of the scaffold (ATP/SMDD)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Biology/Pharmacology</a:t>
            </a:r>
            <a:r>
              <a:rPr kumimoji="0" lang="en-US" sz="1800" b="0" i="0" u="none" strike="noStrike" kern="1200" cap="none" spc="0" normalizeH="0" baseline="0" noProof="0">
                <a:ln>
                  <a:noFill/>
                </a:ln>
                <a:solidFill>
                  <a:prstClr val="black"/>
                </a:solidFill>
                <a:effectLst/>
                <a:uLnTx/>
                <a:uFillTx/>
                <a:latin typeface="Calibri"/>
                <a:ea typeface="+mn-ea"/>
                <a:cs typeface="+mn-cs"/>
              </a:rPr>
              <a:t>: Connected flow scheme and target pharmacology to enable molecule optimization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Risk Assessment and Mitigation Strategy</a:t>
            </a:r>
            <a:r>
              <a:rPr kumimoji="0" lang="en-US" sz="1800" b="0" i="0" u="none" strike="noStrike" kern="1200" cap="none" spc="0" normalizeH="0" baseline="0" noProof="0">
                <a:ln>
                  <a:noFill/>
                </a:ln>
                <a:solidFill>
                  <a:prstClr val="black"/>
                </a:solidFill>
                <a:effectLst/>
                <a:uLnTx/>
                <a:uFillTx/>
                <a:latin typeface="Calibri"/>
                <a:ea typeface="+mn-ea"/>
                <a:cs typeface="+mn-cs"/>
              </a:rPr>
              <a:t>:  Enable discussion for PE readiness versus potential risks to delivering within NGR timeline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p:cNvPicPr>
            <a:picLocks noChangeAspect="1"/>
          </p:cNvPicPr>
          <p:nvPr/>
        </p:nvPicPr>
        <p:blipFill>
          <a:blip r:embed="rId2"/>
          <a:stretch>
            <a:fillRect/>
          </a:stretch>
        </p:blipFill>
        <p:spPr>
          <a:xfrm>
            <a:off x="762000" y="1371600"/>
            <a:ext cx="3333345" cy="4876800"/>
          </a:xfrm>
          <a:prstGeom prst="rect">
            <a:avLst/>
          </a:prstGeom>
        </p:spPr>
      </p:pic>
    </p:spTree>
    <p:extLst>
      <p:ext uri="{BB962C8B-B14F-4D97-AF65-F5344CB8AC3E}">
        <p14:creationId xmlns:p14="http://schemas.microsoft.com/office/powerpoint/2010/main" val="3689604435"/>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FE24-DB32-422C-3B74-11B5659EB4C9}"/>
              </a:ext>
            </a:extLst>
          </p:cNvPr>
          <p:cNvSpPr>
            <a:spLocks noGrp="1"/>
          </p:cNvSpPr>
          <p:nvPr>
            <p:ph type="title"/>
          </p:nvPr>
        </p:nvSpPr>
        <p:spPr/>
        <p:txBody>
          <a:bodyPr/>
          <a:lstStyle/>
          <a:p>
            <a:r>
              <a:rPr lang="en-US"/>
              <a:t>Timeline to COO/PPM handoff </a:t>
            </a:r>
          </a:p>
        </p:txBody>
      </p:sp>
      <p:sp>
        <p:nvSpPr>
          <p:cNvPr id="11" name="Diamond 10">
            <a:extLst>
              <a:ext uri="{FF2B5EF4-FFF2-40B4-BE49-F238E27FC236}">
                <a16:creationId xmlns:a16="http://schemas.microsoft.com/office/drawing/2014/main" id="{86A9BC5A-2E0E-B2BE-5A1F-76AA11145B6B}"/>
              </a:ext>
            </a:extLst>
          </p:cNvPr>
          <p:cNvSpPr/>
          <p:nvPr/>
        </p:nvSpPr>
        <p:spPr>
          <a:xfrm>
            <a:off x="2476499" y="4324088"/>
            <a:ext cx="180976" cy="287628"/>
          </a:xfrm>
          <a:prstGeom prst="diamond">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Diamond 12">
            <a:extLst>
              <a:ext uri="{FF2B5EF4-FFF2-40B4-BE49-F238E27FC236}">
                <a16:creationId xmlns:a16="http://schemas.microsoft.com/office/drawing/2014/main" id="{24E29FCD-FDC3-2AE0-8613-030169809DC4}"/>
              </a:ext>
            </a:extLst>
          </p:cNvPr>
          <p:cNvSpPr/>
          <p:nvPr/>
        </p:nvSpPr>
        <p:spPr>
          <a:xfrm>
            <a:off x="8284513" y="4324088"/>
            <a:ext cx="180976" cy="287628"/>
          </a:xfrm>
          <a:prstGeom prst="diamond">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Diamond 13">
            <a:extLst>
              <a:ext uri="{FF2B5EF4-FFF2-40B4-BE49-F238E27FC236}">
                <a16:creationId xmlns:a16="http://schemas.microsoft.com/office/drawing/2014/main" id="{C5CA7BCC-B938-DDA0-3954-BA66846CE7B3}"/>
              </a:ext>
            </a:extLst>
          </p:cNvPr>
          <p:cNvSpPr/>
          <p:nvPr/>
        </p:nvSpPr>
        <p:spPr>
          <a:xfrm>
            <a:off x="2476499" y="4661246"/>
            <a:ext cx="180976" cy="287628"/>
          </a:xfrm>
          <a:prstGeom prst="diamond">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Diamond 14">
            <a:extLst>
              <a:ext uri="{FF2B5EF4-FFF2-40B4-BE49-F238E27FC236}">
                <a16:creationId xmlns:a16="http://schemas.microsoft.com/office/drawing/2014/main" id="{57E394E9-C741-A24E-7964-0EF237A25BE5}"/>
              </a:ext>
            </a:extLst>
          </p:cNvPr>
          <p:cNvSpPr/>
          <p:nvPr/>
        </p:nvSpPr>
        <p:spPr>
          <a:xfrm>
            <a:off x="5210174" y="4661246"/>
            <a:ext cx="180976" cy="287628"/>
          </a:xfrm>
          <a:prstGeom prst="diamond">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Diamond 15">
            <a:extLst>
              <a:ext uri="{FF2B5EF4-FFF2-40B4-BE49-F238E27FC236}">
                <a16:creationId xmlns:a16="http://schemas.microsoft.com/office/drawing/2014/main" id="{D7DFE0A5-F14C-2AE9-5F1D-70B85DF122F8}"/>
              </a:ext>
            </a:extLst>
          </p:cNvPr>
          <p:cNvSpPr/>
          <p:nvPr/>
        </p:nvSpPr>
        <p:spPr>
          <a:xfrm>
            <a:off x="7377801" y="4647781"/>
            <a:ext cx="180976" cy="287628"/>
          </a:xfrm>
          <a:prstGeom prst="diamond">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Diamond 11">
            <a:extLst>
              <a:ext uri="{FF2B5EF4-FFF2-40B4-BE49-F238E27FC236}">
                <a16:creationId xmlns:a16="http://schemas.microsoft.com/office/drawing/2014/main" id="{22DA457D-71B8-E0A5-71AA-C8A2F034A59E}"/>
              </a:ext>
            </a:extLst>
          </p:cNvPr>
          <p:cNvSpPr/>
          <p:nvPr/>
        </p:nvSpPr>
        <p:spPr>
          <a:xfrm>
            <a:off x="4629148" y="4324088"/>
            <a:ext cx="180976" cy="287628"/>
          </a:xfrm>
          <a:prstGeom prst="diamond">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Diamond 16">
            <a:extLst>
              <a:ext uri="{FF2B5EF4-FFF2-40B4-BE49-F238E27FC236}">
                <a16:creationId xmlns:a16="http://schemas.microsoft.com/office/drawing/2014/main" id="{63D157DC-1F21-2718-71D6-631CA56C634C}"/>
              </a:ext>
            </a:extLst>
          </p:cNvPr>
          <p:cNvSpPr/>
          <p:nvPr/>
        </p:nvSpPr>
        <p:spPr>
          <a:xfrm>
            <a:off x="2476499" y="5859055"/>
            <a:ext cx="180976" cy="287628"/>
          </a:xfrm>
          <a:prstGeom prst="diamond">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Diamond 17">
            <a:extLst>
              <a:ext uri="{FF2B5EF4-FFF2-40B4-BE49-F238E27FC236}">
                <a16:creationId xmlns:a16="http://schemas.microsoft.com/office/drawing/2014/main" id="{31A05893-29D3-22EE-211E-4BEC2FE88775}"/>
              </a:ext>
            </a:extLst>
          </p:cNvPr>
          <p:cNvSpPr/>
          <p:nvPr/>
        </p:nvSpPr>
        <p:spPr>
          <a:xfrm>
            <a:off x="4333874" y="5859055"/>
            <a:ext cx="180976" cy="287628"/>
          </a:xfrm>
          <a:prstGeom prst="diamond">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a:extLst>
              <a:ext uri="{FF2B5EF4-FFF2-40B4-BE49-F238E27FC236}">
                <a16:creationId xmlns:a16="http://schemas.microsoft.com/office/drawing/2014/main" id="{8D5B7D81-D688-41F6-38E8-6452B2D3D10C}"/>
              </a:ext>
            </a:extLst>
          </p:cNvPr>
          <p:cNvSpPr txBox="1"/>
          <p:nvPr/>
        </p:nvSpPr>
        <p:spPr>
          <a:xfrm>
            <a:off x="2545037" y="6063533"/>
            <a:ext cx="11430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solidFill>
                <a:effectLst/>
                <a:uLnTx/>
                <a:uFillTx/>
                <a:latin typeface="Calibri"/>
                <a:ea typeface="+mn-ea"/>
                <a:cs typeface="+mn-cs"/>
              </a:rPr>
              <a:t>PE/Lead/CI</a:t>
            </a:r>
          </a:p>
        </p:txBody>
      </p:sp>
      <p:sp>
        <p:nvSpPr>
          <p:cNvPr id="20" name="TextBox 19">
            <a:extLst>
              <a:ext uri="{FF2B5EF4-FFF2-40B4-BE49-F238E27FC236}">
                <a16:creationId xmlns:a16="http://schemas.microsoft.com/office/drawing/2014/main" id="{C5E3B0FD-23FA-22E7-B76F-0F54544552A6}"/>
              </a:ext>
            </a:extLst>
          </p:cNvPr>
          <p:cNvSpPr txBox="1"/>
          <p:nvPr/>
        </p:nvSpPr>
        <p:spPr>
          <a:xfrm>
            <a:off x="5315555" y="4768327"/>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F0"/>
                </a:solidFill>
                <a:effectLst/>
                <a:uLnTx/>
                <a:uFillTx/>
                <a:latin typeface="Calibri"/>
                <a:ea typeface="+mn-ea"/>
                <a:cs typeface="+mn-cs"/>
              </a:rPr>
              <a:t>Lead</a:t>
            </a:r>
          </a:p>
        </p:txBody>
      </p:sp>
      <p:sp>
        <p:nvSpPr>
          <p:cNvPr id="21" name="TextBox 20">
            <a:extLst>
              <a:ext uri="{FF2B5EF4-FFF2-40B4-BE49-F238E27FC236}">
                <a16:creationId xmlns:a16="http://schemas.microsoft.com/office/drawing/2014/main" id="{E53B20FA-9FA5-D0A4-87C5-0A223DF1387F}"/>
              </a:ext>
            </a:extLst>
          </p:cNvPr>
          <p:cNvSpPr txBox="1"/>
          <p:nvPr/>
        </p:nvSpPr>
        <p:spPr>
          <a:xfrm>
            <a:off x="4741527" y="4430233"/>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50"/>
                </a:solidFill>
                <a:effectLst/>
                <a:uLnTx/>
                <a:uFillTx/>
                <a:latin typeface="Calibri"/>
                <a:ea typeface="+mn-ea"/>
                <a:cs typeface="+mn-cs"/>
              </a:rPr>
              <a:t>Lead</a:t>
            </a:r>
          </a:p>
        </p:txBody>
      </p:sp>
      <p:sp>
        <p:nvSpPr>
          <p:cNvPr id="23" name="TextBox 22">
            <a:extLst>
              <a:ext uri="{FF2B5EF4-FFF2-40B4-BE49-F238E27FC236}">
                <a16:creationId xmlns:a16="http://schemas.microsoft.com/office/drawing/2014/main" id="{E18BD992-F84D-27BE-E3D0-929CF971F902}"/>
              </a:ext>
            </a:extLst>
          </p:cNvPr>
          <p:cNvSpPr txBox="1"/>
          <p:nvPr/>
        </p:nvSpPr>
        <p:spPr>
          <a:xfrm>
            <a:off x="1900235" y="4653358"/>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F0"/>
                </a:solidFill>
                <a:effectLst/>
                <a:uLnTx/>
                <a:uFillTx/>
                <a:latin typeface="Calibri"/>
                <a:ea typeface="+mn-ea"/>
                <a:cs typeface="+mn-cs"/>
              </a:rPr>
              <a:t>LM</a:t>
            </a:r>
          </a:p>
        </p:txBody>
      </p:sp>
      <p:sp>
        <p:nvSpPr>
          <p:cNvPr id="22" name="TextBox 21">
            <a:extLst>
              <a:ext uri="{FF2B5EF4-FFF2-40B4-BE49-F238E27FC236}">
                <a16:creationId xmlns:a16="http://schemas.microsoft.com/office/drawing/2014/main" id="{30EAB858-64C7-2667-7EDC-3A461E941045}"/>
              </a:ext>
            </a:extLst>
          </p:cNvPr>
          <p:cNvSpPr txBox="1"/>
          <p:nvPr/>
        </p:nvSpPr>
        <p:spPr>
          <a:xfrm>
            <a:off x="1885949" y="4303647"/>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50"/>
                </a:solidFill>
                <a:effectLst/>
                <a:uLnTx/>
                <a:uFillTx/>
                <a:latin typeface="Calibri"/>
                <a:ea typeface="+mn-ea"/>
                <a:cs typeface="+mn-cs"/>
              </a:rPr>
              <a:t>SM</a:t>
            </a:r>
          </a:p>
        </p:txBody>
      </p:sp>
      <p:sp>
        <p:nvSpPr>
          <p:cNvPr id="24" name="TextBox 23">
            <a:extLst>
              <a:ext uri="{FF2B5EF4-FFF2-40B4-BE49-F238E27FC236}">
                <a16:creationId xmlns:a16="http://schemas.microsoft.com/office/drawing/2014/main" id="{76757C41-58D1-763B-1311-33AC5A741B92}"/>
              </a:ext>
            </a:extLst>
          </p:cNvPr>
          <p:cNvSpPr txBox="1"/>
          <p:nvPr/>
        </p:nvSpPr>
        <p:spPr>
          <a:xfrm>
            <a:off x="1638301" y="5034014"/>
            <a:ext cx="86201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7030A0"/>
                </a:solidFill>
                <a:effectLst/>
                <a:uLnTx/>
                <a:uFillTx/>
                <a:latin typeface="Calibri"/>
                <a:ea typeface="+mn-ea"/>
                <a:cs typeface="+mn-cs"/>
              </a:rPr>
              <a:t>Peptide</a:t>
            </a:r>
          </a:p>
        </p:txBody>
      </p:sp>
      <p:sp>
        <p:nvSpPr>
          <p:cNvPr id="25" name="Diamond 24">
            <a:extLst>
              <a:ext uri="{FF2B5EF4-FFF2-40B4-BE49-F238E27FC236}">
                <a16:creationId xmlns:a16="http://schemas.microsoft.com/office/drawing/2014/main" id="{025D02CC-4956-C159-8856-A58EF822F8E0}"/>
              </a:ext>
            </a:extLst>
          </p:cNvPr>
          <p:cNvSpPr/>
          <p:nvPr/>
        </p:nvSpPr>
        <p:spPr>
          <a:xfrm>
            <a:off x="2471735" y="4996618"/>
            <a:ext cx="180976" cy="287628"/>
          </a:xfrm>
          <a:prstGeom prst="diamond">
            <a:avLst/>
          </a:prstGeom>
          <a:solidFill>
            <a:srgbClr val="7030A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66C72D5A-9C8D-BBD4-A7B4-BC75C937CC8F}"/>
              </a:ext>
            </a:extLst>
          </p:cNvPr>
          <p:cNvSpPr txBox="1"/>
          <p:nvPr/>
        </p:nvSpPr>
        <p:spPr>
          <a:xfrm>
            <a:off x="1760075" y="5362661"/>
            <a:ext cx="700091" cy="3459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solidFill>
                <a:effectLst/>
                <a:uLnTx/>
                <a:uFillTx/>
                <a:latin typeface="Calibri"/>
                <a:ea typeface="+mn-ea"/>
                <a:cs typeface="+mn-cs"/>
              </a:rPr>
              <a:t>siRNA</a:t>
            </a:r>
          </a:p>
        </p:txBody>
      </p:sp>
      <p:sp>
        <p:nvSpPr>
          <p:cNvPr id="27" name="Diamond 26">
            <a:extLst>
              <a:ext uri="{FF2B5EF4-FFF2-40B4-BE49-F238E27FC236}">
                <a16:creationId xmlns:a16="http://schemas.microsoft.com/office/drawing/2014/main" id="{396908D1-75F1-9B2D-8811-7D9E9A31BE9D}"/>
              </a:ext>
            </a:extLst>
          </p:cNvPr>
          <p:cNvSpPr/>
          <p:nvPr/>
        </p:nvSpPr>
        <p:spPr>
          <a:xfrm>
            <a:off x="5576887" y="5014369"/>
            <a:ext cx="180976" cy="287628"/>
          </a:xfrm>
          <a:prstGeom prst="diamond">
            <a:avLst/>
          </a:prstGeom>
          <a:solidFill>
            <a:srgbClr val="7030A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Diamond 27">
            <a:extLst>
              <a:ext uri="{FF2B5EF4-FFF2-40B4-BE49-F238E27FC236}">
                <a16:creationId xmlns:a16="http://schemas.microsoft.com/office/drawing/2014/main" id="{3C222ABA-498A-1C57-61A4-625D6825D639}"/>
              </a:ext>
            </a:extLst>
          </p:cNvPr>
          <p:cNvSpPr/>
          <p:nvPr/>
        </p:nvSpPr>
        <p:spPr>
          <a:xfrm>
            <a:off x="7377112" y="4996618"/>
            <a:ext cx="180976" cy="287628"/>
          </a:xfrm>
          <a:prstGeom prst="diamond">
            <a:avLst/>
          </a:prstGeom>
          <a:solidFill>
            <a:srgbClr val="7030A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a:extLst>
              <a:ext uri="{FF2B5EF4-FFF2-40B4-BE49-F238E27FC236}">
                <a16:creationId xmlns:a16="http://schemas.microsoft.com/office/drawing/2014/main" id="{D140A334-9B38-A52D-A6B9-D920603C0847}"/>
              </a:ext>
            </a:extLst>
          </p:cNvPr>
          <p:cNvSpPr txBox="1"/>
          <p:nvPr/>
        </p:nvSpPr>
        <p:spPr>
          <a:xfrm>
            <a:off x="5650052" y="5132720"/>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7030A0"/>
                </a:solidFill>
                <a:effectLst/>
                <a:uLnTx/>
                <a:uFillTx/>
                <a:latin typeface="Calibri"/>
                <a:ea typeface="+mn-ea"/>
                <a:cs typeface="+mn-cs"/>
              </a:rPr>
              <a:t>Lead</a:t>
            </a:r>
          </a:p>
        </p:txBody>
      </p:sp>
      <p:sp>
        <p:nvSpPr>
          <p:cNvPr id="30" name="TextBox 29">
            <a:extLst>
              <a:ext uri="{FF2B5EF4-FFF2-40B4-BE49-F238E27FC236}">
                <a16:creationId xmlns:a16="http://schemas.microsoft.com/office/drawing/2014/main" id="{FE9BABC6-0AD9-FBDA-EF76-A972B9175B0B}"/>
              </a:ext>
            </a:extLst>
          </p:cNvPr>
          <p:cNvSpPr txBox="1"/>
          <p:nvPr/>
        </p:nvSpPr>
        <p:spPr>
          <a:xfrm>
            <a:off x="8361053" y="4452778"/>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50"/>
                </a:solidFill>
                <a:effectLst/>
                <a:uLnTx/>
                <a:uFillTx/>
                <a:latin typeface="Calibri"/>
                <a:ea typeface="+mn-ea"/>
                <a:cs typeface="+mn-cs"/>
              </a:rPr>
              <a:t>CS</a:t>
            </a:r>
          </a:p>
        </p:txBody>
      </p:sp>
      <p:sp>
        <p:nvSpPr>
          <p:cNvPr id="31" name="TextBox 30">
            <a:extLst>
              <a:ext uri="{FF2B5EF4-FFF2-40B4-BE49-F238E27FC236}">
                <a16:creationId xmlns:a16="http://schemas.microsoft.com/office/drawing/2014/main" id="{C5ED95A8-4C06-FBD8-9B95-795641889A08}"/>
              </a:ext>
            </a:extLst>
          </p:cNvPr>
          <p:cNvSpPr txBox="1"/>
          <p:nvPr/>
        </p:nvSpPr>
        <p:spPr>
          <a:xfrm>
            <a:off x="7501226" y="4764320"/>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F0"/>
                </a:solidFill>
                <a:effectLst/>
                <a:uLnTx/>
                <a:uFillTx/>
                <a:latin typeface="Calibri"/>
                <a:ea typeface="+mn-ea"/>
                <a:cs typeface="+mn-cs"/>
              </a:rPr>
              <a:t>CS</a:t>
            </a:r>
          </a:p>
        </p:txBody>
      </p:sp>
      <p:sp>
        <p:nvSpPr>
          <p:cNvPr id="32" name="TextBox 31">
            <a:extLst>
              <a:ext uri="{FF2B5EF4-FFF2-40B4-BE49-F238E27FC236}">
                <a16:creationId xmlns:a16="http://schemas.microsoft.com/office/drawing/2014/main" id="{BF84D93C-C95E-209E-8E5D-719872333531}"/>
              </a:ext>
            </a:extLst>
          </p:cNvPr>
          <p:cNvSpPr txBox="1"/>
          <p:nvPr/>
        </p:nvSpPr>
        <p:spPr>
          <a:xfrm>
            <a:off x="7484923" y="5104562"/>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7030A0"/>
                </a:solidFill>
                <a:effectLst/>
                <a:uLnTx/>
                <a:uFillTx/>
                <a:latin typeface="Calibri"/>
                <a:ea typeface="+mn-ea"/>
                <a:cs typeface="+mn-cs"/>
              </a:rPr>
              <a:t>CS</a:t>
            </a:r>
          </a:p>
        </p:txBody>
      </p:sp>
      <p:sp>
        <p:nvSpPr>
          <p:cNvPr id="33" name="TextBox 32">
            <a:extLst>
              <a:ext uri="{FF2B5EF4-FFF2-40B4-BE49-F238E27FC236}">
                <a16:creationId xmlns:a16="http://schemas.microsoft.com/office/drawing/2014/main" id="{AB9B40B5-256F-4F3A-7E0E-D86297173535}"/>
              </a:ext>
            </a:extLst>
          </p:cNvPr>
          <p:cNvSpPr txBox="1"/>
          <p:nvPr/>
        </p:nvSpPr>
        <p:spPr>
          <a:xfrm>
            <a:off x="4418792" y="5977406"/>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solidFill>
                <a:effectLst/>
                <a:uLnTx/>
                <a:uFillTx/>
                <a:latin typeface="Calibri"/>
                <a:ea typeface="+mn-ea"/>
                <a:cs typeface="+mn-cs"/>
              </a:rPr>
              <a:t>CS</a:t>
            </a:r>
          </a:p>
        </p:txBody>
      </p:sp>
      <p:sp>
        <p:nvSpPr>
          <p:cNvPr id="38" name="Star: 5 Points 37">
            <a:extLst>
              <a:ext uri="{FF2B5EF4-FFF2-40B4-BE49-F238E27FC236}">
                <a16:creationId xmlns:a16="http://schemas.microsoft.com/office/drawing/2014/main" id="{8EDB3D83-B117-5854-24D7-E1281028EDAC}"/>
              </a:ext>
            </a:extLst>
          </p:cNvPr>
          <p:cNvSpPr/>
          <p:nvPr/>
        </p:nvSpPr>
        <p:spPr>
          <a:xfrm>
            <a:off x="9587127" y="4341300"/>
            <a:ext cx="245889" cy="230521"/>
          </a:xfrm>
          <a:prstGeom prst="star5">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0" name="TextBox 39">
            <a:extLst>
              <a:ext uri="{FF2B5EF4-FFF2-40B4-BE49-F238E27FC236}">
                <a16:creationId xmlns:a16="http://schemas.microsoft.com/office/drawing/2014/main" id="{1244A6B0-3AFF-C42E-8D59-0F75F086F29C}"/>
              </a:ext>
            </a:extLst>
          </p:cNvPr>
          <p:cNvSpPr txBox="1"/>
          <p:nvPr/>
        </p:nvSpPr>
        <p:spPr>
          <a:xfrm>
            <a:off x="9833016" y="4332643"/>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50"/>
                </a:solidFill>
                <a:effectLst/>
                <a:uLnTx/>
                <a:uFillTx/>
                <a:latin typeface="Calibri"/>
                <a:ea typeface="+mn-ea"/>
                <a:cs typeface="+mn-cs"/>
              </a:rPr>
              <a:t>FTD</a:t>
            </a:r>
          </a:p>
        </p:txBody>
      </p:sp>
      <p:sp>
        <p:nvSpPr>
          <p:cNvPr id="41" name="Star: 5 Points 40">
            <a:extLst>
              <a:ext uri="{FF2B5EF4-FFF2-40B4-BE49-F238E27FC236}">
                <a16:creationId xmlns:a16="http://schemas.microsoft.com/office/drawing/2014/main" id="{D81DE473-5B69-6A7F-B136-B132F8A0758F}"/>
              </a:ext>
            </a:extLst>
          </p:cNvPr>
          <p:cNvSpPr/>
          <p:nvPr/>
        </p:nvSpPr>
        <p:spPr>
          <a:xfrm>
            <a:off x="8856693" y="4661246"/>
            <a:ext cx="245889" cy="230521"/>
          </a:xfrm>
          <a:prstGeom prst="star5">
            <a:avLst/>
          </a:prstGeom>
          <a:solidFill>
            <a:srgbClr val="00B0F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Box 41">
            <a:extLst>
              <a:ext uri="{FF2B5EF4-FFF2-40B4-BE49-F238E27FC236}">
                <a16:creationId xmlns:a16="http://schemas.microsoft.com/office/drawing/2014/main" id="{5A344E8E-8A97-1EFF-1F66-FEF157A61265}"/>
              </a:ext>
            </a:extLst>
          </p:cNvPr>
          <p:cNvSpPr txBox="1"/>
          <p:nvPr/>
        </p:nvSpPr>
        <p:spPr>
          <a:xfrm>
            <a:off x="9065564" y="4639652"/>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B0F0"/>
                </a:solidFill>
                <a:effectLst/>
                <a:uLnTx/>
                <a:uFillTx/>
                <a:latin typeface="Calibri"/>
                <a:ea typeface="+mn-ea"/>
                <a:cs typeface="+mn-cs"/>
              </a:rPr>
              <a:t>FTD</a:t>
            </a:r>
          </a:p>
        </p:txBody>
      </p:sp>
      <p:sp>
        <p:nvSpPr>
          <p:cNvPr id="43" name="Star: 5 Points 42">
            <a:extLst>
              <a:ext uri="{FF2B5EF4-FFF2-40B4-BE49-F238E27FC236}">
                <a16:creationId xmlns:a16="http://schemas.microsoft.com/office/drawing/2014/main" id="{68DA210B-E53F-8815-0306-2868F1C819FB}"/>
              </a:ext>
            </a:extLst>
          </p:cNvPr>
          <p:cNvSpPr/>
          <p:nvPr/>
        </p:nvSpPr>
        <p:spPr>
          <a:xfrm>
            <a:off x="9180262" y="5034450"/>
            <a:ext cx="245889" cy="230521"/>
          </a:xfrm>
          <a:prstGeom prst="star5">
            <a:avLst/>
          </a:prstGeom>
          <a:solidFill>
            <a:srgbClr val="7030A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62F0A94B-240F-4FE4-B772-7857FECD24EE}"/>
              </a:ext>
            </a:extLst>
          </p:cNvPr>
          <p:cNvSpPr txBox="1"/>
          <p:nvPr/>
        </p:nvSpPr>
        <p:spPr>
          <a:xfrm>
            <a:off x="9429464" y="4987082"/>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7030A0"/>
                </a:solidFill>
                <a:effectLst/>
                <a:uLnTx/>
                <a:uFillTx/>
                <a:latin typeface="Calibri"/>
                <a:ea typeface="+mn-ea"/>
                <a:cs typeface="+mn-cs"/>
              </a:rPr>
              <a:t>FTD</a:t>
            </a:r>
          </a:p>
        </p:txBody>
      </p:sp>
      <p:sp>
        <p:nvSpPr>
          <p:cNvPr id="45" name="Star: 5 Points 44">
            <a:extLst>
              <a:ext uri="{FF2B5EF4-FFF2-40B4-BE49-F238E27FC236}">
                <a16:creationId xmlns:a16="http://schemas.microsoft.com/office/drawing/2014/main" id="{12F012E4-6210-D329-A9BF-491CC748B423}"/>
              </a:ext>
            </a:extLst>
          </p:cNvPr>
          <p:cNvSpPr/>
          <p:nvPr/>
        </p:nvSpPr>
        <p:spPr>
          <a:xfrm>
            <a:off x="7229188" y="5923707"/>
            <a:ext cx="245889" cy="230521"/>
          </a:xfrm>
          <a:prstGeom prst="star5">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TextBox 45">
            <a:extLst>
              <a:ext uri="{FF2B5EF4-FFF2-40B4-BE49-F238E27FC236}">
                <a16:creationId xmlns:a16="http://schemas.microsoft.com/office/drawing/2014/main" id="{588B1C94-DB87-4D54-A9DD-FDFF29EBFF90}"/>
              </a:ext>
            </a:extLst>
          </p:cNvPr>
          <p:cNvSpPr txBox="1"/>
          <p:nvPr/>
        </p:nvSpPr>
        <p:spPr>
          <a:xfrm>
            <a:off x="7467600" y="5865227"/>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lumMod val="75000"/>
                  </a:srgbClr>
                </a:solidFill>
                <a:effectLst/>
                <a:uLnTx/>
                <a:uFillTx/>
                <a:latin typeface="Calibri"/>
                <a:ea typeface="+mn-ea"/>
                <a:cs typeface="+mn-cs"/>
              </a:rPr>
              <a:t>FTD</a:t>
            </a:r>
          </a:p>
        </p:txBody>
      </p:sp>
      <p:cxnSp>
        <p:nvCxnSpPr>
          <p:cNvPr id="4" name="Straight Connector 3">
            <a:extLst>
              <a:ext uri="{FF2B5EF4-FFF2-40B4-BE49-F238E27FC236}">
                <a16:creationId xmlns:a16="http://schemas.microsoft.com/office/drawing/2014/main" id="{434B924F-DCB0-252C-2A6C-1DA9E5A1D241}"/>
              </a:ext>
            </a:extLst>
          </p:cNvPr>
          <p:cNvCxnSpPr>
            <a:stCxn id="25" idx="3"/>
            <a:endCxn id="27" idx="1"/>
          </p:cNvCxnSpPr>
          <p:nvPr/>
        </p:nvCxnSpPr>
        <p:spPr>
          <a:xfrm>
            <a:off x="2652711" y="5140432"/>
            <a:ext cx="2924176" cy="17751"/>
          </a:xfrm>
          <a:prstGeom prst="line">
            <a:avLst/>
          </a:prstGeom>
        </p:spPr>
        <p:style>
          <a:lnRef idx="2">
            <a:schemeClr val="accent4"/>
          </a:lnRef>
          <a:fillRef idx="0">
            <a:schemeClr val="accent4"/>
          </a:fillRef>
          <a:effectRef idx="1">
            <a:schemeClr val="accent4"/>
          </a:effectRef>
          <a:fontRef idx="minor">
            <a:schemeClr val="tx1"/>
          </a:fontRef>
        </p:style>
      </p:cxnSp>
      <p:cxnSp>
        <p:nvCxnSpPr>
          <p:cNvPr id="6" name="Straight Connector 5">
            <a:extLst>
              <a:ext uri="{FF2B5EF4-FFF2-40B4-BE49-F238E27FC236}">
                <a16:creationId xmlns:a16="http://schemas.microsoft.com/office/drawing/2014/main" id="{91754CA8-CDDD-57F3-EA72-3B3E1E5B586F}"/>
              </a:ext>
            </a:extLst>
          </p:cNvPr>
          <p:cNvCxnSpPr>
            <a:stCxn id="14" idx="3"/>
            <a:endCxn id="15" idx="1"/>
          </p:cNvCxnSpPr>
          <p:nvPr/>
        </p:nvCxnSpPr>
        <p:spPr>
          <a:xfrm>
            <a:off x="2657475" y="4805060"/>
            <a:ext cx="2552699"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8" name="Straight Connector 7">
            <a:extLst>
              <a:ext uri="{FF2B5EF4-FFF2-40B4-BE49-F238E27FC236}">
                <a16:creationId xmlns:a16="http://schemas.microsoft.com/office/drawing/2014/main" id="{2F4EAD21-7BCB-EC9A-F689-A956A6EBE0C3}"/>
              </a:ext>
            </a:extLst>
          </p:cNvPr>
          <p:cNvCxnSpPr>
            <a:stCxn id="17" idx="3"/>
            <a:endCxn id="18" idx="1"/>
          </p:cNvCxnSpPr>
          <p:nvPr/>
        </p:nvCxnSpPr>
        <p:spPr>
          <a:xfrm>
            <a:off x="2657475" y="6002869"/>
            <a:ext cx="1676399"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34" name="Straight Connector 33">
            <a:extLst>
              <a:ext uri="{FF2B5EF4-FFF2-40B4-BE49-F238E27FC236}">
                <a16:creationId xmlns:a16="http://schemas.microsoft.com/office/drawing/2014/main" id="{8580187F-959B-ABCA-7129-6319A9010F51}"/>
              </a:ext>
            </a:extLst>
          </p:cNvPr>
          <p:cNvCxnSpPr>
            <a:cxnSpLocks/>
            <a:stCxn id="11" idx="3"/>
            <a:endCxn id="12" idx="1"/>
          </p:cNvCxnSpPr>
          <p:nvPr/>
        </p:nvCxnSpPr>
        <p:spPr>
          <a:xfrm>
            <a:off x="2657475" y="4467902"/>
            <a:ext cx="1971673" cy="0"/>
          </a:xfrm>
          <a:prstGeom prst="line">
            <a:avLst/>
          </a:prstGeom>
          <a:ln>
            <a:solidFill>
              <a:srgbClr val="00B050"/>
            </a:solidFill>
          </a:ln>
        </p:spPr>
        <p:style>
          <a:lnRef idx="2">
            <a:schemeClr val="accent3"/>
          </a:lnRef>
          <a:fillRef idx="0">
            <a:schemeClr val="accent3"/>
          </a:fillRef>
          <a:effectRef idx="1">
            <a:schemeClr val="accent3"/>
          </a:effectRef>
          <a:fontRef idx="minor">
            <a:schemeClr val="tx1"/>
          </a:fontRef>
        </p:style>
      </p:cxnSp>
      <p:cxnSp>
        <p:nvCxnSpPr>
          <p:cNvPr id="54" name="Straight Connector 53">
            <a:extLst>
              <a:ext uri="{FF2B5EF4-FFF2-40B4-BE49-F238E27FC236}">
                <a16:creationId xmlns:a16="http://schemas.microsoft.com/office/drawing/2014/main" id="{97D01E5D-C8F1-EEF6-F165-2C7AACC3E456}"/>
              </a:ext>
            </a:extLst>
          </p:cNvPr>
          <p:cNvCxnSpPr>
            <a:cxnSpLocks/>
            <a:endCxn id="13" idx="1"/>
          </p:cNvCxnSpPr>
          <p:nvPr/>
        </p:nvCxnSpPr>
        <p:spPr>
          <a:xfrm>
            <a:off x="4810124" y="4467902"/>
            <a:ext cx="3474389"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3E61362-62EA-CFCA-A329-4ABB97C75517}"/>
              </a:ext>
            </a:extLst>
          </p:cNvPr>
          <p:cNvCxnSpPr>
            <a:cxnSpLocks/>
            <a:stCxn id="15" idx="3"/>
            <a:endCxn id="16" idx="1"/>
          </p:cNvCxnSpPr>
          <p:nvPr/>
        </p:nvCxnSpPr>
        <p:spPr>
          <a:xfrm flipV="1">
            <a:off x="5391150" y="4791595"/>
            <a:ext cx="1986651" cy="13465"/>
          </a:xfrm>
          <a:prstGeom prst="line">
            <a:avLst/>
          </a:prstGeom>
        </p:spPr>
        <p:style>
          <a:lnRef idx="2">
            <a:schemeClr val="accent5"/>
          </a:lnRef>
          <a:fillRef idx="0">
            <a:schemeClr val="accent5"/>
          </a:fillRef>
          <a:effectRef idx="1">
            <a:schemeClr val="accent5"/>
          </a:effectRef>
          <a:fontRef idx="minor">
            <a:schemeClr val="tx1"/>
          </a:fontRef>
        </p:style>
      </p:cxnSp>
      <p:cxnSp>
        <p:nvCxnSpPr>
          <p:cNvPr id="66" name="Straight Connector 65">
            <a:extLst>
              <a:ext uri="{FF2B5EF4-FFF2-40B4-BE49-F238E27FC236}">
                <a16:creationId xmlns:a16="http://schemas.microsoft.com/office/drawing/2014/main" id="{1863C6F4-AC48-D3FE-CE43-CBDB4CF6E747}"/>
              </a:ext>
            </a:extLst>
          </p:cNvPr>
          <p:cNvCxnSpPr>
            <a:stCxn id="27" idx="3"/>
            <a:endCxn id="28" idx="1"/>
          </p:cNvCxnSpPr>
          <p:nvPr/>
        </p:nvCxnSpPr>
        <p:spPr>
          <a:xfrm flipV="1">
            <a:off x="5757863" y="5140432"/>
            <a:ext cx="1619249" cy="17751"/>
          </a:xfrm>
          <a:prstGeom prst="line">
            <a:avLst/>
          </a:prstGeom>
        </p:spPr>
        <p:style>
          <a:lnRef idx="2">
            <a:schemeClr val="accent4"/>
          </a:lnRef>
          <a:fillRef idx="0">
            <a:schemeClr val="accent4"/>
          </a:fillRef>
          <a:effectRef idx="1">
            <a:schemeClr val="accent4"/>
          </a:effectRef>
          <a:fontRef idx="minor">
            <a:schemeClr val="tx1"/>
          </a:fontRef>
        </p:style>
      </p:cxnSp>
      <p:sp>
        <p:nvSpPr>
          <p:cNvPr id="67" name="TextBox 66">
            <a:extLst>
              <a:ext uri="{FF2B5EF4-FFF2-40B4-BE49-F238E27FC236}">
                <a16:creationId xmlns:a16="http://schemas.microsoft.com/office/drawing/2014/main" id="{34B0ABF2-A8BB-49C2-24A9-C4090F5D752A}"/>
              </a:ext>
            </a:extLst>
          </p:cNvPr>
          <p:cNvSpPr txBox="1"/>
          <p:nvPr/>
        </p:nvSpPr>
        <p:spPr>
          <a:xfrm rot="16200000">
            <a:off x="714055" y="4737527"/>
            <a:ext cx="1268481" cy="646331"/>
          </a:xfrm>
          <a:prstGeom prst="rect">
            <a:avLst/>
          </a:prstGeom>
          <a:no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2023 DSB Timing</a:t>
            </a:r>
          </a:p>
        </p:txBody>
      </p:sp>
      <p:sp>
        <p:nvSpPr>
          <p:cNvPr id="69" name="Diamond 68">
            <a:extLst>
              <a:ext uri="{FF2B5EF4-FFF2-40B4-BE49-F238E27FC236}">
                <a16:creationId xmlns:a16="http://schemas.microsoft.com/office/drawing/2014/main" id="{77782821-3971-5106-36AB-46EA33A1D04A}"/>
              </a:ext>
            </a:extLst>
          </p:cNvPr>
          <p:cNvSpPr/>
          <p:nvPr/>
        </p:nvSpPr>
        <p:spPr>
          <a:xfrm>
            <a:off x="2473444" y="5362243"/>
            <a:ext cx="180976" cy="287628"/>
          </a:xfrm>
          <a:prstGeom prst="diamond">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0" name="Diamond 69">
            <a:extLst>
              <a:ext uri="{FF2B5EF4-FFF2-40B4-BE49-F238E27FC236}">
                <a16:creationId xmlns:a16="http://schemas.microsoft.com/office/drawing/2014/main" id="{6E04D7A6-DC74-ECE9-DB62-26D0DCEE4771}"/>
              </a:ext>
            </a:extLst>
          </p:cNvPr>
          <p:cNvSpPr/>
          <p:nvPr/>
        </p:nvSpPr>
        <p:spPr>
          <a:xfrm>
            <a:off x="4330819" y="5362243"/>
            <a:ext cx="180976" cy="287628"/>
          </a:xfrm>
          <a:prstGeom prst="diamond">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1" name="TextBox 70">
            <a:extLst>
              <a:ext uri="{FF2B5EF4-FFF2-40B4-BE49-F238E27FC236}">
                <a16:creationId xmlns:a16="http://schemas.microsoft.com/office/drawing/2014/main" id="{30BE08C1-1BFA-FE95-6CAF-BA98B5809125}"/>
              </a:ext>
            </a:extLst>
          </p:cNvPr>
          <p:cNvSpPr txBox="1"/>
          <p:nvPr/>
        </p:nvSpPr>
        <p:spPr>
          <a:xfrm>
            <a:off x="2543017" y="5513279"/>
            <a:ext cx="11430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solidFill>
                <a:effectLst/>
                <a:uLnTx/>
                <a:uFillTx/>
                <a:latin typeface="Calibri"/>
                <a:ea typeface="+mn-ea"/>
                <a:cs typeface="+mn-cs"/>
              </a:rPr>
              <a:t>PE</a:t>
            </a:r>
          </a:p>
        </p:txBody>
      </p:sp>
      <p:sp>
        <p:nvSpPr>
          <p:cNvPr id="73" name="TextBox 72">
            <a:extLst>
              <a:ext uri="{FF2B5EF4-FFF2-40B4-BE49-F238E27FC236}">
                <a16:creationId xmlns:a16="http://schemas.microsoft.com/office/drawing/2014/main" id="{0D7E4655-BBE3-E25E-F07B-5D1AFA446EFE}"/>
              </a:ext>
            </a:extLst>
          </p:cNvPr>
          <p:cNvSpPr txBox="1"/>
          <p:nvPr/>
        </p:nvSpPr>
        <p:spPr>
          <a:xfrm>
            <a:off x="4418792" y="5493554"/>
            <a:ext cx="84397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solidFill>
                <a:effectLst/>
                <a:uLnTx/>
                <a:uFillTx/>
                <a:latin typeface="Calibri"/>
                <a:ea typeface="+mn-ea"/>
                <a:cs typeface="+mn-cs"/>
              </a:rPr>
              <a:t>Lead/CI</a:t>
            </a:r>
          </a:p>
        </p:txBody>
      </p:sp>
      <p:cxnSp>
        <p:nvCxnSpPr>
          <p:cNvPr id="74" name="Straight Connector 73">
            <a:extLst>
              <a:ext uri="{FF2B5EF4-FFF2-40B4-BE49-F238E27FC236}">
                <a16:creationId xmlns:a16="http://schemas.microsoft.com/office/drawing/2014/main" id="{E81C2B9B-3247-3622-DB87-6668AF6469B8}"/>
              </a:ext>
            </a:extLst>
          </p:cNvPr>
          <p:cNvCxnSpPr>
            <a:stCxn id="69" idx="3"/>
            <a:endCxn id="70" idx="1"/>
          </p:cNvCxnSpPr>
          <p:nvPr/>
        </p:nvCxnSpPr>
        <p:spPr>
          <a:xfrm>
            <a:off x="2654420" y="5506057"/>
            <a:ext cx="1676399"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75" name="Straight Connector 74">
            <a:extLst>
              <a:ext uri="{FF2B5EF4-FFF2-40B4-BE49-F238E27FC236}">
                <a16:creationId xmlns:a16="http://schemas.microsoft.com/office/drawing/2014/main" id="{F005BF17-0329-8938-81F6-9EFD58F185E0}"/>
              </a:ext>
            </a:extLst>
          </p:cNvPr>
          <p:cNvCxnSpPr/>
          <p:nvPr/>
        </p:nvCxnSpPr>
        <p:spPr>
          <a:xfrm>
            <a:off x="4511795" y="5506057"/>
            <a:ext cx="1676399" cy="0"/>
          </a:xfrm>
          <a:prstGeom prst="line">
            <a:avLst/>
          </a:prstGeom>
        </p:spPr>
        <p:style>
          <a:lnRef idx="2">
            <a:schemeClr val="accent6"/>
          </a:lnRef>
          <a:fillRef idx="0">
            <a:schemeClr val="accent6"/>
          </a:fillRef>
          <a:effectRef idx="1">
            <a:schemeClr val="accent6"/>
          </a:effectRef>
          <a:fontRef idx="minor">
            <a:schemeClr val="tx1"/>
          </a:fontRef>
        </p:style>
      </p:cxnSp>
      <p:sp>
        <p:nvSpPr>
          <p:cNvPr id="76" name="Diamond 75">
            <a:extLst>
              <a:ext uri="{FF2B5EF4-FFF2-40B4-BE49-F238E27FC236}">
                <a16:creationId xmlns:a16="http://schemas.microsoft.com/office/drawing/2014/main" id="{5455FDF5-1111-E5A9-067D-4BD0F609CA4E}"/>
              </a:ext>
            </a:extLst>
          </p:cNvPr>
          <p:cNvSpPr/>
          <p:nvPr/>
        </p:nvSpPr>
        <p:spPr>
          <a:xfrm>
            <a:off x="6127709" y="5374441"/>
            <a:ext cx="180976" cy="287628"/>
          </a:xfrm>
          <a:prstGeom prst="diamond">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TextBox 76">
            <a:extLst>
              <a:ext uri="{FF2B5EF4-FFF2-40B4-BE49-F238E27FC236}">
                <a16:creationId xmlns:a16="http://schemas.microsoft.com/office/drawing/2014/main" id="{4143EF7C-34D6-5681-2A4C-DD7D60A82F99}"/>
              </a:ext>
            </a:extLst>
          </p:cNvPr>
          <p:cNvSpPr txBox="1"/>
          <p:nvPr/>
        </p:nvSpPr>
        <p:spPr>
          <a:xfrm>
            <a:off x="6230214" y="5498445"/>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solidFill>
                <a:effectLst/>
                <a:uLnTx/>
                <a:uFillTx/>
                <a:latin typeface="Calibri"/>
                <a:ea typeface="+mn-ea"/>
                <a:cs typeface="+mn-cs"/>
              </a:rPr>
              <a:t>CS</a:t>
            </a:r>
          </a:p>
        </p:txBody>
      </p:sp>
      <p:sp>
        <p:nvSpPr>
          <p:cNvPr id="78" name="Star: 5 Points 77">
            <a:extLst>
              <a:ext uri="{FF2B5EF4-FFF2-40B4-BE49-F238E27FC236}">
                <a16:creationId xmlns:a16="http://schemas.microsoft.com/office/drawing/2014/main" id="{2C497D9D-056F-2493-5A61-2C382D796F1B}"/>
              </a:ext>
            </a:extLst>
          </p:cNvPr>
          <p:cNvSpPr/>
          <p:nvPr/>
        </p:nvSpPr>
        <p:spPr>
          <a:xfrm>
            <a:off x="9122814" y="5505477"/>
            <a:ext cx="245889" cy="230521"/>
          </a:xfrm>
          <a:prstGeom prst="star5">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78">
            <a:extLst>
              <a:ext uri="{FF2B5EF4-FFF2-40B4-BE49-F238E27FC236}">
                <a16:creationId xmlns:a16="http://schemas.microsoft.com/office/drawing/2014/main" id="{B4133379-9931-7451-D6E4-9484813F18EB}"/>
              </a:ext>
            </a:extLst>
          </p:cNvPr>
          <p:cNvSpPr txBox="1"/>
          <p:nvPr/>
        </p:nvSpPr>
        <p:spPr>
          <a:xfrm>
            <a:off x="9361226" y="5446997"/>
            <a:ext cx="60007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lumMod val="75000"/>
                  </a:srgbClr>
                </a:solidFill>
                <a:effectLst/>
                <a:uLnTx/>
                <a:uFillTx/>
                <a:latin typeface="Calibri"/>
                <a:ea typeface="+mn-ea"/>
                <a:cs typeface="+mn-cs"/>
              </a:rPr>
              <a:t>FTD</a:t>
            </a:r>
          </a:p>
        </p:txBody>
      </p:sp>
      <p:sp>
        <p:nvSpPr>
          <p:cNvPr id="80" name="TextBox 79">
            <a:extLst>
              <a:ext uri="{FF2B5EF4-FFF2-40B4-BE49-F238E27FC236}">
                <a16:creationId xmlns:a16="http://schemas.microsoft.com/office/drawing/2014/main" id="{C94F9897-5984-2EE0-2100-61A54FACE3D6}"/>
              </a:ext>
            </a:extLst>
          </p:cNvPr>
          <p:cNvSpPr txBox="1"/>
          <p:nvPr/>
        </p:nvSpPr>
        <p:spPr>
          <a:xfrm>
            <a:off x="812574" y="5849248"/>
            <a:ext cx="1397648" cy="338554"/>
          </a:xfrm>
          <a:prstGeom prst="rect">
            <a:avLst/>
          </a:prstGeom>
          <a:solidFill>
            <a:schemeClr val="bg1"/>
          </a:solidFill>
          <a:ln>
            <a:solidFill>
              <a:srgbClr val="FFC000"/>
            </a:solidFill>
          </a:ln>
          <a:effectLst>
            <a:glow rad="139700">
              <a:schemeClr val="accent6">
                <a:satMod val="175000"/>
                <a:alpha val="40000"/>
              </a:schemeClr>
            </a:glo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79646"/>
                </a:solidFill>
                <a:effectLst/>
                <a:uLnTx/>
                <a:uFillTx/>
                <a:latin typeface="Calibri"/>
                <a:ea typeface="+mn-ea"/>
                <a:cs typeface="+mn-cs"/>
              </a:rPr>
              <a:t>siRNA Reality</a:t>
            </a:r>
          </a:p>
        </p:txBody>
      </p:sp>
      <p:sp>
        <p:nvSpPr>
          <p:cNvPr id="49" name="TextBox 48">
            <a:extLst>
              <a:ext uri="{FF2B5EF4-FFF2-40B4-BE49-F238E27FC236}">
                <a16:creationId xmlns:a16="http://schemas.microsoft.com/office/drawing/2014/main" id="{ED290E9A-0D48-E0FA-D873-EE9457274E95}"/>
              </a:ext>
            </a:extLst>
          </p:cNvPr>
          <p:cNvSpPr txBox="1"/>
          <p:nvPr/>
        </p:nvSpPr>
        <p:spPr>
          <a:xfrm>
            <a:off x="4989484" y="2886075"/>
            <a:ext cx="180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79646">
                    <a:lumMod val="75000"/>
                  </a:srgbClr>
                </a:solidFill>
                <a:effectLst/>
                <a:uLnTx/>
                <a:uFillTx/>
                <a:latin typeface="Calibri"/>
                <a:ea typeface="+mn-ea"/>
                <a:cs typeface="+mn-cs"/>
              </a:rPr>
              <a:t>*</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49">
            <a:extLst>
              <a:ext uri="{FF2B5EF4-FFF2-40B4-BE49-F238E27FC236}">
                <a16:creationId xmlns:a16="http://schemas.microsoft.com/office/drawing/2014/main" id="{726E0891-A2FC-BD18-C2E8-436F4F8B4C19}"/>
              </a:ext>
            </a:extLst>
          </p:cNvPr>
          <p:cNvSpPr txBox="1"/>
          <p:nvPr/>
        </p:nvSpPr>
        <p:spPr>
          <a:xfrm>
            <a:off x="7465873" y="2853067"/>
            <a:ext cx="180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79646">
                    <a:lumMod val="75000"/>
                  </a:srgbClr>
                </a:solidFill>
                <a:effectLst/>
                <a:uLnTx/>
                <a:uFillTx/>
                <a:latin typeface="Calibri"/>
                <a:ea typeface="+mn-ea"/>
                <a:cs typeface="+mn-cs"/>
              </a:rPr>
              <a:t>*</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Box 50">
            <a:extLst>
              <a:ext uri="{FF2B5EF4-FFF2-40B4-BE49-F238E27FC236}">
                <a16:creationId xmlns:a16="http://schemas.microsoft.com/office/drawing/2014/main" id="{EC7D1E16-3205-B373-1E28-A5B37F1A9C54}"/>
              </a:ext>
            </a:extLst>
          </p:cNvPr>
          <p:cNvSpPr txBox="1"/>
          <p:nvPr/>
        </p:nvSpPr>
        <p:spPr>
          <a:xfrm>
            <a:off x="8570602" y="2843542"/>
            <a:ext cx="18097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79646">
                    <a:lumMod val="75000"/>
                  </a:srgbClr>
                </a:solidFill>
                <a:effectLst/>
                <a:uLnTx/>
                <a:uFillTx/>
                <a:latin typeface="Calibri"/>
                <a:ea typeface="+mn-ea"/>
                <a:cs typeface="+mn-cs"/>
              </a:rPr>
              <a:t>*</a:t>
            </a: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DE581C6A-F62A-039C-AF47-0451810AC183}"/>
              </a:ext>
            </a:extLst>
          </p:cNvPr>
          <p:cNvPicPr>
            <a:picLocks noChangeAspect="1"/>
          </p:cNvPicPr>
          <p:nvPr/>
        </p:nvPicPr>
        <p:blipFill>
          <a:blip r:embed="rId2"/>
          <a:stretch>
            <a:fillRect/>
          </a:stretch>
        </p:blipFill>
        <p:spPr>
          <a:xfrm>
            <a:off x="182046" y="1253046"/>
            <a:ext cx="11922731" cy="3016291"/>
          </a:xfrm>
          <a:prstGeom prst="rect">
            <a:avLst/>
          </a:prstGeom>
        </p:spPr>
      </p:pic>
      <p:sp>
        <p:nvSpPr>
          <p:cNvPr id="7" name="TextBox 6">
            <a:extLst>
              <a:ext uri="{FF2B5EF4-FFF2-40B4-BE49-F238E27FC236}">
                <a16:creationId xmlns:a16="http://schemas.microsoft.com/office/drawing/2014/main" id="{596DC750-484B-1FE8-0597-601C998341C1}"/>
              </a:ext>
            </a:extLst>
          </p:cNvPr>
          <p:cNvSpPr txBox="1"/>
          <p:nvPr/>
        </p:nvSpPr>
        <p:spPr>
          <a:xfrm>
            <a:off x="339253" y="933053"/>
            <a:ext cx="1021977"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79646">
                    <a:lumMod val="75000"/>
                  </a:srgbClr>
                </a:solidFill>
                <a:effectLst/>
                <a:uLnTx/>
                <a:uFillTx/>
                <a:latin typeface="Calibri"/>
                <a:ea typeface="+mn-ea"/>
                <a:cs typeface="+mn-cs"/>
              </a:rPr>
              <a:t>*as needed</a:t>
            </a:r>
          </a:p>
        </p:txBody>
      </p:sp>
      <p:sp>
        <p:nvSpPr>
          <p:cNvPr id="9" name="TextBox 8">
            <a:extLst>
              <a:ext uri="{FF2B5EF4-FFF2-40B4-BE49-F238E27FC236}">
                <a16:creationId xmlns:a16="http://schemas.microsoft.com/office/drawing/2014/main" id="{732E0F09-E38F-636A-4DC5-9F7F4C9AAB1F}"/>
              </a:ext>
            </a:extLst>
          </p:cNvPr>
          <p:cNvSpPr txBox="1"/>
          <p:nvPr/>
        </p:nvSpPr>
        <p:spPr>
          <a:xfrm>
            <a:off x="1403010" y="933052"/>
            <a:ext cx="1106502" cy="307777"/>
          </a:xfrm>
          <a:prstGeom prst="rect">
            <a:avLst/>
          </a:prstGeom>
          <a:noFill/>
          <a:ln w="12700">
            <a:solidFill>
              <a:srgbClr val="0070C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70C0"/>
                </a:solidFill>
                <a:effectLst/>
                <a:uLnTx/>
                <a:uFillTx/>
                <a:latin typeface="Calibri"/>
                <a:ea typeface="+mn-ea"/>
                <a:cs typeface="+mn-cs"/>
              </a:rPr>
              <a:t>* siRNA only</a:t>
            </a:r>
          </a:p>
        </p:txBody>
      </p:sp>
      <p:cxnSp>
        <p:nvCxnSpPr>
          <p:cNvPr id="10" name="Straight Connector 9">
            <a:extLst>
              <a:ext uri="{FF2B5EF4-FFF2-40B4-BE49-F238E27FC236}">
                <a16:creationId xmlns:a16="http://schemas.microsoft.com/office/drawing/2014/main" id="{E5A50657-017E-FB5F-BC63-B9985ACDC811}"/>
              </a:ext>
            </a:extLst>
          </p:cNvPr>
          <p:cNvCxnSpPr/>
          <p:nvPr/>
        </p:nvCxnSpPr>
        <p:spPr>
          <a:xfrm>
            <a:off x="78059" y="4213582"/>
            <a:ext cx="11931804"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26766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p:bldP spid="33" grpId="0"/>
      <p:bldP spid="45" grpId="0" animBg="1"/>
      <p:bldP spid="46" grpId="0"/>
      <p:bldP spid="8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20AD9-0E17-E945-C7D3-048BC474B9F2}"/>
              </a:ext>
            </a:extLst>
          </p:cNvPr>
          <p:cNvSpPr>
            <a:spLocks noGrp="1"/>
          </p:cNvSpPr>
          <p:nvPr>
            <p:ph type="ctrTitle"/>
          </p:nvPr>
        </p:nvSpPr>
        <p:spPr/>
        <p:txBody>
          <a:bodyPr/>
          <a:lstStyle/>
          <a:p>
            <a:r>
              <a:rPr lang="en-US"/>
              <a:t>Slides from Onboarding Weeks 1-2</a:t>
            </a:r>
          </a:p>
        </p:txBody>
      </p:sp>
      <p:sp>
        <p:nvSpPr>
          <p:cNvPr id="3" name="Subtitle 2">
            <a:extLst>
              <a:ext uri="{FF2B5EF4-FFF2-40B4-BE49-F238E27FC236}">
                <a16:creationId xmlns:a16="http://schemas.microsoft.com/office/drawing/2014/main" id="{2866514F-4706-5BEE-D096-F85B571F139F}"/>
              </a:ext>
            </a:extLst>
          </p:cNvPr>
          <p:cNvSpPr>
            <a:spLocks noGrp="1"/>
          </p:cNvSpPr>
          <p:nvPr>
            <p:ph type="subTitle" idx="1"/>
          </p:nvPr>
        </p:nvSpPr>
        <p:spPr/>
        <p:txBody>
          <a:bodyPr/>
          <a:lstStyle/>
          <a:p>
            <a:endParaRPr lang="en-US"/>
          </a:p>
        </p:txBody>
      </p:sp>
      <p:sp>
        <p:nvSpPr>
          <p:cNvPr id="4" name="Date Placeholder 3">
            <a:extLst>
              <a:ext uri="{FF2B5EF4-FFF2-40B4-BE49-F238E27FC236}">
                <a16:creationId xmlns:a16="http://schemas.microsoft.com/office/drawing/2014/main" id="{0D67B7AB-E8CF-6893-4D9F-398AF25FCD49}"/>
              </a:ext>
            </a:extLst>
          </p:cNvPr>
          <p:cNvSpPr>
            <a:spLocks noGrp="1"/>
          </p:cNvSpPr>
          <p:nvPr>
            <p:ph type="dt" sz="half" idx="10"/>
          </p:nvPr>
        </p:nvSpPr>
        <p:spPr/>
        <p:txBody>
          <a:bodyPr/>
          <a:lstStyle/>
          <a:p>
            <a:r>
              <a:rPr lang="en-US"/>
              <a:t>SAPR R&amp;D Strategy Review Template</a:t>
            </a:r>
          </a:p>
        </p:txBody>
      </p:sp>
      <p:sp>
        <p:nvSpPr>
          <p:cNvPr id="5" name="Footer Placeholder 4">
            <a:extLst>
              <a:ext uri="{FF2B5EF4-FFF2-40B4-BE49-F238E27FC236}">
                <a16:creationId xmlns:a16="http://schemas.microsoft.com/office/drawing/2014/main" id="{D1F19BED-0B31-761B-D3C2-B000E6F8FEFF}"/>
              </a:ext>
            </a:extLst>
          </p:cNvPr>
          <p:cNvSpPr>
            <a:spLocks noGrp="1"/>
          </p:cNvSpPr>
          <p:nvPr>
            <p:ph type="ftr" sz="quarter" idx="11"/>
          </p:nvPr>
        </p:nvSpPr>
        <p:spPr/>
        <p:txBody>
          <a:bodyPr/>
          <a:lstStyle/>
          <a:p>
            <a:r>
              <a:rPr lang="en-US"/>
              <a:t>Company Confidential  ©2014 Eli Lilly and Company </a:t>
            </a:r>
          </a:p>
        </p:txBody>
      </p:sp>
      <p:sp>
        <p:nvSpPr>
          <p:cNvPr id="6" name="Slide Number Placeholder 5">
            <a:extLst>
              <a:ext uri="{FF2B5EF4-FFF2-40B4-BE49-F238E27FC236}">
                <a16:creationId xmlns:a16="http://schemas.microsoft.com/office/drawing/2014/main" id="{C78AAAB2-EB4F-060D-FBC9-8DB40B567C30}"/>
              </a:ext>
            </a:extLst>
          </p:cNvPr>
          <p:cNvSpPr>
            <a:spLocks noGrp="1"/>
          </p:cNvSpPr>
          <p:nvPr>
            <p:ph type="sldNum" sz="quarter" idx="12"/>
          </p:nvPr>
        </p:nvSpPr>
        <p:spPr/>
        <p:txBody>
          <a:bodyPr/>
          <a:lstStyle/>
          <a:p>
            <a:fld id="{1DA079B0-34FF-9449-83ED-AEDF3F6C1CC6}" type="slidenum">
              <a:rPr lang="en-US" smtClean="0"/>
              <a:pPr/>
              <a:t>35</a:t>
            </a:fld>
            <a:endParaRPr lang="en-US"/>
          </a:p>
        </p:txBody>
      </p:sp>
    </p:spTree>
    <p:extLst>
      <p:ext uri="{BB962C8B-B14F-4D97-AF65-F5344CB8AC3E}">
        <p14:creationId xmlns:p14="http://schemas.microsoft.com/office/powerpoint/2010/main" val="248814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1555"/>
            <a:ext cx="8471358" cy="646331"/>
          </a:xfrm>
          <a:prstGeom prst="rect">
            <a:avLst/>
          </a:prstGeom>
        </p:spPr>
        <p:txBody>
          <a:bodyPr wrap="none">
            <a:spAutoFit/>
          </a:bodyPr>
          <a:lstStyle/>
          <a:p>
            <a:r>
              <a:rPr lang="en-US" sz="3600" b="1">
                <a:solidFill>
                  <a:schemeClr val="bg1"/>
                </a:solidFill>
              </a:rPr>
              <a:t>Drug Discovery &amp; Development Framework</a:t>
            </a:r>
          </a:p>
        </p:txBody>
      </p:sp>
      <p:sp>
        <p:nvSpPr>
          <p:cNvPr id="7" name="Footer Placeholder 4">
            <a:extLst>
              <a:ext uri="{FF2B5EF4-FFF2-40B4-BE49-F238E27FC236}">
                <a16:creationId xmlns:a16="http://schemas.microsoft.com/office/drawing/2014/main" id="{FDEA6AE8-F780-4819-8BF8-D9A648F87A87}"/>
              </a:ext>
            </a:extLst>
          </p:cNvPr>
          <p:cNvSpPr>
            <a:spLocks noGrp="1"/>
          </p:cNvSpPr>
          <p:nvPr>
            <p:ph type="ftr" sz="quarter" idx="11"/>
          </p:nvPr>
        </p:nvSpPr>
        <p:spPr>
          <a:xfrm>
            <a:off x="4165600" y="6629400"/>
            <a:ext cx="3860800" cy="182880"/>
          </a:xfrm>
        </p:spPr>
        <p:txBody>
          <a:bodyPr/>
          <a:lstStyle/>
          <a:p>
            <a:r>
              <a:rPr lang="en-US"/>
              <a:t>Company Confidential  © 2022 Eli Lilly and Company </a:t>
            </a:r>
          </a:p>
        </p:txBody>
      </p:sp>
      <p:sp>
        <p:nvSpPr>
          <p:cNvPr id="8" name="Slide Number Placeholder 5">
            <a:extLst>
              <a:ext uri="{FF2B5EF4-FFF2-40B4-BE49-F238E27FC236}">
                <a16:creationId xmlns:a16="http://schemas.microsoft.com/office/drawing/2014/main" id="{488703BE-B1FC-484C-814F-77FDD7D62E95}"/>
              </a:ext>
            </a:extLst>
          </p:cNvPr>
          <p:cNvSpPr>
            <a:spLocks noGrp="1"/>
          </p:cNvSpPr>
          <p:nvPr>
            <p:ph type="sldNum" sz="quarter" idx="12"/>
          </p:nvPr>
        </p:nvSpPr>
        <p:spPr>
          <a:xfrm>
            <a:off x="8737600" y="6629400"/>
            <a:ext cx="2844800" cy="182880"/>
          </a:xfrm>
        </p:spPr>
        <p:txBody>
          <a:bodyPr/>
          <a:lstStyle/>
          <a:p>
            <a:fld id="{1DA079B0-34FF-9449-83ED-AEDF3F6C1CC6}" type="slidenum">
              <a:rPr lang="en-US" smtClean="0"/>
              <a:t>36</a:t>
            </a:fld>
            <a:endParaRPr lang="en-US"/>
          </a:p>
        </p:txBody>
      </p:sp>
      <p:pic>
        <p:nvPicPr>
          <p:cNvPr id="3" name="Picture 2">
            <a:extLst>
              <a:ext uri="{FF2B5EF4-FFF2-40B4-BE49-F238E27FC236}">
                <a16:creationId xmlns:a16="http://schemas.microsoft.com/office/drawing/2014/main" id="{0336D3FB-4A73-5E9D-7C15-1DF2D87FBFF8}"/>
              </a:ext>
            </a:extLst>
          </p:cNvPr>
          <p:cNvPicPr>
            <a:picLocks noChangeAspect="1"/>
          </p:cNvPicPr>
          <p:nvPr/>
        </p:nvPicPr>
        <p:blipFill>
          <a:blip r:embed="rId3"/>
          <a:stretch>
            <a:fillRect/>
          </a:stretch>
        </p:blipFill>
        <p:spPr>
          <a:xfrm>
            <a:off x="1683562" y="1143000"/>
            <a:ext cx="9176036" cy="5134417"/>
          </a:xfrm>
          <a:prstGeom prst="rect">
            <a:avLst/>
          </a:prstGeom>
        </p:spPr>
      </p:pic>
    </p:spTree>
    <p:extLst>
      <p:ext uri="{BB962C8B-B14F-4D97-AF65-F5344CB8AC3E}">
        <p14:creationId xmlns:p14="http://schemas.microsoft.com/office/powerpoint/2010/main" val="2257019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E70A-755D-C0D7-369D-56FA6309D095}"/>
              </a:ext>
            </a:extLst>
          </p:cNvPr>
          <p:cNvSpPr>
            <a:spLocks noGrp="1"/>
          </p:cNvSpPr>
          <p:nvPr>
            <p:ph type="title"/>
          </p:nvPr>
        </p:nvSpPr>
        <p:spPr>
          <a:xfrm>
            <a:off x="100361" y="45720"/>
            <a:ext cx="12091639" cy="822960"/>
          </a:xfrm>
        </p:spPr>
        <p:txBody>
          <a:bodyPr>
            <a:noAutofit/>
          </a:bodyPr>
          <a:lstStyle/>
          <a:p>
            <a:r>
              <a:rPr lang="en-US" sz="3200"/>
              <a:t>Drug Development Teams  (Early Phase to Post-Launch)</a:t>
            </a:r>
          </a:p>
        </p:txBody>
      </p:sp>
      <p:sp>
        <p:nvSpPr>
          <p:cNvPr id="3" name="Content Placeholder 2">
            <a:extLst>
              <a:ext uri="{FF2B5EF4-FFF2-40B4-BE49-F238E27FC236}">
                <a16:creationId xmlns:a16="http://schemas.microsoft.com/office/drawing/2014/main" id="{3378E640-C48D-F69F-ADA1-FF9E14C3D67A}"/>
              </a:ext>
            </a:extLst>
          </p:cNvPr>
          <p:cNvSpPr>
            <a:spLocks noGrp="1"/>
          </p:cNvSpPr>
          <p:nvPr>
            <p:ph idx="1"/>
          </p:nvPr>
        </p:nvSpPr>
        <p:spPr>
          <a:xfrm>
            <a:off x="838200" y="1825625"/>
            <a:ext cx="5894446" cy="4094408"/>
          </a:xfrm>
        </p:spPr>
        <p:txBody>
          <a:bodyPr>
            <a:normAutofit fontScale="92500"/>
          </a:bodyPr>
          <a:lstStyle/>
          <a:p>
            <a:pPr marL="228594" marR="0" lvl="0" indent="-228594" algn="l" defTabSz="914400" rtl="0" eaLnBrk="1" fontAlgn="auto" latinLnBrk="0" hangingPunct="1">
              <a:lnSpc>
                <a:spcPct val="100000"/>
              </a:lnSpc>
              <a:spcBef>
                <a:spcPts val="0"/>
              </a:spcBef>
              <a:spcAft>
                <a:spcPts val="400"/>
              </a:spcAft>
              <a:buSzTx/>
              <a:buFont typeface="Wingdings" panose="05000000000000000000" pitchFamily="2" charset="2"/>
              <a:buChar char="§"/>
              <a:tabLst/>
              <a:defRPr/>
            </a:pPr>
            <a:r>
              <a:rPr kumimoji="0" lang="en-US" sz="2400" b="0" i="0" u="none" strike="noStrike" kern="1200" cap="none" spc="0" normalizeH="0" baseline="0" noProof="0">
                <a:ln>
                  <a:noFill/>
                </a:ln>
                <a:effectLst/>
                <a:uLnTx/>
                <a:uFillTx/>
                <a:ea typeface="+mn-ea"/>
                <a:cs typeface="Arial" panose="020B0604020202020204" pitchFamily="34" charset="0"/>
              </a:rPr>
              <a:t>Drug development i</a:t>
            </a:r>
            <a:r>
              <a:rPr lang="en-US" sz="2400">
                <a:cs typeface="Arial" panose="020B0604020202020204" pitchFamily="34" charset="0"/>
              </a:rPr>
              <a:t>s complex and takes a large team of many functional experts to participate.</a:t>
            </a:r>
          </a:p>
          <a:p>
            <a:pPr marL="228594" marR="0" lvl="0" indent="-228594" algn="l" defTabSz="914400" rtl="0" eaLnBrk="1" fontAlgn="auto" latinLnBrk="0" hangingPunct="1">
              <a:lnSpc>
                <a:spcPct val="100000"/>
              </a:lnSpc>
              <a:spcBef>
                <a:spcPts val="0"/>
              </a:spcBef>
              <a:spcAft>
                <a:spcPts val="400"/>
              </a:spcAft>
              <a:buSzTx/>
              <a:buFont typeface="Wingdings" panose="05000000000000000000" pitchFamily="2" charset="2"/>
              <a:buChar char="§"/>
              <a:tabLst/>
              <a:defRPr/>
            </a:pPr>
            <a:r>
              <a:rPr lang="en-US" sz="2400">
                <a:cs typeface="Arial" panose="020B0604020202020204" pitchFamily="34" charset="0"/>
              </a:rPr>
              <a:t>We commonly call these teams the asset teams or project teams.</a:t>
            </a:r>
          </a:p>
          <a:p>
            <a:pPr marL="228594" marR="0" lvl="0" indent="-228594" algn="l" defTabSz="914400" rtl="0" eaLnBrk="1" fontAlgn="auto" latinLnBrk="0" hangingPunct="1">
              <a:lnSpc>
                <a:spcPct val="100000"/>
              </a:lnSpc>
              <a:spcBef>
                <a:spcPts val="0"/>
              </a:spcBef>
              <a:spcAft>
                <a:spcPts val="400"/>
              </a:spcAft>
              <a:buSzTx/>
              <a:buFont typeface="Wingdings" panose="05000000000000000000" pitchFamily="2" charset="2"/>
              <a:buChar char="§"/>
              <a:tabLst/>
              <a:defRPr/>
            </a:pPr>
            <a:r>
              <a:rPr lang="en-US" sz="2400">
                <a:cs typeface="Arial" panose="020B0604020202020204" pitchFamily="34" charset="0"/>
              </a:rPr>
              <a:t>In Portfolio &amp; Project Management, the COO and PPM serve as the integration point where all the functions intersect.</a:t>
            </a:r>
            <a:endParaRPr lang="en-US" sz="1800">
              <a:cs typeface="Arial" panose="020B0604020202020204" pitchFamily="34" charset="0"/>
            </a:endParaRPr>
          </a:p>
          <a:p>
            <a:pPr marL="685794" lvl="1" indent="-228594">
              <a:lnSpc>
                <a:spcPct val="100000"/>
              </a:lnSpc>
              <a:spcBef>
                <a:spcPts val="0"/>
              </a:spcBef>
              <a:spcAft>
                <a:spcPts val="400"/>
              </a:spcAft>
              <a:defRPr/>
            </a:pPr>
            <a:r>
              <a:rPr lang="en-US" sz="1800">
                <a:cs typeface="Arial" panose="020B0604020202020204" pitchFamily="34" charset="0"/>
              </a:rPr>
              <a:t>They are tasked with facilitating a team that can d</a:t>
            </a:r>
            <a:r>
              <a:rPr kumimoji="0" lang="en-US" sz="1800" b="0" i="0" u="none" strike="noStrike" kern="1200" cap="none" spc="0" normalizeH="0" baseline="0" noProof="0" err="1">
                <a:ln>
                  <a:noFill/>
                </a:ln>
                <a:effectLst/>
                <a:uLnTx/>
                <a:uFillTx/>
                <a:ea typeface="+mn-ea"/>
                <a:cs typeface="Arial" panose="020B0604020202020204" pitchFamily="34" charset="0"/>
              </a:rPr>
              <a:t>eliver</a:t>
            </a:r>
            <a:r>
              <a:rPr kumimoji="0" lang="en-US" sz="1800" b="0" i="0" u="none" strike="noStrike" kern="1200" cap="none" spc="0" normalizeH="0" baseline="0" noProof="0">
                <a:ln>
                  <a:noFill/>
                </a:ln>
                <a:effectLst/>
                <a:uLnTx/>
                <a:uFillTx/>
                <a:ea typeface="+mn-ea"/>
                <a:cs typeface="Arial" panose="020B0604020202020204" pitchFamily="34" charset="0"/>
              </a:rPr>
              <a:t> drug development projects within scope, on time, and within budget.</a:t>
            </a:r>
          </a:p>
          <a:p>
            <a:pPr marL="685794" lvl="1" indent="-228594">
              <a:lnSpc>
                <a:spcPct val="100000"/>
              </a:lnSpc>
              <a:spcBef>
                <a:spcPts val="0"/>
              </a:spcBef>
              <a:spcAft>
                <a:spcPts val="400"/>
              </a:spcAft>
              <a:defRPr/>
            </a:pPr>
            <a:r>
              <a:rPr lang="en-US" sz="1800">
                <a:cs typeface="Arial" panose="020B0604020202020204" pitchFamily="34" charset="0"/>
              </a:rPr>
              <a:t>They lead core teams, track actions, decisions, budgets, timelines (both major and mini), etc.</a:t>
            </a:r>
            <a:endParaRPr kumimoji="0" lang="en-US" sz="1800" b="0" i="0" u="none" strike="noStrike" kern="1200" cap="none" spc="0" normalizeH="0" baseline="0" noProof="0">
              <a:ln>
                <a:noFill/>
              </a:ln>
              <a:effectLst/>
              <a:uLnTx/>
              <a:uFillTx/>
              <a:ea typeface="+mn-ea"/>
              <a:cs typeface="Arial" panose="020B0604020202020204" pitchFamily="34" charset="0"/>
            </a:endParaRPr>
          </a:p>
        </p:txBody>
      </p:sp>
      <p:pic>
        <p:nvPicPr>
          <p:cNvPr id="6" name="Picture 5">
            <a:extLst>
              <a:ext uri="{FF2B5EF4-FFF2-40B4-BE49-F238E27FC236}">
                <a16:creationId xmlns:a16="http://schemas.microsoft.com/office/drawing/2014/main" id="{A857F712-365A-71DF-C47C-317D23A7AD5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732646" y="2151326"/>
            <a:ext cx="5250588" cy="3478181"/>
          </a:xfrm>
          <a:prstGeom prst="rect">
            <a:avLst/>
          </a:prstGeom>
        </p:spPr>
      </p:pic>
    </p:spTree>
    <p:extLst>
      <p:ext uri="{BB962C8B-B14F-4D97-AF65-F5344CB8AC3E}">
        <p14:creationId xmlns:p14="http://schemas.microsoft.com/office/powerpoint/2010/main" val="18083334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D4392800-BC36-ED9B-E202-4FA097333375}"/>
              </a:ext>
            </a:extLst>
          </p:cNvPr>
          <p:cNvSpPr>
            <a:spLocks noGrp="1"/>
          </p:cNvSpPr>
          <p:nvPr>
            <p:ph type="title"/>
          </p:nvPr>
        </p:nvSpPr>
        <p:spPr>
          <a:xfrm>
            <a:off x="449069" y="51644"/>
            <a:ext cx="10515600" cy="758436"/>
          </a:xfrm>
        </p:spPr>
        <p:txBody>
          <a:bodyPr>
            <a:noAutofit/>
          </a:bodyPr>
          <a:lstStyle/>
          <a:p>
            <a:pPr>
              <a:lnSpc>
                <a:spcPct val="85000"/>
              </a:lnSpc>
            </a:pPr>
            <a:r>
              <a:rPr lang="en-US" b="1"/>
              <a:t>COO &amp; PPM Responsibilities</a:t>
            </a:r>
          </a:p>
        </p:txBody>
      </p:sp>
      <p:sp>
        <p:nvSpPr>
          <p:cNvPr id="22" name="Content Placeholder 21">
            <a:extLst>
              <a:ext uri="{FF2B5EF4-FFF2-40B4-BE49-F238E27FC236}">
                <a16:creationId xmlns:a16="http://schemas.microsoft.com/office/drawing/2014/main" id="{991A66AA-D82A-0937-17AC-D9CC0667E05E}"/>
              </a:ext>
            </a:extLst>
          </p:cNvPr>
          <p:cNvSpPr>
            <a:spLocks noGrp="1"/>
          </p:cNvSpPr>
          <p:nvPr>
            <p:ph idx="1"/>
          </p:nvPr>
        </p:nvSpPr>
        <p:spPr>
          <a:xfrm>
            <a:off x="4634102" y="2370137"/>
            <a:ext cx="3509133" cy="4351338"/>
          </a:xfrm>
        </p:spPr>
        <p:txBody>
          <a:bodyPr>
            <a:normAutofit fontScale="92500"/>
          </a:bodyPr>
          <a:lstStyle/>
          <a:p>
            <a:pPr marL="0" indent="0" defTabSz="914363">
              <a:buNone/>
              <a:defRPr/>
            </a:pPr>
            <a:r>
              <a:rPr lang="en-US" sz="1800"/>
              <a:t>COO:</a:t>
            </a:r>
          </a:p>
          <a:p>
            <a:pPr defTabSz="914363">
              <a:defRPr/>
            </a:pPr>
            <a:r>
              <a:rPr lang="en-US" sz="1800">
                <a:cs typeface="Arial"/>
              </a:rPr>
              <a:t>Leads the Asset Team</a:t>
            </a:r>
          </a:p>
          <a:p>
            <a:pPr defTabSz="914363">
              <a:defRPr/>
            </a:pPr>
            <a:r>
              <a:rPr lang="en-US" sz="1800">
                <a:cs typeface="Arial"/>
              </a:rPr>
              <a:t>Enables the Asset Strategy</a:t>
            </a:r>
          </a:p>
          <a:p>
            <a:pPr defTabSz="914363">
              <a:defRPr/>
            </a:pPr>
            <a:r>
              <a:rPr lang="en-US" sz="1800">
                <a:cs typeface="Arial"/>
              </a:rPr>
              <a:t>Creation of Integrated Development Plan</a:t>
            </a:r>
          </a:p>
          <a:p>
            <a:pPr defTabSz="914363">
              <a:defRPr/>
            </a:pPr>
            <a:r>
              <a:rPr lang="en-US" sz="1800">
                <a:cs typeface="Arial"/>
              </a:rPr>
              <a:t>Delivery of Integrated Dev Plan</a:t>
            </a:r>
          </a:p>
          <a:p>
            <a:pPr marL="0" indent="0" defTabSz="914363">
              <a:buNone/>
              <a:defRPr/>
            </a:pPr>
            <a:endParaRPr lang="en-US" sz="1800" u="sng"/>
          </a:p>
          <a:p>
            <a:pPr marL="0" indent="0" defTabSz="914363">
              <a:buNone/>
              <a:defRPr/>
            </a:pPr>
            <a:r>
              <a:rPr lang="en-US" sz="1800"/>
              <a:t>PPM:</a:t>
            </a:r>
          </a:p>
          <a:p>
            <a:pPr defTabSz="914363">
              <a:defRPr/>
            </a:pPr>
            <a:r>
              <a:rPr lang="en-US" sz="1800"/>
              <a:t>Registration submission planning</a:t>
            </a:r>
          </a:p>
          <a:p>
            <a:pPr defTabSz="914363">
              <a:defRPr/>
            </a:pPr>
            <a:r>
              <a:rPr lang="en-US" sz="1800"/>
              <a:t>Launch activities</a:t>
            </a:r>
          </a:p>
          <a:p>
            <a:pPr defTabSz="914363">
              <a:defRPr/>
            </a:pPr>
            <a:r>
              <a:rPr lang="en-US" sz="1800"/>
              <a:t>Milestone Management</a:t>
            </a:r>
          </a:p>
          <a:p>
            <a:pPr defTabSz="914363">
              <a:defRPr/>
            </a:pPr>
            <a:r>
              <a:rPr lang="en-US" sz="1800"/>
              <a:t>Budget Management</a:t>
            </a:r>
          </a:p>
          <a:p>
            <a:pPr defTabSz="914363">
              <a:defRPr/>
            </a:pPr>
            <a:r>
              <a:rPr lang="en-US" sz="1800"/>
              <a:t>Risk Evaluation</a:t>
            </a:r>
          </a:p>
          <a:p>
            <a:pPr defTabSz="914363">
              <a:defRPr/>
            </a:pPr>
            <a:r>
              <a:rPr lang="en-US" sz="1800"/>
              <a:t>Alliance Management</a:t>
            </a:r>
          </a:p>
          <a:p>
            <a:endParaRPr lang="en-US"/>
          </a:p>
        </p:txBody>
      </p:sp>
      <p:sp>
        <p:nvSpPr>
          <p:cNvPr id="4" name="Slide Number Placeholder 3">
            <a:extLst>
              <a:ext uri="{FF2B5EF4-FFF2-40B4-BE49-F238E27FC236}">
                <a16:creationId xmlns:a16="http://schemas.microsoft.com/office/drawing/2014/main" id="{92B56D1B-B45B-8B24-4B07-8234979F09E9}"/>
              </a:ext>
            </a:extLst>
          </p:cNvPr>
          <p:cNvSpPr>
            <a:spLocks noGrp="1"/>
          </p:cNvSpPr>
          <p:nvPr>
            <p:ph type="sldNum" sz="quarter" idx="12"/>
          </p:nvPr>
        </p:nvSpPr>
        <p:spPr/>
        <p:txBody>
          <a:bodyPr/>
          <a:lstStyle/>
          <a:p>
            <a:pPr algn="l" defTabSz="914363">
              <a:defRPr/>
            </a:pPr>
            <a:fld id="{7E80B146-301A-481F-8D59-328DC994CDDA}" type="slidenum">
              <a:rPr lang="en-US" sz="800">
                <a:solidFill>
                  <a:srgbClr val="81776E"/>
                </a:solidFill>
                <a:latin typeface="DIN Pro" panose="02000503040000020003" pitchFamily="50" charset="0"/>
              </a:rPr>
              <a:pPr algn="l" defTabSz="914363">
                <a:defRPr/>
              </a:pPr>
              <a:t>38</a:t>
            </a:fld>
            <a:endParaRPr lang="en-US" sz="800">
              <a:solidFill>
                <a:srgbClr val="81776E"/>
              </a:solidFill>
              <a:latin typeface="DIN Pro" panose="02000503040000020003" pitchFamily="50" charset="0"/>
            </a:endParaRPr>
          </a:p>
        </p:txBody>
      </p:sp>
      <p:sp>
        <p:nvSpPr>
          <p:cNvPr id="124" name="TextBox 123">
            <a:extLst>
              <a:ext uri="{FF2B5EF4-FFF2-40B4-BE49-F238E27FC236}">
                <a16:creationId xmlns:a16="http://schemas.microsoft.com/office/drawing/2014/main" id="{224AC588-F11D-484B-B442-8BB812AF7B23}"/>
              </a:ext>
            </a:extLst>
          </p:cNvPr>
          <p:cNvSpPr txBox="1"/>
          <p:nvPr/>
        </p:nvSpPr>
        <p:spPr>
          <a:xfrm>
            <a:off x="8162829" y="4037426"/>
            <a:ext cx="1744401" cy="215444"/>
          </a:xfrm>
          <a:prstGeom prst="rect">
            <a:avLst/>
          </a:prstGeom>
          <a:solidFill>
            <a:schemeClr val="bg1"/>
          </a:solidFill>
          <a:effectLst>
            <a:softEdge rad="635000"/>
          </a:effectLst>
        </p:spPr>
        <p:txBody>
          <a:bodyPr wrap="square" rtlCol="0">
            <a:spAutoFit/>
          </a:bodyPr>
          <a:lstStyle/>
          <a:p>
            <a:pPr defTabSz="914363">
              <a:defRPr/>
            </a:pPr>
            <a:r>
              <a:rPr lang="en-US" sz="800">
                <a:solidFill>
                  <a:schemeClr val="bg1"/>
                </a:solidFill>
                <a:latin typeface="DIN Pro" panose="02000503040000020003" pitchFamily="50" charset="0"/>
              </a:rPr>
              <a:t>Determine Investment Strategy</a:t>
            </a:r>
          </a:p>
        </p:txBody>
      </p:sp>
      <p:sp>
        <p:nvSpPr>
          <p:cNvPr id="26" name="Content Placeholder 21">
            <a:extLst>
              <a:ext uri="{FF2B5EF4-FFF2-40B4-BE49-F238E27FC236}">
                <a16:creationId xmlns:a16="http://schemas.microsoft.com/office/drawing/2014/main" id="{4B351C19-A5D8-7F59-0EE4-1E0A0836A5F4}"/>
              </a:ext>
            </a:extLst>
          </p:cNvPr>
          <p:cNvSpPr txBox="1">
            <a:spLocks/>
          </p:cNvSpPr>
          <p:nvPr/>
        </p:nvSpPr>
        <p:spPr>
          <a:xfrm>
            <a:off x="449069" y="2282941"/>
            <a:ext cx="3877833"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Clr>
                <a:srgbClr val="B95151"/>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B95151"/>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B95151"/>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B95151"/>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B95151"/>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63">
              <a:buFont typeface="Wingdings" panose="05000000000000000000" pitchFamily="2" charset="2"/>
              <a:buNone/>
              <a:defRPr/>
            </a:pPr>
            <a:r>
              <a:rPr lang="en-US" sz="1800"/>
              <a:t>COO:</a:t>
            </a:r>
          </a:p>
          <a:p>
            <a:pPr defTabSz="914363">
              <a:defRPr/>
            </a:pPr>
            <a:r>
              <a:rPr lang="en-US" sz="1800">
                <a:cs typeface="Arial"/>
              </a:rPr>
              <a:t>Leads the Asset Team</a:t>
            </a:r>
          </a:p>
          <a:p>
            <a:pPr defTabSz="914363">
              <a:defRPr/>
            </a:pPr>
            <a:r>
              <a:rPr lang="en-US" sz="1800">
                <a:cs typeface="Arial"/>
              </a:rPr>
              <a:t>Enables the Asset Strategy</a:t>
            </a:r>
          </a:p>
          <a:p>
            <a:pPr defTabSz="914363">
              <a:defRPr/>
            </a:pPr>
            <a:r>
              <a:rPr lang="en-US" sz="1800">
                <a:cs typeface="Arial"/>
              </a:rPr>
              <a:t>Creation of Integrated Development Plan</a:t>
            </a:r>
          </a:p>
          <a:p>
            <a:pPr defTabSz="914363">
              <a:defRPr/>
            </a:pPr>
            <a:r>
              <a:rPr lang="en-US" sz="1800">
                <a:cs typeface="Arial"/>
              </a:rPr>
              <a:t>Delivery of Integrated Dev Plan</a:t>
            </a:r>
          </a:p>
          <a:p>
            <a:pPr marL="0" indent="0" defTabSz="914363">
              <a:buFont typeface="Wingdings" panose="05000000000000000000" pitchFamily="2" charset="2"/>
              <a:buNone/>
              <a:defRPr/>
            </a:pPr>
            <a:endParaRPr lang="en-US" sz="1800" u="sng"/>
          </a:p>
          <a:p>
            <a:pPr marL="0" indent="0" defTabSz="914363">
              <a:buFont typeface="Wingdings" panose="05000000000000000000" pitchFamily="2" charset="2"/>
              <a:buNone/>
              <a:defRPr/>
            </a:pPr>
            <a:r>
              <a:rPr lang="en-US" sz="1800"/>
              <a:t>PPM:</a:t>
            </a:r>
          </a:p>
          <a:p>
            <a:pPr defTabSz="914363">
              <a:defRPr/>
            </a:pPr>
            <a:r>
              <a:rPr lang="en-US" sz="1800"/>
              <a:t>Scope Planning</a:t>
            </a:r>
          </a:p>
          <a:p>
            <a:pPr defTabSz="914363">
              <a:defRPr/>
            </a:pPr>
            <a:r>
              <a:rPr lang="en-US" sz="1800"/>
              <a:t>Schedule Planning </a:t>
            </a:r>
          </a:p>
          <a:p>
            <a:pPr defTabSz="914363">
              <a:defRPr/>
            </a:pPr>
            <a:r>
              <a:rPr lang="en-US" sz="1800"/>
              <a:t>Milestone Management</a:t>
            </a:r>
          </a:p>
          <a:p>
            <a:pPr defTabSz="914363">
              <a:defRPr/>
            </a:pPr>
            <a:r>
              <a:rPr lang="en-US" sz="1800"/>
              <a:t>Trial Initiation and Management</a:t>
            </a:r>
          </a:p>
          <a:p>
            <a:pPr defTabSz="914363">
              <a:defRPr/>
            </a:pPr>
            <a:r>
              <a:rPr lang="en-US" sz="1800"/>
              <a:t>Budget Management</a:t>
            </a:r>
          </a:p>
          <a:p>
            <a:pPr defTabSz="914363">
              <a:defRPr/>
            </a:pPr>
            <a:r>
              <a:rPr lang="en-US" sz="1800"/>
              <a:t>Risk Evaluation</a:t>
            </a:r>
          </a:p>
          <a:p>
            <a:pPr marL="170815" indent="-170815" defTabSz="914363">
              <a:buFont typeface="Arial" panose="020B0604020202020204" pitchFamily="34" charset="0"/>
              <a:buChar char="•"/>
              <a:defRPr/>
            </a:pPr>
            <a:endParaRPr lang="en-US" sz="1800" b="1" u="sng">
              <a:solidFill>
                <a:schemeClr val="bg1">
                  <a:lumMod val="50000"/>
                </a:schemeClr>
              </a:solidFill>
              <a:latin typeface="Arial"/>
            </a:endParaRPr>
          </a:p>
          <a:p>
            <a:endParaRPr lang="en-US"/>
          </a:p>
        </p:txBody>
      </p:sp>
      <p:sp>
        <p:nvSpPr>
          <p:cNvPr id="27" name="Content Placeholder 21">
            <a:extLst>
              <a:ext uri="{FF2B5EF4-FFF2-40B4-BE49-F238E27FC236}">
                <a16:creationId xmlns:a16="http://schemas.microsoft.com/office/drawing/2014/main" id="{DA165956-7B9B-AB04-C0DC-695B4DA6F246}"/>
              </a:ext>
            </a:extLst>
          </p:cNvPr>
          <p:cNvSpPr txBox="1">
            <a:spLocks/>
          </p:cNvSpPr>
          <p:nvPr/>
        </p:nvSpPr>
        <p:spPr>
          <a:xfrm>
            <a:off x="8738647" y="2326640"/>
            <a:ext cx="3280528"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Clr>
                <a:srgbClr val="B95151"/>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B95151"/>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B95151"/>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B95151"/>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B95151"/>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14363">
              <a:buFont typeface="Wingdings" panose="05000000000000000000" pitchFamily="2" charset="2"/>
              <a:buNone/>
              <a:defRPr/>
            </a:pPr>
            <a:r>
              <a:rPr lang="en-US" sz="1800"/>
              <a:t>COO:</a:t>
            </a:r>
          </a:p>
          <a:p>
            <a:pPr defTabSz="914363">
              <a:defRPr/>
            </a:pPr>
            <a:r>
              <a:rPr lang="en-US" sz="1800">
                <a:cs typeface="Arial"/>
              </a:rPr>
              <a:t>Leads the Asset Team</a:t>
            </a:r>
          </a:p>
          <a:p>
            <a:pPr defTabSz="914363">
              <a:defRPr/>
            </a:pPr>
            <a:r>
              <a:rPr lang="en-US" sz="1800">
                <a:cs typeface="Arial"/>
              </a:rPr>
              <a:t>Enables the Asset Strategy</a:t>
            </a:r>
          </a:p>
          <a:p>
            <a:pPr defTabSz="914363">
              <a:defRPr/>
            </a:pPr>
            <a:r>
              <a:rPr lang="en-US" sz="1800">
                <a:cs typeface="Arial"/>
              </a:rPr>
              <a:t>Creation of Integrated Development Plan</a:t>
            </a:r>
          </a:p>
          <a:p>
            <a:pPr defTabSz="914363">
              <a:defRPr/>
            </a:pPr>
            <a:r>
              <a:rPr lang="en-US" sz="1800">
                <a:cs typeface="Arial"/>
              </a:rPr>
              <a:t>Delivery of Integrated Dev Plan</a:t>
            </a:r>
          </a:p>
          <a:p>
            <a:pPr marL="0" indent="0" defTabSz="914363">
              <a:buFont typeface="Wingdings" panose="05000000000000000000" pitchFamily="2" charset="2"/>
              <a:buNone/>
              <a:defRPr/>
            </a:pPr>
            <a:endParaRPr lang="en-US" sz="1800" u="sng"/>
          </a:p>
          <a:p>
            <a:pPr marL="0" indent="0" defTabSz="914363">
              <a:buFont typeface="Wingdings" panose="05000000000000000000" pitchFamily="2" charset="2"/>
              <a:buNone/>
              <a:defRPr/>
            </a:pPr>
            <a:r>
              <a:rPr lang="en-US" sz="1800"/>
              <a:t>PPM:</a:t>
            </a:r>
          </a:p>
          <a:p>
            <a:pPr defTabSz="914363">
              <a:defRPr/>
            </a:pPr>
            <a:r>
              <a:rPr lang="en-US" sz="1800"/>
              <a:t>Right to Operate activities (RTO)</a:t>
            </a:r>
          </a:p>
          <a:p>
            <a:pPr defTabSz="914363">
              <a:defRPr/>
            </a:pPr>
            <a:r>
              <a:rPr lang="en-US" sz="1800"/>
              <a:t>Risk Management</a:t>
            </a:r>
          </a:p>
          <a:p>
            <a:pPr defTabSz="914363">
              <a:defRPr/>
            </a:pPr>
            <a:r>
              <a:rPr lang="en-US" sz="1800"/>
              <a:t>Budget Management</a:t>
            </a:r>
          </a:p>
          <a:p>
            <a:pPr defTabSz="914363">
              <a:defRPr/>
            </a:pPr>
            <a:r>
              <a:rPr lang="en-US" sz="1800"/>
              <a:t>Line extensions/divestments</a:t>
            </a:r>
          </a:p>
          <a:p>
            <a:pPr defTabSz="914363">
              <a:defRPr/>
            </a:pPr>
            <a:r>
              <a:rPr lang="en-US" sz="1800"/>
              <a:t>Alliance Management</a:t>
            </a:r>
          </a:p>
          <a:p>
            <a:pPr defTabSz="914363">
              <a:defRPr/>
            </a:pPr>
            <a:r>
              <a:rPr lang="en-US" sz="1800"/>
              <a:t>Milestone Management</a:t>
            </a:r>
          </a:p>
          <a:p>
            <a:endParaRPr lang="en-US"/>
          </a:p>
        </p:txBody>
      </p:sp>
      <p:pic>
        <p:nvPicPr>
          <p:cNvPr id="29" name="Graphic 28" descr="Future with solid fill">
            <a:extLst>
              <a:ext uri="{FF2B5EF4-FFF2-40B4-BE49-F238E27FC236}">
                <a16:creationId xmlns:a16="http://schemas.microsoft.com/office/drawing/2014/main" id="{5B5A0740-ED0A-5F01-8E4E-9E49864456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54985" y="2234154"/>
            <a:ext cx="842732" cy="842732"/>
          </a:xfrm>
          <a:prstGeom prst="rect">
            <a:avLst/>
          </a:prstGeom>
        </p:spPr>
      </p:pic>
      <p:pic>
        <p:nvPicPr>
          <p:cNvPr id="31" name="Graphic 30" descr="Take Off with solid fill">
            <a:extLst>
              <a:ext uri="{FF2B5EF4-FFF2-40B4-BE49-F238E27FC236}">
                <a16:creationId xmlns:a16="http://schemas.microsoft.com/office/drawing/2014/main" id="{14C34A70-C58D-7878-53D2-D1DA1C0BE5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30825" y="5441950"/>
            <a:ext cx="914400" cy="914400"/>
          </a:xfrm>
          <a:prstGeom prst="rect">
            <a:avLst/>
          </a:prstGeom>
        </p:spPr>
      </p:pic>
      <p:pic>
        <p:nvPicPr>
          <p:cNvPr id="35" name="Graphic 34" descr="Germ with solid fill">
            <a:extLst>
              <a:ext uri="{FF2B5EF4-FFF2-40B4-BE49-F238E27FC236}">
                <a16:creationId xmlns:a16="http://schemas.microsoft.com/office/drawing/2014/main" id="{12375C93-8661-0747-878C-F420FAF202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87985" y="4088606"/>
            <a:ext cx="914400" cy="914400"/>
          </a:xfrm>
          <a:prstGeom prst="rect">
            <a:avLst/>
          </a:prstGeom>
        </p:spPr>
      </p:pic>
      <p:sp>
        <p:nvSpPr>
          <p:cNvPr id="36" name="Rectangle: Rounded Corners 35">
            <a:extLst>
              <a:ext uri="{FF2B5EF4-FFF2-40B4-BE49-F238E27FC236}">
                <a16:creationId xmlns:a16="http://schemas.microsoft.com/office/drawing/2014/main" id="{AD690AD4-31ED-1027-FCA4-3A61A6F8D722}"/>
              </a:ext>
            </a:extLst>
          </p:cNvPr>
          <p:cNvSpPr/>
          <p:nvPr/>
        </p:nvSpPr>
        <p:spPr>
          <a:xfrm>
            <a:off x="1046374" y="1573213"/>
            <a:ext cx="2582945" cy="594952"/>
          </a:xfrm>
          <a:prstGeom prst="roundRect">
            <a:avLst/>
          </a:prstGeom>
          <a:solidFill>
            <a:srgbClr val="B9515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Discovery/Early Phase:</a:t>
            </a:r>
          </a:p>
        </p:txBody>
      </p:sp>
      <p:sp>
        <p:nvSpPr>
          <p:cNvPr id="38" name="Rectangle: Rounded Corners 37">
            <a:extLst>
              <a:ext uri="{FF2B5EF4-FFF2-40B4-BE49-F238E27FC236}">
                <a16:creationId xmlns:a16="http://schemas.microsoft.com/office/drawing/2014/main" id="{B5C13A89-42D3-85F7-916E-0FE3482ADF93}"/>
              </a:ext>
            </a:extLst>
          </p:cNvPr>
          <p:cNvSpPr/>
          <p:nvPr/>
        </p:nvSpPr>
        <p:spPr>
          <a:xfrm>
            <a:off x="5049626" y="1573213"/>
            <a:ext cx="2582945" cy="594952"/>
          </a:xfrm>
          <a:prstGeom prst="roundRect">
            <a:avLst/>
          </a:prstGeom>
          <a:solidFill>
            <a:srgbClr val="B951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Late Phase</a:t>
            </a:r>
          </a:p>
        </p:txBody>
      </p:sp>
      <p:sp>
        <p:nvSpPr>
          <p:cNvPr id="39" name="Rectangle: Rounded Corners 38">
            <a:extLst>
              <a:ext uri="{FF2B5EF4-FFF2-40B4-BE49-F238E27FC236}">
                <a16:creationId xmlns:a16="http://schemas.microsoft.com/office/drawing/2014/main" id="{2FDB8EB2-844A-A65D-D885-E9C2C52AB7B1}"/>
              </a:ext>
            </a:extLst>
          </p:cNvPr>
          <p:cNvSpPr/>
          <p:nvPr/>
        </p:nvSpPr>
        <p:spPr>
          <a:xfrm>
            <a:off x="8877223" y="1558531"/>
            <a:ext cx="2582945" cy="594952"/>
          </a:xfrm>
          <a:prstGeom prst="roundRect">
            <a:avLst/>
          </a:prstGeom>
          <a:solidFill>
            <a:srgbClr val="B951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Legacy</a:t>
            </a:r>
          </a:p>
        </p:txBody>
      </p:sp>
    </p:spTree>
    <p:extLst>
      <p:ext uri="{BB962C8B-B14F-4D97-AF65-F5344CB8AC3E}">
        <p14:creationId xmlns:p14="http://schemas.microsoft.com/office/powerpoint/2010/main" val="520919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0263E1-4A14-4832-E62C-B5A6E4CCE39E}"/>
              </a:ext>
            </a:extLst>
          </p:cNvPr>
          <p:cNvSpPr/>
          <p:nvPr/>
        </p:nvSpPr>
        <p:spPr>
          <a:xfrm>
            <a:off x="45652" y="1449051"/>
            <a:ext cx="2528580" cy="5230914"/>
          </a:xfrm>
          <a:prstGeom prst="rect">
            <a:avLst/>
          </a:prstGeom>
          <a:solidFill>
            <a:srgbClr val="B95151"/>
          </a:solidFill>
          <a:ln w="25400" cap="flat" cmpd="sng" algn="ctr">
            <a:noFill/>
            <a:prstDash val="solid"/>
          </a:ln>
          <a:effectLst/>
        </p:spPr>
        <p:txBody>
          <a:bodyPr rtlCol="0" anchor="t"/>
          <a:lstStyle/>
          <a:p>
            <a:pPr algn="ctr">
              <a:defRPr/>
            </a:pPr>
            <a:r>
              <a:rPr lang="en-US" sz="1800" b="1" kern="0">
                <a:solidFill>
                  <a:schemeClr val="bg1"/>
                </a:solidFill>
                <a:latin typeface="Calibri"/>
              </a:rPr>
              <a:t>Discovery</a:t>
            </a:r>
            <a:endParaRPr lang="en-US" sz="1600" b="1" kern="0">
              <a:solidFill>
                <a:schemeClr val="bg1"/>
              </a:solidFill>
              <a:latin typeface="Calibri"/>
            </a:endParaRPr>
          </a:p>
          <a:p>
            <a:pPr algn="ctr">
              <a:defRPr/>
            </a:pPr>
            <a:r>
              <a:rPr lang="en-US" sz="1600" b="1" kern="0">
                <a:solidFill>
                  <a:schemeClr val="bg1"/>
                </a:solidFill>
                <a:latin typeface="Calibri"/>
              </a:rPr>
              <a:t>(PE – CS)</a:t>
            </a:r>
          </a:p>
        </p:txBody>
      </p:sp>
      <p:sp>
        <p:nvSpPr>
          <p:cNvPr id="74" name="Rectangle 73">
            <a:extLst>
              <a:ext uri="{FF2B5EF4-FFF2-40B4-BE49-F238E27FC236}">
                <a16:creationId xmlns:a16="http://schemas.microsoft.com/office/drawing/2014/main" id="{5BECF672-2D54-43E4-AFC5-3004109457D1}"/>
              </a:ext>
            </a:extLst>
          </p:cNvPr>
          <p:cNvSpPr/>
          <p:nvPr/>
        </p:nvSpPr>
        <p:spPr>
          <a:xfrm>
            <a:off x="5341375" y="1449051"/>
            <a:ext cx="1476075" cy="5250614"/>
          </a:xfrm>
          <a:prstGeom prst="rect">
            <a:avLst/>
          </a:prstGeom>
          <a:solidFill>
            <a:srgbClr val="DAA2A2"/>
          </a:solidFill>
          <a:ln w="25400" cap="flat" cmpd="sng" algn="ctr">
            <a:noFill/>
            <a:prstDash val="solid"/>
          </a:ln>
          <a:effectLst/>
        </p:spPr>
        <p:txBody>
          <a:bodyPr rtlCol="0" anchor="t"/>
          <a:lstStyle/>
          <a:p>
            <a:pPr algn="ctr">
              <a:defRPr/>
            </a:pPr>
            <a:r>
              <a:rPr lang="en-US" sz="1400" b="1" kern="0">
                <a:solidFill>
                  <a:schemeClr val="bg1"/>
                </a:solidFill>
                <a:latin typeface="Calibri"/>
              </a:rPr>
              <a:t>Transition from LRL to BU</a:t>
            </a:r>
          </a:p>
        </p:txBody>
      </p:sp>
      <p:sp>
        <p:nvSpPr>
          <p:cNvPr id="56" name="Rectangle 55">
            <a:extLst>
              <a:ext uri="{FF2B5EF4-FFF2-40B4-BE49-F238E27FC236}">
                <a16:creationId xmlns:a16="http://schemas.microsoft.com/office/drawing/2014/main" id="{9F532450-FC02-40A0-89BE-7F4183611E9B}"/>
              </a:ext>
            </a:extLst>
          </p:cNvPr>
          <p:cNvSpPr/>
          <p:nvPr/>
        </p:nvSpPr>
        <p:spPr>
          <a:xfrm>
            <a:off x="9581237" y="1395466"/>
            <a:ext cx="2479759" cy="5284499"/>
          </a:xfrm>
          <a:prstGeom prst="rect">
            <a:avLst/>
          </a:prstGeom>
          <a:solidFill>
            <a:srgbClr val="B95151"/>
          </a:solidFill>
          <a:ln w="25400" cap="flat" cmpd="sng" algn="ctr">
            <a:noFill/>
            <a:prstDash val="solid"/>
          </a:ln>
          <a:effectLst/>
        </p:spPr>
        <p:txBody>
          <a:bodyPr rtlCol="0" anchor="t"/>
          <a:lstStyle/>
          <a:p>
            <a:pPr algn="ctr">
              <a:defRPr/>
            </a:pPr>
            <a:r>
              <a:rPr lang="en-US" sz="1600" b="1" kern="0">
                <a:solidFill>
                  <a:schemeClr val="bg1"/>
                </a:solidFill>
                <a:latin typeface="Calibri"/>
                <a:cs typeface="Calibri"/>
              </a:rPr>
              <a:t>Post Launch/Legacy</a:t>
            </a:r>
          </a:p>
        </p:txBody>
      </p:sp>
      <p:sp>
        <p:nvSpPr>
          <p:cNvPr id="55" name="Rectangle 54">
            <a:extLst>
              <a:ext uri="{FF2B5EF4-FFF2-40B4-BE49-F238E27FC236}">
                <a16:creationId xmlns:a16="http://schemas.microsoft.com/office/drawing/2014/main" id="{4795CFAD-C998-4FA7-9733-D761569FB190}"/>
              </a:ext>
            </a:extLst>
          </p:cNvPr>
          <p:cNvSpPr/>
          <p:nvPr/>
        </p:nvSpPr>
        <p:spPr>
          <a:xfrm>
            <a:off x="7037033" y="1415167"/>
            <a:ext cx="2411248" cy="5284499"/>
          </a:xfrm>
          <a:prstGeom prst="rect">
            <a:avLst/>
          </a:prstGeom>
          <a:solidFill>
            <a:srgbClr val="B95151"/>
          </a:solidFill>
          <a:ln w="25400" cap="flat" cmpd="sng" algn="ctr">
            <a:noFill/>
            <a:prstDash val="solid"/>
          </a:ln>
          <a:effectLst/>
        </p:spPr>
        <p:txBody>
          <a:bodyPr rtlCol="0" anchor="t"/>
          <a:lstStyle/>
          <a:p>
            <a:pPr algn="ctr">
              <a:defRPr/>
            </a:pPr>
            <a:r>
              <a:rPr lang="en-US" sz="1600" b="1" kern="0">
                <a:solidFill>
                  <a:schemeClr val="bg1"/>
                </a:solidFill>
                <a:latin typeface="Calibri"/>
              </a:rPr>
              <a:t>Late Phase </a:t>
            </a:r>
          </a:p>
          <a:p>
            <a:pPr algn="ctr">
              <a:defRPr/>
            </a:pPr>
            <a:r>
              <a:rPr lang="en-US" sz="1600" b="1" kern="0">
                <a:solidFill>
                  <a:schemeClr val="bg1"/>
                </a:solidFill>
                <a:latin typeface="Calibri"/>
              </a:rPr>
              <a:t>(FRD-FL)</a:t>
            </a:r>
          </a:p>
        </p:txBody>
      </p:sp>
      <p:sp>
        <p:nvSpPr>
          <p:cNvPr id="8" name="Rectangle 7">
            <a:extLst>
              <a:ext uri="{FF2B5EF4-FFF2-40B4-BE49-F238E27FC236}">
                <a16:creationId xmlns:a16="http://schemas.microsoft.com/office/drawing/2014/main" id="{31038675-59E6-4D93-984C-48395ED5D66C}"/>
              </a:ext>
            </a:extLst>
          </p:cNvPr>
          <p:cNvSpPr/>
          <p:nvPr/>
        </p:nvSpPr>
        <p:spPr>
          <a:xfrm>
            <a:off x="2693943" y="1460815"/>
            <a:ext cx="2435500" cy="5230914"/>
          </a:xfrm>
          <a:prstGeom prst="rect">
            <a:avLst/>
          </a:prstGeom>
          <a:solidFill>
            <a:srgbClr val="B95151"/>
          </a:solidFill>
          <a:ln w="25400" cap="flat" cmpd="sng" algn="ctr">
            <a:noFill/>
            <a:prstDash val="solid"/>
          </a:ln>
          <a:effectLst/>
        </p:spPr>
        <p:txBody>
          <a:bodyPr rtlCol="0" anchor="t"/>
          <a:lstStyle/>
          <a:p>
            <a:pPr algn="ctr">
              <a:defRPr/>
            </a:pPr>
            <a:r>
              <a:rPr lang="en-US" sz="1600" b="1" kern="0">
                <a:solidFill>
                  <a:schemeClr val="bg1"/>
                </a:solidFill>
                <a:latin typeface="Calibri"/>
              </a:rPr>
              <a:t>Early Phase </a:t>
            </a:r>
          </a:p>
          <a:p>
            <a:pPr algn="ctr">
              <a:defRPr/>
            </a:pPr>
            <a:r>
              <a:rPr lang="en-US" sz="1600" b="1" kern="0">
                <a:solidFill>
                  <a:schemeClr val="bg1"/>
                </a:solidFill>
                <a:latin typeface="Calibri"/>
              </a:rPr>
              <a:t>(CS-FED)</a:t>
            </a:r>
          </a:p>
        </p:txBody>
      </p:sp>
      <p:sp>
        <p:nvSpPr>
          <p:cNvPr id="10" name="Rounded Rectangle 53">
            <a:extLst>
              <a:ext uri="{FF2B5EF4-FFF2-40B4-BE49-F238E27FC236}">
                <a16:creationId xmlns:a16="http://schemas.microsoft.com/office/drawing/2014/main" id="{D905E982-7439-4760-B128-79E045F069B2}"/>
              </a:ext>
            </a:extLst>
          </p:cNvPr>
          <p:cNvSpPr/>
          <p:nvPr/>
        </p:nvSpPr>
        <p:spPr>
          <a:xfrm>
            <a:off x="2685916" y="3167869"/>
            <a:ext cx="2394689" cy="213693"/>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Regulatory</a:t>
            </a:r>
          </a:p>
        </p:txBody>
      </p:sp>
      <p:sp>
        <p:nvSpPr>
          <p:cNvPr id="20" name="Rounded Rectangle 75">
            <a:extLst>
              <a:ext uri="{FF2B5EF4-FFF2-40B4-BE49-F238E27FC236}">
                <a16:creationId xmlns:a16="http://schemas.microsoft.com/office/drawing/2014/main" id="{462928F2-21F5-41BE-9B1F-458F83043467}"/>
              </a:ext>
            </a:extLst>
          </p:cNvPr>
          <p:cNvSpPr/>
          <p:nvPr/>
        </p:nvSpPr>
        <p:spPr>
          <a:xfrm>
            <a:off x="90044" y="2859020"/>
            <a:ext cx="11908277" cy="262556"/>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lIns="91440" tIns="45720" rIns="91440" bIns="45720" rtlCol="0" anchor="ctr"/>
          <a:lstStyle/>
          <a:p>
            <a:pPr algn="ctr">
              <a:defRPr/>
            </a:pPr>
            <a:r>
              <a:rPr lang="en-US" sz="1050" b="1" kern="0">
                <a:solidFill>
                  <a:prstClr val="black"/>
                </a:solidFill>
                <a:latin typeface="Calibri"/>
              </a:rPr>
              <a:t>                                                    Toxicology (Tox) /Absorption Distribution Metabolism and Expiration (ADME)/</a:t>
            </a:r>
            <a:r>
              <a:rPr lang="en-US" sz="1050" b="1" kern="0" err="1">
                <a:solidFill>
                  <a:prstClr val="black"/>
                </a:solidFill>
                <a:latin typeface="Calibri"/>
              </a:rPr>
              <a:t>Pharmakokinetics</a:t>
            </a:r>
            <a:r>
              <a:rPr lang="en-US" sz="1050" b="1" kern="0">
                <a:solidFill>
                  <a:prstClr val="black"/>
                </a:solidFill>
                <a:latin typeface="Calibri"/>
              </a:rPr>
              <a:t>/Product Delivery                                                       (RTO)</a:t>
            </a:r>
            <a:r>
              <a:rPr lang="en-US" sz="1050" b="1" i="1" kern="0">
                <a:solidFill>
                  <a:prstClr val="black"/>
                </a:solidFill>
                <a:latin typeface="Calibri"/>
              </a:rPr>
              <a:t> </a:t>
            </a:r>
            <a:endParaRPr lang="en-US" sz="1050" b="1" i="1" kern="0">
              <a:solidFill>
                <a:prstClr val="black"/>
              </a:solidFill>
              <a:latin typeface="Calibri"/>
              <a:cs typeface="Calibri"/>
            </a:endParaRPr>
          </a:p>
        </p:txBody>
      </p:sp>
      <p:sp>
        <p:nvSpPr>
          <p:cNvPr id="30" name="Rounded Rectangle 86">
            <a:extLst>
              <a:ext uri="{FF2B5EF4-FFF2-40B4-BE49-F238E27FC236}">
                <a16:creationId xmlns:a16="http://schemas.microsoft.com/office/drawing/2014/main" id="{B5C26EB9-19BE-44A9-85DB-F1FA7C552D29}"/>
              </a:ext>
            </a:extLst>
          </p:cNvPr>
          <p:cNvSpPr/>
          <p:nvPr/>
        </p:nvSpPr>
        <p:spPr>
          <a:xfrm>
            <a:off x="2541731" y="2044823"/>
            <a:ext cx="6948077" cy="346017"/>
          </a:xfrm>
          <a:prstGeom prst="roundRect">
            <a:avLst/>
          </a:prstGeom>
          <a:solidFill>
            <a:srgbClr val="4BACC6">
              <a:lumMod val="60000"/>
              <a:lumOff val="40000"/>
            </a:srgbClr>
          </a:solidFill>
          <a:ln w="28575" cap="flat" cmpd="sng" algn="ctr">
            <a:solidFill>
              <a:sysClr val="windowText" lastClr="000000"/>
            </a:solidFill>
            <a:prstDash val="solid"/>
          </a:ln>
          <a:effectLst/>
        </p:spPr>
        <p:txBody>
          <a:bodyPr rtlCol="0" anchor="ctr"/>
          <a:lstStyle/>
          <a:p>
            <a:pPr algn="ctr"/>
            <a:r>
              <a:rPr lang="en-US" sz="1200" b="1" kern="0">
                <a:solidFill>
                  <a:prstClr val="black"/>
                </a:solidFill>
                <a:latin typeface="Calibri"/>
              </a:rPr>
              <a:t>Pharmaceutical Project Manager</a:t>
            </a:r>
          </a:p>
        </p:txBody>
      </p:sp>
      <p:sp>
        <p:nvSpPr>
          <p:cNvPr id="31" name="Rounded Rectangle 87">
            <a:extLst>
              <a:ext uri="{FF2B5EF4-FFF2-40B4-BE49-F238E27FC236}">
                <a16:creationId xmlns:a16="http://schemas.microsoft.com/office/drawing/2014/main" id="{A8EEA210-D38B-4CD0-A79E-5697B40AE189}"/>
              </a:ext>
            </a:extLst>
          </p:cNvPr>
          <p:cNvSpPr/>
          <p:nvPr/>
        </p:nvSpPr>
        <p:spPr>
          <a:xfrm>
            <a:off x="2328109" y="2479678"/>
            <a:ext cx="2706088" cy="323084"/>
          </a:xfrm>
          <a:prstGeom prst="roundRect">
            <a:avLst/>
          </a:prstGeom>
          <a:solidFill>
            <a:srgbClr val="4BACC6">
              <a:lumMod val="60000"/>
              <a:lumOff val="40000"/>
            </a:srgbClr>
          </a:solidFill>
          <a:ln w="28575" cap="flat" cmpd="sng" algn="ctr">
            <a:solidFill>
              <a:sysClr val="windowText" lastClr="000000"/>
            </a:solidFill>
            <a:prstDash val="solid"/>
          </a:ln>
          <a:effectLst/>
        </p:spPr>
        <p:txBody>
          <a:bodyPr rtlCol="0" anchor="ctr"/>
          <a:lstStyle/>
          <a:p>
            <a:pPr algn="ctr">
              <a:defRPr/>
            </a:pPr>
            <a:r>
              <a:rPr lang="en-US" sz="1400" b="1" kern="0">
                <a:solidFill>
                  <a:prstClr val="black"/>
                </a:solidFill>
                <a:latin typeface="Calibri"/>
              </a:rPr>
              <a:t>Early Phase COO</a:t>
            </a:r>
          </a:p>
        </p:txBody>
      </p:sp>
      <p:sp>
        <p:nvSpPr>
          <p:cNvPr id="46" name="Rounded Rectangle 53">
            <a:extLst>
              <a:ext uri="{FF2B5EF4-FFF2-40B4-BE49-F238E27FC236}">
                <a16:creationId xmlns:a16="http://schemas.microsoft.com/office/drawing/2014/main" id="{1C58CA9F-639E-4A79-A281-9809AB5BA765}"/>
              </a:ext>
            </a:extLst>
          </p:cNvPr>
          <p:cNvSpPr/>
          <p:nvPr/>
        </p:nvSpPr>
        <p:spPr>
          <a:xfrm>
            <a:off x="3425968" y="3422494"/>
            <a:ext cx="1654637" cy="267390"/>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Clinical</a:t>
            </a:r>
          </a:p>
        </p:txBody>
      </p:sp>
      <p:sp>
        <p:nvSpPr>
          <p:cNvPr id="48" name="Rounded Rectangle 53">
            <a:extLst>
              <a:ext uri="{FF2B5EF4-FFF2-40B4-BE49-F238E27FC236}">
                <a16:creationId xmlns:a16="http://schemas.microsoft.com/office/drawing/2014/main" id="{759018D1-8FF1-4F9B-BA76-BF153F2818DB}"/>
              </a:ext>
            </a:extLst>
          </p:cNvPr>
          <p:cNvSpPr/>
          <p:nvPr/>
        </p:nvSpPr>
        <p:spPr>
          <a:xfrm>
            <a:off x="2705793" y="4003913"/>
            <a:ext cx="2394687" cy="206097"/>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Medical</a:t>
            </a:r>
          </a:p>
        </p:txBody>
      </p:sp>
      <p:sp>
        <p:nvSpPr>
          <p:cNvPr id="49" name="Rounded Rectangle 53">
            <a:extLst>
              <a:ext uri="{FF2B5EF4-FFF2-40B4-BE49-F238E27FC236}">
                <a16:creationId xmlns:a16="http://schemas.microsoft.com/office/drawing/2014/main" id="{CC4632CE-6289-4D0C-83FD-361862FFAE6C}"/>
              </a:ext>
            </a:extLst>
          </p:cNvPr>
          <p:cNvSpPr/>
          <p:nvPr/>
        </p:nvSpPr>
        <p:spPr>
          <a:xfrm>
            <a:off x="2705793" y="3734091"/>
            <a:ext cx="2394688" cy="213694"/>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Stats</a:t>
            </a:r>
          </a:p>
        </p:txBody>
      </p:sp>
      <p:sp>
        <p:nvSpPr>
          <p:cNvPr id="51" name="Rounded Rectangle 53">
            <a:extLst>
              <a:ext uri="{FF2B5EF4-FFF2-40B4-BE49-F238E27FC236}">
                <a16:creationId xmlns:a16="http://schemas.microsoft.com/office/drawing/2014/main" id="{D1E99850-9EA1-48F6-82AC-82F1ED58FCA6}"/>
              </a:ext>
            </a:extLst>
          </p:cNvPr>
          <p:cNvSpPr/>
          <p:nvPr/>
        </p:nvSpPr>
        <p:spPr>
          <a:xfrm>
            <a:off x="6995880" y="3442141"/>
            <a:ext cx="4943999" cy="231093"/>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Clinical</a:t>
            </a:r>
          </a:p>
        </p:txBody>
      </p:sp>
      <p:sp>
        <p:nvSpPr>
          <p:cNvPr id="53" name="Rounded Rectangle 53">
            <a:extLst>
              <a:ext uri="{FF2B5EF4-FFF2-40B4-BE49-F238E27FC236}">
                <a16:creationId xmlns:a16="http://schemas.microsoft.com/office/drawing/2014/main" id="{AB1C3123-844D-462F-8653-3B1E5D65C9AE}"/>
              </a:ext>
            </a:extLst>
          </p:cNvPr>
          <p:cNvSpPr/>
          <p:nvPr/>
        </p:nvSpPr>
        <p:spPr>
          <a:xfrm>
            <a:off x="6995880" y="3172091"/>
            <a:ext cx="4978793" cy="214730"/>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Regulatory</a:t>
            </a:r>
          </a:p>
        </p:txBody>
      </p:sp>
      <p:sp>
        <p:nvSpPr>
          <p:cNvPr id="58" name="Rounded Rectangle 87">
            <a:extLst>
              <a:ext uri="{FF2B5EF4-FFF2-40B4-BE49-F238E27FC236}">
                <a16:creationId xmlns:a16="http://schemas.microsoft.com/office/drawing/2014/main" id="{34B65D4E-2C71-4943-A32A-C91C8F8BA66F}"/>
              </a:ext>
            </a:extLst>
          </p:cNvPr>
          <p:cNvSpPr/>
          <p:nvPr/>
        </p:nvSpPr>
        <p:spPr>
          <a:xfrm>
            <a:off x="5341375" y="2464772"/>
            <a:ext cx="6613506" cy="332162"/>
          </a:xfrm>
          <a:prstGeom prst="roundRect">
            <a:avLst/>
          </a:prstGeom>
          <a:solidFill>
            <a:srgbClr val="4BACC6">
              <a:lumMod val="60000"/>
              <a:lumOff val="40000"/>
            </a:srgbClr>
          </a:solidFill>
          <a:ln w="28575" cap="flat" cmpd="sng" algn="ctr">
            <a:solidFill>
              <a:sysClr val="windowText" lastClr="000000"/>
            </a:solidFill>
            <a:prstDash val="solid"/>
          </a:ln>
          <a:effectLst/>
        </p:spPr>
        <p:txBody>
          <a:bodyPr rtlCol="0" anchor="ctr"/>
          <a:lstStyle/>
          <a:p>
            <a:pPr algn="ctr">
              <a:defRPr/>
            </a:pPr>
            <a:r>
              <a:rPr lang="en-US" sz="1400" b="1" kern="0">
                <a:solidFill>
                  <a:prstClr val="black"/>
                </a:solidFill>
                <a:latin typeface="Calibri"/>
              </a:rPr>
              <a:t>Late Phase COO</a:t>
            </a:r>
          </a:p>
        </p:txBody>
      </p:sp>
      <p:sp>
        <p:nvSpPr>
          <p:cNvPr id="60" name="Rounded Rectangle 53">
            <a:extLst>
              <a:ext uri="{FF2B5EF4-FFF2-40B4-BE49-F238E27FC236}">
                <a16:creationId xmlns:a16="http://schemas.microsoft.com/office/drawing/2014/main" id="{2303F052-446D-4BCC-B362-AAC4D6D0C365}"/>
              </a:ext>
            </a:extLst>
          </p:cNvPr>
          <p:cNvSpPr/>
          <p:nvPr/>
        </p:nvSpPr>
        <p:spPr>
          <a:xfrm>
            <a:off x="6996089" y="3730118"/>
            <a:ext cx="4942562" cy="236992"/>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lIns="91440" tIns="45720" rIns="91440" bIns="45720" rtlCol="0" anchor="ctr"/>
          <a:lstStyle/>
          <a:p>
            <a:pPr algn="ctr">
              <a:defRPr/>
            </a:pPr>
            <a:r>
              <a:rPr lang="en-US" sz="1050" b="1" kern="0">
                <a:solidFill>
                  <a:prstClr val="black"/>
                </a:solidFill>
                <a:latin typeface="Calibri"/>
              </a:rPr>
              <a:t>                                Stats </a:t>
            </a:r>
            <a:r>
              <a:rPr lang="en-US" sz="1100" b="1" i="1" kern="0">
                <a:solidFill>
                  <a:prstClr val="black"/>
                </a:solidFill>
                <a:latin typeface="Calibri"/>
              </a:rPr>
              <a:t>                                                    </a:t>
            </a:r>
            <a:r>
              <a:rPr lang="en-US" sz="1000" b="1" i="1" kern="0">
                <a:solidFill>
                  <a:prstClr val="black"/>
                </a:solidFill>
                <a:latin typeface="Calibri"/>
              </a:rPr>
              <a:t> (RTO support only)</a:t>
            </a:r>
            <a:endParaRPr lang="en-US" sz="1000" b="1" i="1" kern="0">
              <a:solidFill>
                <a:prstClr val="black"/>
              </a:solidFill>
              <a:cs typeface="Calibri"/>
            </a:endParaRPr>
          </a:p>
        </p:txBody>
      </p:sp>
      <p:sp>
        <p:nvSpPr>
          <p:cNvPr id="61" name="Rounded Rectangle 53">
            <a:extLst>
              <a:ext uri="{FF2B5EF4-FFF2-40B4-BE49-F238E27FC236}">
                <a16:creationId xmlns:a16="http://schemas.microsoft.com/office/drawing/2014/main" id="{601F35A3-554B-4358-808D-F7D28A099DB7}"/>
              </a:ext>
            </a:extLst>
          </p:cNvPr>
          <p:cNvSpPr/>
          <p:nvPr/>
        </p:nvSpPr>
        <p:spPr>
          <a:xfrm>
            <a:off x="6985740" y="4008255"/>
            <a:ext cx="4986444" cy="197412"/>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Medical</a:t>
            </a:r>
          </a:p>
        </p:txBody>
      </p:sp>
      <p:sp>
        <p:nvSpPr>
          <p:cNvPr id="62" name="Rounded Rectangle 53">
            <a:extLst>
              <a:ext uri="{FF2B5EF4-FFF2-40B4-BE49-F238E27FC236}">
                <a16:creationId xmlns:a16="http://schemas.microsoft.com/office/drawing/2014/main" id="{1249A14A-2230-409E-984D-11601DD83B8E}"/>
              </a:ext>
            </a:extLst>
          </p:cNvPr>
          <p:cNvSpPr/>
          <p:nvPr/>
        </p:nvSpPr>
        <p:spPr>
          <a:xfrm>
            <a:off x="16123" y="4263739"/>
            <a:ext cx="5064482" cy="261639"/>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lIns="91440" tIns="45720" rIns="91440" bIns="45720" rtlCol="0" anchor="ctr"/>
          <a:lstStyle/>
          <a:p>
            <a:pPr algn="ctr">
              <a:defRPr/>
            </a:pPr>
            <a:r>
              <a:rPr lang="en-US" sz="1050" b="1" kern="0">
                <a:solidFill>
                  <a:prstClr val="black"/>
                </a:solidFill>
                <a:latin typeface="Calibri"/>
              </a:rPr>
              <a:t>Chemistry Manufacturing and Control (CMC)</a:t>
            </a:r>
          </a:p>
        </p:txBody>
      </p:sp>
      <p:sp>
        <p:nvSpPr>
          <p:cNvPr id="63" name="Rounded Rectangle 53">
            <a:extLst>
              <a:ext uri="{FF2B5EF4-FFF2-40B4-BE49-F238E27FC236}">
                <a16:creationId xmlns:a16="http://schemas.microsoft.com/office/drawing/2014/main" id="{EDEA80A3-3B4C-40BE-9158-D7EFA21DDBE4}"/>
              </a:ext>
            </a:extLst>
          </p:cNvPr>
          <p:cNvSpPr/>
          <p:nvPr/>
        </p:nvSpPr>
        <p:spPr>
          <a:xfrm>
            <a:off x="2746973" y="4567095"/>
            <a:ext cx="5784404" cy="185641"/>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Design Hub</a:t>
            </a:r>
          </a:p>
        </p:txBody>
      </p:sp>
      <p:sp>
        <p:nvSpPr>
          <p:cNvPr id="64" name="Rounded Rectangle 53">
            <a:extLst>
              <a:ext uri="{FF2B5EF4-FFF2-40B4-BE49-F238E27FC236}">
                <a16:creationId xmlns:a16="http://schemas.microsoft.com/office/drawing/2014/main" id="{DB379A0A-DA05-44D9-8A53-797887E2652F}"/>
              </a:ext>
            </a:extLst>
          </p:cNvPr>
          <p:cNvSpPr/>
          <p:nvPr/>
        </p:nvSpPr>
        <p:spPr>
          <a:xfrm>
            <a:off x="6992744" y="4266207"/>
            <a:ext cx="4990538" cy="223390"/>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CMC</a:t>
            </a:r>
          </a:p>
        </p:txBody>
      </p:sp>
      <p:sp>
        <p:nvSpPr>
          <p:cNvPr id="65" name="Rounded Rectangle 53">
            <a:extLst>
              <a:ext uri="{FF2B5EF4-FFF2-40B4-BE49-F238E27FC236}">
                <a16:creationId xmlns:a16="http://schemas.microsoft.com/office/drawing/2014/main" id="{BD83520E-395B-4501-BF24-ABC48D7FF106}"/>
              </a:ext>
            </a:extLst>
          </p:cNvPr>
          <p:cNvSpPr/>
          <p:nvPr/>
        </p:nvSpPr>
        <p:spPr>
          <a:xfrm>
            <a:off x="2742522" y="4790551"/>
            <a:ext cx="2328140" cy="206938"/>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lIns="91440" tIns="45720" rIns="91440" bIns="45720" rtlCol="0" anchor="ctr"/>
          <a:lstStyle/>
          <a:p>
            <a:pPr algn="ctr">
              <a:defRPr/>
            </a:pPr>
            <a:r>
              <a:rPr lang="en-US" sz="1050" b="1" kern="0">
                <a:solidFill>
                  <a:prstClr val="black"/>
                </a:solidFill>
                <a:latin typeface="Calibri"/>
              </a:rPr>
              <a:t>Global Patient Safety (GPS)</a:t>
            </a:r>
          </a:p>
        </p:txBody>
      </p:sp>
      <p:sp>
        <p:nvSpPr>
          <p:cNvPr id="66" name="Rounded Rectangle 53">
            <a:extLst>
              <a:ext uri="{FF2B5EF4-FFF2-40B4-BE49-F238E27FC236}">
                <a16:creationId xmlns:a16="http://schemas.microsoft.com/office/drawing/2014/main" id="{E560EA04-FE04-4C4E-BB64-9B518E4C3C6F}"/>
              </a:ext>
            </a:extLst>
          </p:cNvPr>
          <p:cNvSpPr/>
          <p:nvPr/>
        </p:nvSpPr>
        <p:spPr>
          <a:xfrm>
            <a:off x="6985740" y="4800319"/>
            <a:ext cx="4986444" cy="185642"/>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GPS</a:t>
            </a:r>
          </a:p>
        </p:txBody>
      </p:sp>
      <p:sp>
        <p:nvSpPr>
          <p:cNvPr id="67" name="Rounded Rectangle 53">
            <a:extLst>
              <a:ext uri="{FF2B5EF4-FFF2-40B4-BE49-F238E27FC236}">
                <a16:creationId xmlns:a16="http://schemas.microsoft.com/office/drawing/2014/main" id="{B5D8BD6F-0192-47D8-B9C9-640EFC8614C5}"/>
              </a:ext>
            </a:extLst>
          </p:cNvPr>
          <p:cNvSpPr/>
          <p:nvPr/>
        </p:nvSpPr>
        <p:spPr>
          <a:xfrm>
            <a:off x="7703505" y="5835084"/>
            <a:ext cx="4268679" cy="218064"/>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Med Affairs</a:t>
            </a:r>
          </a:p>
        </p:txBody>
      </p:sp>
      <p:sp>
        <p:nvSpPr>
          <p:cNvPr id="68" name="Rounded Rectangle 53">
            <a:extLst>
              <a:ext uri="{FF2B5EF4-FFF2-40B4-BE49-F238E27FC236}">
                <a16:creationId xmlns:a16="http://schemas.microsoft.com/office/drawing/2014/main" id="{4DAD39EC-79ED-470D-AB2D-BBDFF47D33B3}"/>
              </a:ext>
            </a:extLst>
          </p:cNvPr>
          <p:cNvSpPr/>
          <p:nvPr/>
        </p:nvSpPr>
        <p:spPr>
          <a:xfrm>
            <a:off x="7795363" y="5561294"/>
            <a:ext cx="4176820" cy="261233"/>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Marketing</a:t>
            </a:r>
          </a:p>
        </p:txBody>
      </p:sp>
      <p:sp>
        <p:nvSpPr>
          <p:cNvPr id="69" name="Rounded Rectangle 53">
            <a:extLst>
              <a:ext uri="{FF2B5EF4-FFF2-40B4-BE49-F238E27FC236}">
                <a16:creationId xmlns:a16="http://schemas.microsoft.com/office/drawing/2014/main" id="{36F58248-C7C0-4CC2-A13F-1F066668D220}"/>
              </a:ext>
            </a:extLst>
          </p:cNvPr>
          <p:cNvSpPr/>
          <p:nvPr/>
        </p:nvSpPr>
        <p:spPr>
          <a:xfrm>
            <a:off x="64060" y="5557771"/>
            <a:ext cx="7690359" cy="246173"/>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lIns="91440" tIns="45720" rIns="91440" bIns="45720" rtlCol="0" anchor="ctr"/>
          <a:lstStyle/>
          <a:p>
            <a:pPr algn="ctr">
              <a:defRPr/>
            </a:pPr>
            <a:r>
              <a:rPr lang="en-US" sz="1050" b="1" kern="0">
                <a:solidFill>
                  <a:prstClr val="black"/>
                </a:solidFill>
                <a:latin typeface="Calibri"/>
              </a:rPr>
              <a:t>New Product Planning (NPP)</a:t>
            </a:r>
          </a:p>
        </p:txBody>
      </p:sp>
      <p:sp>
        <p:nvSpPr>
          <p:cNvPr id="71" name="Rounded Rectangle 53">
            <a:extLst>
              <a:ext uri="{FF2B5EF4-FFF2-40B4-BE49-F238E27FC236}">
                <a16:creationId xmlns:a16="http://schemas.microsoft.com/office/drawing/2014/main" id="{D16B56FB-79E1-4138-913C-090585BE0F6D}"/>
              </a:ext>
            </a:extLst>
          </p:cNvPr>
          <p:cNvSpPr/>
          <p:nvPr/>
        </p:nvSpPr>
        <p:spPr>
          <a:xfrm>
            <a:off x="25014" y="5048227"/>
            <a:ext cx="5045647" cy="171156"/>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Finance</a:t>
            </a:r>
          </a:p>
        </p:txBody>
      </p:sp>
      <p:sp>
        <p:nvSpPr>
          <p:cNvPr id="72" name="Rounded Rectangle 53">
            <a:extLst>
              <a:ext uri="{FF2B5EF4-FFF2-40B4-BE49-F238E27FC236}">
                <a16:creationId xmlns:a16="http://schemas.microsoft.com/office/drawing/2014/main" id="{8C380559-CD5C-4B21-B21D-F8E98D9E1005}"/>
              </a:ext>
            </a:extLst>
          </p:cNvPr>
          <p:cNvSpPr/>
          <p:nvPr/>
        </p:nvSpPr>
        <p:spPr>
          <a:xfrm>
            <a:off x="6985739" y="5009256"/>
            <a:ext cx="4962888" cy="245293"/>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Finance</a:t>
            </a:r>
          </a:p>
        </p:txBody>
      </p:sp>
      <p:sp>
        <p:nvSpPr>
          <p:cNvPr id="73" name="Rounded Rectangle 53">
            <a:extLst>
              <a:ext uri="{FF2B5EF4-FFF2-40B4-BE49-F238E27FC236}">
                <a16:creationId xmlns:a16="http://schemas.microsoft.com/office/drawing/2014/main" id="{47C787BA-7691-4C0A-A5DA-1526C393EA35}"/>
              </a:ext>
            </a:extLst>
          </p:cNvPr>
          <p:cNvSpPr/>
          <p:nvPr/>
        </p:nvSpPr>
        <p:spPr>
          <a:xfrm>
            <a:off x="6985740" y="6111474"/>
            <a:ext cx="4986444" cy="218066"/>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lIns="91440" tIns="45720" rIns="91440" bIns="45720" rtlCol="0" anchor="ctr"/>
          <a:lstStyle/>
          <a:p>
            <a:pPr algn="ctr">
              <a:defRPr/>
            </a:pPr>
            <a:r>
              <a:rPr lang="en-US" sz="1050" b="1" kern="0">
                <a:solidFill>
                  <a:prstClr val="black"/>
                </a:solidFill>
                <a:latin typeface="Calibri"/>
              </a:rPr>
              <a:t>Value Evidence Outcomes (VEO)</a:t>
            </a:r>
          </a:p>
        </p:txBody>
      </p:sp>
      <p:sp>
        <p:nvSpPr>
          <p:cNvPr id="38" name="Rounded Rectangle 53">
            <a:extLst>
              <a:ext uri="{FF2B5EF4-FFF2-40B4-BE49-F238E27FC236}">
                <a16:creationId xmlns:a16="http://schemas.microsoft.com/office/drawing/2014/main" id="{A9775491-E508-4699-9C6C-43612A2D1B83}"/>
              </a:ext>
            </a:extLst>
          </p:cNvPr>
          <p:cNvSpPr/>
          <p:nvPr/>
        </p:nvSpPr>
        <p:spPr>
          <a:xfrm>
            <a:off x="2743719" y="5270121"/>
            <a:ext cx="9228277" cy="249663"/>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lIns="91440" tIns="45720" rIns="91440" bIns="45720" rtlCol="0" anchor="ctr"/>
          <a:lstStyle/>
          <a:p>
            <a:pPr algn="ctr">
              <a:defRPr/>
            </a:pPr>
            <a:r>
              <a:rPr lang="en-US" sz="1050" b="1" kern="0">
                <a:solidFill>
                  <a:prstClr val="black"/>
                </a:solidFill>
                <a:latin typeface="Calibri"/>
              </a:rPr>
              <a:t>                                                                                                                      Exploratory Medicine and Pharmacology (EMP)    </a:t>
            </a:r>
            <a:r>
              <a:rPr lang="en-US" sz="1100" b="1" i="1" kern="0">
                <a:solidFill>
                  <a:prstClr val="black"/>
                </a:solidFill>
                <a:latin typeface="Calibri"/>
              </a:rPr>
              <a:t>                                                             </a:t>
            </a:r>
            <a:r>
              <a:rPr lang="en-US" sz="1000" b="1" i="1" kern="0">
                <a:solidFill>
                  <a:prstClr val="black"/>
                </a:solidFill>
                <a:latin typeface="Calibri"/>
              </a:rPr>
              <a:t> (RTO support only)</a:t>
            </a:r>
            <a:endParaRPr lang="en-US" sz="1000" b="1" kern="0">
              <a:solidFill>
                <a:prstClr val="black"/>
              </a:solidFill>
              <a:latin typeface="Calibri"/>
              <a:cs typeface="Calibri"/>
            </a:endParaRPr>
          </a:p>
        </p:txBody>
      </p:sp>
      <p:sp>
        <p:nvSpPr>
          <p:cNvPr id="4" name="Title 3">
            <a:extLst>
              <a:ext uri="{FF2B5EF4-FFF2-40B4-BE49-F238E27FC236}">
                <a16:creationId xmlns:a16="http://schemas.microsoft.com/office/drawing/2014/main" id="{1F5C0C47-F934-4FA9-B468-6953A8D65976}"/>
              </a:ext>
            </a:extLst>
          </p:cNvPr>
          <p:cNvSpPr>
            <a:spLocks noGrp="1"/>
          </p:cNvSpPr>
          <p:nvPr>
            <p:ph type="title"/>
          </p:nvPr>
        </p:nvSpPr>
        <p:spPr>
          <a:xfrm>
            <a:off x="474987" y="120716"/>
            <a:ext cx="10972800" cy="731557"/>
          </a:xfrm>
        </p:spPr>
        <p:txBody>
          <a:bodyPr/>
          <a:lstStyle/>
          <a:p>
            <a:r>
              <a:rPr lang="en-US" b="1"/>
              <a:t>Roles in the Development Process</a:t>
            </a:r>
          </a:p>
        </p:txBody>
      </p:sp>
      <p:sp>
        <p:nvSpPr>
          <p:cNvPr id="36" name="Slide Number Placeholder 5">
            <a:extLst>
              <a:ext uri="{FF2B5EF4-FFF2-40B4-BE49-F238E27FC236}">
                <a16:creationId xmlns:a16="http://schemas.microsoft.com/office/drawing/2014/main" id="{68934FDC-AD40-41C1-A17B-50CB58EFBE12}"/>
              </a:ext>
            </a:extLst>
          </p:cNvPr>
          <p:cNvSpPr>
            <a:spLocks noGrp="1"/>
          </p:cNvSpPr>
          <p:nvPr>
            <p:ph type="sldNum" sz="quarter" idx="12"/>
          </p:nvPr>
        </p:nvSpPr>
        <p:spPr>
          <a:xfrm>
            <a:off x="10010131" y="6356350"/>
            <a:ext cx="2743200" cy="365125"/>
          </a:xfrm>
        </p:spPr>
        <p:txBody>
          <a:bodyPr>
            <a:normAutofit/>
          </a:bodyPr>
          <a:lstStyle/>
          <a:p>
            <a:pPr>
              <a:spcAft>
                <a:spcPts val="600"/>
              </a:spcAft>
              <a:defRPr/>
            </a:pPr>
            <a:fld id="{D6E4A9EC-2F93-AA4A-8BF5-70DF04282848}" type="slidenum">
              <a:rPr lang="en-US" sz="1100">
                <a:solidFill>
                  <a:srgbClr val="898989"/>
                </a:solidFill>
              </a:rPr>
              <a:pPr>
                <a:spcAft>
                  <a:spcPts val="600"/>
                </a:spcAft>
                <a:defRPr/>
              </a:pPr>
              <a:t>39</a:t>
            </a:fld>
            <a:endParaRPr lang="en-US" sz="1100">
              <a:solidFill>
                <a:srgbClr val="898989"/>
              </a:solidFill>
            </a:endParaRPr>
          </a:p>
        </p:txBody>
      </p:sp>
      <p:sp>
        <p:nvSpPr>
          <p:cNvPr id="37" name="Rounded Rectangle 87">
            <a:extLst>
              <a:ext uri="{FF2B5EF4-FFF2-40B4-BE49-F238E27FC236}">
                <a16:creationId xmlns:a16="http://schemas.microsoft.com/office/drawing/2014/main" id="{C3D67286-3CAD-4D74-B4B8-F51E9D12906F}"/>
              </a:ext>
            </a:extLst>
          </p:cNvPr>
          <p:cNvSpPr/>
          <p:nvPr/>
        </p:nvSpPr>
        <p:spPr>
          <a:xfrm>
            <a:off x="6995830" y="6377002"/>
            <a:ext cx="4987503" cy="237777"/>
          </a:xfrm>
          <a:prstGeom prst="roundRect">
            <a:avLst/>
          </a:prstGeom>
          <a:solidFill>
            <a:srgbClr val="4BACC6">
              <a:lumMod val="60000"/>
              <a:lumOff val="40000"/>
            </a:srgbClr>
          </a:solidFill>
          <a:ln w="28575" cap="flat" cmpd="sng" algn="ctr">
            <a:solidFill>
              <a:sysClr val="windowText" lastClr="000000"/>
            </a:solidFill>
            <a:prstDash val="solid"/>
          </a:ln>
          <a:effectLst/>
        </p:spPr>
        <p:txBody>
          <a:bodyPr lIns="91440" tIns="45720" rIns="91440" bIns="45720" rtlCol="0" anchor="ctr"/>
          <a:lstStyle/>
          <a:p>
            <a:pPr algn="ctr">
              <a:defRPr/>
            </a:pPr>
            <a:r>
              <a:rPr lang="en-US" sz="1400" b="1" kern="0">
                <a:latin typeface="Calibri"/>
              </a:rPr>
              <a:t>Submission and Approval Expert Network (SAEN)</a:t>
            </a:r>
            <a:endParaRPr lang="en-US" sz="1500"/>
          </a:p>
        </p:txBody>
      </p:sp>
      <p:sp>
        <p:nvSpPr>
          <p:cNvPr id="39" name="Rounded Rectangle 86">
            <a:extLst>
              <a:ext uri="{FF2B5EF4-FFF2-40B4-BE49-F238E27FC236}">
                <a16:creationId xmlns:a16="http://schemas.microsoft.com/office/drawing/2014/main" id="{C5B2C84A-2F2D-4942-B3F5-7EE8CD545B21}"/>
              </a:ext>
            </a:extLst>
          </p:cNvPr>
          <p:cNvSpPr/>
          <p:nvPr/>
        </p:nvSpPr>
        <p:spPr>
          <a:xfrm>
            <a:off x="73931" y="2044823"/>
            <a:ext cx="2494134" cy="337415"/>
          </a:xfrm>
          <a:prstGeom prst="roundRect">
            <a:avLst/>
          </a:prstGeom>
          <a:solidFill>
            <a:srgbClr val="4BACC6">
              <a:lumMod val="60000"/>
              <a:lumOff val="40000"/>
            </a:srgbClr>
          </a:solidFill>
          <a:ln w="28575" cap="flat" cmpd="sng" algn="ctr">
            <a:solidFill>
              <a:sysClr val="windowText" lastClr="000000"/>
            </a:solidFill>
            <a:prstDash val="solid"/>
          </a:ln>
          <a:effectLst/>
        </p:spPr>
        <p:txBody>
          <a:bodyPr rtlCol="0" anchor="ctr"/>
          <a:lstStyle/>
          <a:p>
            <a:pPr algn="ctr">
              <a:defRPr/>
            </a:pPr>
            <a:r>
              <a:rPr lang="en-US" sz="1200" b="1" kern="0">
                <a:solidFill>
                  <a:prstClr val="black"/>
                </a:solidFill>
                <a:latin typeface="Calibri"/>
              </a:rPr>
              <a:t>Discovery PPM</a:t>
            </a:r>
          </a:p>
        </p:txBody>
      </p:sp>
      <p:sp>
        <p:nvSpPr>
          <p:cNvPr id="5" name="Rounded Rectangle 87">
            <a:extLst>
              <a:ext uri="{FF2B5EF4-FFF2-40B4-BE49-F238E27FC236}">
                <a16:creationId xmlns:a16="http://schemas.microsoft.com/office/drawing/2014/main" id="{44CAF607-E030-5BA2-25D0-65975053AF6A}"/>
              </a:ext>
            </a:extLst>
          </p:cNvPr>
          <p:cNvSpPr/>
          <p:nvPr/>
        </p:nvSpPr>
        <p:spPr>
          <a:xfrm>
            <a:off x="73006" y="2465824"/>
            <a:ext cx="2507537" cy="372726"/>
          </a:xfrm>
          <a:prstGeom prst="roundRect">
            <a:avLst/>
          </a:prstGeom>
          <a:solidFill>
            <a:srgbClr val="4BACC6">
              <a:lumMod val="60000"/>
              <a:lumOff val="40000"/>
            </a:srgbClr>
          </a:solidFill>
          <a:ln w="28575" cap="flat" cmpd="sng" algn="ctr">
            <a:solidFill>
              <a:sysClr val="windowText" lastClr="000000"/>
            </a:solidFill>
            <a:prstDash val="solid"/>
          </a:ln>
          <a:effectLst/>
        </p:spPr>
        <p:txBody>
          <a:bodyPr rtlCol="0" anchor="ctr"/>
          <a:lstStyle/>
          <a:p>
            <a:pPr algn="ctr">
              <a:defRPr/>
            </a:pPr>
            <a:r>
              <a:rPr lang="en-US" sz="1200" b="1" kern="0">
                <a:solidFill>
                  <a:prstClr val="black"/>
                </a:solidFill>
                <a:latin typeface="Calibri"/>
              </a:rPr>
              <a:t>Discovery COO</a:t>
            </a:r>
          </a:p>
        </p:txBody>
      </p:sp>
      <p:sp>
        <p:nvSpPr>
          <p:cNvPr id="7" name="Rounded Rectangle 53">
            <a:extLst>
              <a:ext uri="{FF2B5EF4-FFF2-40B4-BE49-F238E27FC236}">
                <a16:creationId xmlns:a16="http://schemas.microsoft.com/office/drawing/2014/main" id="{D8C0E19C-52A7-CB96-1B35-58CA2ACA555B}"/>
              </a:ext>
            </a:extLst>
          </p:cNvPr>
          <p:cNvSpPr/>
          <p:nvPr/>
        </p:nvSpPr>
        <p:spPr>
          <a:xfrm>
            <a:off x="64060" y="3330306"/>
            <a:ext cx="2451244" cy="365125"/>
          </a:xfrm>
          <a:prstGeom prst="roundRect">
            <a:avLst/>
          </a:prstGeom>
          <a:solidFill>
            <a:srgbClr val="4BACC6">
              <a:lumMod val="60000"/>
              <a:lumOff val="40000"/>
            </a:srgbClr>
          </a:solidFill>
          <a:ln w="25400" cap="flat" cmpd="sng" algn="ctr">
            <a:solidFill>
              <a:sysClr val="windowText" lastClr="000000"/>
            </a:solidFill>
            <a:prstDash val="solid"/>
          </a:ln>
          <a:effectLst/>
        </p:spPr>
        <p:txBody>
          <a:bodyPr rtlCol="0" anchor="ctr"/>
          <a:lstStyle/>
          <a:p>
            <a:pPr algn="ctr">
              <a:defRPr/>
            </a:pPr>
            <a:r>
              <a:rPr lang="en-US" sz="1050" b="1" kern="0">
                <a:solidFill>
                  <a:prstClr val="black"/>
                </a:solidFill>
                <a:latin typeface="Calibri"/>
              </a:rPr>
              <a:t>Clinical (consult)</a:t>
            </a:r>
          </a:p>
        </p:txBody>
      </p:sp>
      <p:sp>
        <p:nvSpPr>
          <p:cNvPr id="6" name="Rounded Rectangle 86">
            <a:extLst>
              <a:ext uri="{FF2B5EF4-FFF2-40B4-BE49-F238E27FC236}">
                <a16:creationId xmlns:a16="http://schemas.microsoft.com/office/drawing/2014/main" id="{87FFF39A-4E12-DB43-62B9-5AEB9CC2048D}"/>
              </a:ext>
            </a:extLst>
          </p:cNvPr>
          <p:cNvSpPr/>
          <p:nvPr/>
        </p:nvSpPr>
        <p:spPr>
          <a:xfrm>
            <a:off x="9622068" y="2036581"/>
            <a:ext cx="2391031" cy="365125"/>
          </a:xfrm>
          <a:prstGeom prst="roundRect">
            <a:avLst/>
          </a:prstGeom>
          <a:solidFill>
            <a:srgbClr val="4BACC6">
              <a:lumMod val="60000"/>
              <a:lumOff val="40000"/>
            </a:srgbClr>
          </a:solidFill>
          <a:ln w="28575" cap="flat" cmpd="sng" algn="ctr">
            <a:solidFill>
              <a:sysClr val="windowText" lastClr="000000"/>
            </a:solidFill>
            <a:prstDash val="solid"/>
          </a:ln>
          <a:effectLst/>
        </p:spPr>
        <p:txBody>
          <a:bodyPr rtlCol="0" anchor="ctr"/>
          <a:lstStyle/>
          <a:p>
            <a:pPr algn="ctr">
              <a:defRPr/>
            </a:pPr>
            <a:r>
              <a:rPr lang="en-US" sz="1200" b="1" kern="0">
                <a:solidFill>
                  <a:prstClr val="black"/>
                </a:solidFill>
                <a:latin typeface="Calibri"/>
              </a:rPr>
              <a:t>Legacy PPM</a:t>
            </a:r>
          </a:p>
        </p:txBody>
      </p:sp>
    </p:spTree>
    <p:extLst>
      <p:ext uri="{BB962C8B-B14F-4D97-AF65-F5344CB8AC3E}">
        <p14:creationId xmlns:p14="http://schemas.microsoft.com/office/powerpoint/2010/main" val="871523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extBox 72"/>
          <p:cNvSpPr txBox="1"/>
          <p:nvPr/>
        </p:nvSpPr>
        <p:spPr>
          <a:xfrm>
            <a:off x="1524000" y="1524000"/>
            <a:ext cx="90678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a:ea typeface="+mn-ea"/>
                <a:cs typeface="+mn-cs"/>
              </a:rPr>
              <a:t>The drug development process can be divided into three development areas: </a:t>
            </a:r>
          </a:p>
        </p:txBody>
      </p:sp>
      <p:sp>
        <p:nvSpPr>
          <p:cNvPr id="34" name="Title 12"/>
          <p:cNvSpPr txBox="1">
            <a:spLocks/>
          </p:cNvSpPr>
          <p:nvPr/>
        </p:nvSpPr>
        <p:spPr bwMode="auto">
          <a:xfrm>
            <a:off x="0" y="57150"/>
            <a:ext cx="12036056" cy="7773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3600" b="1">
                <a:solidFill>
                  <a:schemeClr val="bg1"/>
                </a:solidFill>
                <a:latin typeface="+mj-lt"/>
                <a:ea typeface="+mj-ea"/>
                <a:cs typeface="+mj-cs"/>
              </a:defRPr>
            </a:lvl1pPr>
            <a:lvl2pPr algn="l" rtl="0" eaLnBrk="1" fontAlgn="base" hangingPunct="1">
              <a:spcBef>
                <a:spcPct val="0"/>
              </a:spcBef>
              <a:spcAft>
                <a:spcPct val="0"/>
              </a:spcAft>
              <a:defRPr kumimoji="1" sz="3600" b="1">
                <a:solidFill>
                  <a:schemeClr val="bg1"/>
                </a:solidFill>
                <a:latin typeface="Arial" charset="0"/>
              </a:defRPr>
            </a:lvl2pPr>
            <a:lvl3pPr algn="l" rtl="0" eaLnBrk="1" fontAlgn="base" hangingPunct="1">
              <a:spcBef>
                <a:spcPct val="0"/>
              </a:spcBef>
              <a:spcAft>
                <a:spcPct val="0"/>
              </a:spcAft>
              <a:defRPr kumimoji="1" sz="3600" b="1">
                <a:solidFill>
                  <a:schemeClr val="bg1"/>
                </a:solidFill>
                <a:latin typeface="Arial" charset="0"/>
              </a:defRPr>
            </a:lvl3pPr>
            <a:lvl4pPr algn="l" rtl="0" eaLnBrk="1" fontAlgn="base" hangingPunct="1">
              <a:spcBef>
                <a:spcPct val="0"/>
              </a:spcBef>
              <a:spcAft>
                <a:spcPct val="0"/>
              </a:spcAft>
              <a:defRPr kumimoji="1" sz="3600" b="1">
                <a:solidFill>
                  <a:schemeClr val="bg1"/>
                </a:solidFill>
                <a:latin typeface="Arial" charset="0"/>
              </a:defRPr>
            </a:lvl4pPr>
            <a:lvl5pPr algn="l" rtl="0" eaLnBrk="1" fontAlgn="base" hangingPunct="1">
              <a:spcBef>
                <a:spcPct val="0"/>
              </a:spcBef>
              <a:spcAft>
                <a:spcPct val="0"/>
              </a:spcAft>
              <a:defRPr kumimoji="1" sz="3600" b="1">
                <a:solidFill>
                  <a:schemeClr val="bg1"/>
                </a:solidFill>
                <a:latin typeface="Arial" charset="0"/>
              </a:defRPr>
            </a:lvl5pPr>
            <a:lvl6pPr marL="457200" algn="l" rtl="0" eaLnBrk="1" fontAlgn="base" hangingPunct="1">
              <a:spcBef>
                <a:spcPct val="0"/>
              </a:spcBef>
              <a:spcAft>
                <a:spcPct val="0"/>
              </a:spcAft>
              <a:defRPr kumimoji="1" sz="3600" b="1">
                <a:solidFill>
                  <a:schemeClr val="bg1"/>
                </a:solidFill>
                <a:latin typeface="Arial" charset="0"/>
              </a:defRPr>
            </a:lvl6pPr>
            <a:lvl7pPr marL="914400" algn="l" rtl="0" eaLnBrk="1" fontAlgn="base" hangingPunct="1">
              <a:spcBef>
                <a:spcPct val="0"/>
              </a:spcBef>
              <a:spcAft>
                <a:spcPct val="0"/>
              </a:spcAft>
              <a:defRPr kumimoji="1" sz="3600" b="1">
                <a:solidFill>
                  <a:schemeClr val="bg1"/>
                </a:solidFill>
                <a:latin typeface="Arial" charset="0"/>
              </a:defRPr>
            </a:lvl7pPr>
            <a:lvl8pPr marL="1371600" algn="l" rtl="0" eaLnBrk="1" fontAlgn="base" hangingPunct="1">
              <a:spcBef>
                <a:spcPct val="0"/>
              </a:spcBef>
              <a:spcAft>
                <a:spcPct val="0"/>
              </a:spcAft>
              <a:defRPr kumimoji="1" sz="3600" b="1">
                <a:solidFill>
                  <a:schemeClr val="bg1"/>
                </a:solidFill>
                <a:latin typeface="Arial" charset="0"/>
              </a:defRPr>
            </a:lvl8pPr>
            <a:lvl9pPr marL="1828800" algn="l" rtl="0" eaLnBrk="1" fontAlgn="base" hangingPunct="1">
              <a:spcBef>
                <a:spcPct val="0"/>
              </a:spcBef>
              <a:spcAft>
                <a:spcPct val="0"/>
              </a:spcAft>
              <a:defRPr kumimoji="1" sz="3600" b="1">
                <a:solidFill>
                  <a:schemeClr val="bg1"/>
                </a:solidFill>
                <a:latin typeface="Arial"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3600" b="1" i="0" u="none" strike="noStrike" kern="0" cap="none" spc="0" normalizeH="0" baseline="0" noProof="0">
                <a:ln>
                  <a:noFill/>
                </a:ln>
                <a:solidFill>
                  <a:prstClr val="white"/>
                </a:solidFill>
                <a:effectLst/>
                <a:uLnTx/>
                <a:uFillTx/>
                <a:latin typeface="Arial"/>
                <a:ea typeface="+mj-ea"/>
                <a:cs typeface="+mj-cs"/>
              </a:rPr>
              <a:t>Drug Discovery &amp; Development – Process Overview</a:t>
            </a:r>
          </a:p>
        </p:txBody>
      </p:sp>
      <p:grpSp>
        <p:nvGrpSpPr>
          <p:cNvPr id="5" name="Group 4">
            <a:extLst>
              <a:ext uri="{FF2B5EF4-FFF2-40B4-BE49-F238E27FC236}">
                <a16:creationId xmlns:a16="http://schemas.microsoft.com/office/drawing/2014/main" id="{C4D8FF8B-3CBC-420D-9B9E-649E9AC74C1A}"/>
              </a:ext>
            </a:extLst>
          </p:cNvPr>
          <p:cNvGrpSpPr/>
          <p:nvPr/>
        </p:nvGrpSpPr>
        <p:grpSpPr>
          <a:xfrm>
            <a:off x="1524000" y="1981200"/>
            <a:ext cx="9067800" cy="4583119"/>
            <a:chOff x="1144181" y="2428240"/>
            <a:chExt cx="8643397" cy="4136079"/>
          </a:xfrm>
        </p:grpSpPr>
        <p:pic>
          <p:nvPicPr>
            <p:cNvPr id="6" name="Picture 5">
              <a:extLst>
                <a:ext uri="{FF2B5EF4-FFF2-40B4-BE49-F238E27FC236}">
                  <a16:creationId xmlns:a16="http://schemas.microsoft.com/office/drawing/2014/main" id="{CA315FE6-6053-4A0A-BCBE-CFA2BB72F26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44181" y="2428240"/>
              <a:ext cx="8593156" cy="3648012"/>
            </a:xfrm>
            <a:prstGeom prst="rect">
              <a:avLst/>
            </a:prstGeom>
          </p:spPr>
        </p:pic>
        <p:sp>
          <p:nvSpPr>
            <p:cNvPr id="7" name="Rectangle 6">
              <a:extLst>
                <a:ext uri="{FF2B5EF4-FFF2-40B4-BE49-F238E27FC236}">
                  <a16:creationId xmlns:a16="http://schemas.microsoft.com/office/drawing/2014/main" id="{0010C3A8-7D94-46B0-8C76-C0331CF95D04}"/>
                </a:ext>
              </a:extLst>
            </p:cNvPr>
            <p:cNvSpPr/>
            <p:nvPr/>
          </p:nvSpPr>
          <p:spPr>
            <a:xfrm>
              <a:off x="3893190" y="6100631"/>
              <a:ext cx="2385333" cy="46166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w="0"/>
                  <a:solidFill>
                    <a:srgbClr val="000000">
                      <a:lumMod val="50000"/>
                      <a:lumOff val="50000"/>
                    </a:srgbClr>
                  </a:solidFill>
                  <a:effectLst>
                    <a:outerShdw blurRad="38100" dist="25400" dir="5400000" algn="ctr" rotWithShape="0">
                      <a:srgbClr val="6E747A">
                        <a:alpha val="43000"/>
                      </a:srgbClr>
                    </a:outerShdw>
                  </a:effectLst>
                  <a:uLnTx/>
                  <a:uFillTx/>
                  <a:latin typeface="Arial"/>
                  <a:ea typeface="+mn-ea"/>
                  <a:cs typeface="+mn-cs"/>
                </a:rPr>
                <a:t>Early Phase</a:t>
              </a:r>
            </a:p>
          </p:txBody>
        </p:sp>
        <p:sp>
          <p:nvSpPr>
            <p:cNvPr id="8" name="Rectangle 7">
              <a:extLst>
                <a:ext uri="{FF2B5EF4-FFF2-40B4-BE49-F238E27FC236}">
                  <a16:creationId xmlns:a16="http://schemas.microsoft.com/office/drawing/2014/main" id="{E9F18397-4994-4F26-9D29-86839A80581D}"/>
                </a:ext>
              </a:extLst>
            </p:cNvPr>
            <p:cNvSpPr/>
            <p:nvPr/>
          </p:nvSpPr>
          <p:spPr>
            <a:xfrm>
              <a:off x="6923669" y="6102654"/>
              <a:ext cx="2385333" cy="46166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w="0"/>
                  <a:solidFill>
                    <a:srgbClr val="4E2E2D"/>
                  </a:solidFill>
                  <a:effectLst>
                    <a:outerShdw blurRad="38100" dist="25400" dir="5400000" algn="ctr" rotWithShape="0">
                      <a:srgbClr val="6E747A">
                        <a:alpha val="43000"/>
                      </a:srgbClr>
                    </a:outerShdw>
                  </a:effectLst>
                  <a:uLnTx/>
                  <a:uFillTx/>
                  <a:latin typeface="Arial"/>
                  <a:ea typeface="+mn-ea"/>
                  <a:cs typeface="+mn-cs"/>
                </a:rPr>
                <a:t>Late Phase</a:t>
              </a:r>
            </a:p>
          </p:txBody>
        </p:sp>
        <p:sp>
          <p:nvSpPr>
            <p:cNvPr id="9" name="Right Brace 8">
              <a:extLst>
                <a:ext uri="{FF2B5EF4-FFF2-40B4-BE49-F238E27FC236}">
                  <a16:creationId xmlns:a16="http://schemas.microsoft.com/office/drawing/2014/main" id="{D181D1BD-042F-45BB-90E8-89D44B02270B}"/>
                </a:ext>
              </a:extLst>
            </p:cNvPr>
            <p:cNvSpPr/>
            <p:nvPr/>
          </p:nvSpPr>
          <p:spPr>
            <a:xfrm rot="5400000">
              <a:off x="7944102" y="4250347"/>
              <a:ext cx="317728" cy="3369224"/>
            </a:xfrm>
            <a:prstGeom prst="rightBrace">
              <a:avLst>
                <a:gd name="adj1" fmla="val 88241"/>
                <a:gd name="adj2" fmla="val 50000"/>
              </a:avLst>
            </a:prstGeom>
            <a:ln/>
          </p:spPr>
          <p:style>
            <a:lnRef idx="3">
              <a:schemeClr val="accent1"/>
            </a:lnRef>
            <a:fillRef idx="0">
              <a:schemeClr val="accent1"/>
            </a:fillRef>
            <a:effectRef idx="2">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Right Brace 9">
              <a:extLst>
                <a:ext uri="{FF2B5EF4-FFF2-40B4-BE49-F238E27FC236}">
                  <a16:creationId xmlns:a16="http://schemas.microsoft.com/office/drawing/2014/main" id="{89EB0C1A-83A4-4F87-9A4B-454D8F9E1E5A}"/>
                </a:ext>
              </a:extLst>
            </p:cNvPr>
            <p:cNvSpPr/>
            <p:nvPr/>
          </p:nvSpPr>
          <p:spPr>
            <a:xfrm rot="5400000">
              <a:off x="4909258" y="4573703"/>
              <a:ext cx="317728" cy="2700464"/>
            </a:xfrm>
            <a:prstGeom prst="rightBrace">
              <a:avLst>
                <a:gd name="adj1" fmla="val 88241"/>
                <a:gd name="adj2" fmla="val 50000"/>
              </a:avLst>
            </a:prstGeom>
            <a:ln/>
          </p:spPr>
          <p:style>
            <a:lnRef idx="3">
              <a:schemeClr val="accent3"/>
            </a:lnRef>
            <a:fillRef idx="0">
              <a:schemeClr val="accent3"/>
            </a:fillRef>
            <a:effectRef idx="2">
              <a:schemeClr val="accent3"/>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939863B3-FEE2-4B78-A7D9-4234395182DA}"/>
                </a:ext>
              </a:extLst>
            </p:cNvPr>
            <p:cNvSpPr/>
            <p:nvPr/>
          </p:nvSpPr>
          <p:spPr>
            <a:xfrm>
              <a:off x="5872838" y="4943789"/>
              <a:ext cx="406131" cy="18087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rial"/>
                  <a:ea typeface="+mn-ea"/>
                  <a:cs typeface="Arial"/>
                </a:rPr>
                <a:t>POC</a:t>
              </a:r>
            </a:p>
          </p:txBody>
        </p:sp>
        <p:sp>
          <p:nvSpPr>
            <p:cNvPr id="12" name="Rectangle 11">
              <a:extLst>
                <a:ext uri="{FF2B5EF4-FFF2-40B4-BE49-F238E27FC236}">
                  <a16:creationId xmlns:a16="http://schemas.microsoft.com/office/drawing/2014/main" id="{9A4B96C6-6ACE-48EC-81D2-857DE1C522CC}"/>
                </a:ext>
              </a:extLst>
            </p:cNvPr>
            <p:cNvSpPr/>
            <p:nvPr/>
          </p:nvSpPr>
          <p:spPr>
            <a:xfrm>
              <a:off x="6298843" y="4862140"/>
              <a:ext cx="406131" cy="18087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00000"/>
                  </a:solidFill>
                  <a:effectLst/>
                  <a:uLnTx/>
                  <a:uFillTx/>
                  <a:latin typeface="Arial"/>
                  <a:ea typeface="+mn-ea"/>
                  <a:cs typeface="Arial"/>
                </a:rPr>
                <a:t>FRD</a:t>
              </a:r>
            </a:p>
          </p:txBody>
        </p:sp>
      </p:grpSp>
      <p:sp>
        <p:nvSpPr>
          <p:cNvPr id="2" name="Right Brace 1">
            <a:extLst>
              <a:ext uri="{FF2B5EF4-FFF2-40B4-BE49-F238E27FC236}">
                <a16:creationId xmlns:a16="http://schemas.microsoft.com/office/drawing/2014/main" id="{2DB37D9B-612F-A3B2-C0F0-D7F3EF545459}"/>
              </a:ext>
            </a:extLst>
          </p:cNvPr>
          <p:cNvSpPr/>
          <p:nvPr/>
        </p:nvSpPr>
        <p:spPr>
          <a:xfrm rot="5400000">
            <a:off x="2698005" y="4516896"/>
            <a:ext cx="352069" cy="2700081"/>
          </a:xfrm>
          <a:prstGeom prst="rightBrace">
            <a:avLst>
              <a:gd name="adj1" fmla="val 88241"/>
              <a:gd name="adj2" fmla="val 50000"/>
            </a:avLst>
          </a:prstGeom>
          <a:ln/>
        </p:spPr>
        <p:style>
          <a:lnRef idx="3">
            <a:schemeClr val="accent3"/>
          </a:lnRef>
          <a:fillRef idx="0">
            <a:schemeClr val="accent3"/>
          </a:fillRef>
          <a:effectRef idx="2">
            <a:schemeClr val="accent3"/>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 name="Rectangle 2">
            <a:extLst>
              <a:ext uri="{FF2B5EF4-FFF2-40B4-BE49-F238E27FC236}">
                <a16:creationId xmlns:a16="http://schemas.microsoft.com/office/drawing/2014/main" id="{258CD356-AA3C-48CE-6F9D-C9A9F52F1674}"/>
              </a:ext>
            </a:extLst>
          </p:cNvPr>
          <p:cNvSpPr/>
          <p:nvPr/>
        </p:nvSpPr>
        <p:spPr>
          <a:xfrm>
            <a:off x="1622811" y="6050583"/>
            <a:ext cx="2502456" cy="461665"/>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ln w="0"/>
                <a:solidFill>
                  <a:srgbClr val="000000">
                    <a:lumMod val="50000"/>
                    <a:lumOff val="50000"/>
                  </a:srgbClr>
                </a:solidFill>
                <a:effectLst>
                  <a:outerShdw blurRad="38100" dist="25400" dir="5400000" algn="ctr" rotWithShape="0">
                    <a:srgbClr val="6E747A">
                      <a:alpha val="43000"/>
                    </a:srgbClr>
                  </a:outerShdw>
                </a:effectLst>
                <a:latin typeface="Arial"/>
              </a:rPr>
              <a:t>Discovery</a:t>
            </a:r>
            <a:r>
              <a:rPr kumimoji="0" lang="en-US" sz="2400" b="0" i="0" u="none" strike="noStrike" kern="1200" cap="none" spc="0" normalizeH="0" baseline="0" noProof="0">
                <a:ln w="0"/>
                <a:solidFill>
                  <a:srgbClr val="000000">
                    <a:lumMod val="50000"/>
                    <a:lumOff val="50000"/>
                  </a:srgbClr>
                </a:solidFill>
                <a:effectLst>
                  <a:outerShdw blurRad="38100" dist="25400" dir="5400000" algn="ctr" rotWithShape="0">
                    <a:srgbClr val="6E747A">
                      <a:alpha val="43000"/>
                    </a:srgbClr>
                  </a:outerShdw>
                </a:effectLst>
                <a:uLnTx/>
                <a:uFillTx/>
                <a:latin typeface="Arial"/>
                <a:ea typeface="+mn-ea"/>
                <a:cs typeface="+mn-cs"/>
              </a:rPr>
              <a:t> Phase</a:t>
            </a:r>
          </a:p>
        </p:txBody>
      </p:sp>
      <p:sp>
        <p:nvSpPr>
          <p:cNvPr id="4" name="Isosceles Triangle 3">
            <a:extLst>
              <a:ext uri="{FF2B5EF4-FFF2-40B4-BE49-F238E27FC236}">
                <a16:creationId xmlns:a16="http://schemas.microsoft.com/office/drawing/2014/main" id="{073611D9-2473-0689-2929-3EC27135107D}"/>
              </a:ext>
            </a:extLst>
          </p:cNvPr>
          <p:cNvSpPr/>
          <p:nvPr/>
        </p:nvSpPr>
        <p:spPr>
          <a:xfrm>
            <a:off x="3701565" y="5175383"/>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Isosceles Triangle 12">
            <a:extLst>
              <a:ext uri="{FF2B5EF4-FFF2-40B4-BE49-F238E27FC236}">
                <a16:creationId xmlns:a16="http://schemas.microsoft.com/office/drawing/2014/main" id="{E6CF8B21-49B6-3A63-AEB6-3C1C9E9FAF58}"/>
              </a:ext>
            </a:extLst>
          </p:cNvPr>
          <p:cNvSpPr/>
          <p:nvPr/>
        </p:nvSpPr>
        <p:spPr>
          <a:xfrm>
            <a:off x="2416628" y="5105954"/>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0D94487D-0DFB-534C-5105-B10BA9CA75A6}"/>
              </a:ext>
            </a:extLst>
          </p:cNvPr>
          <p:cNvSpPr/>
          <p:nvPr/>
        </p:nvSpPr>
        <p:spPr>
          <a:xfrm>
            <a:off x="1153884" y="3429000"/>
            <a:ext cx="392309" cy="352069"/>
          </a:xfrm>
          <a:prstGeom prst="triangle">
            <a:avLst/>
          </a:prstGeom>
          <a:solidFill>
            <a:srgbClr val="FF0000"/>
          </a:solidFill>
          <a:ln w="12700">
            <a:solidFill>
              <a:schemeClr val="accent5">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913D1DC-22D4-7C95-AF36-69CE77F571A9}"/>
              </a:ext>
            </a:extLst>
          </p:cNvPr>
          <p:cNvSpPr txBox="1"/>
          <p:nvPr/>
        </p:nvSpPr>
        <p:spPr>
          <a:xfrm>
            <a:off x="1136011" y="3781069"/>
            <a:ext cx="445017" cy="307777"/>
          </a:xfrm>
          <a:prstGeom prst="rect">
            <a:avLst/>
          </a:prstGeom>
          <a:noFill/>
        </p:spPr>
        <p:txBody>
          <a:bodyPr wrap="square" rtlCol="0">
            <a:spAutoFit/>
          </a:bodyPr>
          <a:lstStyle/>
          <a:p>
            <a:r>
              <a:rPr lang="en-US" sz="1400" b="1"/>
              <a:t>PE</a:t>
            </a:r>
          </a:p>
        </p:txBody>
      </p:sp>
      <p:sp>
        <p:nvSpPr>
          <p:cNvPr id="16" name="TextBox 15">
            <a:extLst>
              <a:ext uri="{FF2B5EF4-FFF2-40B4-BE49-F238E27FC236}">
                <a16:creationId xmlns:a16="http://schemas.microsoft.com/office/drawing/2014/main" id="{D94FFD1A-5358-00CE-5477-59DA74D7B607}"/>
              </a:ext>
            </a:extLst>
          </p:cNvPr>
          <p:cNvSpPr txBox="1"/>
          <p:nvPr/>
        </p:nvSpPr>
        <p:spPr>
          <a:xfrm>
            <a:off x="2329311" y="5443040"/>
            <a:ext cx="614183" cy="307777"/>
          </a:xfrm>
          <a:prstGeom prst="rect">
            <a:avLst/>
          </a:prstGeom>
          <a:noFill/>
        </p:spPr>
        <p:txBody>
          <a:bodyPr wrap="square" rtlCol="0">
            <a:spAutoFit/>
          </a:bodyPr>
          <a:lstStyle/>
          <a:p>
            <a:r>
              <a:rPr lang="en-US" sz="1400" b="1"/>
              <a:t>Lead</a:t>
            </a:r>
          </a:p>
        </p:txBody>
      </p:sp>
      <p:sp>
        <p:nvSpPr>
          <p:cNvPr id="17" name="TextBox 16">
            <a:extLst>
              <a:ext uri="{FF2B5EF4-FFF2-40B4-BE49-F238E27FC236}">
                <a16:creationId xmlns:a16="http://schemas.microsoft.com/office/drawing/2014/main" id="{C2C5FAE8-41CE-2614-AFAC-8CB1A1BBFBE6}"/>
              </a:ext>
            </a:extLst>
          </p:cNvPr>
          <p:cNvSpPr txBox="1"/>
          <p:nvPr/>
        </p:nvSpPr>
        <p:spPr>
          <a:xfrm>
            <a:off x="3701208" y="5520665"/>
            <a:ext cx="445017" cy="307777"/>
          </a:xfrm>
          <a:prstGeom prst="rect">
            <a:avLst/>
          </a:prstGeom>
          <a:noFill/>
        </p:spPr>
        <p:txBody>
          <a:bodyPr wrap="square" rtlCol="0">
            <a:spAutoFit/>
          </a:bodyPr>
          <a:lstStyle/>
          <a:p>
            <a:r>
              <a:rPr lang="en-US" sz="1400" b="1"/>
              <a:t>CI</a:t>
            </a:r>
          </a:p>
        </p:txBody>
      </p:sp>
    </p:spTree>
    <p:extLst>
      <p:ext uri="{BB962C8B-B14F-4D97-AF65-F5344CB8AC3E}">
        <p14:creationId xmlns:p14="http://schemas.microsoft.com/office/powerpoint/2010/main" val="736977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08464" y="2083744"/>
            <a:ext cx="3142751" cy="1192858"/>
          </a:xfrm>
          <a:prstGeom prst="rect">
            <a:avLst/>
          </a:prstGeom>
          <a:solidFill>
            <a:srgbClr val="00B05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Druggability Assessment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a:ea typeface="+mn-ea"/>
                <a:cs typeface="+mn-cs"/>
              </a:rPr>
              <a:t>Establish project code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p:cNvSpPr/>
          <p:nvPr/>
        </p:nvSpPr>
        <p:spPr>
          <a:xfrm>
            <a:off x="5751215" y="2083743"/>
            <a:ext cx="3142751" cy="1192859"/>
          </a:xfrm>
          <a:prstGeom prst="rect">
            <a:avLst/>
          </a:prstGeom>
          <a:solidFill>
            <a:schemeClr val="tx2">
              <a:lumMod val="7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Optimization/Engineering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(PE to CI)</a:t>
            </a:r>
          </a:p>
        </p:txBody>
      </p:sp>
      <p:sp>
        <p:nvSpPr>
          <p:cNvPr id="5" name="Rectangle 4"/>
          <p:cNvSpPr/>
          <p:nvPr/>
        </p:nvSpPr>
        <p:spPr>
          <a:xfrm>
            <a:off x="8893966" y="2083744"/>
            <a:ext cx="3142751" cy="1192858"/>
          </a:xfrm>
          <a:prstGeom prst="rect">
            <a:avLst/>
          </a:prstGeom>
          <a:solidFill>
            <a:schemeClr val="tx2">
              <a:lumMod val="7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Candidate Development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(CI to POC)</a:t>
            </a:r>
          </a:p>
        </p:txBody>
      </p:sp>
      <p:sp>
        <p:nvSpPr>
          <p:cNvPr id="9" name="Left Brace 8"/>
          <p:cNvSpPr/>
          <p:nvPr/>
        </p:nvSpPr>
        <p:spPr>
          <a:xfrm rot="16200000" flipH="1">
            <a:off x="8065930" y="-1001872"/>
            <a:ext cx="283474" cy="4768270"/>
          </a:xfrm>
          <a:prstGeom prst="leftBrace">
            <a:avLst>
              <a:gd name="adj1" fmla="val 8333"/>
              <a:gd name="adj2" fmla="val 49671"/>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eft Brace 9"/>
          <p:cNvSpPr/>
          <p:nvPr/>
        </p:nvSpPr>
        <p:spPr>
          <a:xfrm rot="16200000" flipH="1">
            <a:off x="4064391" y="-263904"/>
            <a:ext cx="247417" cy="32708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0"/>
          <p:cNvSpPr txBox="1"/>
          <p:nvPr/>
        </p:nvSpPr>
        <p:spPr>
          <a:xfrm>
            <a:off x="7581774" y="918459"/>
            <a:ext cx="109232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30 months</a:t>
            </a:r>
          </a:p>
        </p:txBody>
      </p:sp>
      <p:sp>
        <p:nvSpPr>
          <p:cNvPr id="12" name="TextBox 11"/>
          <p:cNvSpPr txBox="1"/>
          <p:nvPr/>
        </p:nvSpPr>
        <p:spPr>
          <a:xfrm>
            <a:off x="3586668" y="918459"/>
            <a:ext cx="125656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Light" panose="020F0302020204030204" pitchFamily="34" charset="0"/>
                <a:ea typeface="+mn-ea"/>
                <a:cs typeface="+mn-cs"/>
              </a:rPr>
              <a:t>~ 6 months</a:t>
            </a:r>
          </a:p>
        </p:txBody>
      </p:sp>
      <p:sp>
        <p:nvSpPr>
          <p:cNvPr id="13" name="Rectangle 12"/>
          <p:cNvSpPr/>
          <p:nvPr/>
        </p:nvSpPr>
        <p:spPr>
          <a:xfrm>
            <a:off x="153581" y="1677851"/>
            <a:ext cx="1622871" cy="33542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mn-cs"/>
              </a:rPr>
              <a:t>Discovery Budget</a:t>
            </a:r>
          </a:p>
        </p:txBody>
      </p:sp>
      <p:sp>
        <p:nvSpPr>
          <p:cNvPr id="14" name="Rectangle 13"/>
          <p:cNvSpPr/>
          <p:nvPr/>
        </p:nvSpPr>
        <p:spPr>
          <a:xfrm>
            <a:off x="5799872" y="1676400"/>
            <a:ext cx="1927940" cy="33542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mn-cs"/>
              </a:rPr>
              <a:t>Portfolio Budget</a:t>
            </a:r>
          </a:p>
        </p:txBody>
      </p:sp>
      <p:sp>
        <p:nvSpPr>
          <p:cNvPr id="22" name="Flowchart: Merge 21"/>
          <p:cNvSpPr/>
          <p:nvPr/>
        </p:nvSpPr>
        <p:spPr>
          <a:xfrm>
            <a:off x="9945232" y="1490184"/>
            <a:ext cx="1539541" cy="585954"/>
          </a:xfrm>
          <a:prstGeom prst="flowChartMerg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FHD</a:t>
            </a:r>
          </a:p>
        </p:txBody>
      </p:sp>
      <p:sp>
        <p:nvSpPr>
          <p:cNvPr id="23" name="TextBox 22"/>
          <p:cNvSpPr txBox="1"/>
          <p:nvPr/>
        </p:nvSpPr>
        <p:spPr>
          <a:xfrm>
            <a:off x="152400" y="3743742"/>
            <a:ext cx="2461851" cy="230832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TA and Functional alignment on target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Identify Target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Explore Target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MOA hypotheses</a:t>
            </a:r>
            <a:endParaRPr kumimoji="0" lang="en-US" sz="1200" b="0" i="0" u="none" strike="sngStrike" kern="1200" cap="none" spc="0" normalizeH="0" baseline="0" noProof="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Preliminary asset profile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Molecule modality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Prep Tools to enable next phase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POC clinical hypothesis defined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Align on plan to develop molecules for target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Safety Assessment</a:t>
            </a:r>
          </a:p>
        </p:txBody>
      </p:sp>
      <p:sp>
        <p:nvSpPr>
          <p:cNvPr id="24" name="TextBox 23"/>
          <p:cNvSpPr txBox="1"/>
          <p:nvPr/>
        </p:nvSpPr>
        <p:spPr>
          <a:xfrm>
            <a:off x="108511" y="3421420"/>
            <a:ext cx="254123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Should we pursue Idea?</a:t>
            </a:r>
          </a:p>
        </p:txBody>
      </p:sp>
      <p:sp>
        <p:nvSpPr>
          <p:cNvPr id="25" name="TextBox 24"/>
          <p:cNvSpPr txBox="1"/>
          <p:nvPr/>
        </p:nvSpPr>
        <p:spPr>
          <a:xfrm>
            <a:off x="2820856" y="3759658"/>
            <a:ext cx="2643190" cy="2308324"/>
          </a:xfrm>
          <a:prstGeom prst="rect">
            <a:avLst/>
          </a:prstGeom>
          <a:noFill/>
        </p:spPr>
        <p:txBody>
          <a:bodyPr wrap="square" rtlCol="0">
            <a:spAutoFit/>
          </a:bodyPr>
          <a:lstStyle/>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Define hypotheses for desired human performance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Develop assays/flow scheme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ID chemical matter and evaluate trajectory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Confirm MOA (SM)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Confirm target binding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Evaluate mechanistic ADME opportunities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Further development of asset profile</a:t>
            </a:r>
            <a:endParaRPr kumimoji="0" lang="en-US" sz="1200" b="0" i="0" u="none" strike="sngStrike" kern="1200" cap="none" spc="0" normalizeH="0" baseline="0" noProof="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Align w/TA for PE</a:t>
            </a:r>
          </a:p>
        </p:txBody>
      </p:sp>
      <p:sp>
        <p:nvSpPr>
          <p:cNvPr id="26" name="TextBox 25"/>
          <p:cNvSpPr txBox="1"/>
          <p:nvPr/>
        </p:nvSpPr>
        <p:spPr>
          <a:xfrm>
            <a:off x="2616805" y="3467724"/>
            <a:ext cx="313440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Can we drug the target?</a:t>
            </a:r>
          </a:p>
        </p:txBody>
      </p:sp>
      <p:sp>
        <p:nvSpPr>
          <p:cNvPr id="27" name="TextBox 26"/>
          <p:cNvSpPr txBox="1"/>
          <p:nvPr/>
        </p:nvSpPr>
        <p:spPr>
          <a:xfrm>
            <a:off x="5823532" y="3759875"/>
            <a:ext cx="3081209" cy="221599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Target Engagement/MOA:  </a:t>
            </a:r>
            <a:r>
              <a:rPr kumimoji="0" lang="en-US" sz="1200" b="0" i="1" u="none" strike="noStrike" kern="1200" cap="none" spc="0" normalizeH="0" baseline="0" noProof="0">
                <a:ln>
                  <a:noFill/>
                </a:ln>
                <a:solidFill>
                  <a:prstClr val="black"/>
                </a:solidFill>
                <a:effectLst/>
                <a:uLnTx/>
                <a:uFillTx/>
                <a:latin typeface="Calibri"/>
                <a:ea typeface="+mn-ea"/>
                <a:cs typeface="+mn-cs"/>
              </a:rPr>
              <a:t>in vitro </a:t>
            </a:r>
            <a:r>
              <a:rPr kumimoji="0" lang="en-US" sz="1200" b="0" i="0" u="none" strike="noStrike" kern="1200" cap="none" spc="0" normalizeH="0" baseline="0" noProof="0">
                <a:ln>
                  <a:noFill/>
                </a:ln>
                <a:solidFill>
                  <a:prstClr val="black"/>
                </a:solidFill>
                <a:effectLst/>
                <a:uLnTx/>
                <a:uFillTx/>
                <a:latin typeface="Calibri"/>
                <a:ea typeface="+mn-ea"/>
                <a:cs typeface="+mn-cs"/>
              </a:rPr>
              <a:t>&amp; </a:t>
            </a:r>
            <a:r>
              <a:rPr kumimoji="0" lang="en-US" sz="1200" b="0" i="1" u="none" strike="noStrike" kern="1200" cap="none" spc="0" normalizeH="0" baseline="0" noProof="0">
                <a:ln>
                  <a:noFill/>
                </a:ln>
                <a:solidFill>
                  <a:prstClr val="black"/>
                </a:solidFill>
                <a:effectLst/>
                <a:uLnTx/>
                <a:uFillTx/>
                <a:latin typeface="Calibri"/>
                <a:ea typeface="+mn-ea"/>
                <a:cs typeface="+mn-cs"/>
              </a:rPr>
              <a:t>in vivo (LM)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Optimize desired human performance characteristics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Refine the chemical-physical properties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Refine PK/PD Relationship (exposure/response)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Engage CMC for planning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Establish Program Team to enable Development planning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	</a:t>
            </a:r>
          </a:p>
        </p:txBody>
      </p:sp>
      <p:sp>
        <p:nvSpPr>
          <p:cNvPr id="28" name="TextBox 27"/>
          <p:cNvSpPr txBox="1"/>
          <p:nvPr/>
        </p:nvSpPr>
        <p:spPr>
          <a:xfrm>
            <a:off x="5781729" y="3459704"/>
            <a:ext cx="311223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Can we optimize a molecule?</a:t>
            </a:r>
          </a:p>
        </p:txBody>
      </p:sp>
      <p:sp>
        <p:nvSpPr>
          <p:cNvPr id="30" name="TextBox 29"/>
          <p:cNvSpPr txBox="1"/>
          <p:nvPr/>
        </p:nvSpPr>
        <p:spPr>
          <a:xfrm>
            <a:off x="9029197" y="3764340"/>
            <a:ext cx="3081209" cy="15696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Drug substance process for API (Tox and FHD)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Drug product development to support clinical studies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GLP Tox studies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Final clinical strategy and planning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IND filing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Clinical plan will test hypothesis</a:t>
            </a:r>
          </a:p>
        </p:txBody>
      </p:sp>
      <p:sp>
        <p:nvSpPr>
          <p:cNvPr id="31" name="TextBox 30"/>
          <p:cNvSpPr txBox="1"/>
          <p:nvPr/>
        </p:nvSpPr>
        <p:spPr>
          <a:xfrm>
            <a:off x="9029197" y="3467724"/>
            <a:ext cx="287569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Should we test in patients?</a:t>
            </a:r>
          </a:p>
        </p:txBody>
      </p:sp>
      <p:sp>
        <p:nvSpPr>
          <p:cNvPr id="7" name="Rectangle 6"/>
          <p:cNvSpPr/>
          <p:nvPr/>
        </p:nvSpPr>
        <p:spPr>
          <a:xfrm>
            <a:off x="153581" y="3276603"/>
            <a:ext cx="2462105" cy="3038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p:cNvSpPr/>
          <p:nvPr/>
        </p:nvSpPr>
        <p:spPr>
          <a:xfrm>
            <a:off x="2615688" y="3276603"/>
            <a:ext cx="3143915" cy="30384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Rectangle 32"/>
          <p:cNvSpPr/>
          <p:nvPr/>
        </p:nvSpPr>
        <p:spPr>
          <a:xfrm>
            <a:off x="5771604" y="3276603"/>
            <a:ext cx="3122362" cy="3038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Rectangle 33"/>
          <p:cNvSpPr/>
          <p:nvPr/>
        </p:nvSpPr>
        <p:spPr>
          <a:xfrm>
            <a:off x="8893461" y="3276601"/>
            <a:ext cx="3122362" cy="30384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Title 1"/>
          <p:cNvSpPr txBox="1">
            <a:spLocks/>
          </p:cNvSpPr>
          <p:nvPr/>
        </p:nvSpPr>
        <p:spPr>
          <a:xfrm>
            <a:off x="357241" y="22252"/>
            <a:ext cx="10452953" cy="61337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white"/>
                </a:solidFill>
                <a:effectLst/>
                <a:uLnTx/>
                <a:uFillTx/>
                <a:latin typeface="Calibri"/>
                <a:ea typeface="+mj-ea"/>
                <a:cs typeface="+mj-cs"/>
              </a:rPr>
              <a:t>Portfolio Entry: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1" u="none" strike="noStrike" kern="1200" cap="none" spc="0" normalizeH="0" baseline="0" noProof="0">
                <a:ln>
                  <a:noFill/>
                </a:ln>
                <a:solidFill>
                  <a:prstClr val="white"/>
                </a:solidFill>
                <a:effectLst/>
                <a:uLnTx/>
                <a:uFillTx/>
                <a:latin typeface="Calibri"/>
                <a:ea typeface="+mj-ea"/>
                <a:cs typeface="+mj-cs"/>
              </a:rPr>
              <a:t>TPC approves scope and budget from PE to FHD</a:t>
            </a:r>
          </a:p>
        </p:txBody>
      </p:sp>
      <p:cxnSp>
        <p:nvCxnSpPr>
          <p:cNvPr id="37" name="Straight Connector 36"/>
          <p:cNvCxnSpPr/>
          <p:nvPr/>
        </p:nvCxnSpPr>
        <p:spPr>
          <a:xfrm flipH="1">
            <a:off x="0" y="961749"/>
            <a:ext cx="12192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5-Point Star 5"/>
          <p:cNvSpPr/>
          <p:nvPr/>
        </p:nvSpPr>
        <p:spPr>
          <a:xfrm>
            <a:off x="5565196" y="838200"/>
            <a:ext cx="451825" cy="476816"/>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Down Arrow 14">
            <a:extLst>
              <a:ext uri="{FF2B5EF4-FFF2-40B4-BE49-F238E27FC236}">
                <a16:creationId xmlns:a16="http://schemas.microsoft.com/office/drawing/2014/main" id="{E9D702FF-3FC9-7641-9683-1303F79EFF2E}"/>
              </a:ext>
            </a:extLst>
          </p:cNvPr>
          <p:cNvSpPr/>
          <p:nvPr/>
        </p:nvSpPr>
        <p:spPr>
          <a:xfrm>
            <a:off x="4724400" y="1963809"/>
            <a:ext cx="463486" cy="42582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44EA0DDE-AC46-2E41-A119-BBBC5C323F9E}"/>
              </a:ext>
            </a:extLst>
          </p:cNvPr>
          <p:cNvSpPr txBox="1"/>
          <p:nvPr/>
        </p:nvSpPr>
        <p:spPr>
          <a:xfrm>
            <a:off x="247507" y="2819400"/>
            <a:ext cx="17875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a:ea typeface="+mn-ea"/>
                <a:cs typeface="+mn-cs"/>
              </a:rPr>
              <a:t>TA VP proposal 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a:ea typeface="+mn-ea"/>
                <a:cs typeface="+mn-cs"/>
              </a:rPr>
              <a:t>sponsorship</a:t>
            </a:r>
          </a:p>
        </p:txBody>
      </p:sp>
      <p:sp>
        <p:nvSpPr>
          <p:cNvPr id="21" name="Flowchart: Merge 20"/>
          <p:cNvSpPr/>
          <p:nvPr/>
        </p:nvSpPr>
        <p:spPr>
          <a:xfrm>
            <a:off x="5097501" y="1593791"/>
            <a:ext cx="1379499" cy="449315"/>
          </a:xfrm>
          <a:prstGeom prst="flowChartMerg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PE</a:t>
            </a:r>
          </a:p>
        </p:txBody>
      </p:sp>
      <p:sp>
        <p:nvSpPr>
          <p:cNvPr id="39" name="TextBox 38">
            <a:extLst>
              <a:ext uri="{FF2B5EF4-FFF2-40B4-BE49-F238E27FC236}">
                <a16:creationId xmlns:a16="http://schemas.microsoft.com/office/drawing/2014/main" id="{F642D0AF-594E-A84B-9BC5-C02BF75E1788}"/>
              </a:ext>
            </a:extLst>
          </p:cNvPr>
          <p:cNvSpPr txBox="1"/>
          <p:nvPr/>
        </p:nvSpPr>
        <p:spPr>
          <a:xfrm>
            <a:off x="5787583" y="6260068"/>
            <a:ext cx="3100257" cy="369332"/>
          </a:xfrm>
          <a:prstGeom prst="rect">
            <a:avLst/>
          </a:prstGeom>
          <a:ln/>
        </p:spPr>
        <p:style>
          <a:lnRef idx="1">
            <a:schemeClr val="accent1"/>
          </a:lnRef>
          <a:fillRef idx="3">
            <a:schemeClr val="accent1"/>
          </a:fillRef>
          <a:effectRef idx="2">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RIGHT MOLECULE?</a:t>
            </a:r>
          </a:p>
        </p:txBody>
      </p:sp>
      <p:sp>
        <p:nvSpPr>
          <p:cNvPr id="40" name="TextBox 39">
            <a:extLst>
              <a:ext uri="{FF2B5EF4-FFF2-40B4-BE49-F238E27FC236}">
                <a16:creationId xmlns:a16="http://schemas.microsoft.com/office/drawing/2014/main" id="{6E89481F-92D0-3844-B265-F2D459A60319}"/>
              </a:ext>
            </a:extLst>
          </p:cNvPr>
          <p:cNvSpPr txBox="1"/>
          <p:nvPr/>
        </p:nvSpPr>
        <p:spPr>
          <a:xfrm>
            <a:off x="2637242" y="6260068"/>
            <a:ext cx="3113971"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RIGHT TARGET STRATEGY?</a:t>
            </a:r>
          </a:p>
        </p:txBody>
      </p:sp>
      <p:sp>
        <p:nvSpPr>
          <p:cNvPr id="41" name="TextBox 40">
            <a:extLst>
              <a:ext uri="{FF2B5EF4-FFF2-40B4-BE49-F238E27FC236}">
                <a16:creationId xmlns:a16="http://schemas.microsoft.com/office/drawing/2014/main" id="{B24A6F60-387B-0242-929D-D96935399E38}"/>
              </a:ext>
            </a:extLst>
          </p:cNvPr>
          <p:cNvSpPr txBox="1"/>
          <p:nvPr/>
        </p:nvSpPr>
        <p:spPr>
          <a:xfrm>
            <a:off x="153581" y="6260068"/>
            <a:ext cx="2437219" cy="369332"/>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RIGHT TARGET?</a:t>
            </a:r>
          </a:p>
        </p:txBody>
      </p:sp>
      <p:sp>
        <p:nvSpPr>
          <p:cNvPr id="42" name="Down Arrow 41">
            <a:extLst>
              <a:ext uri="{FF2B5EF4-FFF2-40B4-BE49-F238E27FC236}">
                <a16:creationId xmlns:a16="http://schemas.microsoft.com/office/drawing/2014/main" id="{E9D702FF-3FC9-7641-9683-1303F79EFF2E}"/>
              </a:ext>
            </a:extLst>
          </p:cNvPr>
          <p:cNvSpPr/>
          <p:nvPr/>
        </p:nvSpPr>
        <p:spPr>
          <a:xfrm>
            <a:off x="3657600" y="1987701"/>
            <a:ext cx="463486" cy="3917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Flowchart: Merge 19"/>
          <p:cNvSpPr/>
          <p:nvPr/>
        </p:nvSpPr>
        <p:spPr>
          <a:xfrm>
            <a:off x="1922652" y="1593791"/>
            <a:ext cx="1353948" cy="468369"/>
          </a:xfrm>
          <a:prstGeom prst="flowChartMerg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Target</a:t>
            </a:r>
          </a:p>
        </p:txBody>
      </p:sp>
      <p:sp>
        <p:nvSpPr>
          <p:cNvPr id="43" name="Rectangle 42"/>
          <p:cNvSpPr/>
          <p:nvPr/>
        </p:nvSpPr>
        <p:spPr>
          <a:xfrm>
            <a:off x="153581" y="2093269"/>
            <a:ext cx="2477530" cy="1183332"/>
          </a:xfrm>
          <a:prstGeom prst="rect">
            <a:avLst/>
          </a:prstGeom>
          <a:solidFill>
            <a:srgbClr val="00B05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Idea Generation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a:ea typeface="+mn-ea"/>
                <a:cs typeface="+mn-cs"/>
              </a:rPr>
              <a:t>TA VP proposal and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a:ea typeface="+mn-ea"/>
                <a:cs typeface="+mn-cs"/>
              </a:rPr>
              <a:t>sponsorship</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TextBox 43"/>
          <p:cNvSpPr txBox="1"/>
          <p:nvPr/>
        </p:nvSpPr>
        <p:spPr>
          <a:xfrm>
            <a:off x="8762999" y="914400"/>
            <a:ext cx="1853703"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a:ea typeface="+mn-ea"/>
                <a:cs typeface="+mn-cs"/>
              </a:rPr>
              <a:t>= 36 months, PE-FHD</a:t>
            </a:r>
          </a:p>
        </p:txBody>
      </p:sp>
      <p:sp>
        <p:nvSpPr>
          <p:cNvPr id="45" name="TextBox 44">
            <a:extLst>
              <a:ext uri="{FF2B5EF4-FFF2-40B4-BE49-F238E27FC236}">
                <a16:creationId xmlns:a16="http://schemas.microsoft.com/office/drawing/2014/main" id="{F642D0AF-594E-A84B-9BC5-C02BF75E1788}"/>
              </a:ext>
            </a:extLst>
          </p:cNvPr>
          <p:cNvSpPr txBox="1"/>
          <p:nvPr/>
        </p:nvSpPr>
        <p:spPr>
          <a:xfrm>
            <a:off x="8915400" y="6260068"/>
            <a:ext cx="3100257" cy="369332"/>
          </a:xfrm>
          <a:prstGeom prst="rect">
            <a:avLst/>
          </a:prstGeom>
          <a:ln/>
        </p:spPr>
        <p:style>
          <a:lnRef idx="1">
            <a:schemeClr val="accent1"/>
          </a:lnRef>
          <a:fillRef idx="3">
            <a:schemeClr val="accent1"/>
          </a:fillRef>
          <a:effectRef idx="2">
            <a:schemeClr val="accent1"/>
          </a:effectRef>
          <a:fontRef idx="minor">
            <a:schemeClr val="lt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RIGHT CLINICAL STRATEGY?</a:t>
            </a:r>
          </a:p>
        </p:txBody>
      </p:sp>
      <p:sp>
        <p:nvSpPr>
          <p:cNvPr id="2" name="TextBox 1">
            <a:extLst>
              <a:ext uri="{FF2B5EF4-FFF2-40B4-BE49-F238E27FC236}">
                <a16:creationId xmlns:a16="http://schemas.microsoft.com/office/drawing/2014/main" id="{E2778453-C0B7-4841-80E0-88E127355134}"/>
              </a:ext>
            </a:extLst>
          </p:cNvPr>
          <p:cNvSpPr txBox="1"/>
          <p:nvPr/>
        </p:nvSpPr>
        <p:spPr>
          <a:xfrm>
            <a:off x="4187645" y="1411839"/>
            <a:ext cx="100616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TA &amp; MIH governance visit</a:t>
            </a:r>
          </a:p>
        </p:txBody>
      </p:sp>
      <p:pic>
        <p:nvPicPr>
          <p:cNvPr id="46" name="Picture 45"/>
          <p:cNvPicPr>
            <a:picLocks noChangeAspect="1"/>
          </p:cNvPicPr>
          <p:nvPr/>
        </p:nvPicPr>
        <p:blipFill>
          <a:blip r:embed="rId3">
            <a:duotone>
              <a:prstClr val="black"/>
              <a:srgbClr val="4AA2D8">
                <a:tint val="45000"/>
                <a:satMod val="400000"/>
              </a:srgbClr>
            </a:duotone>
          </a:blip>
          <a:stretch>
            <a:fillRect/>
          </a:stretch>
        </p:blipFill>
        <p:spPr>
          <a:xfrm>
            <a:off x="10810194" y="0"/>
            <a:ext cx="1160039" cy="944391"/>
          </a:xfrm>
          <a:prstGeom prst="rect">
            <a:avLst/>
          </a:prstGeom>
        </p:spPr>
      </p:pic>
      <p:sp>
        <p:nvSpPr>
          <p:cNvPr id="47" name="TextBox 46">
            <a:extLst>
              <a:ext uri="{FF2B5EF4-FFF2-40B4-BE49-F238E27FC236}">
                <a16:creationId xmlns:a16="http://schemas.microsoft.com/office/drawing/2014/main" id="{E2778453-C0B7-4841-80E0-88E127355134}"/>
              </a:ext>
            </a:extLst>
          </p:cNvPr>
          <p:cNvSpPr txBox="1"/>
          <p:nvPr/>
        </p:nvSpPr>
        <p:spPr>
          <a:xfrm>
            <a:off x="5864237" y="1013811"/>
            <a:ext cx="899605"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TPC visit</a:t>
            </a:r>
          </a:p>
        </p:txBody>
      </p:sp>
      <p:sp>
        <p:nvSpPr>
          <p:cNvPr id="48" name="TextBox 47">
            <a:extLst>
              <a:ext uri="{FF2B5EF4-FFF2-40B4-BE49-F238E27FC236}">
                <a16:creationId xmlns:a16="http://schemas.microsoft.com/office/drawing/2014/main" id="{E2778453-C0B7-4841-80E0-88E127355134}"/>
              </a:ext>
            </a:extLst>
          </p:cNvPr>
          <p:cNvSpPr txBox="1"/>
          <p:nvPr/>
        </p:nvSpPr>
        <p:spPr>
          <a:xfrm>
            <a:off x="76200" y="1081000"/>
            <a:ext cx="155895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NGR Starts Here</a:t>
            </a:r>
          </a:p>
        </p:txBody>
      </p:sp>
      <p:sp>
        <p:nvSpPr>
          <p:cNvPr id="16" name="TextBox 15">
            <a:extLst>
              <a:ext uri="{FF2B5EF4-FFF2-40B4-BE49-F238E27FC236}">
                <a16:creationId xmlns:a16="http://schemas.microsoft.com/office/drawing/2014/main" id="{E5B5D7A5-40D2-B86C-2907-05C5EC8CBCB1}"/>
              </a:ext>
            </a:extLst>
          </p:cNvPr>
          <p:cNvSpPr txBox="1"/>
          <p:nvPr/>
        </p:nvSpPr>
        <p:spPr>
          <a:xfrm>
            <a:off x="1676288" y="1052783"/>
            <a:ext cx="179026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a:ea typeface="+mn-ea"/>
                <a:cs typeface="+mn-cs"/>
              </a:rPr>
              <a:t>TA approval</a:t>
            </a:r>
          </a:p>
        </p:txBody>
      </p:sp>
      <p:sp>
        <p:nvSpPr>
          <p:cNvPr id="18" name="TextBox 17">
            <a:extLst>
              <a:ext uri="{FF2B5EF4-FFF2-40B4-BE49-F238E27FC236}">
                <a16:creationId xmlns:a16="http://schemas.microsoft.com/office/drawing/2014/main" id="{73C7196E-9897-0D38-0771-4984BB54B638}"/>
              </a:ext>
            </a:extLst>
          </p:cNvPr>
          <p:cNvSpPr txBox="1"/>
          <p:nvPr/>
        </p:nvSpPr>
        <p:spPr>
          <a:xfrm>
            <a:off x="3095611" y="1380862"/>
            <a:ext cx="117569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Discovery COO/PPM team support begins</a:t>
            </a:r>
          </a:p>
        </p:txBody>
      </p:sp>
      <p:sp>
        <p:nvSpPr>
          <p:cNvPr id="19" name="Flowchart: Merge 18">
            <a:extLst>
              <a:ext uri="{FF2B5EF4-FFF2-40B4-BE49-F238E27FC236}">
                <a16:creationId xmlns:a16="http://schemas.microsoft.com/office/drawing/2014/main" id="{35161EE5-9A99-B540-7C21-588E7A1DD966}"/>
              </a:ext>
            </a:extLst>
          </p:cNvPr>
          <p:cNvSpPr/>
          <p:nvPr/>
        </p:nvSpPr>
        <p:spPr>
          <a:xfrm>
            <a:off x="8385706" y="1802247"/>
            <a:ext cx="1036693" cy="359869"/>
          </a:xfrm>
          <a:prstGeom prst="flowChartMerge">
            <a:avLst/>
          </a:prstGeom>
          <a:solidFill>
            <a:srgbClr val="CC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CI</a:t>
            </a:r>
          </a:p>
        </p:txBody>
      </p:sp>
      <p:sp>
        <p:nvSpPr>
          <p:cNvPr id="29" name="Flowchart: Merge 28">
            <a:extLst>
              <a:ext uri="{FF2B5EF4-FFF2-40B4-BE49-F238E27FC236}">
                <a16:creationId xmlns:a16="http://schemas.microsoft.com/office/drawing/2014/main" id="{FEF279D0-4AEE-D312-B496-03F45A051A90}"/>
              </a:ext>
            </a:extLst>
          </p:cNvPr>
          <p:cNvSpPr/>
          <p:nvPr/>
        </p:nvSpPr>
        <p:spPr>
          <a:xfrm>
            <a:off x="8714916" y="1596005"/>
            <a:ext cx="1400637" cy="479440"/>
          </a:xfrm>
          <a:prstGeom prst="flowChartMerg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CS</a:t>
            </a:r>
          </a:p>
        </p:txBody>
      </p:sp>
      <p:sp>
        <p:nvSpPr>
          <p:cNvPr id="35" name="Flowchart: Merge 34">
            <a:extLst>
              <a:ext uri="{FF2B5EF4-FFF2-40B4-BE49-F238E27FC236}">
                <a16:creationId xmlns:a16="http://schemas.microsoft.com/office/drawing/2014/main" id="{0447CEDA-FF4C-1B0C-2180-EA0FDF7FDE2A}"/>
              </a:ext>
            </a:extLst>
          </p:cNvPr>
          <p:cNvSpPr/>
          <p:nvPr/>
        </p:nvSpPr>
        <p:spPr>
          <a:xfrm>
            <a:off x="11197245" y="1690524"/>
            <a:ext cx="1036693" cy="359869"/>
          </a:xfrm>
          <a:prstGeom prst="flowChartMerg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POC</a:t>
            </a:r>
          </a:p>
        </p:txBody>
      </p:sp>
    </p:spTree>
    <p:extLst>
      <p:ext uri="{BB962C8B-B14F-4D97-AF65-F5344CB8AC3E}">
        <p14:creationId xmlns:p14="http://schemas.microsoft.com/office/powerpoint/2010/main" val="13357011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EDC1838-079B-23DE-4F3A-C46799775E70}"/>
              </a:ext>
            </a:extLst>
          </p:cNvPr>
          <p:cNvSpPr>
            <a:spLocks noGrp="1"/>
          </p:cNvSpPr>
          <p:nvPr>
            <p:ph type="title"/>
          </p:nvPr>
        </p:nvSpPr>
        <p:spPr/>
        <p:txBody>
          <a:bodyPr/>
          <a:lstStyle/>
          <a:p>
            <a:r>
              <a:rPr lang="en-US"/>
              <a:t>Portfolio Administrative Milestones</a:t>
            </a:r>
          </a:p>
        </p:txBody>
      </p:sp>
      <p:sp>
        <p:nvSpPr>
          <p:cNvPr id="4" name="Content Placeholder 3">
            <a:extLst>
              <a:ext uri="{FF2B5EF4-FFF2-40B4-BE49-F238E27FC236}">
                <a16:creationId xmlns:a16="http://schemas.microsoft.com/office/drawing/2014/main" id="{0D048C4D-75A7-614E-2AF4-3503A1B9922C}"/>
              </a:ext>
            </a:extLst>
          </p:cNvPr>
          <p:cNvSpPr>
            <a:spLocks noGrp="1"/>
          </p:cNvSpPr>
          <p:nvPr>
            <p:ph idx="1"/>
          </p:nvPr>
        </p:nvSpPr>
        <p:spPr>
          <a:xfrm>
            <a:off x="838200" y="1825625"/>
            <a:ext cx="10515600" cy="4536689"/>
          </a:xfrm>
        </p:spPr>
        <p:txBody>
          <a:bodyPr vert="horz" lIns="91440" tIns="45720" rIns="91440" bIns="45720" rtlCol="0" anchor="t">
            <a:normAutofit lnSpcReduction="10000"/>
          </a:bodyPr>
          <a:lstStyle/>
          <a:p>
            <a:r>
              <a:rPr lang="en-US" sz="2000" i="0" u="none" strike="noStrike" baseline="0">
                <a:solidFill>
                  <a:srgbClr val="000000"/>
                </a:solidFill>
                <a:latin typeface="Calibri"/>
                <a:cs typeface="Calibri"/>
              </a:rPr>
              <a:t>These are milestone that are not forecasted, but are entered into Prism as needed, based on the administrative task at hand.</a:t>
            </a:r>
            <a:r>
              <a:rPr lang="en-US" sz="2000">
                <a:solidFill>
                  <a:srgbClr val="000000"/>
                </a:solidFill>
                <a:latin typeface="Calibri"/>
                <a:cs typeface="Calibri"/>
              </a:rPr>
              <a:t> </a:t>
            </a:r>
            <a:endParaRPr lang="en-US" sz="2000" i="0" u="none" strike="noStrike" baseline="0">
              <a:solidFill>
                <a:srgbClr val="000000"/>
              </a:solidFill>
              <a:latin typeface="Calibri" panose="020F0502020204030204" pitchFamily="34" charset="0"/>
            </a:endParaRPr>
          </a:p>
          <a:p>
            <a:pPr lvl="1"/>
            <a:r>
              <a:rPr lang="en-US" sz="1600" b="1" i="0" u="none" strike="noStrike" baseline="0">
                <a:solidFill>
                  <a:srgbClr val="000000"/>
                </a:solidFill>
                <a:latin typeface="Calibri"/>
                <a:cs typeface="Calibri"/>
              </a:rPr>
              <a:t>Initiate</a:t>
            </a:r>
            <a:r>
              <a:rPr lang="en-US" sz="1600" b="0" i="0" u="none" strike="noStrike" baseline="0">
                <a:solidFill>
                  <a:srgbClr val="000000"/>
                </a:solidFill>
                <a:latin typeface="Calibri"/>
                <a:cs typeface="Calibri"/>
              </a:rPr>
              <a:t>: Date the project is created within our Portfolio Management Systems and we have started to track progress on the asset. This can be at or prior to Portfolio Entry (PE).</a:t>
            </a:r>
            <a:r>
              <a:rPr lang="en-US" sz="1600">
                <a:solidFill>
                  <a:srgbClr val="000000"/>
                </a:solidFill>
                <a:latin typeface="Calibri"/>
                <a:cs typeface="Calibri"/>
              </a:rPr>
              <a:t>  </a:t>
            </a:r>
            <a:r>
              <a:rPr lang="en-US" sz="1600">
                <a:solidFill>
                  <a:srgbClr val="FF0000"/>
                </a:solidFill>
                <a:latin typeface="Calibri"/>
                <a:cs typeface="Calibri"/>
              </a:rPr>
              <a:t>This is critical to capture in the Discovery space.</a:t>
            </a:r>
            <a:endParaRPr lang="en-US" sz="1600" b="0" i="0" u="none" strike="noStrike" baseline="0">
              <a:solidFill>
                <a:srgbClr val="000000"/>
              </a:solidFill>
              <a:latin typeface="Calibri" panose="020F0502020204030204" pitchFamily="34" charset="0"/>
              <a:cs typeface="Calibri"/>
            </a:endParaRPr>
          </a:p>
          <a:p>
            <a:pPr lvl="1"/>
            <a:r>
              <a:rPr lang="en-US" sz="1600" b="1" i="0" u="none" strike="noStrike" baseline="0">
                <a:solidFill>
                  <a:srgbClr val="000000"/>
                </a:solidFill>
                <a:latin typeface="Calibri"/>
                <a:cs typeface="Calibri"/>
              </a:rPr>
              <a:t>Termination</a:t>
            </a:r>
            <a:r>
              <a:rPr lang="en-US" sz="1600" b="0" i="0" u="none" strike="noStrike" baseline="0">
                <a:solidFill>
                  <a:srgbClr val="000000"/>
                </a:solidFill>
                <a:latin typeface="Calibri"/>
                <a:cs typeface="Calibri"/>
              </a:rPr>
              <a:t>: Date at which an R&amp;D project is removed from the active Lilly Portfolio due to a governance decision or an outright divesture of a Lilly asset. (Lilly </a:t>
            </a:r>
            <a:r>
              <a:rPr lang="en-US" sz="1600" b="1" i="0" u="none" strike="noStrike" baseline="0">
                <a:solidFill>
                  <a:srgbClr val="000000"/>
                </a:solidFill>
                <a:latin typeface="Calibri"/>
                <a:cs typeface="Calibri"/>
              </a:rPr>
              <a:t>no longer </a:t>
            </a:r>
            <a:r>
              <a:rPr lang="en-US" sz="1600" b="0" i="0" u="none" strike="noStrike" baseline="0">
                <a:solidFill>
                  <a:srgbClr val="000000"/>
                </a:solidFill>
                <a:latin typeface="Calibri"/>
                <a:cs typeface="Calibri"/>
              </a:rPr>
              <a:t>makes decisions, conducts development work, or funds activities.)  </a:t>
            </a:r>
            <a:r>
              <a:rPr lang="en-US" sz="1600" b="0" i="0" u="none" strike="noStrike" baseline="0">
                <a:solidFill>
                  <a:srgbClr val="FF0000"/>
                </a:solidFill>
                <a:latin typeface="Calibri"/>
                <a:cs typeface="Calibri"/>
              </a:rPr>
              <a:t>Also critical for Discovery – accuracy matters, and timing of “sharing” requires good judgement.</a:t>
            </a:r>
            <a:endParaRPr lang="en-US" sz="1600" b="0" i="0" u="none" strike="noStrike" baseline="0">
              <a:solidFill>
                <a:srgbClr val="000000"/>
              </a:solidFill>
              <a:latin typeface="Calibri"/>
              <a:cs typeface="Calibri"/>
            </a:endParaRPr>
          </a:p>
          <a:p>
            <a:pPr lvl="1"/>
            <a:r>
              <a:rPr lang="en-US" sz="1600" b="1" i="0" u="none" strike="noStrike" baseline="0">
                <a:solidFill>
                  <a:srgbClr val="000000"/>
                </a:solidFill>
                <a:latin typeface="Calibri"/>
                <a:cs typeface="Calibri"/>
              </a:rPr>
              <a:t>Parked</a:t>
            </a:r>
            <a:r>
              <a:rPr lang="en-US" sz="1600" b="0" i="0" u="none" strike="noStrike" baseline="0">
                <a:solidFill>
                  <a:srgbClr val="000000"/>
                </a:solidFill>
                <a:latin typeface="Calibri"/>
                <a:cs typeface="Calibri"/>
              </a:rPr>
              <a:t>: Date at which an R&amp;D project is considered to be inactive (no longer part of the active Portfolio) but does not meet the requirements described by a termination. Entry into Parked status is intended to be a </a:t>
            </a:r>
            <a:r>
              <a:rPr lang="en-US" sz="1600" b="1" i="0" u="none" strike="noStrike" baseline="0">
                <a:solidFill>
                  <a:srgbClr val="000000"/>
                </a:solidFill>
                <a:latin typeface="Calibri"/>
                <a:cs typeface="Calibri"/>
              </a:rPr>
              <a:t>short-term </a:t>
            </a:r>
            <a:r>
              <a:rPr lang="en-US" sz="1600" b="0" i="0" u="none" strike="noStrike" baseline="0">
                <a:solidFill>
                  <a:srgbClr val="000000"/>
                </a:solidFill>
                <a:latin typeface="Calibri"/>
                <a:cs typeface="Calibri"/>
              </a:rPr>
              <a:t>status (less than 6 months) for unfunded projects with the strategic intent of future value creation based on reactivation of active development at a future date. For these projects, no new development activity or investment is planned beyond the governance approved in-scope completion of work as outlined in the “parked resource plan”. Following completion of parked resource plan, only minimal LRL/BU resources will be applied to support partnership seeking or attendant out-licensing activities. Projects will be placed in this status pending:</a:t>
            </a:r>
            <a:r>
              <a:rPr lang="en-US" sz="1600">
                <a:solidFill>
                  <a:srgbClr val="000000"/>
                </a:solidFill>
                <a:latin typeface="Calibri"/>
                <a:cs typeface="Calibri"/>
              </a:rPr>
              <a:t> </a:t>
            </a:r>
            <a:endParaRPr lang="en-US" sz="1600" b="0" i="0" u="none" strike="noStrike" baseline="0">
              <a:solidFill>
                <a:srgbClr val="000000"/>
              </a:solidFill>
              <a:latin typeface="Calibri" panose="020F0502020204030204" pitchFamily="34" charset="0"/>
              <a:cs typeface="Calibri"/>
            </a:endParaRPr>
          </a:p>
          <a:p>
            <a:pPr lvl="1"/>
            <a:r>
              <a:rPr lang="en-US" sz="1600" b="1" i="0" u="none" strike="noStrike" baseline="0">
                <a:solidFill>
                  <a:srgbClr val="000000"/>
                </a:solidFill>
                <a:latin typeface="Calibri"/>
                <a:cs typeface="Calibri"/>
              </a:rPr>
              <a:t>Reactivate</a:t>
            </a:r>
            <a:r>
              <a:rPr lang="en-US" sz="1600" b="0" i="0" u="none" strike="noStrike" baseline="0">
                <a:solidFill>
                  <a:srgbClr val="000000"/>
                </a:solidFill>
                <a:latin typeface="Calibri"/>
                <a:cs typeface="Calibri"/>
              </a:rPr>
              <a:t>: Date which a parked or terminated asset re-enters into the active Portfolio, and the project team has approved scope for execution in our Portfolio.</a:t>
            </a:r>
            <a:r>
              <a:rPr lang="en-US" sz="1600">
                <a:solidFill>
                  <a:srgbClr val="000000"/>
                </a:solidFill>
                <a:latin typeface="Calibri"/>
                <a:cs typeface="Calibri"/>
              </a:rPr>
              <a:t> </a:t>
            </a:r>
            <a:endParaRPr lang="en-US" sz="1600" b="0" i="0" u="none" strike="noStrike" baseline="0">
              <a:solidFill>
                <a:srgbClr val="000000"/>
              </a:solidFill>
              <a:latin typeface="Calibri" panose="020F0502020204030204" pitchFamily="34" charset="0"/>
              <a:cs typeface="Calibri"/>
            </a:endParaRPr>
          </a:p>
          <a:p>
            <a:pPr lvl="1"/>
            <a:r>
              <a:rPr lang="en-US" sz="1600" b="1" i="0" u="none" strike="noStrike" baseline="0">
                <a:solidFill>
                  <a:srgbClr val="000000"/>
                </a:solidFill>
                <a:latin typeface="Calibri"/>
                <a:cs typeface="Calibri"/>
              </a:rPr>
              <a:t>Alliance Start</a:t>
            </a:r>
            <a:r>
              <a:rPr lang="en-US" sz="1600" b="0" i="0" u="none" strike="noStrike" baseline="0">
                <a:solidFill>
                  <a:srgbClr val="000000"/>
                </a:solidFill>
                <a:latin typeface="Calibri"/>
                <a:cs typeface="Calibri"/>
              </a:rPr>
              <a:t>: Date a contract is signed with an alliance partner.</a:t>
            </a:r>
            <a:r>
              <a:rPr lang="en-US" sz="1600">
                <a:solidFill>
                  <a:srgbClr val="000000"/>
                </a:solidFill>
                <a:latin typeface="Calibri"/>
                <a:cs typeface="Calibri"/>
              </a:rPr>
              <a:t> </a:t>
            </a:r>
            <a:endParaRPr lang="en-US" sz="1600" b="0" i="0" u="none" strike="noStrike" baseline="0">
              <a:solidFill>
                <a:srgbClr val="000000"/>
              </a:solidFill>
              <a:latin typeface="Calibri" panose="020F0502020204030204" pitchFamily="34" charset="0"/>
              <a:cs typeface="Calibri"/>
            </a:endParaRPr>
          </a:p>
          <a:p>
            <a:pPr lvl="1"/>
            <a:r>
              <a:rPr lang="en-US" sz="1600" b="1" i="0" u="none" strike="noStrike" baseline="0">
                <a:solidFill>
                  <a:srgbClr val="000000"/>
                </a:solidFill>
                <a:latin typeface="Calibri"/>
                <a:cs typeface="Calibri"/>
              </a:rPr>
              <a:t>Alliance Stop</a:t>
            </a:r>
            <a:r>
              <a:rPr lang="en-US" sz="1600" b="0" i="0" u="none" strike="noStrike" baseline="0">
                <a:solidFill>
                  <a:srgbClr val="000000"/>
                </a:solidFill>
                <a:latin typeface="Calibri"/>
                <a:cs typeface="Calibri"/>
              </a:rPr>
              <a:t>: Date a contract is terminated with an alliance partner.</a:t>
            </a:r>
            <a:r>
              <a:rPr lang="en-US" sz="1600">
                <a:solidFill>
                  <a:srgbClr val="000000"/>
                </a:solidFill>
                <a:latin typeface="Calibri"/>
                <a:cs typeface="Calibri"/>
              </a:rPr>
              <a:t> </a:t>
            </a:r>
            <a:endParaRPr lang="en-US"/>
          </a:p>
        </p:txBody>
      </p:sp>
    </p:spTree>
    <p:extLst>
      <p:ext uri="{BB962C8B-B14F-4D97-AF65-F5344CB8AC3E}">
        <p14:creationId xmlns:p14="http://schemas.microsoft.com/office/powerpoint/2010/main" val="17336995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D6D0-8C16-3118-90E0-BC838C7013FB}"/>
              </a:ext>
            </a:extLst>
          </p:cNvPr>
          <p:cNvSpPr>
            <a:spLocks noGrp="1"/>
          </p:cNvSpPr>
          <p:nvPr>
            <p:ph type="ctrTitle"/>
          </p:nvPr>
        </p:nvSpPr>
        <p:spPr/>
        <p:txBody>
          <a:bodyPr>
            <a:normAutofit fontScale="90000"/>
          </a:bodyPr>
          <a:lstStyle/>
          <a:p>
            <a:r>
              <a:rPr lang="en-US"/>
              <a:t>A glimpse of our diverse Discovery portfolio &amp; unique challenges</a:t>
            </a:r>
            <a:br>
              <a:rPr lang="en-US"/>
            </a:br>
            <a:br>
              <a:rPr lang="en-US"/>
            </a:br>
            <a:r>
              <a:rPr lang="en-US"/>
              <a:t>	(from COO presentation, Sept 2023)</a:t>
            </a:r>
          </a:p>
        </p:txBody>
      </p:sp>
      <p:sp>
        <p:nvSpPr>
          <p:cNvPr id="5" name="Footer Placeholder 4">
            <a:extLst>
              <a:ext uri="{FF2B5EF4-FFF2-40B4-BE49-F238E27FC236}">
                <a16:creationId xmlns:a16="http://schemas.microsoft.com/office/drawing/2014/main" id="{BCB62066-1948-0FD0-C4C2-F2F0E87A079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DIN-Regular"/>
                <a:ea typeface="+mn-ea"/>
              </a:rPr>
              <a:t>Company Confidential  ©2014 Eli Lilly and Company </a:t>
            </a:r>
          </a:p>
        </p:txBody>
      </p:sp>
      <p:sp>
        <p:nvSpPr>
          <p:cNvPr id="6" name="Slide Number Placeholder 5">
            <a:extLst>
              <a:ext uri="{FF2B5EF4-FFF2-40B4-BE49-F238E27FC236}">
                <a16:creationId xmlns:a16="http://schemas.microsoft.com/office/drawing/2014/main" id="{DE00F0A0-20D1-6E99-7151-CA2AB45F66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A079B0-34FF-9449-83ED-AEDF3F6C1CC6}" type="slidenum">
              <a:rPr kumimoji="0" lang="en-US" sz="800" b="0" i="0" u="none" strike="noStrike" kern="1200" cap="none" spc="0" normalizeH="0" baseline="0" noProof="0" smtClean="0">
                <a:ln>
                  <a:noFill/>
                </a:ln>
                <a:solidFill>
                  <a:srgbClr val="FFFFFF"/>
                </a:solidFill>
                <a:effectLst/>
                <a:uLnTx/>
                <a:uFillTx/>
                <a:latin typeface="DIN-Regular"/>
                <a:ea typeface="+mn-ea"/>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1200" cap="none" spc="0" normalizeH="0" baseline="0" noProof="0">
              <a:ln>
                <a:noFill/>
              </a:ln>
              <a:solidFill>
                <a:srgbClr val="FFFFFF"/>
              </a:solidFill>
              <a:effectLst/>
              <a:uLnTx/>
              <a:uFillTx/>
              <a:latin typeface="DIN-Regular"/>
              <a:ea typeface="+mn-ea"/>
            </a:endParaRPr>
          </a:p>
        </p:txBody>
      </p:sp>
    </p:spTree>
    <p:extLst>
      <p:ext uri="{BB962C8B-B14F-4D97-AF65-F5344CB8AC3E}">
        <p14:creationId xmlns:p14="http://schemas.microsoft.com/office/powerpoint/2010/main" val="119514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67382-0370-DA1C-A9E4-FA4CD8023F71}"/>
              </a:ext>
            </a:extLst>
          </p:cNvPr>
          <p:cNvSpPr>
            <a:spLocks noGrp="1"/>
          </p:cNvSpPr>
          <p:nvPr>
            <p:ph type="title"/>
          </p:nvPr>
        </p:nvSpPr>
        <p:spPr/>
        <p:txBody>
          <a:bodyPr>
            <a:normAutofit fontScale="90000"/>
          </a:bodyPr>
          <a:lstStyle/>
          <a:p>
            <a:r>
              <a:rPr lang="en-US"/>
              <a:t>Small Molecule  </a:t>
            </a:r>
            <a:br>
              <a:rPr lang="en-US"/>
            </a:br>
            <a:r>
              <a:rPr lang="en-US" sz="2200"/>
              <a:t>Not much has changed. Few opportunities for acceleration.</a:t>
            </a:r>
            <a:endParaRPr lang="en-US"/>
          </a:p>
        </p:txBody>
      </p:sp>
      <p:sp>
        <p:nvSpPr>
          <p:cNvPr id="4" name="Date Placeholder 3">
            <a:extLst>
              <a:ext uri="{FF2B5EF4-FFF2-40B4-BE49-F238E27FC236}">
                <a16:creationId xmlns:a16="http://schemas.microsoft.com/office/drawing/2014/main" id="{B9FB1A34-5D30-99A2-7D2F-F14B062DADC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SAPR R&amp;D Strategy Review Template</a:t>
            </a:r>
          </a:p>
        </p:txBody>
      </p:sp>
      <p:sp>
        <p:nvSpPr>
          <p:cNvPr id="5" name="Footer Placeholder 4">
            <a:extLst>
              <a:ext uri="{FF2B5EF4-FFF2-40B4-BE49-F238E27FC236}">
                <a16:creationId xmlns:a16="http://schemas.microsoft.com/office/drawing/2014/main" id="{0D4E2E80-02C2-D1AD-69BD-4FF7ADFD6BB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Company Confidential  ©2014 Eli Lilly and Company </a:t>
            </a:r>
          </a:p>
        </p:txBody>
      </p:sp>
      <p:sp>
        <p:nvSpPr>
          <p:cNvPr id="6" name="Slide Number Placeholder 5">
            <a:extLst>
              <a:ext uri="{FF2B5EF4-FFF2-40B4-BE49-F238E27FC236}">
                <a16:creationId xmlns:a16="http://schemas.microsoft.com/office/drawing/2014/main" id="{26EAF2E5-8F3A-0036-5D5D-713C5A126D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A079B0-34FF-9449-83ED-AEDF3F6C1CC6}" type="slidenum">
              <a:rPr kumimoji="0" lang="en-US" sz="800" b="0" i="0" u="none" strike="noStrike" kern="1200" cap="none" spc="0" normalizeH="0" baseline="0" noProof="0" smtClean="0">
                <a:ln>
                  <a:noFill/>
                </a:ln>
                <a:solidFill>
                  <a:srgbClr val="86786F"/>
                </a:solidFill>
                <a:effectLst/>
                <a:uLnTx/>
                <a:uFillTx/>
                <a:latin typeface="DIN-Regular"/>
                <a:ea typeface="+mn-ea"/>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800" b="0" i="0" u="none" strike="noStrike" kern="1200" cap="none" spc="0" normalizeH="0" baseline="0" noProof="0">
              <a:ln>
                <a:noFill/>
              </a:ln>
              <a:solidFill>
                <a:srgbClr val="86786F"/>
              </a:solidFill>
              <a:effectLst/>
              <a:uLnTx/>
              <a:uFillTx/>
              <a:latin typeface="DIN-Regular"/>
              <a:ea typeface="+mn-ea"/>
            </a:endParaRPr>
          </a:p>
        </p:txBody>
      </p:sp>
      <p:pic>
        <p:nvPicPr>
          <p:cNvPr id="8" name="Picture 7">
            <a:extLst>
              <a:ext uri="{FF2B5EF4-FFF2-40B4-BE49-F238E27FC236}">
                <a16:creationId xmlns:a16="http://schemas.microsoft.com/office/drawing/2014/main" id="{2F587768-3990-1250-EE27-AE8040038607}"/>
              </a:ext>
            </a:extLst>
          </p:cNvPr>
          <p:cNvPicPr>
            <a:picLocks noChangeAspect="1"/>
          </p:cNvPicPr>
          <p:nvPr/>
        </p:nvPicPr>
        <p:blipFill rotWithShape="1">
          <a:blip r:embed="rId2"/>
          <a:srcRect l="5769" t="2441" r="3509" b="5466"/>
          <a:stretch/>
        </p:blipFill>
        <p:spPr>
          <a:xfrm>
            <a:off x="354199" y="1140901"/>
            <a:ext cx="8103767" cy="3959605"/>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A7069A83-9B55-9D8E-F013-A104BF14B4E5}"/>
              </a:ext>
            </a:extLst>
          </p:cNvPr>
          <p:cNvPicPr>
            <a:picLocks noChangeAspect="1"/>
          </p:cNvPicPr>
          <p:nvPr/>
        </p:nvPicPr>
        <p:blipFill>
          <a:blip r:embed="rId3"/>
          <a:stretch>
            <a:fillRect/>
          </a:stretch>
        </p:blipFill>
        <p:spPr>
          <a:xfrm>
            <a:off x="5357463" y="4154999"/>
            <a:ext cx="6912207" cy="29305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1021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DAFD8-E78D-999E-705A-E7B5522BB4CF}"/>
              </a:ext>
            </a:extLst>
          </p:cNvPr>
          <p:cNvSpPr>
            <a:spLocks noGrp="1"/>
          </p:cNvSpPr>
          <p:nvPr>
            <p:ph type="title"/>
          </p:nvPr>
        </p:nvSpPr>
        <p:spPr/>
        <p:txBody>
          <a:bodyPr>
            <a:normAutofit fontScale="90000"/>
          </a:bodyPr>
          <a:lstStyle/>
          <a:p>
            <a:r>
              <a:rPr lang="en-US"/>
              <a:t>siRNA 2021 RD </a:t>
            </a:r>
            <a:br>
              <a:rPr lang="en-US"/>
            </a:br>
            <a:r>
              <a:rPr lang="en-US" sz="2200"/>
              <a:t>Built off very limited experience</a:t>
            </a:r>
            <a:endParaRPr lang="en-US"/>
          </a:p>
        </p:txBody>
      </p:sp>
      <p:sp>
        <p:nvSpPr>
          <p:cNvPr id="4" name="Date Placeholder 3">
            <a:extLst>
              <a:ext uri="{FF2B5EF4-FFF2-40B4-BE49-F238E27FC236}">
                <a16:creationId xmlns:a16="http://schemas.microsoft.com/office/drawing/2014/main" id="{9C101FA1-C36A-854A-E803-6ACD140EEF0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SAPR R&amp;D Strategy Review Template</a:t>
            </a:r>
          </a:p>
        </p:txBody>
      </p:sp>
      <p:sp>
        <p:nvSpPr>
          <p:cNvPr id="5" name="Footer Placeholder 4">
            <a:extLst>
              <a:ext uri="{FF2B5EF4-FFF2-40B4-BE49-F238E27FC236}">
                <a16:creationId xmlns:a16="http://schemas.microsoft.com/office/drawing/2014/main" id="{CC867271-1961-3812-2EA6-F03A4988672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Company Confidential  ©2014 Eli Lilly and Company </a:t>
            </a:r>
          </a:p>
        </p:txBody>
      </p:sp>
      <p:sp>
        <p:nvSpPr>
          <p:cNvPr id="6" name="Slide Number Placeholder 5">
            <a:extLst>
              <a:ext uri="{FF2B5EF4-FFF2-40B4-BE49-F238E27FC236}">
                <a16:creationId xmlns:a16="http://schemas.microsoft.com/office/drawing/2014/main" id="{8800F92E-27A0-EB79-995F-073F075775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A079B0-34FF-9449-83ED-AEDF3F6C1CC6}" type="slidenum">
              <a:rPr kumimoji="0" lang="en-US" sz="800" b="0" i="0" u="none" strike="noStrike" kern="1200" cap="none" spc="0" normalizeH="0" baseline="0" noProof="0" smtClean="0">
                <a:ln>
                  <a:noFill/>
                </a:ln>
                <a:solidFill>
                  <a:srgbClr val="86786F"/>
                </a:solidFill>
                <a:effectLst/>
                <a:uLnTx/>
                <a:uFillTx/>
                <a:latin typeface="DIN-Regular"/>
                <a:ea typeface="+mn-ea"/>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a:ln>
                <a:noFill/>
              </a:ln>
              <a:solidFill>
                <a:srgbClr val="86786F"/>
              </a:solidFill>
              <a:effectLst/>
              <a:uLnTx/>
              <a:uFillTx/>
              <a:latin typeface="DIN-Regular"/>
              <a:ea typeface="+mn-ea"/>
            </a:endParaRPr>
          </a:p>
        </p:txBody>
      </p:sp>
      <p:pic>
        <p:nvPicPr>
          <p:cNvPr id="8" name="Picture 7">
            <a:extLst>
              <a:ext uri="{FF2B5EF4-FFF2-40B4-BE49-F238E27FC236}">
                <a16:creationId xmlns:a16="http://schemas.microsoft.com/office/drawing/2014/main" id="{9DA1C67C-EE17-4A1C-9624-19918EE8F777}"/>
              </a:ext>
            </a:extLst>
          </p:cNvPr>
          <p:cNvPicPr>
            <a:picLocks noChangeAspect="1"/>
          </p:cNvPicPr>
          <p:nvPr/>
        </p:nvPicPr>
        <p:blipFill>
          <a:blip r:embed="rId2"/>
          <a:stretch>
            <a:fillRect/>
          </a:stretch>
        </p:blipFill>
        <p:spPr>
          <a:xfrm>
            <a:off x="144317" y="1834294"/>
            <a:ext cx="11903365" cy="3687275"/>
          </a:xfrm>
          <a:prstGeom prst="rect">
            <a:avLst/>
          </a:prstGeom>
        </p:spPr>
      </p:pic>
    </p:spTree>
    <p:extLst>
      <p:ext uri="{BB962C8B-B14F-4D97-AF65-F5344CB8AC3E}">
        <p14:creationId xmlns:p14="http://schemas.microsoft.com/office/powerpoint/2010/main" val="9302970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FD3A2-6101-1CDC-9617-C88AEE8A8390}"/>
              </a:ext>
            </a:extLst>
          </p:cNvPr>
          <p:cNvSpPr>
            <a:spLocks noGrp="1"/>
          </p:cNvSpPr>
          <p:nvPr>
            <p:ph type="title"/>
          </p:nvPr>
        </p:nvSpPr>
        <p:spPr/>
        <p:txBody>
          <a:bodyPr>
            <a:normAutofit fontScale="90000"/>
          </a:bodyPr>
          <a:lstStyle/>
          <a:p>
            <a:r>
              <a:rPr lang="en-US"/>
              <a:t>siRNA 2023 RD – Lots of learnings in two short years</a:t>
            </a:r>
            <a:br>
              <a:rPr lang="en-US"/>
            </a:br>
            <a:r>
              <a:rPr lang="en-US" sz="2200"/>
              <a:t>New archetypes for CNS (IT administration) &amp; Non-CNS (</a:t>
            </a:r>
            <a:r>
              <a:rPr lang="en-US" sz="2200" err="1"/>
              <a:t>GalNAc</a:t>
            </a:r>
            <a:r>
              <a:rPr lang="en-US" sz="2200"/>
              <a:t> </a:t>
            </a:r>
            <a:r>
              <a:rPr lang="en-US" sz="2200" err="1"/>
              <a:t>conj</a:t>
            </a:r>
            <a:r>
              <a:rPr lang="en-US" sz="2200"/>
              <a:t>)</a:t>
            </a:r>
            <a:endParaRPr lang="en-US"/>
          </a:p>
        </p:txBody>
      </p:sp>
      <p:sp>
        <p:nvSpPr>
          <p:cNvPr id="4" name="Date Placeholder 3">
            <a:extLst>
              <a:ext uri="{FF2B5EF4-FFF2-40B4-BE49-F238E27FC236}">
                <a16:creationId xmlns:a16="http://schemas.microsoft.com/office/drawing/2014/main" id="{298AFDCA-61ED-50E6-22ED-A1DDED3584D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SAPR R&amp;D Strategy Review Template</a:t>
            </a:r>
          </a:p>
        </p:txBody>
      </p:sp>
      <p:sp>
        <p:nvSpPr>
          <p:cNvPr id="5" name="Footer Placeholder 4">
            <a:extLst>
              <a:ext uri="{FF2B5EF4-FFF2-40B4-BE49-F238E27FC236}">
                <a16:creationId xmlns:a16="http://schemas.microsoft.com/office/drawing/2014/main" id="{CC2E61CE-5A8A-75CD-CE3F-010FDD905DF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86786F"/>
                </a:solidFill>
                <a:effectLst/>
                <a:uLnTx/>
                <a:uFillTx/>
                <a:latin typeface="DIN-Regular"/>
                <a:ea typeface="+mn-ea"/>
              </a:rPr>
              <a:t>Company Confidential  ©2014 Eli Lilly and Company </a:t>
            </a:r>
          </a:p>
        </p:txBody>
      </p:sp>
      <p:sp>
        <p:nvSpPr>
          <p:cNvPr id="6" name="Slide Number Placeholder 5">
            <a:extLst>
              <a:ext uri="{FF2B5EF4-FFF2-40B4-BE49-F238E27FC236}">
                <a16:creationId xmlns:a16="http://schemas.microsoft.com/office/drawing/2014/main" id="{DAD7634D-05B0-2D88-E4A6-E8B16A18C4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A079B0-34FF-9449-83ED-AEDF3F6C1CC6}" type="slidenum">
              <a:rPr kumimoji="0" lang="en-US" sz="800" b="0" i="0" u="none" strike="noStrike" kern="1200" cap="none" spc="0" normalizeH="0" baseline="0" noProof="0" smtClean="0">
                <a:ln>
                  <a:noFill/>
                </a:ln>
                <a:solidFill>
                  <a:srgbClr val="86786F"/>
                </a:solidFill>
                <a:effectLst/>
                <a:uLnTx/>
                <a:uFillTx/>
                <a:latin typeface="DIN-Regular"/>
                <a:ea typeface="+mn-ea"/>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800" b="0" i="0" u="none" strike="noStrike" kern="1200" cap="none" spc="0" normalizeH="0" baseline="0" noProof="0">
              <a:ln>
                <a:noFill/>
              </a:ln>
              <a:solidFill>
                <a:srgbClr val="86786F"/>
              </a:solidFill>
              <a:effectLst/>
              <a:uLnTx/>
              <a:uFillTx/>
              <a:latin typeface="DIN-Regular"/>
              <a:ea typeface="+mn-ea"/>
            </a:endParaRPr>
          </a:p>
        </p:txBody>
      </p:sp>
      <p:pic>
        <p:nvPicPr>
          <p:cNvPr id="8" name="Picture 7">
            <a:extLst>
              <a:ext uri="{FF2B5EF4-FFF2-40B4-BE49-F238E27FC236}">
                <a16:creationId xmlns:a16="http://schemas.microsoft.com/office/drawing/2014/main" id="{9063A3ED-5729-F9C1-B974-CA7547255AE6}"/>
              </a:ext>
            </a:extLst>
          </p:cNvPr>
          <p:cNvPicPr>
            <a:picLocks noChangeAspect="1"/>
          </p:cNvPicPr>
          <p:nvPr/>
        </p:nvPicPr>
        <p:blipFill>
          <a:blip r:embed="rId2"/>
          <a:stretch>
            <a:fillRect/>
          </a:stretch>
        </p:blipFill>
        <p:spPr>
          <a:xfrm>
            <a:off x="349812" y="1280805"/>
            <a:ext cx="6448425" cy="3057525"/>
          </a:xfrm>
          <a:prstGeom prst="rect">
            <a:avLst/>
          </a:prstGeom>
          <a:ln w="12700">
            <a:solidFill>
              <a:schemeClr val="tx1"/>
            </a:solidFill>
          </a:ln>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7EC84017-4846-0AA7-CC4E-B19FE8D727DF}"/>
              </a:ext>
            </a:extLst>
          </p:cNvPr>
          <p:cNvPicPr>
            <a:picLocks noChangeAspect="1"/>
          </p:cNvPicPr>
          <p:nvPr/>
        </p:nvPicPr>
        <p:blipFill>
          <a:blip r:embed="rId3"/>
          <a:stretch>
            <a:fillRect/>
          </a:stretch>
        </p:blipFill>
        <p:spPr>
          <a:xfrm>
            <a:off x="5489013" y="3321705"/>
            <a:ext cx="6353175" cy="2857500"/>
          </a:xfrm>
          <a:prstGeom prst="rect">
            <a:avLst/>
          </a:prstGeom>
          <a:ln w="12700">
            <a:solidFill>
              <a:schemeClr val="tx1"/>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55812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ounded Rectangle 36"/>
          <p:cNvSpPr/>
          <p:nvPr/>
        </p:nvSpPr>
        <p:spPr>
          <a:xfrm>
            <a:off x="5791200" y="868680"/>
            <a:ext cx="5445208" cy="5989320"/>
          </a:xfrm>
          <a:prstGeom prst="roundRect">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Rounded Rectangle 35"/>
          <p:cNvSpPr/>
          <p:nvPr/>
        </p:nvSpPr>
        <p:spPr>
          <a:xfrm>
            <a:off x="0" y="868680"/>
            <a:ext cx="5602070" cy="5973975"/>
          </a:xfrm>
          <a:prstGeom prst="roundRect">
            <a:avLst/>
          </a:prstGeom>
          <a:solidFill>
            <a:schemeClr val="accent1">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p:txBody>
          <a:bodyPr/>
          <a:lstStyle/>
          <a:p>
            <a:r>
              <a:rPr lang="en-US" b="1"/>
              <a:t>Orientation: Target and Molecule Identification Engine</a:t>
            </a:r>
          </a:p>
        </p:txBody>
      </p:sp>
      <p:graphicFrame>
        <p:nvGraphicFramePr>
          <p:cNvPr id="3" name="Diagram 2"/>
          <p:cNvGraphicFramePr/>
          <p:nvPr/>
        </p:nvGraphicFramePr>
        <p:xfrm>
          <a:off x="0" y="1524000"/>
          <a:ext cx="2362200" cy="2240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nvGraphicFramePr>
        <p:xfrm>
          <a:off x="2743200" y="1447800"/>
          <a:ext cx="2263302" cy="2362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5" name="Diagram 4"/>
          <p:cNvGraphicFramePr/>
          <p:nvPr/>
        </p:nvGraphicFramePr>
        <p:xfrm>
          <a:off x="6041598" y="1447800"/>
          <a:ext cx="2212232" cy="229362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7" name="Diagram 6"/>
          <p:cNvGraphicFramePr/>
          <p:nvPr/>
        </p:nvGraphicFramePr>
        <p:xfrm>
          <a:off x="8690923" y="1493520"/>
          <a:ext cx="2362200" cy="2240280"/>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
        <p:nvSpPr>
          <p:cNvPr id="8" name="Right Arrow 7"/>
          <p:cNvSpPr/>
          <p:nvPr/>
        </p:nvSpPr>
        <p:spPr>
          <a:xfrm>
            <a:off x="2198395" y="2514600"/>
            <a:ext cx="626865" cy="228600"/>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ounded Rectangle 12"/>
          <p:cNvSpPr/>
          <p:nvPr/>
        </p:nvSpPr>
        <p:spPr>
          <a:xfrm>
            <a:off x="457200" y="3810000"/>
            <a:ext cx="1371600" cy="457200"/>
          </a:xfrm>
          <a:prstGeom prst="round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Target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Identification</a:t>
            </a:r>
          </a:p>
        </p:txBody>
      </p:sp>
      <p:sp>
        <p:nvSpPr>
          <p:cNvPr id="14" name="Rounded Rectangle 13"/>
          <p:cNvSpPr/>
          <p:nvPr/>
        </p:nvSpPr>
        <p:spPr>
          <a:xfrm>
            <a:off x="3200400" y="3810000"/>
            <a:ext cx="1371600" cy="457200"/>
          </a:xfrm>
          <a:prstGeom prst="round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Target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Validation</a:t>
            </a:r>
          </a:p>
        </p:txBody>
      </p:sp>
      <p:sp>
        <p:nvSpPr>
          <p:cNvPr id="15" name="Rounded Rectangle 14"/>
          <p:cNvSpPr/>
          <p:nvPr/>
        </p:nvSpPr>
        <p:spPr>
          <a:xfrm>
            <a:off x="6425030" y="3810000"/>
            <a:ext cx="1371600" cy="457200"/>
          </a:xfrm>
          <a:prstGeom prst="round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Target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Evaluation</a:t>
            </a:r>
          </a:p>
        </p:txBody>
      </p:sp>
      <p:sp>
        <p:nvSpPr>
          <p:cNvPr id="16" name="Rounded Rectangle 15"/>
          <p:cNvSpPr/>
          <p:nvPr/>
        </p:nvSpPr>
        <p:spPr>
          <a:xfrm>
            <a:off x="9144000" y="3810000"/>
            <a:ext cx="1371600" cy="457200"/>
          </a:xfrm>
          <a:prstGeom prst="roundRect">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Target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libri"/>
                <a:ea typeface="+mn-ea"/>
                <a:cs typeface="+mn-cs"/>
              </a:rPr>
              <a:t>Execution</a:t>
            </a:r>
          </a:p>
        </p:txBody>
      </p:sp>
      <p:sp>
        <p:nvSpPr>
          <p:cNvPr id="19" name="TextBox 18"/>
          <p:cNvSpPr txBox="1"/>
          <p:nvPr/>
        </p:nvSpPr>
        <p:spPr>
          <a:xfrm>
            <a:off x="914400" y="975608"/>
            <a:ext cx="3947914" cy="323151"/>
          </a:xfrm>
          <a:prstGeom prst="rect">
            <a:avLst/>
          </a:prstGeom>
          <a:noFill/>
        </p:spPr>
        <p:txBody>
          <a:bodyPr wrap="none" lIns="91427" tIns="45713" rIns="91427" bIns="45713" rtlCol="0">
            <a:spAutoFit/>
          </a:bodyPr>
          <a:lstStyle/>
          <a:p>
            <a:pPr marL="0" marR="0" lvl="0" indent="0" algn="l" defTabSz="914236"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a:ln>
                  <a:noFill/>
                </a:ln>
                <a:solidFill>
                  <a:prstClr val="black"/>
                </a:solidFill>
                <a:effectLst/>
                <a:uLnTx/>
                <a:uFillTx/>
                <a:latin typeface="Calibri"/>
                <a:ea typeface="+mn-ea"/>
                <a:cs typeface="+mn-cs"/>
              </a:rPr>
              <a:t>Idea Generation: Should We Pursue the Target?</a:t>
            </a:r>
          </a:p>
        </p:txBody>
      </p:sp>
      <p:sp>
        <p:nvSpPr>
          <p:cNvPr id="20" name="TextBox 19"/>
          <p:cNvSpPr txBox="1"/>
          <p:nvPr/>
        </p:nvSpPr>
        <p:spPr>
          <a:xfrm>
            <a:off x="6400800" y="953388"/>
            <a:ext cx="4233056" cy="323151"/>
          </a:xfrm>
          <a:prstGeom prst="rect">
            <a:avLst/>
          </a:prstGeom>
          <a:noFill/>
        </p:spPr>
        <p:txBody>
          <a:bodyPr wrap="none" lIns="91427" tIns="45713" rIns="91427" bIns="45713" rtlCol="0">
            <a:spAutoFit/>
          </a:bodyPr>
          <a:lstStyle/>
          <a:p>
            <a:pPr marL="0" marR="0" lvl="0" indent="0" algn="l" defTabSz="914236" rtl="0" eaLnBrk="1" fontAlgn="auto" latinLnBrk="0" hangingPunct="1">
              <a:lnSpc>
                <a:spcPct val="100000"/>
              </a:lnSpc>
              <a:spcBef>
                <a:spcPts val="0"/>
              </a:spcBef>
              <a:spcAft>
                <a:spcPts val="0"/>
              </a:spcAft>
              <a:buClrTx/>
              <a:buSzTx/>
              <a:buFontTx/>
              <a:buNone/>
              <a:tabLst/>
              <a:defRPr/>
            </a:pPr>
            <a:r>
              <a:rPr kumimoji="0" lang="en-US" sz="1500" b="1" i="1" u="none" strike="noStrike" kern="1200" cap="none" spc="0" normalizeH="0" baseline="0" noProof="0" err="1">
                <a:ln>
                  <a:noFill/>
                </a:ln>
                <a:solidFill>
                  <a:prstClr val="black"/>
                </a:solidFill>
                <a:effectLst/>
                <a:uLnTx/>
                <a:uFillTx/>
                <a:latin typeface="Calibri"/>
                <a:ea typeface="+mn-ea"/>
                <a:cs typeface="+mn-cs"/>
              </a:rPr>
              <a:t>Druggability</a:t>
            </a:r>
            <a:r>
              <a:rPr kumimoji="0" lang="en-US" sz="1500" b="1" i="1" u="none" strike="noStrike" kern="1200" cap="none" spc="0" normalizeH="0" baseline="0" noProof="0">
                <a:ln>
                  <a:noFill/>
                </a:ln>
                <a:solidFill>
                  <a:prstClr val="black"/>
                </a:solidFill>
                <a:effectLst/>
                <a:uLnTx/>
                <a:uFillTx/>
                <a:latin typeface="Calibri"/>
                <a:ea typeface="+mn-ea"/>
                <a:cs typeface="+mn-cs"/>
              </a:rPr>
              <a:t> Assessment: Can We Drug the Target?</a:t>
            </a:r>
          </a:p>
        </p:txBody>
      </p:sp>
      <p:sp>
        <p:nvSpPr>
          <p:cNvPr id="23" name="TextBox 22"/>
          <p:cNvSpPr txBox="1"/>
          <p:nvPr/>
        </p:nvSpPr>
        <p:spPr>
          <a:xfrm>
            <a:off x="2000059" y="2743200"/>
            <a:ext cx="971741"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Potential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Novel Target</a:t>
            </a:r>
          </a:p>
        </p:txBody>
      </p:sp>
      <p:sp>
        <p:nvSpPr>
          <p:cNvPr id="24" name="TextBox 23"/>
          <p:cNvSpPr txBox="1"/>
          <p:nvPr/>
        </p:nvSpPr>
        <p:spPr>
          <a:xfrm>
            <a:off x="5029200" y="2676436"/>
            <a:ext cx="971741" cy="6001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Higher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Confidence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Novel Target</a:t>
            </a:r>
          </a:p>
        </p:txBody>
      </p:sp>
      <p:sp>
        <p:nvSpPr>
          <p:cNvPr id="25" name="TextBox 24"/>
          <p:cNvSpPr txBox="1"/>
          <p:nvPr/>
        </p:nvSpPr>
        <p:spPr>
          <a:xfrm>
            <a:off x="8001000" y="2656711"/>
            <a:ext cx="995786" cy="6001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Ligand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Identification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Strategy</a:t>
            </a:r>
          </a:p>
        </p:txBody>
      </p:sp>
      <p:sp>
        <p:nvSpPr>
          <p:cNvPr id="26" name="Right Arrow 25"/>
          <p:cNvSpPr/>
          <p:nvPr/>
        </p:nvSpPr>
        <p:spPr>
          <a:xfrm>
            <a:off x="4937460" y="2479201"/>
            <a:ext cx="1158540" cy="228600"/>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ight Arrow 26"/>
          <p:cNvSpPr/>
          <p:nvPr/>
        </p:nvSpPr>
        <p:spPr>
          <a:xfrm>
            <a:off x="8184935" y="2447836"/>
            <a:ext cx="626865" cy="228600"/>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11205717" y="2647275"/>
            <a:ext cx="833883" cy="6001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Chemical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Hits with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Trajectory</a:t>
            </a:r>
          </a:p>
        </p:txBody>
      </p:sp>
      <p:sp>
        <p:nvSpPr>
          <p:cNvPr id="30" name="Right Arrow 29"/>
          <p:cNvSpPr/>
          <p:nvPr/>
        </p:nvSpPr>
        <p:spPr>
          <a:xfrm>
            <a:off x="10896601" y="2438400"/>
            <a:ext cx="990600" cy="218311"/>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134728" y="4385608"/>
            <a:ext cx="2332236" cy="193899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Identify Target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Has target pathway been validated?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Preclinical</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Clinical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Does manipulation of target affect disease hypothesis?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Preliminary Asset Profile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TA and Functional alignment on target</a:t>
            </a:r>
          </a:p>
        </p:txBody>
      </p:sp>
      <p:sp>
        <p:nvSpPr>
          <p:cNvPr id="33" name="TextBox 32"/>
          <p:cNvSpPr txBox="1"/>
          <p:nvPr/>
        </p:nvSpPr>
        <p:spPr>
          <a:xfrm>
            <a:off x="5867400" y="4191000"/>
            <a:ext cx="2895601" cy="2677656"/>
          </a:xfrm>
          <a:prstGeom prst="rect">
            <a:avLst/>
          </a:prstGeom>
          <a:noFill/>
        </p:spPr>
        <p:txBody>
          <a:bodyPr wrap="square" rtlCol="0">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Assessment of target </a:t>
            </a:r>
            <a:r>
              <a:rPr kumimoji="0" lang="en-US" sz="1200" b="0" i="0" u="none" strike="noStrike" kern="1200" cap="none" spc="0" normalizeH="0" baseline="0" noProof="0" err="1">
                <a:ln>
                  <a:noFill/>
                </a:ln>
                <a:solidFill>
                  <a:prstClr val="black"/>
                </a:solidFill>
                <a:effectLst/>
                <a:uLnTx/>
                <a:uFillTx/>
                <a:latin typeface="Calibri"/>
                <a:ea typeface="+mn-ea"/>
                <a:cs typeface="+mn-cs"/>
              </a:rPr>
              <a:t>ligandability</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2857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Define hypotheses for desired human performance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Develop assays/flow scheme to allow identification and initial SAR exploration of ligands of interest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Enable structural biology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Characterize the mechanistic ADME opportunities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Initial assessment of </a:t>
            </a:r>
            <a:r>
              <a:rPr kumimoji="0" lang="en-US" sz="1200" b="0" i="0" u="none" strike="noStrike" kern="1200" cap="none" spc="0" normalizeH="0" baseline="0" noProof="0" err="1">
                <a:ln>
                  <a:noFill/>
                </a:ln>
                <a:solidFill>
                  <a:prstClr val="black"/>
                </a:solidFill>
                <a:effectLst/>
                <a:uLnTx/>
                <a:uFillTx/>
                <a:latin typeface="Calibri"/>
                <a:ea typeface="+mn-ea"/>
                <a:cs typeface="+mn-cs"/>
              </a:rPr>
              <a:t>druggability</a:t>
            </a:r>
            <a:r>
              <a:rPr kumimoji="0" lang="en-US" sz="1200" b="0" i="0" u="none" strike="noStrike" kern="1200" cap="none" spc="0" normalizeH="0" baseline="0" noProof="0">
                <a:ln>
                  <a:noFill/>
                </a:ln>
                <a:solidFill>
                  <a:prstClr val="black"/>
                </a:solidFill>
                <a:effectLst/>
                <a:uLnTx/>
                <a:uFillTx/>
                <a:latin typeface="Calibri"/>
                <a:ea typeface="+mn-ea"/>
                <a:cs typeface="+mn-cs"/>
              </a:rPr>
              <a:t> of potential ligand series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Box 33"/>
          <p:cNvSpPr txBox="1"/>
          <p:nvPr/>
        </p:nvSpPr>
        <p:spPr>
          <a:xfrm>
            <a:off x="2476500" y="4353342"/>
            <a:ext cx="2933700" cy="249299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Identify modality to be pursued (SM, LM, Peptide, </a:t>
            </a:r>
            <a:r>
              <a:rPr kumimoji="0" lang="en-US" sz="1200" b="0" i="0" u="none" strike="noStrike" kern="1200" cap="none" spc="0" normalizeH="0" baseline="0" noProof="0" err="1">
                <a:ln>
                  <a:noFill/>
                </a:ln>
                <a:solidFill>
                  <a:prstClr val="black"/>
                </a:solidFill>
                <a:effectLst/>
                <a:uLnTx/>
                <a:uFillTx/>
                <a:latin typeface="Calibri"/>
                <a:ea typeface="+mn-ea"/>
                <a:cs typeface="+mn-cs"/>
              </a:rPr>
              <a:t>etc</a:t>
            </a:r>
            <a:r>
              <a:rPr kumimoji="0" lang="en-US" sz="1200" b="0" i="0" u="none" strike="noStrike" kern="1200" cap="none" spc="0" normalizeH="0" baseline="0" noProof="0">
                <a:ln>
                  <a:noFill/>
                </a:ln>
                <a:solidFill>
                  <a:prstClr val="black"/>
                </a:solidFill>
                <a:effectLst/>
                <a:uLnTx/>
                <a:uFillTx/>
                <a:latin typeface="Calibri"/>
                <a:ea typeface="+mn-ea"/>
                <a:cs typeface="+mn-cs"/>
              </a:rPr>
              <a:t>) &amp; align on plan to develop molecules (TA/PSAT/BSG)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Identify mode of target intervention (</a:t>
            </a:r>
            <a:r>
              <a:rPr kumimoji="0" lang="en-US" sz="1200" b="0" i="0" u="none" strike="noStrike" kern="1200" cap="none" spc="0" normalizeH="0" baseline="0" noProof="0" err="1">
                <a:ln>
                  <a:noFill/>
                </a:ln>
                <a:solidFill>
                  <a:prstClr val="black"/>
                </a:solidFill>
                <a:effectLst/>
                <a:uLnTx/>
                <a:uFillTx/>
                <a:latin typeface="Calibri"/>
                <a:ea typeface="+mn-ea"/>
                <a:cs typeface="+mn-cs"/>
              </a:rPr>
              <a:t>Agonism</a:t>
            </a:r>
            <a:r>
              <a:rPr kumimoji="0" lang="en-US" sz="1200" b="0" i="0" u="none" strike="noStrike" kern="1200" cap="none" spc="0" normalizeH="0" baseline="0" noProof="0">
                <a:ln>
                  <a:noFill/>
                </a:ln>
                <a:solidFill>
                  <a:prstClr val="black"/>
                </a:solidFill>
                <a:effectLst/>
                <a:uLnTx/>
                <a:uFillTx/>
                <a:latin typeface="Calibri"/>
                <a:ea typeface="+mn-ea"/>
                <a:cs typeface="+mn-cs"/>
              </a:rPr>
              <a:t>, Antagonism, inhibition, </a:t>
            </a:r>
            <a:r>
              <a:rPr kumimoji="0" lang="en-US" sz="1200" b="0" i="0" u="none" strike="noStrike" kern="1200" cap="none" spc="0" normalizeH="0" baseline="0" noProof="0" err="1">
                <a:ln>
                  <a:noFill/>
                </a:ln>
                <a:solidFill>
                  <a:prstClr val="black"/>
                </a:solidFill>
                <a:effectLst/>
                <a:uLnTx/>
                <a:uFillTx/>
                <a:latin typeface="Calibri"/>
                <a:ea typeface="+mn-ea"/>
                <a:cs typeface="+mn-cs"/>
              </a:rPr>
              <a:t>etc</a:t>
            </a:r>
            <a:r>
              <a:rPr kumimoji="0" lang="en-US" sz="1200" b="0" i="0" u="none" strike="noStrike" kern="1200" cap="none" spc="0" normalizeH="0" baseline="0" noProof="0">
                <a:ln>
                  <a:noFill/>
                </a:ln>
                <a:solidFill>
                  <a:prstClr val="black"/>
                </a:solidFill>
                <a:effectLst/>
                <a:uLnTx/>
                <a:uFillTx/>
                <a:latin typeface="Calibri"/>
                <a:ea typeface="+mn-ea"/>
                <a:cs typeface="+mn-cs"/>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Begin generating data package for target pharmacology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Reagents to support primary assay development and structural biology that enable compound discovery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Initial Safety Assessment &amp; associated strategy (potential target-based &amp; molecule based liabilities)</a:t>
            </a:r>
          </a:p>
        </p:txBody>
      </p:sp>
      <p:sp>
        <p:nvSpPr>
          <p:cNvPr id="35" name="TextBox 34"/>
          <p:cNvSpPr txBox="1"/>
          <p:nvPr/>
        </p:nvSpPr>
        <p:spPr>
          <a:xfrm>
            <a:off x="8692935" y="4417874"/>
            <a:ext cx="2643190" cy="230832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Triage molecules based on projected trajectory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Confirm MOA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Confirm target binding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Further development of asset profile</a:t>
            </a:r>
            <a:endParaRPr kumimoji="0" lang="en-US" sz="1200" b="0" i="0" u="none" strike="sngStrike" kern="1200" cap="none" spc="0" normalizeH="0" baseline="0" noProof="0">
              <a:ln>
                <a:noFill/>
              </a:ln>
              <a:solidFill>
                <a:prstClr val="black"/>
              </a:solidFill>
              <a:effectLst/>
              <a:uLnTx/>
              <a:uFillTx/>
              <a:latin typeface="Calibri"/>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Evaluate PK/PD relationships and mechanistic ADME opportunities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Refine asset profile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a:ea typeface="+mn-ea"/>
                <a:cs typeface="+mn-cs"/>
              </a:rPr>
              <a:t>Alignment with TA/PSAT/BSG for PE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Rounded Rectangle 5"/>
          <p:cNvSpPr/>
          <p:nvPr/>
        </p:nvSpPr>
        <p:spPr>
          <a:xfrm>
            <a:off x="4724400" y="3733800"/>
            <a:ext cx="1600200" cy="609600"/>
          </a:xfrm>
          <a:prstGeom prst="roundRect">
            <a:avLst/>
          </a:prstGeom>
          <a:solidFill>
            <a:srgbClr val="FFC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What are the Deliverables?</a:t>
            </a:r>
          </a:p>
        </p:txBody>
      </p:sp>
      <p:sp>
        <p:nvSpPr>
          <p:cNvPr id="38" name="Rounded Rectangle 37"/>
          <p:cNvSpPr/>
          <p:nvPr/>
        </p:nvSpPr>
        <p:spPr>
          <a:xfrm>
            <a:off x="10591800" y="3733800"/>
            <a:ext cx="1600200" cy="609600"/>
          </a:xfrm>
          <a:prstGeom prst="roundRect">
            <a:avLst/>
          </a:prstGeom>
          <a:solidFill>
            <a:srgbClr val="FFC000"/>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a:ea typeface="+mn-ea"/>
                <a:cs typeface="+mn-cs"/>
              </a:rPr>
              <a:t>What are the Deliverables?</a:t>
            </a:r>
          </a:p>
        </p:txBody>
      </p:sp>
      <p:sp>
        <p:nvSpPr>
          <p:cNvPr id="31" name="Flowchart: Merge 30"/>
          <p:cNvSpPr/>
          <p:nvPr/>
        </p:nvSpPr>
        <p:spPr>
          <a:xfrm>
            <a:off x="10588346" y="1574543"/>
            <a:ext cx="1539541" cy="545803"/>
          </a:xfrm>
          <a:prstGeom prst="flowChartMerg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PE</a:t>
            </a:r>
          </a:p>
        </p:txBody>
      </p:sp>
      <p:sp>
        <p:nvSpPr>
          <p:cNvPr id="39" name="Flowchart: Merge 38"/>
          <p:cNvSpPr/>
          <p:nvPr/>
        </p:nvSpPr>
        <p:spPr>
          <a:xfrm>
            <a:off x="4937459" y="1523482"/>
            <a:ext cx="1539541" cy="581199"/>
          </a:xfrm>
          <a:prstGeom prst="flowChartMerg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a:ea typeface="+mn-ea"/>
                <a:cs typeface="+mn-cs"/>
              </a:rPr>
              <a:t>Target</a:t>
            </a:r>
          </a:p>
        </p:txBody>
      </p:sp>
    </p:spTree>
    <p:extLst>
      <p:ext uri="{BB962C8B-B14F-4D97-AF65-F5344CB8AC3E}">
        <p14:creationId xmlns:p14="http://schemas.microsoft.com/office/powerpoint/2010/main" val="33014301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2ED8-3BF8-0E76-F7CB-B572D0A80365}"/>
              </a:ext>
            </a:extLst>
          </p:cNvPr>
          <p:cNvSpPr>
            <a:spLocks noGrp="1"/>
          </p:cNvSpPr>
          <p:nvPr>
            <p:ph type="title"/>
          </p:nvPr>
        </p:nvSpPr>
        <p:spPr/>
        <p:txBody>
          <a:bodyPr>
            <a:normAutofit/>
          </a:bodyPr>
          <a:lstStyle/>
          <a:p>
            <a:r>
              <a:rPr lang="en-US"/>
              <a:t>Portfolio composition by modality has evolved since 2017</a:t>
            </a:r>
          </a:p>
        </p:txBody>
      </p:sp>
      <p:grpSp>
        <p:nvGrpSpPr>
          <p:cNvPr id="3" name="Group 2">
            <a:extLst>
              <a:ext uri="{FF2B5EF4-FFF2-40B4-BE49-F238E27FC236}">
                <a16:creationId xmlns:a16="http://schemas.microsoft.com/office/drawing/2014/main" id="{F161EB37-8C38-E690-E9C7-7103BA7CA768}"/>
              </a:ext>
            </a:extLst>
          </p:cNvPr>
          <p:cNvGrpSpPr/>
          <p:nvPr/>
        </p:nvGrpSpPr>
        <p:grpSpPr>
          <a:xfrm>
            <a:off x="284243" y="5059873"/>
            <a:ext cx="1946113" cy="1629057"/>
            <a:chOff x="404037" y="679503"/>
            <a:chExt cx="1946113" cy="1629057"/>
          </a:xfrm>
        </p:grpSpPr>
        <p:sp>
          <p:nvSpPr>
            <p:cNvPr id="4" name="Rectangle 3">
              <a:extLst>
                <a:ext uri="{FF2B5EF4-FFF2-40B4-BE49-F238E27FC236}">
                  <a16:creationId xmlns:a16="http://schemas.microsoft.com/office/drawing/2014/main" id="{5D21C5AD-1211-43F0-82A2-2931AB788B18}"/>
                </a:ext>
              </a:extLst>
            </p:cNvPr>
            <p:cNvSpPr/>
            <p:nvPr/>
          </p:nvSpPr>
          <p:spPr>
            <a:xfrm>
              <a:off x="404037" y="733082"/>
              <a:ext cx="245668" cy="154452"/>
            </a:xfrm>
            <a:prstGeom prst="rect">
              <a:avLst/>
            </a:prstGeom>
            <a:solidFill>
              <a:srgbClr val="4472C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C6D20B41-6A66-1738-7F8A-1DC43EC57D57}"/>
                </a:ext>
              </a:extLst>
            </p:cNvPr>
            <p:cNvSpPr txBox="1"/>
            <p:nvPr/>
          </p:nvSpPr>
          <p:spPr>
            <a:xfrm>
              <a:off x="729299" y="679503"/>
              <a:ext cx="70403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Antibody</a:t>
              </a:r>
            </a:p>
          </p:txBody>
        </p:sp>
        <p:sp>
          <p:nvSpPr>
            <p:cNvPr id="6" name="Rectangle 5">
              <a:extLst>
                <a:ext uri="{FF2B5EF4-FFF2-40B4-BE49-F238E27FC236}">
                  <a16:creationId xmlns:a16="http://schemas.microsoft.com/office/drawing/2014/main" id="{6BF0C12B-E3E2-06D3-ADF6-CA452FE5FBB3}"/>
                </a:ext>
              </a:extLst>
            </p:cNvPr>
            <p:cNvSpPr/>
            <p:nvPr/>
          </p:nvSpPr>
          <p:spPr>
            <a:xfrm>
              <a:off x="404037" y="1056111"/>
              <a:ext cx="245668" cy="154452"/>
            </a:xfrm>
            <a:prstGeom prst="rect">
              <a:avLst/>
            </a:prstGeom>
            <a:solidFill>
              <a:srgbClr val="B4C7E7"/>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AFA2569F-2BF9-61B5-5D5A-1A848EFDD782}"/>
                </a:ext>
              </a:extLst>
            </p:cNvPr>
            <p:cNvSpPr txBox="1"/>
            <p:nvPr/>
          </p:nvSpPr>
          <p:spPr>
            <a:xfrm>
              <a:off x="729298" y="1002532"/>
              <a:ext cx="62388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Peptide</a:t>
              </a:r>
            </a:p>
          </p:txBody>
        </p:sp>
        <p:sp>
          <p:nvSpPr>
            <p:cNvPr id="8" name="Rectangle 7">
              <a:extLst>
                <a:ext uri="{FF2B5EF4-FFF2-40B4-BE49-F238E27FC236}">
                  <a16:creationId xmlns:a16="http://schemas.microsoft.com/office/drawing/2014/main" id="{25FB82AB-D891-1C34-AEEB-81801B98E652}"/>
                </a:ext>
              </a:extLst>
            </p:cNvPr>
            <p:cNvSpPr/>
            <p:nvPr/>
          </p:nvSpPr>
          <p:spPr>
            <a:xfrm>
              <a:off x="404037" y="1405311"/>
              <a:ext cx="245668" cy="154452"/>
            </a:xfrm>
            <a:prstGeom prst="rect">
              <a:avLst/>
            </a:prstGeom>
            <a:solidFill>
              <a:srgbClr val="DAE3F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286042D9-BDA6-EC0F-E8B9-F4D96AE966CC}"/>
                </a:ext>
              </a:extLst>
            </p:cNvPr>
            <p:cNvSpPr txBox="1"/>
            <p:nvPr/>
          </p:nvSpPr>
          <p:spPr>
            <a:xfrm>
              <a:off x="725987" y="1351732"/>
              <a:ext cx="1056700"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Small Molecule</a:t>
              </a:r>
            </a:p>
          </p:txBody>
        </p:sp>
        <p:sp>
          <p:nvSpPr>
            <p:cNvPr id="10" name="Rectangle 9">
              <a:extLst>
                <a:ext uri="{FF2B5EF4-FFF2-40B4-BE49-F238E27FC236}">
                  <a16:creationId xmlns:a16="http://schemas.microsoft.com/office/drawing/2014/main" id="{3CE0E556-1297-259E-70F7-DD1CEE73BE9E}"/>
                </a:ext>
              </a:extLst>
            </p:cNvPr>
            <p:cNvSpPr/>
            <p:nvPr/>
          </p:nvSpPr>
          <p:spPr>
            <a:xfrm>
              <a:off x="404037" y="1749771"/>
              <a:ext cx="245668" cy="154452"/>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486F244-6471-597E-C3D8-BB6E4EAE5B1E}"/>
                </a:ext>
              </a:extLst>
            </p:cNvPr>
            <p:cNvSpPr txBox="1"/>
            <p:nvPr/>
          </p:nvSpPr>
          <p:spPr>
            <a:xfrm>
              <a:off x="718914" y="1696192"/>
              <a:ext cx="521297"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siRNA</a:t>
              </a:r>
            </a:p>
          </p:txBody>
        </p:sp>
        <p:sp>
          <p:nvSpPr>
            <p:cNvPr id="12" name="Rectangle 11">
              <a:extLst>
                <a:ext uri="{FF2B5EF4-FFF2-40B4-BE49-F238E27FC236}">
                  <a16:creationId xmlns:a16="http://schemas.microsoft.com/office/drawing/2014/main" id="{506525D0-293D-3113-3626-DAECC60B4FC0}"/>
                </a:ext>
              </a:extLst>
            </p:cNvPr>
            <p:cNvSpPr/>
            <p:nvPr/>
          </p:nvSpPr>
          <p:spPr>
            <a:xfrm>
              <a:off x="404037" y="2100529"/>
              <a:ext cx="245668" cy="154452"/>
            </a:xfrm>
            <a:prstGeom prst="rect">
              <a:avLst/>
            </a:prstGeom>
            <a:solidFill>
              <a:srgbClr val="9966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A67A089E-A4AB-1C78-FCDF-4E731AC9BE57}"/>
                </a:ext>
              </a:extLst>
            </p:cNvPr>
            <p:cNvSpPr txBox="1"/>
            <p:nvPr/>
          </p:nvSpPr>
          <p:spPr>
            <a:xfrm>
              <a:off x="725987" y="2046950"/>
              <a:ext cx="1624163"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Antibody Drug Conjugate</a:t>
              </a:r>
            </a:p>
          </p:txBody>
        </p:sp>
      </p:grpSp>
      <p:sp>
        <p:nvSpPr>
          <p:cNvPr id="14" name="TextBox 13">
            <a:extLst>
              <a:ext uri="{FF2B5EF4-FFF2-40B4-BE49-F238E27FC236}">
                <a16:creationId xmlns:a16="http://schemas.microsoft.com/office/drawing/2014/main" id="{575B03D2-B305-312E-EA6B-5329D6676C64}"/>
              </a:ext>
            </a:extLst>
          </p:cNvPr>
          <p:cNvSpPr txBox="1"/>
          <p:nvPr/>
        </p:nvSpPr>
        <p:spPr>
          <a:xfrm>
            <a:off x="190500" y="3449839"/>
            <a:ext cx="5128327"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black"/>
                </a:solidFill>
                <a:effectLst/>
                <a:uLnTx/>
                <a:uFillTx/>
                <a:latin typeface="Calibri" panose="020F0502020204030204"/>
                <a:ea typeface="+mn-ea"/>
                <a:cs typeface="+mn-cs"/>
              </a:rPr>
              <a:t>Candidate Selections Achieved (2017-2022) | Breakdown of Candidates (%) by modality</a:t>
            </a:r>
          </a:p>
        </p:txBody>
      </p:sp>
      <p:sp>
        <p:nvSpPr>
          <p:cNvPr id="15" name="Rectangle 14">
            <a:extLst>
              <a:ext uri="{FF2B5EF4-FFF2-40B4-BE49-F238E27FC236}">
                <a16:creationId xmlns:a16="http://schemas.microsoft.com/office/drawing/2014/main" id="{56124F53-2C95-73E9-CA34-251C32F81EE8}"/>
              </a:ext>
            </a:extLst>
          </p:cNvPr>
          <p:cNvSpPr/>
          <p:nvPr/>
        </p:nvSpPr>
        <p:spPr>
          <a:xfrm>
            <a:off x="190500" y="1323975"/>
            <a:ext cx="11763375" cy="210502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ooter Placeholder 3">
            <a:extLst>
              <a:ext uri="{FF2B5EF4-FFF2-40B4-BE49-F238E27FC236}">
                <a16:creationId xmlns:a16="http://schemas.microsoft.com/office/drawing/2014/main" id="{80E43FD1-2857-CAE5-F880-2A4CCFABC690}"/>
              </a:ext>
            </a:extLst>
          </p:cNvPr>
          <p:cNvSpPr txBox="1">
            <a:spLocks/>
          </p:cNvSpPr>
          <p:nvPr/>
        </p:nvSpPr>
        <p:spPr>
          <a:xfrm>
            <a:off x="4038600" y="6618511"/>
            <a:ext cx="4114800" cy="1833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Company Confidential © 2023 Eli Lilly and Company</a:t>
            </a:r>
          </a:p>
        </p:txBody>
      </p:sp>
      <p:sp>
        <p:nvSpPr>
          <p:cNvPr id="17" name="Slide Number Placeholder 4">
            <a:extLst>
              <a:ext uri="{FF2B5EF4-FFF2-40B4-BE49-F238E27FC236}">
                <a16:creationId xmlns:a16="http://schemas.microsoft.com/office/drawing/2014/main" id="{622DE8B2-D4DC-65FC-7B0C-A1887195C55C}"/>
              </a:ext>
            </a:extLst>
          </p:cNvPr>
          <p:cNvSpPr txBox="1">
            <a:spLocks/>
          </p:cNvSpPr>
          <p:nvPr/>
        </p:nvSpPr>
        <p:spPr>
          <a:xfrm>
            <a:off x="8610600" y="6618511"/>
            <a:ext cx="2743200" cy="1833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9779B876-C45A-8B59-B786-05B7D0782C71}"/>
              </a:ext>
            </a:extLst>
          </p:cNvPr>
          <p:cNvGrpSpPr/>
          <p:nvPr/>
        </p:nvGrpSpPr>
        <p:grpSpPr>
          <a:xfrm>
            <a:off x="-252022" y="1446293"/>
            <a:ext cx="12696043" cy="1928814"/>
            <a:chOff x="-447643" y="749981"/>
            <a:chExt cx="12696043" cy="1928814"/>
          </a:xfrm>
        </p:grpSpPr>
        <p:graphicFrame>
          <p:nvGraphicFramePr>
            <p:cNvPr id="21" name="Chart 20">
              <a:extLst>
                <a:ext uri="{FF2B5EF4-FFF2-40B4-BE49-F238E27FC236}">
                  <a16:creationId xmlns:a16="http://schemas.microsoft.com/office/drawing/2014/main" id="{77C1838B-F292-5241-FFBA-F67B76747EFF}"/>
                </a:ext>
              </a:extLst>
            </p:cNvPr>
            <p:cNvGraphicFramePr>
              <a:graphicFrameLocks/>
            </p:cNvGraphicFramePr>
            <p:nvPr/>
          </p:nvGraphicFramePr>
          <p:xfrm>
            <a:off x="-447643" y="749982"/>
            <a:ext cx="3474118" cy="192881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2" name="Chart 21">
              <a:extLst>
                <a:ext uri="{FF2B5EF4-FFF2-40B4-BE49-F238E27FC236}">
                  <a16:creationId xmlns:a16="http://schemas.microsoft.com/office/drawing/2014/main" id="{8B88F6A1-38A6-E84B-E9DE-A341C7F6D336}"/>
                </a:ext>
              </a:extLst>
            </p:cNvPr>
            <p:cNvGraphicFramePr>
              <a:graphicFrameLocks/>
            </p:cNvGraphicFramePr>
            <p:nvPr/>
          </p:nvGraphicFramePr>
          <p:xfrm>
            <a:off x="1514034" y="749982"/>
            <a:ext cx="3474118" cy="19288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a:extLst>
                <a:ext uri="{FF2B5EF4-FFF2-40B4-BE49-F238E27FC236}">
                  <a16:creationId xmlns:a16="http://schemas.microsoft.com/office/drawing/2014/main" id="{AE13EEF7-A9ED-5526-5877-EA4BADE6D2B7}"/>
                </a:ext>
              </a:extLst>
            </p:cNvPr>
            <p:cNvGraphicFramePr>
              <a:graphicFrameLocks/>
            </p:cNvGraphicFramePr>
            <p:nvPr/>
          </p:nvGraphicFramePr>
          <p:xfrm>
            <a:off x="3432014" y="749982"/>
            <a:ext cx="3474118" cy="19288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Chart 23">
              <a:extLst>
                <a:ext uri="{FF2B5EF4-FFF2-40B4-BE49-F238E27FC236}">
                  <a16:creationId xmlns:a16="http://schemas.microsoft.com/office/drawing/2014/main" id="{4474BA43-33BD-C541-DE43-4ACCD1B40349}"/>
                </a:ext>
              </a:extLst>
            </p:cNvPr>
            <p:cNvGraphicFramePr>
              <a:graphicFrameLocks/>
            </p:cNvGraphicFramePr>
            <p:nvPr/>
          </p:nvGraphicFramePr>
          <p:xfrm>
            <a:off x="5212770" y="749981"/>
            <a:ext cx="3474118" cy="19288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5" name="Chart 24">
              <a:extLst>
                <a:ext uri="{FF2B5EF4-FFF2-40B4-BE49-F238E27FC236}">
                  <a16:creationId xmlns:a16="http://schemas.microsoft.com/office/drawing/2014/main" id="{44313172-4683-6AB5-65C8-156EE2FF32E2}"/>
                </a:ext>
              </a:extLst>
            </p:cNvPr>
            <p:cNvGraphicFramePr>
              <a:graphicFrameLocks/>
            </p:cNvGraphicFramePr>
            <p:nvPr/>
          </p:nvGraphicFramePr>
          <p:xfrm>
            <a:off x="6993526" y="749981"/>
            <a:ext cx="3474118" cy="19288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6" name="Chart 25">
              <a:extLst>
                <a:ext uri="{FF2B5EF4-FFF2-40B4-BE49-F238E27FC236}">
                  <a16:creationId xmlns:a16="http://schemas.microsoft.com/office/drawing/2014/main" id="{A071330F-2A78-8DEF-ED25-3A062A46A6E2}"/>
                </a:ext>
              </a:extLst>
            </p:cNvPr>
            <p:cNvGraphicFramePr>
              <a:graphicFrameLocks/>
            </p:cNvGraphicFramePr>
            <p:nvPr/>
          </p:nvGraphicFramePr>
          <p:xfrm>
            <a:off x="8774282" y="749981"/>
            <a:ext cx="3474118" cy="1928813"/>
          </p:xfrm>
          <a:graphic>
            <a:graphicData uri="http://schemas.openxmlformats.org/drawingml/2006/chart">
              <c:chart xmlns:c="http://schemas.openxmlformats.org/drawingml/2006/chart" xmlns:r="http://schemas.openxmlformats.org/officeDocument/2006/relationships" r:id="rId7"/>
            </a:graphicData>
          </a:graphic>
        </p:graphicFrame>
      </p:grpSp>
    </p:spTree>
    <p:extLst>
      <p:ext uri="{BB962C8B-B14F-4D97-AF65-F5344CB8AC3E}">
        <p14:creationId xmlns:p14="http://schemas.microsoft.com/office/powerpoint/2010/main" val="2407045821"/>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1CC19-A1A0-2F4D-468E-A95F32ACE9EA}"/>
              </a:ext>
            </a:extLst>
          </p:cNvPr>
          <p:cNvSpPr>
            <a:spLocks noGrp="1"/>
          </p:cNvSpPr>
          <p:nvPr>
            <p:ph type="title"/>
          </p:nvPr>
        </p:nvSpPr>
        <p:spPr/>
        <p:txBody>
          <a:bodyPr>
            <a:normAutofit/>
          </a:bodyPr>
          <a:lstStyle/>
          <a:p>
            <a:r>
              <a:rPr lang="en-US"/>
              <a:t>The evolution continues – internal vs external LGM efforts</a:t>
            </a:r>
          </a:p>
        </p:txBody>
      </p:sp>
      <p:pic>
        <p:nvPicPr>
          <p:cNvPr id="2057" name="Picture 2056">
            <a:extLst>
              <a:ext uri="{FF2B5EF4-FFF2-40B4-BE49-F238E27FC236}">
                <a16:creationId xmlns:a16="http://schemas.microsoft.com/office/drawing/2014/main" id="{17AA55C3-5371-488D-4489-D4E605C29016}"/>
              </a:ext>
            </a:extLst>
          </p:cNvPr>
          <p:cNvPicPr>
            <a:picLocks noChangeAspect="1"/>
          </p:cNvPicPr>
          <p:nvPr/>
        </p:nvPicPr>
        <p:blipFill>
          <a:blip r:embed="rId2"/>
          <a:stretch>
            <a:fillRect/>
          </a:stretch>
        </p:blipFill>
        <p:spPr>
          <a:xfrm>
            <a:off x="257466" y="1048527"/>
            <a:ext cx="11801475" cy="5600700"/>
          </a:xfrm>
          <a:prstGeom prst="rect">
            <a:avLst/>
          </a:prstGeom>
        </p:spPr>
      </p:pic>
    </p:spTree>
    <p:extLst>
      <p:ext uri="{BB962C8B-B14F-4D97-AF65-F5344CB8AC3E}">
        <p14:creationId xmlns:p14="http://schemas.microsoft.com/office/powerpoint/2010/main" val="34439223"/>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E7D7-4E08-8C9E-8CB5-D58624342006}"/>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51B7C4FE-25D5-C9CB-C6CE-976BC63F944E}"/>
              </a:ext>
            </a:extLst>
          </p:cNvPr>
          <p:cNvSpPr>
            <a:spLocks noGrp="1"/>
          </p:cNvSpPr>
          <p:nvPr>
            <p:ph idx="1"/>
          </p:nvPr>
        </p:nvSpPr>
        <p:spPr>
          <a:xfrm>
            <a:off x="561473" y="1124916"/>
            <a:ext cx="10972800" cy="4861291"/>
          </a:xfrm>
        </p:spPr>
        <p:txBody>
          <a:bodyPr>
            <a:normAutofit/>
          </a:bodyPr>
          <a:lstStyle/>
          <a:p>
            <a:pPr marL="0" indent="0">
              <a:buNone/>
            </a:pPr>
            <a:r>
              <a:rPr lang="en-US" sz="1600" b="1"/>
              <a:t>Takeaways:</a:t>
            </a:r>
          </a:p>
          <a:p>
            <a:r>
              <a:rPr lang="en-US" sz="1600"/>
              <a:t>As we expand into new/novel modalities (siRNA, ADCs, ASO, AAV, gene editors) we also find ourselves diving into more rare conditions, exploring new delivery methods and engaging in more early collaboration efforts. Adding layers of complexity to projects.</a:t>
            </a:r>
          </a:p>
          <a:p>
            <a:r>
              <a:rPr lang="en-US" sz="1600"/>
              <a:t>Outsourcing more than in years past across functions (e.g. </a:t>
            </a:r>
            <a:r>
              <a:rPr lang="en-US" sz="1600" err="1"/>
              <a:t>mfg</a:t>
            </a:r>
            <a:r>
              <a:rPr lang="en-US" sz="1600"/>
              <a:t>, GLP tox, chemists) which adds complexity, time and cost. NGR timelines require high risk spend commitments earlier requiring more judgement-based decision making for even “standard” projects. </a:t>
            </a:r>
          </a:p>
          <a:p>
            <a:r>
              <a:rPr lang="en-US" sz="1600"/>
              <a:t>Archetypes and models cannot keep pace with the changes. The lack of accurate models leads to more unpredictability with regards to timeline and cost and lots of time-consuming manual manipulation for early program projections. </a:t>
            </a:r>
          </a:p>
          <a:p>
            <a:r>
              <a:rPr lang="en-US" sz="1600"/>
              <a:t>Early cross functional resource constraints and expertise limitations due to new modalities/indications, limit the amount of detailed planning that can be done prior to COO/PPM handoff. We don’t know what we don’t know! </a:t>
            </a:r>
          </a:p>
          <a:p>
            <a:r>
              <a:rPr lang="en-US" sz="1600"/>
              <a:t>For many collaborations, Lilly is not making decisions in silo. Partnering for expertise, to address capacity issues, technological advancements, etc. We’re leaning on external partners to help guide our indication selections and development package. Trial and error on collaboration contract designs. Partnerships are complex and all different. Collaboration/contractual terms matter. Impact on not just deliverables but relationships. </a:t>
            </a:r>
          </a:p>
          <a:p>
            <a:r>
              <a:rPr lang="en-US" sz="1600"/>
              <a:t>Take a closer look on our approach with rare diseases. Pulling in the right expertise (KOLs) is tricky.</a:t>
            </a:r>
          </a:p>
          <a:p>
            <a:pPr marL="0" indent="0">
              <a:buNone/>
            </a:pPr>
            <a:endParaRPr lang="en-US" sz="1600" b="1"/>
          </a:p>
        </p:txBody>
      </p:sp>
    </p:spTree>
    <p:extLst>
      <p:ext uri="{BB962C8B-B14F-4D97-AF65-F5344CB8AC3E}">
        <p14:creationId xmlns:p14="http://schemas.microsoft.com/office/powerpoint/2010/main" val="233079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ct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Custom 306">
      <a:dk1>
        <a:srgbClr val="A59C95"/>
      </a:dk1>
      <a:lt1>
        <a:srgbClr val="FFFFFF"/>
      </a:lt1>
      <a:dk2>
        <a:srgbClr val="000000"/>
      </a:dk2>
      <a:lt2>
        <a:srgbClr val="FFFFFF"/>
      </a:lt2>
      <a:accent1>
        <a:srgbClr val="D42B1E"/>
      </a:accent1>
      <a:accent2>
        <a:srgbClr val="A59C95"/>
      </a:accent2>
      <a:accent3>
        <a:srgbClr val="81776E"/>
      </a:accent3>
      <a:accent4>
        <a:srgbClr val="00A1DE"/>
      </a:accent4>
      <a:accent5>
        <a:srgbClr val="FDD100"/>
      </a:accent5>
      <a:accent6>
        <a:srgbClr val="00AF3E"/>
      </a:accent6>
      <a:hlink>
        <a:srgbClr val="FF6C21"/>
      </a:hlink>
      <a:folHlink>
        <a:srgbClr val="000000"/>
      </a:folHlink>
    </a:clrScheme>
    <a:fontScheme name="Custom 14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0000"/>
          </a:schemeClr>
        </a:solidFill>
        <a:ln>
          <a:noFill/>
        </a:ln>
      </a:spPr>
      <a:bodyPr rtlCol="0" anchor="ctr"/>
      <a:lstStyle>
        <a:defPPr algn="ctr">
          <a:defRPr/>
        </a:defPPr>
      </a:lstStyle>
      <a:style>
        <a:lnRef idx="0">
          <a:scrgbClr r="0" g="0" b="0"/>
        </a:lnRef>
        <a:fillRef idx="0">
          <a:scrgbClr r="0" g="0" b="0"/>
        </a:fillRef>
        <a:effectRef idx="0">
          <a:scrgbClr r="0" g="0" b="0"/>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0192ea7e-b440-4394-a9d3-5b85d9bafc94">
      <UserInfo>
        <DisplayName>Julien Beignet</DisplayName>
        <AccountId>63</AccountId>
        <AccountType/>
      </UserInfo>
      <UserInfo>
        <DisplayName>Megan Hyslop</DisplayName>
        <AccountId>64</AccountId>
        <AccountType/>
      </UserInfo>
    </SharedWithUsers>
    <Status xmlns="4f941cf0-0a2a-4153-97ab-5fdce7bfd77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7356B637CBAC749838B4BF1D31ACC9A" ma:contentTypeVersion="12" ma:contentTypeDescription="Create a new document." ma:contentTypeScope="" ma:versionID="403513cfca91a73bceb8aa9b2d66eca6">
  <xsd:schema xmlns:xsd="http://www.w3.org/2001/XMLSchema" xmlns:xs="http://www.w3.org/2001/XMLSchema" xmlns:p="http://schemas.microsoft.com/office/2006/metadata/properties" xmlns:ns2="4f941cf0-0a2a-4153-97ab-5fdce7bfd770" xmlns:ns3="0192ea7e-b440-4394-a9d3-5b85d9bafc94" targetNamespace="http://schemas.microsoft.com/office/2006/metadata/properties" ma:root="true" ma:fieldsID="765ef134729ffe6c933751239998b3f9" ns2:_="" ns3:_="">
    <xsd:import namespace="4f941cf0-0a2a-4153-97ab-5fdce7bfd770"/>
    <xsd:import namespace="0192ea7e-b440-4394-a9d3-5b85d9bafc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941cf0-0a2a-4153-97ab-5fdce7bfd7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Status" ma:index="18" nillable="true" ma:displayName="Status" ma:description="Has the recording been finalized" ma:format="Dropdown" ma:internalName="Status">
      <xsd:simpleType>
        <xsd:restriction base="dms:Choice">
          <xsd:enumeration value="Raw"/>
          <xsd:enumeration value="Final"/>
          <xsd:enumeration value="Processed"/>
        </xsd:restriction>
      </xsd:simpleType>
    </xsd:element>
  </xsd:schema>
  <xsd:schema xmlns:xsd="http://www.w3.org/2001/XMLSchema" xmlns:xs="http://www.w3.org/2001/XMLSchema" xmlns:dms="http://schemas.microsoft.com/office/2006/documentManagement/types" xmlns:pc="http://schemas.microsoft.com/office/infopath/2007/PartnerControls" targetNamespace="0192ea7e-b440-4394-a9d3-5b85d9bafc9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B9CC39-EA8B-4220-B821-6EC19A184B22}">
  <ds:schemaRefs>
    <ds:schemaRef ds:uri="http://schemas.microsoft.com/sharepoint/v3/contenttype/forms"/>
  </ds:schemaRefs>
</ds:datastoreItem>
</file>

<file path=customXml/itemProps2.xml><?xml version="1.0" encoding="utf-8"?>
<ds:datastoreItem xmlns:ds="http://schemas.openxmlformats.org/officeDocument/2006/customXml" ds:itemID="{E5A5839C-F9AB-4059-9CDC-CA33CEAD34C5}">
  <ds:schemaRefs>
    <ds:schemaRef ds:uri="http://schemas.microsoft.com/office/2006/documentManagement/types"/>
    <ds:schemaRef ds:uri="4f941cf0-0a2a-4153-97ab-5fdce7bfd770"/>
    <ds:schemaRef ds:uri="http://purl.org/dc/dcmitype/"/>
    <ds:schemaRef ds:uri="http://purl.org/dc/elements/1.1/"/>
    <ds:schemaRef ds:uri="0192ea7e-b440-4394-a9d3-5b85d9bafc94"/>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3E92E564-D972-45CF-A974-AA65C5D0A4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941cf0-0a2a-4153-97ab-5fdce7bfd770"/>
    <ds:schemaRef ds:uri="0192ea7e-b440-4394-a9d3-5b85d9bafc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3789</TotalTime>
  <Words>6134</Words>
  <Application>Microsoft Office PowerPoint</Application>
  <PresentationFormat>Widescreen</PresentationFormat>
  <Paragraphs>916</Paragraphs>
  <Slides>50</Slides>
  <Notes>11</Notes>
  <HiddenSlides>0</HiddenSlides>
  <MMClips>0</MMClips>
  <ScaleCrop>false</ScaleCrop>
  <HeadingPairs>
    <vt:vector size="4" baseType="variant">
      <vt:variant>
        <vt:lpstr>Theme</vt:lpstr>
      </vt:variant>
      <vt:variant>
        <vt:i4>3</vt:i4>
      </vt:variant>
      <vt:variant>
        <vt:lpstr>Slide Titles</vt:lpstr>
      </vt:variant>
      <vt:variant>
        <vt:i4>50</vt:i4>
      </vt:variant>
    </vt:vector>
  </HeadingPairs>
  <TitlesOfParts>
    <vt:vector size="53" baseType="lpstr">
      <vt:lpstr>1_Office Theme</vt:lpstr>
      <vt:lpstr>Office Theme</vt:lpstr>
      <vt:lpstr>3_Office Theme</vt:lpstr>
      <vt:lpstr>Discovery Project Management Overview</vt:lpstr>
      <vt:lpstr>Agenda topics</vt:lpstr>
      <vt:lpstr>Discovery is Different</vt:lpstr>
      <vt:lpstr>How is Discovery different?  Tools and Processes</vt:lpstr>
      <vt:lpstr>Scope</vt:lpstr>
      <vt:lpstr>Drug Development Phases</vt:lpstr>
      <vt:lpstr>Definition of Discovery Phase</vt:lpstr>
      <vt:lpstr>PowerPoint Presentation</vt:lpstr>
      <vt:lpstr>Major Milestones: Discovery Phase</vt:lpstr>
      <vt:lpstr>Timeline to Early Phase COO/PPM handoff     (*changes pending)   (milestone timing different across modalities)</vt:lpstr>
      <vt:lpstr>Discovery Portfolio Management  (updated paradigm under development) </vt:lpstr>
      <vt:lpstr>Transition Timing and Key Deliverables</vt:lpstr>
      <vt:lpstr>Pre-Portfolio to Portfolio Entry (PE)</vt:lpstr>
      <vt:lpstr>PowerPoint Presentation</vt:lpstr>
      <vt:lpstr>Key Stakeholders</vt:lpstr>
      <vt:lpstr>Managing New and Existing Projects</vt:lpstr>
      <vt:lpstr>Pre-PE Portfolio Snapshot Color coded by molecule cassification </vt:lpstr>
      <vt:lpstr>Major Milestone Accuracy is Vital;  Milestones Change Frequently</vt:lpstr>
      <vt:lpstr>DSBs for Discovery :  What Diseases are Covered by the DSBs?         What if your new project’s indication isn’t on the list?</vt:lpstr>
      <vt:lpstr>Milestone Confidence Levels – Discovery</vt:lpstr>
      <vt:lpstr>Discovery budgets – Building and Maintaining</vt:lpstr>
      <vt:lpstr>Portfolio Entry to Candidate Identification (CI)</vt:lpstr>
      <vt:lpstr>PE to CI Team Management</vt:lpstr>
      <vt:lpstr>How to be successful in Discovery?</vt:lpstr>
      <vt:lpstr>Q&amp;A</vt:lpstr>
      <vt:lpstr>BACKUP</vt:lpstr>
      <vt:lpstr>Target Portfolio Committee</vt:lpstr>
      <vt:lpstr>Discovery Project Management: Leadership in Drug Development  Process</vt:lpstr>
      <vt:lpstr>Prism Pre-Portfolio  (“Blue Suitcase”) – Project’s Start in the System</vt:lpstr>
      <vt:lpstr>Milestone Definitions</vt:lpstr>
      <vt:lpstr>PowerPoint Presentation</vt:lpstr>
      <vt:lpstr>Target Milestone Deliverables </vt:lpstr>
      <vt:lpstr>Portfolio Entry Deliverables</vt:lpstr>
      <vt:lpstr>Timeline to COO/PPM handoff </vt:lpstr>
      <vt:lpstr>Slides from Onboarding Weeks 1-2</vt:lpstr>
      <vt:lpstr>PowerPoint Presentation</vt:lpstr>
      <vt:lpstr>Drug Development Teams  (Early Phase to Post-Launch)</vt:lpstr>
      <vt:lpstr>COO &amp; PPM Responsibilities</vt:lpstr>
      <vt:lpstr>Roles in the Development Process</vt:lpstr>
      <vt:lpstr>PowerPoint Presentation</vt:lpstr>
      <vt:lpstr>PowerPoint Presentation</vt:lpstr>
      <vt:lpstr>Portfolio Administrative Milestones</vt:lpstr>
      <vt:lpstr>A glimpse of our diverse Discovery portfolio &amp; unique challenges   (from COO presentation, Sept 2023)</vt:lpstr>
      <vt:lpstr>Small Molecule   Not much has changed. Few opportunities for acceleration.</vt:lpstr>
      <vt:lpstr>siRNA 2021 RD  Built off very limited experience</vt:lpstr>
      <vt:lpstr>siRNA 2023 RD – Lots of learnings in two short years New archetypes for CNS (IT administration) &amp; Non-CNS (GalNAc conj)</vt:lpstr>
      <vt:lpstr>Orientation: Target and Molecule Identification Engine</vt:lpstr>
      <vt:lpstr>Portfolio composition by modality has evolved since 2017</vt:lpstr>
      <vt:lpstr>The evolution continues – internal vs external LGM efforts</vt:lpstr>
      <vt:lpstr>Key Takeaways</vt:lpstr>
    </vt:vector>
  </TitlesOfParts>
  <Company>Eli Lilly and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Discovery Project Management Overview</dc:title>
  <dc:creator>Jennifer Beebe</dc:creator>
  <cp:lastModifiedBy>Sachin Bm</cp:lastModifiedBy>
  <cp:revision>6</cp:revision>
  <dcterms:created xsi:type="dcterms:W3CDTF">2024-05-31T16:47:17Z</dcterms:created>
  <dcterms:modified xsi:type="dcterms:W3CDTF">2026-09-01T07:34:02Z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0x010100A7356B637CBAC749838B4BF1D31ACC9A</vt:lpwstr>
  </property>
  <property fmtid="{D5CDD505-2E9C-101B-9397-08002B2CF9AE}" pid="3" name="MSIP_Label_0e26de7c-a783-430a-9757-46c8005a9167_Enabled">
    <vt:lpwstr>True</vt:lpwstr>
  </property>
  <property fmtid="{D5CDD505-2E9C-101B-9397-08002B2CF9AE}" pid="4" name="MSIP_Label_0e26de7c-a783-430a-9757-46c8005a9167_SiteId">
    <vt:lpwstr>18a59a81-eea8-4c30-948a-d8824cdc2580</vt:lpwstr>
  </property>
  <property fmtid="{D5CDD505-2E9C-101B-9397-08002B2CF9AE}" pid="5" name="MSIP_Label_0e26de7c-a783-430a-9757-46c8005a9167_SetDate">
    <vt:lpwstr>2024-08-02T12:05:53Z</vt:lpwstr>
  </property>
  <property fmtid="{D5CDD505-2E9C-101B-9397-08002B2CF9AE}" pid="6" name="MSIP_Label_0e26de7c-a783-430a-9757-46c8005a9167_Name">
    <vt:lpwstr>Orange</vt:lpwstr>
  </property>
  <property fmtid="{D5CDD505-2E9C-101B-9397-08002B2CF9AE}" pid="7" name="MSIP_Label_0e26de7c-a783-430a-9757-46c8005a9167_ActionId">
    <vt:lpwstr>43de00dd-84ba-4e32-a4df-219cd03e8c5f</vt:lpwstr>
  </property>
  <property fmtid="{D5CDD505-2E9C-101B-9397-08002B2CF9AE}" pid="8" name="MSIP_Label_0e26de7c-a783-430a-9757-46c8005a9167_Removed">
    <vt:lpwstr>False</vt:lpwstr>
  </property>
  <property fmtid="{D5CDD505-2E9C-101B-9397-08002B2CF9AE}" pid="9" name="MSIP_Label_0e26de7c-a783-430a-9757-46c8005a9167_Extended_MSFT_Method">
    <vt:lpwstr>Standard</vt:lpwstr>
  </property>
  <property fmtid="{D5CDD505-2E9C-101B-9397-08002B2CF9AE}" pid="10" name="Sensitivity">
    <vt:lpwstr>Orange</vt:lpwstr>
  </property>
</Properties>
</file>